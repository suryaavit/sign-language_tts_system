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 FLOW DIAGRAM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to Audio and Text Conversion System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474720" cy="1005840"/>
          </a:xfrm>
          <a:prstGeom prst="rect">
            <a:avLst/>
          </a:prstGeom>
          <a:solidFill>
            <a:srgbClr val="2E6DA4">
              <a:alpha val="7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517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System Diagram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2651760"/>
            <a:ext cx="3474720" cy="1005840"/>
          </a:xfrm>
          <a:prstGeom prst="rect">
            <a:avLst/>
          </a:prstGeom>
          <a:solidFill>
            <a:srgbClr val="2E6DA4">
              <a:alpha val="7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65176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 Flow Diagram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0, 1 &amp; 2 DFDs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011680" y="3840480"/>
            <a:ext cx="5120640" cy="1005840"/>
          </a:xfrm>
          <a:prstGeom prst="rect">
            <a:avLst/>
          </a:prstGeom>
          <a:solidFill>
            <a:srgbClr val="2E6DA4">
              <a:alpha val="5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3886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Reg: 0000
</a:t>
            </a:r>
            <a:pPr algn="ctr" indent="0" marL="0">
              <a:buNone/>
            </a:pPr>
            <a:r>
              <a:rPr lang="en-US" sz="12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yyyy  |  MCA – PEC  |  2025–2026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client-server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1920240" cy="4023360"/>
          </a:xfrm>
          <a:prstGeom prst="rect">
            <a:avLst/>
          </a:prstGeom>
          <a:solidFill>
            <a:srgbClr val="E0F2F8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822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1645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70432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Signer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11680"/>
            <a:ext cx="1645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1645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8346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(Start/Stop)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164592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6576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822960"/>
            <a:ext cx="2011680" cy="4023360"/>
          </a:xfrm>
          <a:prstGeom prst="rect">
            <a:avLst/>
          </a:prstGeom>
          <a:solidFill>
            <a:srgbClr val="EDE9FE"/>
          </a:solidFill>
          <a:ln w="1905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31720" y="822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(React.js)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0" y="1170432"/>
            <a:ext cx="1737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68880" y="117043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901952"/>
            <a:ext cx="1737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190195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&lt;video&gt;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2633472"/>
            <a:ext cx="1737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468880" y="263347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3364992"/>
            <a:ext cx="1737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468880" y="336499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4096512"/>
            <a:ext cx="1737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409651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43400" y="2834640"/>
            <a:ext cx="5029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43984" y="2578608"/>
            <a:ext cx="301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(base64 frame)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822960"/>
            <a:ext cx="2103120" cy="4023360"/>
          </a:xfrm>
          <a:prstGeom prst="rect">
            <a:avLst/>
          </a:prstGeom>
          <a:solidFill>
            <a:srgbClr val="FEF3C7"/>
          </a:solidFill>
          <a:ln w="1905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822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Flask)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117043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83480" y="117043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190195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83480" y="190195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(MediaPipe)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983480" y="263347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83480" y="263347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(TF/Keras)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83480" y="336499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83480" y="33649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(gTTS)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4096512"/>
            <a:ext cx="1828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83480" y="409651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Generator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(ReportLab)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49440" y="2834640"/>
            <a:ext cx="50292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87768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50024" y="2578608"/>
            <a:ext cx="301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52360" y="822960"/>
            <a:ext cx="1508760" cy="4023360"/>
          </a:xfrm>
          <a:prstGeom prst="rect">
            <a:avLst/>
          </a:prstGeom>
          <a:solidFill>
            <a:srgbClr val="DCFCE7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452360" y="8229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71232" y="1170432"/>
            <a:ext cx="1280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571232" y="117043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users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571232" y="1901952"/>
            <a:ext cx="1280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571232" y="190195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gesture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_labels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571232" y="2633472"/>
            <a:ext cx="1280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571232" y="263347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sessions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571232" y="3364992"/>
            <a:ext cx="1280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571232" y="336499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translations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571232" y="4096512"/>
            <a:ext cx="1280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571232" y="4096512"/>
            <a:ext cx="1280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transcripts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43400" y="3200400"/>
            <a:ext cx="50292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2468880" y="3246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JSON response (label + confidence)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 DIAGRAM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modules and their technology components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3931920"/>
          </a:xfrm>
          <a:prstGeom prst="rect">
            <a:avLst/>
          </a:prstGeom>
          <a:solidFill>
            <a:srgbClr val="E0F2F8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CONVERSION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114800" cy="1737360"/>
          </a:xfrm>
          <a:prstGeom prst="rect">
            <a:avLst/>
          </a:prstGeom>
          <a:solidFill>
            <a:srgbClr val="EDE9FE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(React.js)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5087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Component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7647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MediaDevices API 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481328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5087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Display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68880" y="17647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React State 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67128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1945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&lt;audio&gt; + gTTS 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68880" y="2167128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68880" y="219456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68880" y="245059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React Events ]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17720" y="1207008"/>
            <a:ext cx="4206240" cy="1737360"/>
          </a:xfrm>
          <a:prstGeom prst="rect">
            <a:avLst/>
          </a:prstGeom>
          <a:solidFill>
            <a:srgbClr val="FEF3C7"/>
          </a:solidFill>
          <a:ln w="12700">
            <a:solidFill>
              <a:srgbClr val="9261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2070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(Python Flask REST API)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48132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1508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17647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MediaPipe + OpenCV ]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12280" y="148132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12280" y="1508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12280" y="17647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TensorFlow/Keras 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16712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2194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Generator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24505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gTTS / pyttsx3 ]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12280" y="2167128"/>
            <a:ext cx="1920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2194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Exporter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12280" y="245059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ReportLab / docx 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035808"/>
            <a:ext cx="41148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0358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 (Pre-trained TF/Keras)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29184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Dense Layers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444752" y="329184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44752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Landmark Input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32304" y="329184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432304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A–Z + Word Classes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19856" y="329184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419856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Filter (80%)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3035808"/>
            <a:ext cx="420624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30358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(SQLite / MySQL)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291840"/>
            <a:ext cx="749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54880" y="32918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559552" y="3291840"/>
            <a:ext cx="749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559552" y="32918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64224" y="3291840"/>
            <a:ext cx="749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364224" y="32918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68896" y="3291840"/>
            <a:ext cx="749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7168896" y="32918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973568" y="3291840"/>
            <a:ext cx="7498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973568" y="329184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434840" y="2075688"/>
            <a:ext cx="18288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53128" y="18928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11480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⟺  REST API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– LEVEL 0 (Context Diagram)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system as a single process with all external entities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459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45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 / Mute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223760" y="1645920"/>
            <a:ext cx="1645920" cy="8229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0" y="16459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868680"/>
            <a:ext cx="210312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868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TTS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3977640"/>
            <a:ext cx="2103120" cy="64008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3977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 / MySQL)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737360"/>
            <a:ext cx="2743200" cy="1645920"/>
          </a:xfrm>
          <a:prstGeom prst="ellipse">
            <a:avLst/>
          </a:prstGeom>
          <a:solidFill>
            <a:srgbClr val="1E3A5F"/>
          </a:solidFill>
          <a:ln w="317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7373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1993392"/>
            <a:ext cx="12801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8105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76272" y="173736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(webcam video)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920240" y="2331720"/>
            <a:ext cx="12801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920240" y="2395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Visual feedback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0" y="1993392"/>
            <a:ext cx="128016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181051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737360"/>
            <a:ext cx="768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speech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text subtitle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1554480"/>
            <a:ext cx="0" cy="-274320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0972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string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1508760"/>
            <a:ext cx="0" cy="-274320"/>
          </a:xfrm>
          <a:prstGeom prst="line">
            <a:avLst/>
          </a:prstGeom>
          <a:noFill/>
          <a:ln w="19050">
            <a:solidFill>
              <a:srgbClr val="6B3FA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892040" y="12618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MP3 audio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3383280"/>
            <a:ext cx="0" cy="594360"/>
          </a:xfrm>
          <a:prstGeom prst="line">
            <a:avLst/>
          </a:prstGeom>
          <a:noFill/>
          <a:ln w="25400">
            <a:solidFill>
              <a:srgbClr val="9261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3794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36118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/ Retrieve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416052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8795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370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External Entity     ○ Process     → Data Flow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– LEVEL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the main system into its 5 core processes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2194560"/>
            <a:ext cx="118872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21945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818120" y="1005840"/>
            <a:ext cx="118872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18120" y="10058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818120" y="2194560"/>
            <a:ext cx="1188720" cy="6858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18120" y="21945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18120" y="3383280"/>
            <a:ext cx="1188720" cy="685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3383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08760" y="1371600"/>
            <a:ext cx="1554480" cy="86868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08760" y="13716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0" y="2377440"/>
            <a:ext cx="1554480" cy="86868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377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0" y="1371600"/>
            <a:ext cx="1554480" cy="86868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97680" y="13716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2377440"/>
            <a:ext cx="1554480" cy="8686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2377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1554480" cy="868680"/>
          </a:xfrm>
          <a:prstGeom prst="ellipse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0" y="34747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325880" y="2176272"/>
            <a:ext cx="182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44168" y="19933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62456" y="1920240"/>
            <a:ext cx="109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2148840"/>
            <a:ext cx="457200" cy="2743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1965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frame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0" y="2807208"/>
            <a:ext cx="0" cy="-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23957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(21 pts)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52160" y="2057400"/>
            <a:ext cx="0" cy="32004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1031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label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1298448"/>
            <a:ext cx="59436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53528" y="11155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42632" y="1042416"/>
            <a:ext cx="356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text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23760" y="2542032"/>
            <a:ext cx="594360" cy="0"/>
          </a:xfrm>
          <a:prstGeom prst="line">
            <a:avLst/>
          </a:prstGeom>
          <a:noFill/>
          <a:ln w="25400">
            <a:solidFill>
              <a:srgbClr val="9261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53528" y="235915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42632" y="2286000"/>
            <a:ext cx="356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session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223760" y="3639312"/>
            <a:ext cx="594360" cy="0"/>
          </a:xfrm>
          <a:prstGeom prst="line">
            <a:avLst/>
          </a:prstGeom>
          <a:noFill/>
          <a:ln w="25400">
            <a:solidFill>
              <a:srgbClr val="6B3F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53528" y="3456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42632" y="3383280"/>
            <a:ext cx="356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string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74920" y="2240280"/>
            <a:ext cx="0" cy="123444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5120640" y="2926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325880" y="2743200"/>
            <a:ext cx="2971800" cy="896112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2286000" y="33832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Word file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0" y="4206240"/>
            <a:ext cx="219456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0" y="4206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|  Translation History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0" y="4206240"/>
            <a:ext cx="192024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|  Transcripts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 – PROCESS 3.0: GESTURE RECOGNITION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the ML gesture recognition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2103120"/>
            <a:ext cx="13716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21031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89520" y="2103120"/>
            <a:ext cx="1371600" cy="685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21031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1097280"/>
            <a:ext cx="1600200" cy="77724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0972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743200"/>
            <a:ext cx="1600200" cy="777240"/>
          </a:xfrm>
          <a:prstGeom prst="ellipse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27432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1920240"/>
            <a:ext cx="1600200" cy="777240"/>
          </a:xfrm>
          <a:prstGeom prst="ellipse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9202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1097280"/>
            <a:ext cx="1600200" cy="77724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77840" y="109728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2743200"/>
            <a:ext cx="1600200" cy="7772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274320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91640" y="3840480"/>
            <a:ext cx="20116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|  Trained Model (.h5)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0680" y="3840480"/>
            <a:ext cx="20116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3840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 |  Label Map (JSON)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54480" y="2441448"/>
            <a:ext cx="22860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18488" y="22585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218541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landmarks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87752" y="1481328"/>
            <a:ext cx="1069848" cy="713232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vector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87752" y="3127248"/>
            <a:ext cx="1069848" cy="-59436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2697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object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257800" y="2331720"/>
            <a:ext cx="320040" cy="-64008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737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probs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57800" y="2331720"/>
            <a:ext cx="320040" cy="7315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560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78040" y="1481328"/>
            <a:ext cx="411480" cy="0"/>
          </a:xfrm>
          <a:prstGeom prst="line">
            <a:avLst/>
          </a:prstGeom>
          <a:noFill/>
          <a:ln w="254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12984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60336" y="1225296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name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78040" y="3127248"/>
            <a:ext cx="411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29443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0336" y="2871216"/>
            <a:ext cx="246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label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97480" y="3840480"/>
            <a:ext cx="0" cy="-301752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446520" y="3840480"/>
            <a:ext cx="0" cy="-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 – PROCESS 4.0: GENERATE OUTPUT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the text accumulation and audio output process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2194560"/>
            <a:ext cx="1371600" cy="68580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589520" y="1188720"/>
            <a:ext cx="13716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0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89520" y="2194560"/>
            <a:ext cx="1371600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0" y="3200400"/>
            <a:ext cx="1371600" cy="685800"/>
          </a:xfrm>
          <a:prstGeom prst="rect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32004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83080" y="914400"/>
            <a:ext cx="1554480" cy="77724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83080" y="9144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83080" y="2286000"/>
            <a:ext cx="1554480" cy="7772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783080" y="22860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Handler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94760" y="1645920"/>
            <a:ext cx="1554480" cy="7772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16459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914400"/>
            <a:ext cx="1554480" cy="7772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0" y="9144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2743200"/>
            <a:ext cx="1554480" cy="777240"/>
          </a:xfrm>
          <a:prstGeom prst="ellipse">
            <a:avLst/>
          </a:prstGeom>
          <a:solidFill>
            <a:srgbClr val="92610A"/>
          </a:solidFill>
          <a:ln w="12700">
            <a:solidFill>
              <a:srgbClr val="92610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0" y="27432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554480" y="2532888"/>
            <a:ext cx="228600" cy="0"/>
          </a:xfrm>
          <a:prstGeom prst="line">
            <a:avLst/>
          </a:prstGeom>
          <a:noFill/>
          <a:ln w="25400">
            <a:solidFill>
              <a:srgbClr val="CC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18488" y="23500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00200" y="227685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label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1691640"/>
            <a:ext cx="1234440" cy="27432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15544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string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0" y="2670048"/>
            <a:ext cx="1234440" cy="-384048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text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49240" y="2029968"/>
            <a:ext cx="32004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04688" y="184708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13248" y="1773936"/>
            <a:ext cx="192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audio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23760" y="1298448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4928" y="11155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96912" y="104241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23760" y="2532888"/>
            <a:ext cx="36576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24928" y="23500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227685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23760" y="3538728"/>
            <a:ext cx="365760" cy="0"/>
          </a:xfrm>
          <a:prstGeom prst="line">
            <a:avLst/>
          </a:prstGeom>
          <a:noFill/>
          <a:ln w="25400">
            <a:solidFill>
              <a:srgbClr val="9261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3355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96912" y="3282696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645920" y="3977640"/>
            <a:ext cx="20116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|  Transcripts Table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94960" y="3977640"/>
            <a:ext cx="20116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|  Translations Table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6040" y="3977640"/>
            <a:ext cx="0" cy="-54864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400800" y="3977640"/>
            <a:ext cx="0" cy="-86868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77640" y="10972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3-tier: Input → Frontend (React) → Backend (Flask) →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77640" y="173736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modules: UI, Capture, Detection, Recognition, Output, Documents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915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3774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 (Context):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77640" y="23774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vs External Entities: User, Hearing Person, TTS API, 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923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1: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77640" y="301752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processes: Capture → Detect → Recognize → Output → Export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6576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 – Process 3.0: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77640" y="365760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Preprocess → Load Model → Infer → Decode → Filter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7939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976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2 – Process 4.0: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429768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pipeline: Accumulate → Handle Space → TTS → Dispatch → Log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xxxx  |  Reg No: 0000  |  MCA – PEC  | 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Diagram &amp; DFD – Sign Language System</dc:title>
  <dc:subject>PptxGenJS Presentation</dc:subject>
  <dc:creator>xxxx</dc:creator>
  <cp:lastModifiedBy>xxxx</cp:lastModifiedBy>
  <cp:revision>1</cp:revision>
  <dcterms:created xsi:type="dcterms:W3CDTF">2026-03-04T07:17:11Z</dcterms:created>
  <dcterms:modified xsi:type="dcterms:W3CDTF">2026-03-04T07:17:11Z</dcterms:modified>
</cp:coreProperties>
</file>