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Urbanist SemiBold"/>
      <p:regular r:id="rId16"/>
      <p:bold r:id="rId17"/>
      <p:italic r:id="rId18"/>
      <p:boldItalic r:id="rId19"/>
    </p:embeddedFont>
    <p:embeddedFont>
      <p:font typeface="Urbanis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regular.fntdata"/><Relationship Id="rId11" Type="http://schemas.openxmlformats.org/officeDocument/2006/relationships/slide" Target="slides/slide6.xml"/><Relationship Id="rId22" Type="http://schemas.openxmlformats.org/officeDocument/2006/relationships/font" Target="fonts/Urbanist-italic.fntdata"/><Relationship Id="rId10" Type="http://schemas.openxmlformats.org/officeDocument/2006/relationships/slide" Target="slides/slide5.xml"/><Relationship Id="rId21" Type="http://schemas.openxmlformats.org/officeDocument/2006/relationships/font" Target="fonts/Urbanis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Urbanis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SemiBold-bold.fntdata"/><Relationship Id="rId16" Type="http://schemas.openxmlformats.org/officeDocument/2006/relationships/font" Target="fonts/UrbanistSemiBol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SemiBold-boldItalic.fntdata"/><Relationship Id="rId6" Type="http://schemas.openxmlformats.org/officeDocument/2006/relationships/slide" Target="slides/slide1.xml"/><Relationship Id="rId18" Type="http://schemas.openxmlformats.org/officeDocument/2006/relationships/font" Target="fonts/Urbanist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14" Type="http://schemas.openxmlformats.org/officeDocument/2006/relationships/image" Target="../media/image17.png"/><Relationship Id="rId5" Type="http://schemas.openxmlformats.org/officeDocument/2006/relationships/image" Target="../media/image30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33.png"/><Relationship Id="rId5" Type="http://schemas.openxmlformats.org/officeDocument/2006/relationships/image" Target="../media/image18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22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20.png"/><Relationship Id="rId6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31.png"/><Relationship Id="rId5" Type="http://schemas.openxmlformats.org/officeDocument/2006/relationships/image" Target="../media/image29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8452" y="3641377"/>
            <a:ext cx="5994796" cy="192583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135731" y="1290786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ZEROTH REVIEW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161762" y="1633686"/>
            <a:ext cx="7868327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Sign Language to Audio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and Text Conversion System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393727" y="3984277"/>
            <a:ext cx="260687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Student Name: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[Student Name]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393727" y="4306192"/>
            <a:ext cx="260687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Register No: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[Register Number]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393727" y="4628108"/>
            <a:ext cx="260687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Department: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Computer Science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393727" y="4950023"/>
            <a:ext cx="260687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Year: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2025-2026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191101" y="3984277"/>
            <a:ext cx="260687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Guide: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[Guide Name]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191101" y="4306192"/>
            <a:ext cx="260687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College: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[College Name]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81025" y="581025"/>
            <a:ext cx="554069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Project Outline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81025" y="1323975"/>
            <a:ext cx="52768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9525"/>
            <a:ext cx="58483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81025" y="2028825"/>
            <a:ext cx="554069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Problem Statement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81025" y="2543175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Communication between the deaf/mute community and the general population is hindered by a lack of sign language understanding.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81025" y="3695700"/>
            <a:ext cx="554069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Proposed Solution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66775" y="4171950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Real-time gesture recognition system.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66775" y="4619625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Instant conversion to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Text (Subtitles)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66775" y="5067300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Synthesis of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Audio (Speech)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output.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66775" y="5514975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Optional document generation for records.</a:t>
            </a:r>
            <a:endParaRPr/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2100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6577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1054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553075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09800"/>
            <a:ext cx="2543175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9950" y="2209800"/>
            <a:ext cx="2543175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209800"/>
            <a:ext cx="2543175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67800" y="2209800"/>
            <a:ext cx="2543175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71612" y="25050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827484" y="3457575"/>
            <a:ext cx="20502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Recognize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76300" y="4086225"/>
            <a:ext cx="19526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Detect hand gestures in real-time using camera input and Computer Vision.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00537" y="25050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3656409" y="3457575"/>
            <a:ext cx="20502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Convert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3705225" y="4086225"/>
            <a:ext cx="19526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Translate recognized gestures into readable text and sentence structures.</a:t>
            </a:r>
            <a:endParaRPr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29462" y="25050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6485334" y="3457575"/>
            <a:ext cx="20502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Speak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534150" y="4086225"/>
            <a:ext cx="19526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Generate synthesized voice output using Text-to-Speech engines.</a:t>
            </a:r>
            <a:endParaRPr/>
          </a:p>
        </p:txBody>
      </p:sp>
      <p:pic>
        <p:nvPicPr>
          <p:cNvPr descr="image.png" id="131" name="Google Shape;13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58387" y="25050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9314259" y="3457575"/>
            <a:ext cx="20502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Access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363075" y="4086225"/>
            <a:ext cx="19526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Bridge the communication gap and improve social inclusion.</a:t>
            </a:r>
            <a:endParaRPr/>
          </a:p>
        </p:txBody>
      </p:sp>
      <p:pic>
        <p:nvPicPr>
          <p:cNvPr descr="image.png" id="134" name="Google Shape;134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14487" y="26955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443412" y="26955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272337" y="26955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172700" y="269557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Objectives</a:t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24137"/>
            <a:ext cx="5324475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24137"/>
            <a:ext cx="5324475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971550" y="3014662"/>
            <a:ext cx="47705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Primary Domain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971550" y="3433762"/>
            <a:ext cx="454342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971550" y="3633787"/>
            <a:ext cx="4543425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Machine Learning &amp; Artificial Intelligence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677025" y="3014662"/>
            <a:ext cx="47705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Sub Domains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6677025" y="3433762"/>
            <a:ext cx="454342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6962775" y="3633787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Computer Vision: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For gesture tracking.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962775" y="4081462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Deep Learning: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For pattern classification.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962775" y="4529137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Speech Processing: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For audio synthesis.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Project Domain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7" name="Google Shape;15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36718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41195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4567237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191000"/>
            <a:ext cx="2426493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8794" y="2266950"/>
            <a:ext cx="2426493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6563" y="4191000"/>
            <a:ext cx="2426493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84332" y="2571750"/>
            <a:ext cx="2426493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/>
          <p:nvPr/>
        </p:nvSpPr>
        <p:spPr>
          <a:xfrm>
            <a:off x="581025" y="4171950"/>
            <a:ext cx="11029950" cy="381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680382" y="4343400"/>
            <a:ext cx="222777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Input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733425" y="4857750"/>
            <a:ext cx="212169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Camera captures live video feed of hand gestures.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3548151" y="2419350"/>
            <a:ext cx="222777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Processing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3601194" y="2933700"/>
            <a:ext cx="212169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ML Model (CNN/LSTM) identifies hand landmarks.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415920" y="4343400"/>
            <a:ext cx="222777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Translation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468963" y="4857750"/>
            <a:ext cx="212169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Predicted gestures are mapped to text.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9283690" y="2724150"/>
            <a:ext cx="222777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Output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9336732" y="3238500"/>
            <a:ext cx="212169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Text is converted to Audio via TTS API.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System Overview</a:t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1679971" y="40767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381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4547741" y="40767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381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7415510" y="40767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381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10283279" y="40767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381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95500"/>
            <a:ext cx="52768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05025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866775" y="2728912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Language: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Python 3.x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866775" y="3176587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Frontend: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HTML, CSS, JS / Android UI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866775" y="3624262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Computer Vision: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OpenCV, MediaPipe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866775" y="4071937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ML Libraries: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TensorFlow / Keras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866775" y="4519612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Speech: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pyttsx3 / Google TTS API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866775" y="4967287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IDE: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VS Code / Android Studio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Tools &amp; Technologies</a:t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9" name="Google Shape;19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7670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2146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6623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1100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5577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5005387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4450" y="20955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6334125" y="2405062"/>
            <a:ext cx="554069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Key Deliverables</a:t>
            </a:r>
            <a:endParaRPr/>
          </a:p>
        </p:txBody>
      </p:sp>
      <p:pic>
        <p:nvPicPr>
          <p:cNvPr descr="image.png" id="212" name="Google Shape;21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52550" y="2133600"/>
            <a:ext cx="3733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6619875" y="2881312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Real-time Recognition: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Minimal latency in gesture detection.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6619875" y="3633787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High Accuracy: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Precise identification of alphabets and words.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6619875" y="4386262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User-Friendly Interface: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Simple UI for ease of use.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6619875" y="4833937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Social Impact: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helpful tool for the deaf and mute community.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Expected Outcome</a:t>
            </a:r>
            <a:endParaRPr/>
          </a:p>
        </p:txBody>
      </p:sp>
      <p:sp>
        <p:nvSpPr>
          <p:cNvPr id="218" name="Google Shape;218;p19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9" name="Google Shape;21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9194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6718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4243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872037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2062162"/>
            <a:ext cx="7620000" cy="27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2705576" y="2643187"/>
            <a:ext cx="678084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2867025" y="3109912"/>
            <a:ext cx="6457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project aims to leverage Machine Learning and Computer Vision to create an intelligent system that improves communication, fosters social inclusion, and empowers the differently-abled community.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4205763" y="2209800"/>
            <a:ext cx="378047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Q &amp; A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4295775" y="3638550"/>
            <a:ext cx="3600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attention.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4295775" y="4476750"/>
            <a:ext cx="3600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[Student Email]</a:t>
            </a:r>
            <a:endParaRPr/>
          </a:p>
        </p:txBody>
      </p:sp>
      <p:pic>
        <p:nvPicPr>
          <p:cNvPr descr="image.png" id="239" name="Google Shape;2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16016" y="4476750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/>
          <p:nvPr/>
        </p:nvSpPr>
        <p:spPr>
          <a:xfrm>
            <a:off x="581025" y="2237630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581025" y="3022401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581025" y="3807172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581025" y="301287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581025" y="301287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581025" y="379764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581025" y="379764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81025" y="478050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581025" y="478050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4" name="Google Shape;25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8705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 txBox="1"/>
          <p:nvPr/>
        </p:nvSpPr>
        <p:spPr>
          <a:xfrm>
            <a:off x="1676400" y="2380505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https://sorenson.com/wp-content/uploads/2025/01/on-site-interpreter-scaled.jpg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1676400" y="262622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sorenson.com</a:t>
            </a:r>
            <a:endParaRPr/>
          </a:p>
        </p:txBody>
      </p:sp>
      <p:pic>
        <p:nvPicPr>
          <p:cNvPr descr="image.png" id="257" name="Google Shape;25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1718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2"/>
          <p:cNvSpPr txBox="1"/>
          <p:nvPr/>
        </p:nvSpPr>
        <p:spPr>
          <a:xfrm>
            <a:off x="1676400" y="3165276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https://api.edoxi.com/assets/studyhub/ezgif_com-gif-maker_(24).webp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1676400" y="341099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www.edoxi.com</a:t>
            </a:r>
            <a:endParaRPr/>
          </a:p>
        </p:txBody>
      </p:sp>
      <p:pic>
        <p:nvPicPr>
          <p:cNvPr descr="image.png" id="260" name="Google Shape;26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0557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1676400" y="3950047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https://1.bp.blogspot.com/-8SxmsK5VoJ0/XVrTpMrJDFI/AAAAAAAAEiM/nAa3vuj8a2sjgEPAeMKXD4m09yKUgjVIQCLcBGAs/s1600/Screenshot%2B2019-08-19%2Bat%2B9.51.25%2BAM.png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1676400" y="439385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research.google</a:t>
            </a:r>
            <a:endParaRPr/>
          </a:p>
        </p:txBody>
      </p:sp>
      <p:pic>
        <p:nvPicPr>
          <p:cNvPr descr="image.png" id="263" name="Google Shape;26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50385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2"/>
          <p:cNvSpPr txBox="1"/>
          <p:nvPr/>
        </p:nvSpPr>
        <p:spPr>
          <a:xfrm>
            <a:off x="1676400" y="4932908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https://static.vecteezy.com/system/resources/previews/014/894/977/non_2x/abstract-technological-background-futuristic-illustration-of-high-computer-and-communication-technologies-on-a-blue-background-high-tech-digital-technology-vector.jpg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1676400" y="537671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Image Sources</a:t>
            </a: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