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Urbanist"/>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340CE8-5EA2-4769-929F-9CFE185714AE}">
  <a:tblStyle styleId="{23340CE8-5EA2-4769-929F-9CFE185714A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Urbanist-bold.fntdata"/><Relationship Id="rId11" Type="http://schemas.openxmlformats.org/officeDocument/2006/relationships/slide" Target="slides/slide5.xml"/><Relationship Id="rId22" Type="http://schemas.openxmlformats.org/officeDocument/2006/relationships/font" Target="fonts/Urbanist-boldItalic.fntdata"/><Relationship Id="rId10" Type="http://schemas.openxmlformats.org/officeDocument/2006/relationships/slide" Target="slides/slide4.xml"/><Relationship Id="rId21" Type="http://schemas.openxmlformats.org/officeDocument/2006/relationships/font" Target="fonts/Urbanist-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Urbanist-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4702f63ae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d4702f63a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d4702f63a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d4702f63a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4702f63ae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4702f63a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11" Type="http://schemas.openxmlformats.org/officeDocument/2006/relationships/image" Target="../media/image15.png"/><Relationship Id="rId10" Type="http://schemas.openxmlformats.org/officeDocument/2006/relationships/image" Target="../media/image12.png"/><Relationship Id="rId12" Type="http://schemas.openxmlformats.org/officeDocument/2006/relationships/image" Target="../media/image14.png"/><Relationship Id="rId9"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9.png"/><Relationship Id="rId13" Type="http://schemas.openxmlformats.org/officeDocument/2006/relationships/image" Target="../media/image26.png"/><Relationship Id="rId12" Type="http://schemas.openxmlformats.org/officeDocument/2006/relationships/image" Target="../media/image27.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9.png"/><Relationship Id="rId9" Type="http://schemas.openxmlformats.org/officeDocument/2006/relationships/image" Target="../media/image20.png"/><Relationship Id="rId14" Type="http://schemas.openxmlformats.org/officeDocument/2006/relationships/image" Target="../media/image40.png"/><Relationship Id="rId5" Type="http://schemas.openxmlformats.org/officeDocument/2006/relationships/image" Target="../media/image16.png"/><Relationship Id="rId6" Type="http://schemas.openxmlformats.org/officeDocument/2006/relationships/image" Target="../media/image28.png"/><Relationship Id="rId7" Type="http://schemas.openxmlformats.org/officeDocument/2006/relationships/image" Target="../media/image21.png"/><Relationship Id="rId8"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6.png"/><Relationship Id="rId5" Type="http://schemas.openxmlformats.org/officeDocument/2006/relationships/image" Target="../media/image23.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0.png"/><Relationship Id="rId9"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25.png"/><Relationship Id="rId8"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4.png"/><Relationship Id="rId5"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595812" y="4357538"/>
            <a:ext cx="3000375" cy="390525"/>
          </a:xfrm>
          <a:prstGeom prst="rect">
            <a:avLst/>
          </a:prstGeom>
          <a:noFill/>
          <a:ln>
            <a:noFill/>
          </a:ln>
        </p:spPr>
      </p:pic>
      <p:sp>
        <p:nvSpPr>
          <p:cNvPr id="86" name="Google Shape;86;p13"/>
          <p:cNvSpPr txBox="1"/>
          <p:nvPr/>
        </p:nvSpPr>
        <p:spPr>
          <a:xfrm>
            <a:off x="510301" y="2109936"/>
            <a:ext cx="11171396"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8FAFC"/>
                </a:solidFill>
                <a:latin typeface="Urbanist"/>
                <a:ea typeface="Urbanist"/>
                <a:cs typeface="Urbanist"/>
                <a:sym typeface="Urbanist"/>
              </a:rPr>
              <a:t>Sign Language </a:t>
            </a:r>
            <a:r>
              <a:rPr b="1" i="0" lang="en-US" sz="5400" u="none" cap="none" strike="noStrike">
                <a:solidFill>
                  <a:srgbClr val="22D3EE"/>
                </a:solidFill>
                <a:latin typeface="Urbanist"/>
                <a:ea typeface="Urbanist"/>
                <a:cs typeface="Urbanist"/>
                <a:sym typeface="Urbanist"/>
              </a:rPr>
              <a:t>Translation System</a:t>
            </a:r>
            <a:endParaRPr/>
          </a:p>
        </p:txBody>
      </p:sp>
      <p:sp>
        <p:nvSpPr>
          <p:cNvPr id="87" name="Google Shape;87;p13"/>
          <p:cNvSpPr txBox="1"/>
          <p:nvPr/>
        </p:nvSpPr>
        <p:spPr>
          <a:xfrm>
            <a:off x="2286000" y="3054697"/>
            <a:ext cx="7620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Urbanist"/>
                <a:ea typeface="Urbanist"/>
                <a:cs typeface="Urbanist"/>
                <a:sym typeface="Urbanist"/>
              </a:rPr>
              <a:t>Bridging the Communication Gap with Computer Vision and Deep Learning. A real-time gesture-to-text and audio platform.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6334125" y="2085975"/>
            <a:ext cx="5276850" cy="3619500"/>
          </a:xfrm>
          <a:prstGeom prst="rect">
            <a:avLst/>
          </a:prstGeom>
          <a:noFill/>
          <a:ln>
            <a:noFill/>
          </a:ln>
        </p:spPr>
      </p:pic>
      <p:sp>
        <p:nvSpPr>
          <p:cNvPr id="94" name="Google Shape;94;p14"/>
          <p:cNvSpPr txBox="1"/>
          <p:nvPr/>
        </p:nvSpPr>
        <p:spPr>
          <a:xfrm>
            <a:off x="914400" y="1990725"/>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Objective:</a:t>
            </a:r>
            <a:r>
              <a:rPr b="0" i="0" lang="en-US" sz="1500" u="none" cap="none" strike="noStrike">
                <a:solidFill>
                  <a:srgbClr val="CBD5E1"/>
                </a:solidFill>
                <a:latin typeface="Urbanist"/>
                <a:ea typeface="Urbanist"/>
                <a:cs typeface="Urbanist"/>
                <a:sym typeface="Urbanist"/>
              </a:rPr>
              <a:t> Develop an automated system to convert sign language gestures into text and audio.</a:t>
            </a:r>
            <a:endParaRPr/>
          </a:p>
        </p:txBody>
      </p:sp>
      <p:sp>
        <p:nvSpPr>
          <p:cNvPr id="95" name="Google Shape;95;p14"/>
          <p:cNvSpPr txBox="1"/>
          <p:nvPr/>
        </p:nvSpPr>
        <p:spPr>
          <a:xfrm>
            <a:off x="914400" y="2790825"/>
            <a:ext cx="49434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Technology:</a:t>
            </a:r>
            <a:r>
              <a:rPr b="0" i="0" lang="en-US" sz="1500" u="none" cap="none" strike="noStrike">
                <a:solidFill>
                  <a:srgbClr val="CBD5E1"/>
                </a:solidFill>
                <a:latin typeface="Urbanist"/>
                <a:ea typeface="Urbanist"/>
                <a:cs typeface="Urbanist"/>
                <a:sym typeface="Urbanist"/>
              </a:rPr>
              <a:t> Utilizes Machine Learning (ML) models and Computer Vision (OpenCV, MediaPipe) to track hand gestures.</a:t>
            </a:r>
            <a:endParaRPr/>
          </a:p>
        </p:txBody>
      </p:sp>
      <p:sp>
        <p:nvSpPr>
          <p:cNvPr id="96" name="Google Shape;96;p14"/>
          <p:cNvSpPr txBox="1"/>
          <p:nvPr/>
        </p:nvSpPr>
        <p:spPr>
          <a:xfrm>
            <a:off x="914400" y="3895725"/>
            <a:ext cx="49434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Impact:</a:t>
            </a:r>
            <a:r>
              <a:rPr b="0" i="0" lang="en-US" sz="1500" u="none" cap="none" strike="noStrike">
                <a:solidFill>
                  <a:srgbClr val="CBD5E1"/>
                </a:solidFill>
                <a:latin typeface="Urbanist"/>
                <a:ea typeface="Urbanist"/>
                <a:cs typeface="Urbanist"/>
                <a:sym typeface="Urbanist"/>
              </a:rPr>
              <a:t> Bridges the massive communication gap between the deaf/mute community and those who don't know sign language.</a:t>
            </a:r>
            <a:endParaRPr/>
          </a:p>
        </p:txBody>
      </p:sp>
      <p:sp>
        <p:nvSpPr>
          <p:cNvPr id="97" name="Google Shape;97;p14"/>
          <p:cNvSpPr txBox="1"/>
          <p:nvPr/>
        </p:nvSpPr>
        <p:spPr>
          <a:xfrm>
            <a:off x="914400" y="5000625"/>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The Solution:</a:t>
            </a:r>
            <a:r>
              <a:rPr b="0" i="0" lang="en-US" sz="1500" u="none" cap="none" strike="noStrike">
                <a:solidFill>
                  <a:srgbClr val="CBD5E1"/>
                </a:solidFill>
                <a:latin typeface="Urbanist"/>
                <a:ea typeface="Urbanist"/>
                <a:cs typeface="Urbanist"/>
                <a:sym typeface="Urbanist"/>
              </a:rPr>
              <a:t> A user-friendly, real-time web application ensuring fluid, two-way accessibility.</a:t>
            </a:r>
            <a:endParaRPr/>
          </a:p>
        </p:txBody>
      </p:sp>
      <p:pic>
        <p:nvPicPr>
          <p:cNvPr descr="image.png" id="98" name="Google Shape;98;p14"/>
          <p:cNvPicPr preferRelativeResize="0"/>
          <p:nvPr/>
        </p:nvPicPr>
        <p:blipFill rotWithShape="1">
          <a:blip r:embed="rId5">
            <a:alphaModFix/>
          </a:blip>
          <a:srcRect b="0" l="0" r="0" t="0"/>
          <a:stretch/>
        </p:blipFill>
        <p:spPr>
          <a:xfrm>
            <a:off x="6343650" y="2095500"/>
            <a:ext cx="5257800" cy="3600450"/>
          </a:xfrm>
          <a:prstGeom prst="rect">
            <a:avLst/>
          </a:prstGeom>
          <a:noFill/>
          <a:ln>
            <a:noFill/>
          </a:ln>
        </p:spPr>
      </p:pic>
      <p:sp>
        <p:nvSpPr>
          <p:cNvPr id="99" name="Google Shape;99;p14"/>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1. Project </a:t>
            </a:r>
            <a:r>
              <a:rPr b="1" i="0" lang="en-US" sz="3600" u="none" cap="none" strike="noStrike">
                <a:solidFill>
                  <a:srgbClr val="22D3EE"/>
                </a:solidFill>
                <a:latin typeface="Urbanist"/>
                <a:ea typeface="Urbanist"/>
                <a:cs typeface="Urbanist"/>
                <a:sym typeface="Urbanist"/>
              </a:rPr>
              <a:t>Abstract</a:t>
            </a:r>
            <a:endParaRPr/>
          </a:p>
        </p:txBody>
      </p:sp>
      <p:pic>
        <p:nvPicPr>
          <p:cNvPr descr="image.png" id="100" name="Google Shape;100;p14"/>
          <p:cNvPicPr preferRelativeResize="0"/>
          <p:nvPr/>
        </p:nvPicPr>
        <p:blipFill rotWithShape="1">
          <a:blip r:embed="rId6">
            <a:alphaModFix/>
          </a:blip>
          <a:srcRect b="0" l="0" r="0" t="0"/>
          <a:stretch/>
        </p:blipFill>
        <p:spPr>
          <a:xfrm>
            <a:off x="581025" y="2009775"/>
            <a:ext cx="171450" cy="200025"/>
          </a:xfrm>
          <a:prstGeom prst="rect">
            <a:avLst/>
          </a:prstGeom>
          <a:noFill/>
          <a:ln>
            <a:noFill/>
          </a:ln>
        </p:spPr>
      </p:pic>
      <p:pic>
        <p:nvPicPr>
          <p:cNvPr descr="image.png" id="101" name="Google Shape;101;p14"/>
          <p:cNvPicPr preferRelativeResize="0"/>
          <p:nvPr/>
        </p:nvPicPr>
        <p:blipFill rotWithShape="1">
          <a:blip r:embed="rId6">
            <a:alphaModFix/>
          </a:blip>
          <a:srcRect b="0" l="0" r="0" t="0"/>
          <a:stretch/>
        </p:blipFill>
        <p:spPr>
          <a:xfrm>
            <a:off x="581025" y="2809875"/>
            <a:ext cx="171450" cy="200025"/>
          </a:xfrm>
          <a:prstGeom prst="rect">
            <a:avLst/>
          </a:prstGeom>
          <a:noFill/>
          <a:ln>
            <a:noFill/>
          </a:ln>
        </p:spPr>
      </p:pic>
      <p:pic>
        <p:nvPicPr>
          <p:cNvPr descr="image.png" id="102" name="Google Shape;102;p14"/>
          <p:cNvPicPr preferRelativeResize="0"/>
          <p:nvPr/>
        </p:nvPicPr>
        <p:blipFill rotWithShape="1">
          <a:blip r:embed="rId6">
            <a:alphaModFix/>
          </a:blip>
          <a:srcRect b="0" l="0" r="0" t="0"/>
          <a:stretch/>
        </p:blipFill>
        <p:spPr>
          <a:xfrm>
            <a:off x="581025" y="3914775"/>
            <a:ext cx="171450" cy="200025"/>
          </a:xfrm>
          <a:prstGeom prst="rect">
            <a:avLst/>
          </a:prstGeom>
          <a:noFill/>
          <a:ln>
            <a:noFill/>
          </a:ln>
        </p:spPr>
      </p:pic>
      <p:pic>
        <p:nvPicPr>
          <p:cNvPr descr="image.png" id="103" name="Google Shape;103;p14"/>
          <p:cNvPicPr preferRelativeResize="0"/>
          <p:nvPr/>
        </p:nvPicPr>
        <p:blipFill rotWithShape="1">
          <a:blip r:embed="rId6">
            <a:alphaModFix/>
          </a:blip>
          <a:srcRect b="0" l="0" r="0" t="0"/>
          <a:stretch/>
        </p:blipFill>
        <p:spPr>
          <a:xfrm>
            <a:off x="581025" y="5019675"/>
            <a:ext cx="171450" cy="200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9" name="Google Shape;109;p15"/>
          <p:cNvPicPr preferRelativeResize="0"/>
          <p:nvPr/>
        </p:nvPicPr>
        <p:blipFill rotWithShape="1">
          <a:blip r:embed="rId4">
            <a:alphaModFix/>
          </a:blip>
          <a:srcRect b="0" l="0" r="0" t="0"/>
          <a:stretch/>
        </p:blipFill>
        <p:spPr>
          <a:xfrm>
            <a:off x="581025" y="2266950"/>
            <a:ext cx="3486150" cy="3257550"/>
          </a:xfrm>
          <a:prstGeom prst="rect">
            <a:avLst/>
          </a:prstGeom>
          <a:noFill/>
          <a:ln>
            <a:noFill/>
          </a:ln>
        </p:spPr>
      </p:pic>
      <p:pic>
        <p:nvPicPr>
          <p:cNvPr descr="image.png" id="110" name="Google Shape;110;p15"/>
          <p:cNvPicPr preferRelativeResize="0"/>
          <p:nvPr/>
        </p:nvPicPr>
        <p:blipFill rotWithShape="1">
          <a:blip r:embed="rId5">
            <a:alphaModFix/>
          </a:blip>
          <a:srcRect b="0" l="0" r="0" t="0"/>
          <a:stretch/>
        </p:blipFill>
        <p:spPr>
          <a:xfrm>
            <a:off x="4352925" y="2266950"/>
            <a:ext cx="3486150" cy="3257550"/>
          </a:xfrm>
          <a:prstGeom prst="rect">
            <a:avLst/>
          </a:prstGeom>
          <a:noFill/>
          <a:ln>
            <a:noFill/>
          </a:ln>
        </p:spPr>
      </p:pic>
      <p:pic>
        <p:nvPicPr>
          <p:cNvPr descr="image.png" id="111" name="Google Shape;111;p15"/>
          <p:cNvPicPr preferRelativeResize="0"/>
          <p:nvPr/>
        </p:nvPicPr>
        <p:blipFill rotWithShape="1">
          <a:blip r:embed="rId6">
            <a:alphaModFix/>
          </a:blip>
          <a:srcRect b="0" l="0" r="0" t="0"/>
          <a:stretch/>
        </p:blipFill>
        <p:spPr>
          <a:xfrm>
            <a:off x="8124825" y="2266950"/>
            <a:ext cx="3486150" cy="3257550"/>
          </a:xfrm>
          <a:prstGeom prst="rect">
            <a:avLst/>
          </a:prstGeom>
          <a:noFill/>
          <a:ln>
            <a:noFill/>
          </a:ln>
        </p:spPr>
      </p:pic>
      <p:pic>
        <p:nvPicPr>
          <p:cNvPr descr="image.png" id="112" name="Google Shape;112;p15"/>
          <p:cNvPicPr preferRelativeResize="0"/>
          <p:nvPr/>
        </p:nvPicPr>
        <p:blipFill rotWithShape="1">
          <a:blip r:embed="rId7">
            <a:alphaModFix/>
          </a:blip>
          <a:srcRect b="0" l="0" r="0" t="0"/>
          <a:stretch/>
        </p:blipFill>
        <p:spPr>
          <a:xfrm>
            <a:off x="923925" y="2609850"/>
            <a:ext cx="571500" cy="571500"/>
          </a:xfrm>
          <a:prstGeom prst="rect">
            <a:avLst/>
          </a:prstGeom>
          <a:noFill/>
          <a:ln>
            <a:noFill/>
          </a:ln>
        </p:spPr>
      </p:pic>
      <p:sp>
        <p:nvSpPr>
          <p:cNvPr id="113" name="Google Shape;113;p15"/>
          <p:cNvSpPr txBox="1"/>
          <p:nvPr/>
        </p:nvSpPr>
        <p:spPr>
          <a:xfrm>
            <a:off x="923925" y="3419475"/>
            <a:ext cx="16802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Urbanist"/>
                <a:ea typeface="Urbanist"/>
                <a:cs typeface="Urbanist"/>
                <a:sym typeface="Urbanist"/>
              </a:rPr>
              <a:t>Core Domain</a:t>
            </a:r>
            <a:endParaRPr/>
          </a:p>
        </p:txBody>
      </p:sp>
      <p:sp>
        <p:nvSpPr>
          <p:cNvPr id="114" name="Google Shape;114;p15"/>
          <p:cNvSpPr txBox="1"/>
          <p:nvPr/>
        </p:nvSpPr>
        <p:spPr>
          <a:xfrm>
            <a:off x="923925" y="4076700"/>
            <a:ext cx="2800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Machine Learning and Computer Vision for real-time skeletal tracking.</a:t>
            </a:r>
            <a:endParaRPr/>
          </a:p>
        </p:txBody>
      </p:sp>
      <p:pic>
        <p:nvPicPr>
          <p:cNvPr descr="image.png" id="115" name="Google Shape;115;p15"/>
          <p:cNvPicPr preferRelativeResize="0"/>
          <p:nvPr/>
        </p:nvPicPr>
        <p:blipFill rotWithShape="1">
          <a:blip r:embed="rId8">
            <a:alphaModFix/>
          </a:blip>
          <a:srcRect b="0" l="0" r="0" t="0"/>
          <a:stretch/>
        </p:blipFill>
        <p:spPr>
          <a:xfrm>
            <a:off x="4695825" y="2609850"/>
            <a:ext cx="571500" cy="571500"/>
          </a:xfrm>
          <a:prstGeom prst="rect">
            <a:avLst/>
          </a:prstGeom>
          <a:noFill/>
          <a:ln>
            <a:noFill/>
          </a:ln>
        </p:spPr>
      </p:pic>
      <p:sp>
        <p:nvSpPr>
          <p:cNvPr id="116" name="Google Shape;116;p15"/>
          <p:cNvSpPr txBox="1"/>
          <p:nvPr/>
        </p:nvSpPr>
        <p:spPr>
          <a:xfrm>
            <a:off x="4695825" y="3419475"/>
            <a:ext cx="192024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Urbanist"/>
                <a:ea typeface="Urbanist"/>
                <a:cs typeface="Urbanist"/>
                <a:sym typeface="Urbanist"/>
              </a:rPr>
              <a:t>Platform Stack</a:t>
            </a:r>
            <a:endParaRPr/>
          </a:p>
        </p:txBody>
      </p:sp>
      <p:sp>
        <p:nvSpPr>
          <p:cNvPr id="117" name="Google Shape;117;p15"/>
          <p:cNvSpPr txBox="1"/>
          <p:nvPr/>
        </p:nvSpPr>
        <p:spPr>
          <a:xfrm>
            <a:off x="4695825" y="4076700"/>
            <a:ext cx="2800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React Frontend, Python Backend, OpenCV, MediaPipe, and TensorFlow.</a:t>
            </a:r>
            <a:endParaRPr/>
          </a:p>
        </p:txBody>
      </p:sp>
      <p:pic>
        <p:nvPicPr>
          <p:cNvPr descr="image.png" id="118" name="Google Shape;118;p15"/>
          <p:cNvPicPr preferRelativeResize="0"/>
          <p:nvPr/>
        </p:nvPicPr>
        <p:blipFill rotWithShape="1">
          <a:blip r:embed="rId9">
            <a:alphaModFix/>
          </a:blip>
          <a:srcRect b="0" l="0" r="0" t="0"/>
          <a:stretch/>
        </p:blipFill>
        <p:spPr>
          <a:xfrm>
            <a:off x="8467725" y="2609850"/>
            <a:ext cx="571500" cy="571500"/>
          </a:xfrm>
          <a:prstGeom prst="rect">
            <a:avLst/>
          </a:prstGeom>
          <a:noFill/>
          <a:ln>
            <a:noFill/>
          </a:ln>
        </p:spPr>
      </p:pic>
      <p:sp>
        <p:nvSpPr>
          <p:cNvPr id="119" name="Google Shape;119;p15"/>
          <p:cNvSpPr txBox="1"/>
          <p:nvPr/>
        </p:nvSpPr>
        <p:spPr>
          <a:xfrm>
            <a:off x="8467725" y="3419475"/>
            <a:ext cx="14801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Urbanist"/>
                <a:ea typeface="Urbanist"/>
                <a:cs typeface="Urbanist"/>
                <a:sym typeface="Urbanist"/>
              </a:rPr>
              <a:t>I/O Pipeline</a:t>
            </a:r>
            <a:endParaRPr/>
          </a:p>
        </p:txBody>
      </p:sp>
      <p:sp>
        <p:nvSpPr>
          <p:cNvPr id="120" name="Google Shape;120;p15"/>
          <p:cNvSpPr txBox="1"/>
          <p:nvPr/>
        </p:nvSpPr>
        <p:spPr>
          <a:xfrm>
            <a:off x="8467725" y="4076700"/>
            <a:ext cx="2800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Camera Input → ML Processing → Synchronized Text &amp; Audio Output.</a:t>
            </a:r>
            <a:endParaRPr/>
          </a:p>
        </p:txBody>
      </p:sp>
      <p:pic>
        <p:nvPicPr>
          <p:cNvPr descr="image.png" id="121" name="Google Shape;121;p15"/>
          <p:cNvPicPr preferRelativeResize="0"/>
          <p:nvPr/>
        </p:nvPicPr>
        <p:blipFill rotWithShape="1">
          <a:blip r:embed="rId10">
            <a:alphaModFix/>
          </a:blip>
          <a:srcRect b="0" l="0" r="0" t="0"/>
          <a:stretch/>
        </p:blipFill>
        <p:spPr>
          <a:xfrm>
            <a:off x="1057275" y="2743200"/>
            <a:ext cx="304800" cy="304800"/>
          </a:xfrm>
          <a:prstGeom prst="rect">
            <a:avLst/>
          </a:prstGeom>
          <a:noFill/>
          <a:ln>
            <a:noFill/>
          </a:ln>
        </p:spPr>
      </p:pic>
      <p:pic>
        <p:nvPicPr>
          <p:cNvPr descr="image.png" id="122" name="Google Shape;122;p15"/>
          <p:cNvPicPr preferRelativeResize="0"/>
          <p:nvPr/>
        </p:nvPicPr>
        <p:blipFill rotWithShape="1">
          <a:blip r:embed="rId11">
            <a:alphaModFix/>
          </a:blip>
          <a:srcRect b="0" l="0" r="0" t="0"/>
          <a:stretch/>
        </p:blipFill>
        <p:spPr>
          <a:xfrm>
            <a:off x="4791075" y="2743200"/>
            <a:ext cx="381000" cy="304800"/>
          </a:xfrm>
          <a:prstGeom prst="rect">
            <a:avLst/>
          </a:prstGeom>
          <a:noFill/>
          <a:ln>
            <a:noFill/>
          </a:ln>
        </p:spPr>
      </p:pic>
      <p:pic>
        <p:nvPicPr>
          <p:cNvPr descr="image.png" id="123" name="Google Shape;123;p15"/>
          <p:cNvPicPr preferRelativeResize="0"/>
          <p:nvPr/>
        </p:nvPicPr>
        <p:blipFill rotWithShape="1">
          <a:blip r:embed="rId12">
            <a:alphaModFix/>
          </a:blip>
          <a:srcRect b="0" l="0" r="0" t="0"/>
          <a:stretch/>
        </p:blipFill>
        <p:spPr>
          <a:xfrm>
            <a:off x="8620125" y="2743200"/>
            <a:ext cx="266700" cy="304800"/>
          </a:xfrm>
          <a:prstGeom prst="rect">
            <a:avLst/>
          </a:prstGeom>
          <a:noFill/>
          <a:ln>
            <a:noFill/>
          </a:ln>
        </p:spPr>
      </p:pic>
      <p:sp>
        <p:nvSpPr>
          <p:cNvPr id="124" name="Google Shape;124;p15"/>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2. Project </a:t>
            </a:r>
            <a:r>
              <a:rPr b="1" i="0" lang="en-US" sz="3600" u="none" cap="none" strike="noStrike">
                <a:solidFill>
                  <a:srgbClr val="22D3EE"/>
                </a:solidFill>
                <a:latin typeface="Urbanist"/>
                <a:ea typeface="Urbanist"/>
                <a:cs typeface="Urbanist"/>
                <a:sym typeface="Urbanist"/>
              </a:rPr>
              <a:t>Outline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28" name="Shape 128"/>
        <p:cNvGrpSpPr/>
        <p:nvPr/>
      </p:nvGrpSpPr>
      <p:grpSpPr>
        <a:xfrm>
          <a:off x="0" y="0"/>
          <a:ext cx="0" cy="0"/>
          <a:chOff x="0" y="0"/>
          <a:chExt cx="0" cy="0"/>
        </a:xfrm>
      </p:grpSpPr>
      <p:pic>
        <p:nvPicPr>
          <p:cNvPr descr="image.png" id="129" name="Google Shape;129;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0" name="Google Shape;130;p16"/>
          <p:cNvSpPr txBox="1"/>
          <p:nvPr/>
        </p:nvSpPr>
        <p:spPr>
          <a:xfrm>
            <a:off x="581025" y="581025"/>
            <a:ext cx="5190648"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3. Problem </a:t>
            </a:r>
            <a:r>
              <a:rPr b="1" i="0" lang="en-US" sz="3600" u="none" cap="none" strike="noStrike">
                <a:solidFill>
                  <a:srgbClr val="22D3EE"/>
                </a:solidFill>
                <a:latin typeface="Urbanist"/>
                <a:ea typeface="Urbanist"/>
                <a:cs typeface="Urbanist"/>
                <a:sym typeface="Urbanist"/>
              </a:rPr>
              <a:t>Definition</a:t>
            </a:r>
            <a:endParaRPr/>
          </a:p>
        </p:txBody>
      </p:sp>
      <p:pic>
        <p:nvPicPr>
          <p:cNvPr descr="image.png" id="131" name="Google Shape;131;p16"/>
          <p:cNvPicPr preferRelativeResize="0"/>
          <p:nvPr/>
        </p:nvPicPr>
        <p:blipFill rotWithShape="1">
          <a:blip r:embed="rId4">
            <a:alphaModFix/>
          </a:blip>
          <a:srcRect b="0" l="0" r="0" t="0"/>
          <a:stretch/>
        </p:blipFill>
        <p:spPr>
          <a:xfrm>
            <a:off x="6096000" y="9525"/>
            <a:ext cx="6086475" cy="6858000"/>
          </a:xfrm>
          <a:prstGeom prst="rect">
            <a:avLst/>
          </a:prstGeom>
          <a:noFill/>
          <a:ln>
            <a:noFill/>
          </a:ln>
        </p:spPr>
      </p:pic>
      <p:sp>
        <p:nvSpPr>
          <p:cNvPr id="132" name="Google Shape;132;p16"/>
          <p:cNvSpPr txBox="1"/>
          <p:nvPr/>
        </p:nvSpPr>
        <p:spPr>
          <a:xfrm>
            <a:off x="581025" y="1852612"/>
            <a:ext cx="51906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22D3EE"/>
                </a:solidFill>
                <a:latin typeface="Urbanist"/>
                <a:ea typeface="Urbanist"/>
                <a:cs typeface="Urbanist"/>
                <a:sym typeface="Urbanist"/>
              </a:rPr>
              <a:t>The Communication Barrier</a:t>
            </a:r>
            <a:endParaRPr/>
          </a:p>
        </p:txBody>
      </p:sp>
      <p:sp>
        <p:nvSpPr>
          <p:cNvPr id="133" name="Google Shape;133;p16"/>
          <p:cNvSpPr txBox="1"/>
          <p:nvPr/>
        </p:nvSpPr>
        <p:spPr>
          <a:xfrm>
            <a:off x="581025" y="2366962"/>
            <a:ext cx="49434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Millions of deaf and mute individuals rely exclusively on sign language. However, the general public lacks the training to understand it, leading to social exclusion and dependency on expensive human translators.</a:t>
            </a:r>
            <a:endParaRPr/>
          </a:p>
        </p:txBody>
      </p:sp>
      <p:sp>
        <p:nvSpPr>
          <p:cNvPr id="134" name="Google Shape;134;p16"/>
          <p:cNvSpPr txBox="1"/>
          <p:nvPr/>
        </p:nvSpPr>
        <p:spPr>
          <a:xfrm>
            <a:off x="581025" y="3871912"/>
            <a:ext cx="5190648"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818CF8"/>
                </a:solidFill>
                <a:latin typeface="Urbanist"/>
                <a:ea typeface="Urbanist"/>
                <a:cs typeface="Urbanist"/>
                <a:sym typeface="Urbanist"/>
              </a:rPr>
              <a:t>The Necessity</a:t>
            </a:r>
            <a:endParaRPr/>
          </a:p>
        </p:txBody>
      </p:sp>
      <p:sp>
        <p:nvSpPr>
          <p:cNvPr id="135" name="Google Shape;135;p16"/>
          <p:cNvSpPr txBox="1"/>
          <p:nvPr/>
        </p:nvSpPr>
        <p:spPr>
          <a:xfrm>
            <a:off x="581025" y="4386262"/>
            <a:ext cx="4943475"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There is an urgent need for an affordable, highly-available, real-time automated system that can translate gestures into universal text and speech, empowering users in retail, emergency, and daily settings.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39" name="Shape 139"/>
        <p:cNvGrpSpPr/>
        <p:nvPr/>
      </p:nvGrpSpPr>
      <p:grpSpPr>
        <a:xfrm>
          <a:off x="0" y="0"/>
          <a:ext cx="0" cy="0"/>
          <a:chOff x="0" y="0"/>
          <a:chExt cx="0" cy="0"/>
        </a:xfrm>
      </p:grpSpPr>
      <p:pic>
        <p:nvPicPr>
          <p:cNvPr descr="image.png" id="140" name="Google Shape;14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1" name="Google Shape;141;p17"/>
          <p:cNvPicPr preferRelativeResize="0"/>
          <p:nvPr/>
        </p:nvPicPr>
        <p:blipFill rotWithShape="1">
          <a:blip r:embed="rId4">
            <a:alphaModFix/>
          </a:blip>
          <a:srcRect b="0" l="0" r="0" t="0"/>
          <a:stretch/>
        </p:blipFill>
        <p:spPr>
          <a:xfrm>
            <a:off x="581025" y="2766119"/>
            <a:ext cx="2614612" cy="2259210"/>
          </a:xfrm>
          <a:prstGeom prst="rect">
            <a:avLst/>
          </a:prstGeom>
          <a:noFill/>
          <a:ln>
            <a:noFill/>
          </a:ln>
        </p:spPr>
      </p:pic>
      <p:pic>
        <p:nvPicPr>
          <p:cNvPr descr="image.png" id="142" name="Google Shape;142;p17"/>
          <p:cNvPicPr preferRelativeResize="0"/>
          <p:nvPr/>
        </p:nvPicPr>
        <p:blipFill rotWithShape="1">
          <a:blip r:embed="rId5">
            <a:alphaModFix/>
          </a:blip>
          <a:srcRect b="0" l="0" r="0" t="0"/>
          <a:stretch/>
        </p:blipFill>
        <p:spPr>
          <a:xfrm>
            <a:off x="3386137" y="2766119"/>
            <a:ext cx="2614612" cy="2259210"/>
          </a:xfrm>
          <a:prstGeom prst="rect">
            <a:avLst/>
          </a:prstGeom>
          <a:noFill/>
          <a:ln>
            <a:noFill/>
          </a:ln>
        </p:spPr>
      </p:pic>
      <p:pic>
        <p:nvPicPr>
          <p:cNvPr descr="image.png" id="143" name="Google Shape;143;p17"/>
          <p:cNvPicPr preferRelativeResize="0"/>
          <p:nvPr/>
        </p:nvPicPr>
        <p:blipFill rotWithShape="1">
          <a:blip r:embed="rId5">
            <a:alphaModFix/>
          </a:blip>
          <a:srcRect b="0" l="0" r="0" t="0"/>
          <a:stretch/>
        </p:blipFill>
        <p:spPr>
          <a:xfrm>
            <a:off x="6191250" y="2766119"/>
            <a:ext cx="2614612" cy="2259210"/>
          </a:xfrm>
          <a:prstGeom prst="rect">
            <a:avLst/>
          </a:prstGeom>
          <a:noFill/>
          <a:ln>
            <a:noFill/>
          </a:ln>
        </p:spPr>
      </p:pic>
      <p:pic>
        <p:nvPicPr>
          <p:cNvPr descr="image.png" id="144" name="Google Shape;144;p17"/>
          <p:cNvPicPr preferRelativeResize="0"/>
          <p:nvPr/>
        </p:nvPicPr>
        <p:blipFill rotWithShape="1">
          <a:blip r:embed="rId6">
            <a:alphaModFix/>
          </a:blip>
          <a:srcRect b="0" l="0" r="0" t="0"/>
          <a:stretch/>
        </p:blipFill>
        <p:spPr>
          <a:xfrm>
            <a:off x="8996362" y="2766119"/>
            <a:ext cx="2614612" cy="2259210"/>
          </a:xfrm>
          <a:prstGeom prst="rect">
            <a:avLst/>
          </a:prstGeom>
          <a:noFill/>
          <a:ln>
            <a:noFill/>
          </a:ln>
        </p:spPr>
      </p:pic>
      <p:pic>
        <p:nvPicPr>
          <p:cNvPr descr="image.png" id="145" name="Google Shape;145;p17"/>
          <p:cNvPicPr preferRelativeResize="0"/>
          <p:nvPr/>
        </p:nvPicPr>
        <p:blipFill rotWithShape="1">
          <a:blip r:embed="rId7">
            <a:alphaModFix/>
          </a:blip>
          <a:srcRect b="0" l="0" r="0" t="0"/>
          <a:stretch/>
        </p:blipFill>
        <p:spPr>
          <a:xfrm>
            <a:off x="828675" y="3013769"/>
            <a:ext cx="428625" cy="428625"/>
          </a:xfrm>
          <a:prstGeom prst="rect">
            <a:avLst/>
          </a:prstGeom>
          <a:noFill/>
          <a:ln>
            <a:noFill/>
          </a:ln>
        </p:spPr>
      </p:pic>
      <p:sp>
        <p:nvSpPr>
          <p:cNvPr id="146" name="Google Shape;146;p17"/>
          <p:cNvSpPr txBox="1"/>
          <p:nvPr/>
        </p:nvSpPr>
        <p:spPr>
          <a:xfrm>
            <a:off x="828675" y="3585269"/>
            <a:ext cx="810101"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Capture</a:t>
            </a:r>
            <a:endParaRPr/>
          </a:p>
        </p:txBody>
      </p:sp>
      <p:sp>
        <p:nvSpPr>
          <p:cNvPr id="147" name="Google Shape;147;p17"/>
          <p:cNvSpPr txBox="1"/>
          <p:nvPr/>
        </p:nvSpPr>
        <p:spPr>
          <a:xfrm>
            <a:off x="828675"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Capture live hand gestures via standard webcam.</a:t>
            </a:r>
            <a:endParaRPr/>
          </a:p>
        </p:txBody>
      </p:sp>
      <p:pic>
        <p:nvPicPr>
          <p:cNvPr descr="image.png" id="148" name="Google Shape;148;p17"/>
          <p:cNvPicPr preferRelativeResize="0"/>
          <p:nvPr/>
        </p:nvPicPr>
        <p:blipFill rotWithShape="1">
          <a:blip r:embed="rId8">
            <a:alphaModFix/>
          </a:blip>
          <a:srcRect b="0" l="0" r="0" t="0"/>
          <a:stretch/>
        </p:blipFill>
        <p:spPr>
          <a:xfrm>
            <a:off x="3633787" y="3013769"/>
            <a:ext cx="428625" cy="428625"/>
          </a:xfrm>
          <a:prstGeom prst="rect">
            <a:avLst/>
          </a:prstGeom>
          <a:noFill/>
          <a:ln>
            <a:noFill/>
          </a:ln>
        </p:spPr>
      </p:pic>
      <p:sp>
        <p:nvSpPr>
          <p:cNvPr id="149" name="Google Shape;149;p17"/>
          <p:cNvSpPr txBox="1"/>
          <p:nvPr/>
        </p:nvSpPr>
        <p:spPr>
          <a:xfrm>
            <a:off x="3633787" y="3585269"/>
            <a:ext cx="660082"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Detect</a:t>
            </a:r>
            <a:endParaRPr/>
          </a:p>
        </p:txBody>
      </p:sp>
      <p:sp>
        <p:nvSpPr>
          <p:cNvPr id="150" name="Google Shape;150;p17"/>
          <p:cNvSpPr txBox="1"/>
          <p:nvPr/>
        </p:nvSpPr>
        <p:spPr>
          <a:xfrm>
            <a:off x="3633787"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Detect 21 hand landmarks using Google MediaPipe.</a:t>
            </a:r>
            <a:endParaRPr/>
          </a:p>
        </p:txBody>
      </p:sp>
      <p:pic>
        <p:nvPicPr>
          <p:cNvPr descr="image.png" id="151" name="Google Shape;151;p17"/>
          <p:cNvPicPr preferRelativeResize="0"/>
          <p:nvPr/>
        </p:nvPicPr>
        <p:blipFill rotWithShape="1">
          <a:blip r:embed="rId9">
            <a:alphaModFix/>
          </a:blip>
          <a:srcRect b="0" l="0" r="0" t="0"/>
          <a:stretch/>
        </p:blipFill>
        <p:spPr>
          <a:xfrm>
            <a:off x="6438900" y="3013769"/>
            <a:ext cx="428625" cy="428625"/>
          </a:xfrm>
          <a:prstGeom prst="rect">
            <a:avLst/>
          </a:prstGeom>
          <a:noFill/>
          <a:ln>
            <a:noFill/>
          </a:ln>
        </p:spPr>
      </p:pic>
      <p:sp>
        <p:nvSpPr>
          <p:cNvPr id="152" name="Google Shape;152;p17"/>
          <p:cNvSpPr txBox="1"/>
          <p:nvPr/>
        </p:nvSpPr>
        <p:spPr>
          <a:xfrm>
            <a:off x="6438900" y="3585269"/>
            <a:ext cx="800100"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Classify</a:t>
            </a:r>
            <a:endParaRPr/>
          </a:p>
        </p:txBody>
      </p:sp>
      <p:sp>
        <p:nvSpPr>
          <p:cNvPr id="153" name="Google Shape;153;p17"/>
          <p:cNvSpPr txBox="1"/>
          <p:nvPr/>
        </p:nvSpPr>
        <p:spPr>
          <a:xfrm>
            <a:off x="6438900"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Process coordinates via trained TensorFlow model.</a:t>
            </a:r>
            <a:endParaRPr/>
          </a:p>
        </p:txBody>
      </p:sp>
      <p:pic>
        <p:nvPicPr>
          <p:cNvPr descr="image.png" id="154" name="Google Shape;154;p17"/>
          <p:cNvPicPr preferRelativeResize="0"/>
          <p:nvPr/>
        </p:nvPicPr>
        <p:blipFill rotWithShape="1">
          <a:blip r:embed="rId10">
            <a:alphaModFix/>
          </a:blip>
          <a:srcRect b="0" l="0" r="0" t="0"/>
          <a:stretch/>
        </p:blipFill>
        <p:spPr>
          <a:xfrm>
            <a:off x="9244012" y="3013769"/>
            <a:ext cx="428625" cy="428625"/>
          </a:xfrm>
          <a:prstGeom prst="rect">
            <a:avLst/>
          </a:prstGeom>
          <a:noFill/>
          <a:ln>
            <a:noFill/>
          </a:ln>
        </p:spPr>
      </p:pic>
      <p:sp>
        <p:nvSpPr>
          <p:cNvPr id="155" name="Google Shape;155;p17"/>
          <p:cNvSpPr txBox="1"/>
          <p:nvPr/>
        </p:nvSpPr>
        <p:spPr>
          <a:xfrm>
            <a:off x="9244012" y="3585269"/>
            <a:ext cx="700087"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F8FAFC"/>
                </a:solidFill>
                <a:latin typeface="Urbanist"/>
                <a:ea typeface="Urbanist"/>
                <a:cs typeface="Urbanist"/>
                <a:sym typeface="Urbanist"/>
              </a:rPr>
              <a:t>Output</a:t>
            </a:r>
            <a:endParaRPr/>
          </a:p>
        </p:txBody>
      </p:sp>
      <p:sp>
        <p:nvSpPr>
          <p:cNvPr id="156" name="Google Shape;156;p17"/>
          <p:cNvSpPr txBox="1"/>
          <p:nvPr/>
        </p:nvSpPr>
        <p:spPr>
          <a:xfrm>
            <a:off x="9244012" y="4137719"/>
            <a:ext cx="2119312"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Render translated text and generate TTS Audio.</a:t>
            </a:r>
            <a:endParaRPr/>
          </a:p>
        </p:txBody>
      </p:sp>
      <p:pic>
        <p:nvPicPr>
          <p:cNvPr descr="image.png" id="157" name="Google Shape;157;p17"/>
          <p:cNvPicPr preferRelativeResize="0"/>
          <p:nvPr/>
        </p:nvPicPr>
        <p:blipFill rotWithShape="1">
          <a:blip r:embed="rId11">
            <a:alphaModFix/>
          </a:blip>
          <a:srcRect b="0" l="0" r="0" t="0"/>
          <a:stretch/>
        </p:blipFill>
        <p:spPr>
          <a:xfrm>
            <a:off x="933450" y="3132832"/>
            <a:ext cx="219075" cy="190500"/>
          </a:xfrm>
          <a:prstGeom prst="rect">
            <a:avLst/>
          </a:prstGeom>
          <a:noFill/>
          <a:ln>
            <a:noFill/>
          </a:ln>
        </p:spPr>
      </p:pic>
      <p:pic>
        <p:nvPicPr>
          <p:cNvPr descr="image.png" id="158" name="Google Shape;158;p17"/>
          <p:cNvPicPr preferRelativeResize="0"/>
          <p:nvPr/>
        </p:nvPicPr>
        <p:blipFill rotWithShape="1">
          <a:blip r:embed="rId12">
            <a:alphaModFix/>
          </a:blip>
          <a:srcRect b="0" l="0" r="0" t="0"/>
          <a:stretch/>
        </p:blipFill>
        <p:spPr>
          <a:xfrm>
            <a:off x="3752850" y="3132832"/>
            <a:ext cx="190500" cy="190500"/>
          </a:xfrm>
          <a:prstGeom prst="rect">
            <a:avLst/>
          </a:prstGeom>
          <a:noFill/>
          <a:ln>
            <a:noFill/>
          </a:ln>
        </p:spPr>
      </p:pic>
      <p:pic>
        <p:nvPicPr>
          <p:cNvPr descr="image.png" id="159" name="Google Shape;159;p17"/>
          <p:cNvPicPr preferRelativeResize="0"/>
          <p:nvPr/>
        </p:nvPicPr>
        <p:blipFill rotWithShape="1">
          <a:blip r:embed="rId13">
            <a:alphaModFix/>
          </a:blip>
          <a:srcRect b="0" l="0" r="0" t="0"/>
          <a:stretch/>
        </p:blipFill>
        <p:spPr>
          <a:xfrm>
            <a:off x="6543675" y="3132832"/>
            <a:ext cx="219075" cy="190500"/>
          </a:xfrm>
          <a:prstGeom prst="rect">
            <a:avLst/>
          </a:prstGeom>
          <a:noFill/>
          <a:ln>
            <a:noFill/>
          </a:ln>
        </p:spPr>
      </p:pic>
      <p:pic>
        <p:nvPicPr>
          <p:cNvPr descr="image.png" id="160" name="Google Shape;160;p17"/>
          <p:cNvPicPr preferRelativeResize="0"/>
          <p:nvPr/>
        </p:nvPicPr>
        <p:blipFill rotWithShape="1">
          <a:blip r:embed="rId14">
            <a:alphaModFix/>
          </a:blip>
          <a:srcRect b="0" l="0" r="0" t="0"/>
          <a:stretch/>
        </p:blipFill>
        <p:spPr>
          <a:xfrm>
            <a:off x="9339262" y="3132832"/>
            <a:ext cx="238125" cy="190500"/>
          </a:xfrm>
          <a:prstGeom prst="rect">
            <a:avLst/>
          </a:prstGeom>
          <a:noFill/>
          <a:ln>
            <a:noFill/>
          </a:ln>
        </p:spPr>
      </p:pic>
      <p:sp>
        <p:nvSpPr>
          <p:cNvPr id="161" name="Google Shape;161;p17"/>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4. System </a:t>
            </a:r>
            <a:r>
              <a:rPr b="1" i="0" lang="en-US" sz="3600" u="none" cap="none" strike="noStrike">
                <a:solidFill>
                  <a:srgbClr val="22D3EE"/>
                </a:solidFill>
                <a:latin typeface="Urbanist"/>
                <a:ea typeface="Urbanist"/>
                <a:cs typeface="Urbanist"/>
                <a:sym typeface="Urbanist"/>
              </a:rPr>
              <a:t>Methodology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65" name="Shape 165"/>
        <p:cNvGrpSpPr/>
        <p:nvPr/>
      </p:nvGrpSpPr>
      <p:grpSpPr>
        <a:xfrm>
          <a:off x="0" y="0"/>
          <a:ext cx="0" cy="0"/>
          <a:chOff x="0" y="0"/>
          <a:chExt cx="0" cy="0"/>
        </a:xfrm>
      </p:grpSpPr>
      <p:pic>
        <p:nvPicPr>
          <p:cNvPr descr="image.png" id="166" name="Google Shape;166;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7" name="Google Shape;167;p18"/>
          <p:cNvPicPr preferRelativeResize="0"/>
          <p:nvPr/>
        </p:nvPicPr>
        <p:blipFill rotWithShape="1">
          <a:blip r:embed="rId4">
            <a:alphaModFix/>
          </a:blip>
          <a:srcRect b="0" l="0" r="0" t="0"/>
          <a:stretch/>
        </p:blipFill>
        <p:spPr>
          <a:xfrm>
            <a:off x="6334125" y="1990725"/>
            <a:ext cx="5276850" cy="3810000"/>
          </a:xfrm>
          <a:prstGeom prst="rect">
            <a:avLst/>
          </a:prstGeom>
          <a:noFill/>
          <a:ln>
            <a:noFill/>
          </a:ln>
        </p:spPr>
      </p:pic>
      <p:sp>
        <p:nvSpPr>
          <p:cNvPr id="168" name="Google Shape;168;p18"/>
          <p:cNvSpPr txBox="1"/>
          <p:nvPr/>
        </p:nvSpPr>
        <p:spPr>
          <a:xfrm>
            <a:off x="581025" y="2214562"/>
            <a:ext cx="52768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system successfully maps the 21 neural hand nodes in real-time, calculating joint angles to predict the signed alphabet or word.</a:t>
            </a:r>
            <a:endParaRPr/>
          </a:p>
        </p:txBody>
      </p:sp>
      <p:sp>
        <p:nvSpPr>
          <p:cNvPr id="169" name="Google Shape;169;p18"/>
          <p:cNvSpPr txBox="1"/>
          <p:nvPr/>
        </p:nvSpPr>
        <p:spPr>
          <a:xfrm>
            <a:off x="914400" y="3367087"/>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UI Module:</a:t>
            </a:r>
            <a:r>
              <a:rPr b="0" i="0" lang="en-US" sz="1500" u="none" cap="none" strike="noStrike">
                <a:solidFill>
                  <a:srgbClr val="CBD5E1"/>
                </a:solidFill>
                <a:latin typeface="Urbanist"/>
                <a:ea typeface="Urbanist"/>
                <a:cs typeface="Urbanist"/>
                <a:sym typeface="Urbanist"/>
              </a:rPr>
              <a:t> Clean camera display with live frame-rate processing.</a:t>
            </a:r>
            <a:endParaRPr/>
          </a:p>
        </p:txBody>
      </p:sp>
      <p:sp>
        <p:nvSpPr>
          <p:cNvPr id="170" name="Google Shape;170;p18"/>
          <p:cNvSpPr txBox="1"/>
          <p:nvPr/>
        </p:nvSpPr>
        <p:spPr>
          <a:xfrm>
            <a:off x="914400" y="4167187"/>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Hand Detection Module:</a:t>
            </a:r>
            <a:r>
              <a:rPr b="0" i="0" lang="en-US" sz="1500" u="none" cap="none" strike="noStrike">
                <a:solidFill>
                  <a:srgbClr val="CBD5E1"/>
                </a:solidFill>
                <a:latin typeface="Urbanist"/>
                <a:ea typeface="Urbanist"/>
                <a:cs typeface="Urbanist"/>
                <a:sym typeface="Urbanist"/>
              </a:rPr>
              <a:t> MediaPipe tracking works accurately under various lighting conditions.</a:t>
            </a:r>
            <a:endParaRPr/>
          </a:p>
        </p:txBody>
      </p:sp>
      <p:sp>
        <p:nvSpPr>
          <p:cNvPr id="171" name="Google Shape;171;p18"/>
          <p:cNvSpPr txBox="1"/>
          <p:nvPr/>
        </p:nvSpPr>
        <p:spPr>
          <a:xfrm>
            <a:off x="914400" y="4967287"/>
            <a:ext cx="49434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Conversion Module:</a:t>
            </a:r>
            <a:r>
              <a:rPr b="0" i="0" lang="en-US" sz="1500" u="none" cap="none" strike="noStrike">
                <a:solidFill>
                  <a:srgbClr val="CBD5E1"/>
                </a:solidFill>
                <a:latin typeface="Urbanist"/>
                <a:ea typeface="Urbanist"/>
                <a:cs typeface="Urbanist"/>
                <a:sym typeface="Urbanist"/>
              </a:rPr>
              <a:t> Instantaneous text transcription displayed directly on the UI dashboard.</a:t>
            </a:r>
            <a:endParaRPr/>
          </a:p>
        </p:txBody>
      </p:sp>
      <p:pic>
        <p:nvPicPr>
          <p:cNvPr descr="image.png" id="172" name="Google Shape;172;p18"/>
          <p:cNvPicPr preferRelativeResize="0"/>
          <p:nvPr/>
        </p:nvPicPr>
        <p:blipFill rotWithShape="1">
          <a:blip r:embed="rId5">
            <a:alphaModFix/>
          </a:blip>
          <a:srcRect b="0" l="0" r="0" t="0"/>
          <a:stretch/>
        </p:blipFill>
        <p:spPr>
          <a:xfrm>
            <a:off x="6353175" y="2009775"/>
            <a:ext cx="5238750" cy="3771900"/>
          </a:xfrm>
          <a:prstGeom prst="rect">
            <a:avLst/>
          </a:prstGeom>
          <a:noFill/>
          <a:ln>
            <a:noFill/>
          </a:ln>
        </p:spPr>
      </p:pic>
      <p:sp>
        <p:nvSpPr>
          <p:cNvPr id="173" name="Google Shape;173;p18"/>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5. Realistic Output </a:t>
            </a:r>
            <a:r>
              <a:rPr b="1" i="0" lang="en-US" sz="3600" u="none" cap="none" strike="noStrike">
                <a:solidFill>
                  <a:srgbClr val="22D3EE"/>
                </a:solidFill>
                <a:latin typeface="Urbanist"/>
                <a:ea typeface="Urbanist"/>
                <a:cs typeface="Urbanist"/>
                <a:sym typeface="Urbanist"/>
              </a:rPr>
              <a:t>(Execution)</a:t>
            </a:r>
            <a:endParaRPr/>
          </a:p>
        </p:txBody>
      </p:sp>
      <p:pic>
        <p:nvPicPr>
          <p:cNvPr descr="image.png" id="174" name="Google Shape;174;p18"/>
          <p:cNvPicPr preferRelativeResize="0"/>
          <p:nvPr/>
        </p:nvPicPr>
        <p:blipFill rotWithShape="1">
          <a:blip r:embed="rId6">
            <a:alphaModFix/>
          </a:blip>
          <a:srcRect b="0" l="0" r="0" t="0"/>
          <a:stretch/>
        </p:blipFill>
        <p:spPr>
          <a:xfrm>
            <a:off x="581025" y="3386137"/>
            <a:ext cx="171450" cy="200025"/>
          </a:xfrm>
          <a:prstGeom prst="rect">
            <a:avLst/>
          </a:prstGeom>
          <a:noFill/>
          <a:ln>
            <a:noFill/>
          </a:ln>
        </p:spPr>
      </p:pic>
      <p:pic>
        <p:nvPicPr>
          <p:cNvPr descr="image.png" id="175" name="Google Shape;175;p18"/>
          <p:cNvPicPr preferRelativeResize="0"/>
          <p:nvPr/>
        </p:nvPicPr>
        <p:blipFill rotWithShape="1">
          <a:blip r:embed="rId6">
            <a:alphaModFix/>
          </a:blip>
          <a:srcRect b="0" l="0" r="0" t="0"/>
          <a:stretch/>
        </p:blipFill>
        <p:spPr>
          <a:xfrm>
            <a:off x="581025" y="4186237"/>
            <a:ext cx="171450" cy="200025"/>
          </a:xfrm>
          <a:prstGeom prst="rect">
            <a:avLst/>
          </a:prstGeom>
          <a:noFill/>
          <a:ln>
            <a:noFill/>
          </a:ln>
        </p:spPr>
      </p:pic>
      <p:pic>
        <p:nvPicPr>
          <p:cNvPr descr="image.png" id="176" name="Google Shape;176;p18"/>
          <p:cNvPicPr preferRelativeResize="0"/>
          <p:nvPr/>
        </p:nvPicPr>
        <p:blipFill rotWithShape="1">
          <a:blip r:embed="rId6">
            <a:alphaModFix/>
          </a:blip>
          <a:srcRect b="0" l="0" r="0" t="0"/>
          <a:stretch/>
        </p:blipFill>
        <p:spPr>
          <a:xfrm>
            <a:off x="581025" y="4986337"/>
            <a:ext cx="171450" cy="200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80" name="Shape 180"/>
        <p:cNvGrpSpPr/>
        <p:nvPr/>
      </p:nvGrpSpPr>
      <p:grpSpPr>
        <a:xfrm>
          <a:off x="0" y="0"/>
          <a:ext cx="0" cy="0"/>
          <a:chOff x="0" y="0"/>
          <a:chExt cx="0" cy="0"/>
        </a:xfrm>
      </p:grpSpPr>
      <p:pic>
        <p:nvPicPr>
          <p:cNvPr descr="image.png" id="181" name="Google Shape;181;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2" name="Google Shape;182;p19"/>
          <p:cNvSpPr/>
          <p:nvPr/>
        </p:nvSpPr>
        <p:spPr>
          <a:xfrm>
            <a:off x="581025" y="2259508"/>
            <a:ext cx="11029950" cy="3272432"/>
          </a:xfrm>
          <a:prstGeom prst="roundRect">
            <a:avLst>
              <a:gd fmla="val 0" name="adj"/>
            </a:avLst>
          </a:prstGeom>
          <a:solidFill>
            <a:srgbClr val="18181B"/>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83" name="Google Shape;183;p19"/>
          <p:cNvGraphicFramePr/>
          <p:nvPr/>
        </p:nvGraphicFramePr>
        <p:xfrm>
          <a:off x="581025" y="2259508"/>
          <a:ext cx="3000000" cy="3000000"/>
        </p:xfrm>
        <a:graphic>
          <a:graphicData uri="http://schemas.openxmlformats.org/drawingml/2006/table">
            <a:tbl>
              <a:tblPr bandRow="1" firstRow="1">
                <a:noFill/>
                <a:tableStyleId>{23340CE8-5EA2-4769-929F-9CFE185714AE}</a:tableStyleId>
              </a:tblPr>
              <a:tblGrid>
                <a:gridCol w="3291025"/>
                <a:gridCol w="7729400"/>
              </a:tblGrid>
              <a:tr h="654475">
                <a:tc>
                  <a:txBody>
                    <a:bodyPr/>
                    <a:lstStyle/>
                    <a:p>
                      <a:pPr indent="0" lvl="0" marL="0" marR="0" rtl="0" algn="l">
                        <a:spcBef>
                          <a:spcPts val="0"/>
                        </a:spcBef>
                        <a:spcAft>
                          <a:spcPts val="0"/>
                        </a:spcAft>
                        <a:buNone/>
                      </a:pPr>
                      <a:r>
                        <a:rPr b="1" i="0" lang="en-US" sz="1650" u="none" cap="none" strike="noStrike">
                          <a:solidFill>
                            <a:srgbClr val="22D3EE"/>
                          </a:solidFill>
                          <a:latin typeface="Urbanist"/>
                          <a:ea typeface="Urbanist"/>
                          <a:cs typeface="Urbanist"/>
                          <a:sym typeface="Urbanist"/>
                        </a:rPr>
                        <a:t>Category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7272A"/>
                    </a:solidFill>
                  </a:tcPr>
                </a:tc>
                <a:tc>
                  <a:txBody>
                    <a:bodyPr/>
                    <a:lstStyle/>
                    <a:p>
                      <a:pPr indent="0" lvl="0" marL="0" marR="0" rtl="0" algn="l">
                        <a:spcBef>
                          <a:spcPts val="0"/>
                        </a:spcBef>
                        <a:spcAft>
                          <a:spcPts val="0"/>
                        </a:spcAft>
                        <a:buNone/>
                      </a:pPr>
                      <a:r>
                        <a:rPr b="1" i="0" lang="en-US" sz="1650" u="none" cap="none" strike="noStrike">
                          <a:solidFill>
                            <a:srgbClr val="22D3EE"/>
                          </a:solidFill>
                          <a:latin typeface="Urbanist"/>
                          <a:ea typeface="Urbanist"/>
                          <a:cs typeface="Urbanist"/>
                          <a:sym typeface="Urbanist"/>
                        </a:rPr>
                        <a:t>Component Requirement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27272A"/>
                    </a:solidFill>
                  </a:tcPr>
                </a:tc>
              </a:tr>
              <a:tr h="654475">
                <a:tc>
                  <a:txBody>
                    <a:bodyPr/>
                    <a:lstStyle/>
                    <a:p>
                      <a:pPr indent="0" lvl="0" marL="0" marR="0" rtl="0" algn="l">
                        <a:spcBef>
                          <a:spcPts val="0"/>
                        </a:spcBef>
                        <a:spcAft>
                          <a:spcPts val="0"/>
                        </a:spcAft>
                        <a:buNone/>
                      </a:pPr>
                      <a:r>
                        <a:rPr b="1" i="0" lang="en-US" sz="1200" u="none" cap="none" strike="noStrike">
                          <a:latin typeface="Urbanist"/>
                          <a:ea typeface="Urbanist"/>
                          <a:cs typeface="Urbanist"/>
                          <a:sym typeface="Urbanist"/>
                        </a:rPr>
                        <a:t>Hardware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latin typeface="Urbanist"/>
                          <a:ea typeface="Urbanist"/>
                          <a:cs typeface="Urbanist"/>
                          <a:sym typeface="Urbanist"/>
                        </a:rPr>
                        <a:t>Intel Core i3+ Processor, 4GB RAM minimum, HD Webcam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4475">
                <a:tc>
                  <a:txBody>
                    <a:bodyPr/>
                    <a:lstStyle/>
                    <a:p>
                      <a:pPr indent="0" lvl="0" marL="0" marR="0" rtl="0" algn="l">
                        <a:spcBef>
                          <a:spcPts val="0"/>
                        </a:spcBef>
                        <a:spcAft>
                          <a:spcPts val="0"/>
                        </a:spcAft>
                        <a:buNone/>
                      </a:pPr>
                      <a:r>
                        <a:rPr b="1" i="0" lang="en-US" sz="1200" u="none" cap="none" strike="noStrike">
                          <a:latin typeface="Urbanist"/>
                          <a:ea typeface="Urbanist"/>
                          <a:cs typeface="Urbanist"/>
                          <a:sym typeface="Urbanist"/>
                        </a:rPr>
                        <a:t>Backend &amp; ML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latin typeface="Urbanist"/>
                          <a:ea typeface="Urbanist"/>
                          <a:cs typeface="Urbanist"/>
                          <a:sym typeface="Urbanist"/>
                        </a:rPr>
                        <a:t>Python 3.8+, TensorFlow, Keras, OpenCV, MediaPipe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4475">
                <a:tc>
                  <a:txBody>
                    <a:bodyPr/>
                    <a:lstStyle/>
                    <a:p>
                      <a:pPr indent="0" lvl="0" marL="0" marR="0" rtl="0" algn="l">
                        <a:spcBef>
                          <a:spcPts val="0"/>
                        </a:spcBef>
                        <a:spcAft>
                          <a:spcPts val="0"/>
                        </a:spcAft>
                        <a:buNone/>
                      </a:pPr>
                      <a:r>
                        <a:rPr b="1" i="0" lang="en-US" sz="1200" u="none" cap="none" strike="noStrike">
                          <a:latin typeface="Urbanist"/>
                          <a:ea typeface="Urbanist"/>
                          <a:cs typeface="Urbanist"/>
                          <a:sym typeface="Urbanist"/>
                        </a:rPr>
                        <a:t>Frontend Interface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latin typeface="Urbanist"/>
                          <a:ea typeface="Urbanist"/>
                          <a:cs typeface="Urbanist"/>
                          <a:sym typeface="Urbanist"/>
                        </a:rPr>
                        <a:t>React.js or standard HTML5/CSS3/JS framework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54500">
                <a:tc>
                  <a:txBody>
                    <a:bodyPr/>
                    <a:lstStyle/>
                    <a:p>
                      <a:pPr indent="0" lvl="0" marL="0" marR="0" rtl="0" algn="l">
                        <a:spcBef>
                          <a:spcPts val="0"/>
                        </a:spcBef>
                        <a:spcAft>
                          <a:spcPts val="0"/>
                        </a:spcAft>
                        <a:buNone/>
                      </a:pPr>
                      <a:r>
                        <a:rPr b="1" i="0" lang="en-US" sz="1200" u="none" cap="none" strike="noStrike">
                          <a:latin typeface="Urbanist"/>
                          <a:ea typeface="Urbanist"/>
                          <a:cs typeface="Urbanist"/>
                          <a:sym typeface="Urbanist"/>
                        </a:rPr>
                        <a:t>Audio Integration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00" u="none" cap="none" strike="noStrike">
                          <a:latin typeface="Urbanist"/>
                          <a:ea typeface="Urbanist"/>
                          <a:cs typeface="Urbanist"/>
                          <a:sym typeface="Urbanist"/>
                        </a:rPr>
                        <a:t>Web Speech API or Python pyttsx3 library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84" name="Google Shape;184;p19"/>
          <p:cNvSpPr/>
          <p:nvPr/>
        </p:nvSpPr>
        <p:spPr>
          <a:xfrm>
            <a:off x="585787" y="2980432"/>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9"/>
          <p:cNvSpPr/>
          <p:nvPr/>
        </p:nvSpPr>
        <p:spPr>
          <a:xfrm>
            <a:off x="3876823" y="2980432"/>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19"/>
          <p:cNvSpPr/>
          <p:nvPr/>
        </p:nvSpPr>
        <p:spPr>
          <a:xfrm>
            <a:off x="585787" y="3614737"/>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9"/>
          <p:cNvSpPr/>
          <p:nvPr/>
        </p:nvSpPr>
        <p:spPr>
          <a:xfrm>
            <a:off x="3876823" y="3614737"/>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9"/>
          <p:cNvSpPr/>
          <p:nvPr/>
        </p:nvSpPr>
        <p:spPr>
          <a:xfrm>
            <a:off x="585787" y="4249042"/>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9"/>
          <p:cNvSpPr/>
          <p:nvPr/>
        </p:nvSpPr>
        <p:spPr>
          <a:xfrm>
            <a:off x="3876823" y="4249042"/>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9"/>
          <p:cNvSpPr/>
          <p:nvPr/>
        </p:nvSpPr>
        <p:spPr>
          <a:xfrm>
            <a:off x="585787" y="4883348"/>
            <a:ext cx="3291036"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9"/>
          <p:cNvSpPr/>
          <p:nvPr/>
        </p:nvSpPr>
        <p:spPr>
          <a:xfrm>
            <a:off x="3876823" y="4883348"/>
            <a:ext cx="7729388"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9"/>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6. Technical </a:t>
            </a:r>
            <a:r>
              <a:rPr b="1" i="0" lang="en-US" sz="3600" u="none" cap="none" strike="noStrike">
                <a:solidFill>
                  <a:srgbClr val="22D3EE"/>
                </a:solidFill>
                <a:latin typeface="Urbanist"/>
                <a:ea typeface="Urbanist"/>
                <a:cs typeface="Urbanist"/>
                <a:sym typeface="Urbanist"/>
              </a:rPr>
              <a:t>Specifications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96" name="Shape 196"/>
        <p:cNvGrpSpPr/>
        <p:nvPr/>
      </p:nvGrpSpPr>
      <p:grpSpPr>
        <a:xfrm>
          <a:off x="0" y="0"/>
          <a:ext cx="0" cy="0"/>
          <a:chOff x="0" y="0"/>
          <a:chExt cx="0" cy="0"/>
        </a:xfrm>
      </p:grpSpPr>
      <p:pic>
        <p:nvPicPr>
          <p:cNvPr descr="image.png" id="197" name="Google Shape;197;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98" name="Google Shape;198;p20"/>
          <p:cNvPicPr preferRelativeResize="0"/>
          <p:nvPr/>
        </p:nvPicPr>
        <p:blipFill rotWithShape="1">
          <a:blip r:embed="rId4">
            <a:alphaModFix/>
          </a:blip>
          <a:srcRect b="0" l="0" r="0" t="0"/>
          <a:stretch/>
        </p:blipFill>
        <p:spPr>
          <a:xfrm>
            <a:off x="581025" y="1562100"/>
            <a:ext cx="5372100" cy="2857500"/>
          </a:xfrm>
          <a:prstGeom prst="rect">
            <a:avLst/>
          </a:prstGeom>
          <a:noFill/>
          <a:ln>
            <a:noFill/>
          </a:ln>
        </p:spPr>
      </p:pic>
      <p:pic>
        <p:nvPicPr>
          <p:cNvPr descr="image.png" id="199" name="Google Shape;199;p20"/>
          <p:cNvPicPr preferRelativeResize="0"/>
          <p:nvPr/>
        </p:nvPicPr>
        <p:blipFill rotWithShape="1">
          <a:blip r:embed="rId5">
            <a:alphaModFix/>
          </a:blip>
          <a:srcRect b="0" l="0" r="0" t="0"/>
          <a:stretch/>
        </p:blipFill>
        <p:spPr>
          <a:xfrm>
            <a:off x="6238875" y="1562100"/>
            <a:ext cx="5372100" cy="2857500"/>
          </a:xfrm>
          <a:prstGeom prst="rect">
            <a:avLst/>
          </a:prstGeom>
          <a:noFill/>
          <a:ln>
            <a:noFill/>
          </a:ln>
        </p:spPr>
      </p:pic>
      <p:sp>
        <p:nvSpPr>
          <p:cNvPr id="200" name="Google Shape;200;p20"/>
          <p:cNvSpPr txBox="1"/>
          <p:nvPr/>
        </p:nvSpPr>
        <p:spPr>
          <a:xfrm>
            <a:off x="581025" y="4610100"/>
            <a:ext cx="564070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EF4444"/>
                </a:solidFill>
                <a:latin typeface="Urbanist"/>
                <a:ea typeface="Urbanist"/>
                <a:cs typeface="Urbanist"/>
                <a:sym typeface="Urbanist"/>
              </a:rPr>
              <a:t>Existing System</a:t>
            </a:r>
            <a:endParaRPr/>
          </a:p>
        </p:txBody>
      </p:sp>
      <p:sp>
        <p:nvSpPr>
          <p:cNvPr id="201" name="Google Shape;201;p20"/>
          <p:cNvSpPr txBox="1"/>
          <p:nvPr/>
        </p:nvSpPr>
        <p:spPr>
          <a:xfrm>
            <a:off x="581025" y="5124450"/>
            <a:ext cx="53721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Relies on manual translation. Suffers from severe communication delays, high costs, and limited 24/7 availability for the user.</a:t>
            </a:r>
            <a:endParaRPr/>
          </a:p>
        </p:txBody>
      </p:sp>
      <p:sp>
        <p:nvSpPr>
          <p:cNvPr id="202" name="Google Shape;202;p20"/>
          <p:cNvSpPr txBox="1"/>
          <p:nvPr/>
        </p:nvSpPr>
        <p:spPr>
          <a:xfrm>
            <a:off x="6238875" y="4610100"/>
            <a:ext cx="564070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Urbanist"/>
                <a:ea typeface="Urbanist"/>
                <a:cs typeface="Urbanist"/>
                <a:sym typeface="Urbanist"/>
              </a:rPr>
              <a:t>Proposed System</a:t>
            </a:r>
            <a:endParaRPr/>
          </a:p>
        </p:txBody>
      </p:sp>
      <p:sp>
        <p:nvSpPr>
          <p:cNvPr id="203" name="Google Shape;203;p20"/>
          <p:cNvSpPr txBox="1"/>
          <p:nvPr/>
        </p:nvSpPr>
        <p:spPr>
          <a:xfrm>
            <a:off x="6238875" y="5124450"/>
            <a:ext cx="53721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Fully automated sign recognition with real-time text/audio output. Highly accessible via standard webcams with a user-friendly UI.</a:t>
            </a:r>
            <a:endParaRPr/>
          </a:p>
        </p:txBody>
      </p:sp>
      <p:pic>
        <p:nvPicPr>
          <p:cNvPr descr="image.png" id="204" name="Google Shape;204;p20"/>
          <p:cNvPicPr preferRelativeResize="0"/>
          <p:nvPr/>
        </p:nvPicPr>
        <p:blipFill rotWithShape="1">
          <a:blip r:embed="rId6">
            <a:alphaModFix/>
          </a:blip>
          <a:srcRect b="0" l="0" r="0" t="0"/>
          <a:stretch/>
        </p:blipFill>
        <p:spPr>
          <a:xfrm>
            <a:off x="590550" y="1571625"/>
            <a:ext cx="5353050" cy="2838450"/>
          </a:xfrm>
          <a:prstGeom prst="rect">
            <a:avLst/>
          </a:prstGeom>
          <a:noFill/>
          <a:ln>
            <a:noFill/>
          </a:ln>
        </p:spPr>
      </p:pic>
      <p:pic>
        <p:nvPicPr>
          <p:cNvPr descr="image.png" id="205" name="Google Shape;205;p20"/>
          <p:cNvPicPr preferRelativeResize="0"/>
          <p:nvPr/>
        </p:nvPicPr>
        <p:blipFill rotWithShape="1">
          <a:blip r:embed="rId7">
            <a:alphaModFix/>
          </a:blip>
          <a:srcRect b="0" l="0" r="0" t="0"/>
          <a:stretch/>
        </p:blipFill>
        <p:spPr>
          <a:xfrm>
            <a:off x="6248400" y="1571625"/>
            <a:ext cx="5353050" cy="2838450"/>
          </a:xfrm>
          <a:prstGeom prst="rect">
            <a:avLst/>
          </a:prstGeom>
          <a:noFill/>
          <a:ln>
            <a:noFill/>
          </a:ln>
        </p:spPr>
      </p:pic>
      <p:sp>
        <p:nvSpPr>
          <p:cNvPr id="206" name="Google Shape;206;p20"/>
          <p:cNvSpPr txBox="1"/>
          <p:nvPr/>
        </p:nvSpPr>
        <p:spPr>
          <a:xfrm>
            <a:off x="581025" y="581025"/>
            <a:ext cx="11581447"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7. System </a:t>
            </a:r>
            <a:r>
              <a:rPr b="1" i="0" lang="en-US" sz="3600" u="none" cap="none" strike="noStrike">
                <a:solidFill>
                  <a:srgbClr val="22D3EE"/>
                </a:solidFill>
                <a:latin typeface="Urbanist"/>
                <a:ea typeface="Urbanist"/>
                <a:cs typeface="Urbanist"/>
                <a:sym typeface="Urbanist"/>
              </a:rPr>
              <a:t>Advancement</a:t>
            </a:r>
            <a:endParaRPr/>
          </a:p>
        </p:txBody>
      </p:sp>
      <p:pic>
        <p:nvPicPr>
          <p:cNvPr id="207" name="Google Shape;207;p20"/>
          <p:cNvPicPr preferRelativeResize="0"/>
          <p:nvPr/>
        </p:nvPicPr>
        <p:blipFill>
          <a:blip r:embed="rId8">
            <a:alphaModFix/>
          </a:blip>
          <a:stretch>
            <a:fillRect/>
          </a:stretch>
        </p:blipFill>
        <p:spPr>
          <a:xfrm>
            <a:off x="553338" y="1369450"/>
            <a:ext cx="5427477" cy="3519025"/>
          </a:xfrm>
          <a:prstGeom prst="rect">
            <a:avLst/>
          </a:prstGeom>
          <a:noFill/>
          <a:ln>
            <a:noFill/>
          </a:ln>
        </p:spPr>
      </p:pic>
      <p:pic>
        <p:nvPicPr>
          <p:cNvPr id="208" name="Google Shape;208;p20"/>
          <p:cNvPicPr preferRelativeResize="0"/>
          <p:nvPr/>
        </p:nvPicPr>
        <p:blipFill>
          <a:blip r:embed="rId9">
            <a:alphaModFix/>
          </a:blip>
          <a:stretch>
            <a:fillRect/>
          </a:stretch>
        </p:blipFill>
        <p:spPr>
          <a:xfrm>
            <a:off x="6221725" y="1369450"/>
            <a:ext cx="5583725" cy="3168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image.png" id="213" name="Google Shape;21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14" name="Google Shape;214;p21"/>
          <p:cNvPicPr preferRelativeResize="0"/>
          <p:nvPr/>
        </p:nvPicPr>
        <p:blipFill>
          <a:blip r:embed="rId4">
            <a:alphaModFix/>
          </a:blip>
          <a:stretch>
            <a:fillRect/>
          </a:stretch>
        </p:blipFill>
        <p:spPr>
          <a:xfrm>
            <a:off x="664975" y="820425"/>
            <a:ext cx="10613575" cy="55219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descr="image.png" id="219" name="Google Shape;219;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20" name="Google Shape;220;p22"/>
          <p:cNvPicPr preferRelativeResize="0"/>
          <p:nvPr/>
        </p:nvPicPr>
        <p:blipFill>
          <a:blip r:embed="rId4">
            <a:alphaModFix/>
          </a:blip>
          <a:stretch>
            <a:fillRect/>
          </a:stretch>
        </p:blipFill>
        <p:spPr>
          <a:xfrm>
            <a:off x="748725" y="981375"/>
            <a:ext cx="10425149" cy="5504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image.png" id="225" name="Google Shape;225;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26" name="Google Shape;226;p23"/>
          <p:cNvPicPr preferRelativeResize="0"/>
          <p:nvPr/>
        </p:nvPicPr>
        <p:blipFill>
          <a:blip r:embed="rId4">
            <a:alphaModFix/>
          </a:blip>
          <a:stretch>
            <a:fillRect/>
          </a:stretch>
        </p:blipFill>
        <p:spPr>
          <a:xfrm>
            <a:off x="539375" y="1060950"/>
            <a:ext cx="10665901" cy="5040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30" name="Shape 230"/>
        <p:cNvGrpSpPr/>
        <p:nvPr/>
      </p:nvGrpSpPr>
      <p:grpSpPr>
        <a:xfrm>
          <a:off x="0" y="0"/>
          <a:ext cx="0" cy="0"/>
          <a:chOff x="0" y="0"/>
          <a:chExt cx="0" cy="0"/>
        </a:xfrm>
      </p:grpSpPr>
      <p:pic>
        <p:nvPicPr>
          <p:cNvPr descr="image.png" id="231" name="Google Shape;231;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2" name="Google Shape;232;p24"/>
          <p:cNvPicPr preferRelativeResize="0"/>
          <p:nvPr/>
        </p:nvPicPr>
        <p:blipFill rotWithShape="1">
          <a:blip r:embed="rId4">
            <a:alphaModFix/>
          </a:blip>
          <a:srcRect b="0" l="0" r="0" t="0"/>
          <a:stretch/>
        </p:blipFill>
        <p:spPr>
          <a:xfrm>
            <a:off x="4467225" y="4380458"/>
            <a:ext cx="3257550" cy="590550"/>
          </a:xfrm>
          <a:prstGeom prst="rect">
            <a:avLst/>
          </a:prstGeom>
          <a:noFill/>
          <a:ln>
            <a:noFill/>
          </a:ln>
        </p:spPr>
      </p:pic>
      <p:sp>
        <p:nvSpPr>
          <p:cNvPr id="233" name="Google Shape;233;p24"/>
          <p:cNvSpPr txBox="1"/>
          <p:nvPr/>
        </p:nvSpPr>
        <p:spPr>
          <a:xfrm>
            <a:off x="3870721" y="1886842"/>
            <a:ext cx="4450556" cy="1038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0" u="none" cap="none" strike="noStrike">
                <a:solidFill>
                  <a:srgbClr val="F8FAFC"/>
                </a:solidFill>
                <a:latin typeface="Urbanist"/>
                <a:ea typeface="Urbanist"/>
                <a:cs typeface="Urbanist"/>
                <a:sym typeface="Urbanist"/>
              </a:rPr>
              <a:t>Questions?</a:t>
            </a:r>
            <a:endParaRPr/>
          </a:p>
        </p:txBody>
      </p:sp>
      <p:sp>
        <p:nvSpPr>
          <p:cNvPr id="234" name="Google Shape;234;p24"/>
          <p:cNvSpPr txBox="1"/>
          <p:nvPr/>
        </p:nvSpPr>
        <p:spPr>
          <a:xfrm>
            <a:off x="3843337" y="3210817"/>
            <a:ext cx="4505325"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CBD5E1"/>
                </a:solidFill>
                <a:latin typeface="Urbanist"/>
                <a:ea typeface="Urbanist"/>
                <a:cs typeface="Urbanist"/>
                <a:sym typeface="Urbanist"/>
              </a:rPr>
              <a:t>Thank you for your time and attention.</a:t>
            </a:r>
            <a:endParaRPr/>
          </a:p>
        </p:txBody>
      </p:sp>
      <p:pic>
        <p:nvPicPr>
          <p:cNvPr descr="image.png" id="235" name="Google Shape;235;p24"/>
          <p:cNvPicPr preferRelativeResize="0"/>
          <p:nvPr/>
        </p:nvPicPr>
        <p:blipFill rotWithShape="1">
          <a:blip r:embed="rId5">
            <a:alphaModFix/>
          </a:blip>
          <a:srcRect b="0" l="0" r="0" t="0"/>
          <a:stretch/>
        </p:blipFill>
        <p:spPr>
          <a:xfrm>
            <a:off x="4857750" y="4561433"/>
            <a:ext cx="180975" cy="209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