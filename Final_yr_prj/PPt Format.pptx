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2" r:id="rId6"/>
    <p:sldId id="281" r:id="rId7"/>
    <p:sldId id="282" r:id="rId8"/>
    <p:sldId id="263" r:id="rId9"/>
    <p:sldId id="264" r:id="rId10"/>
    <p:sldId id="265" r:id="rId11"/>
    <p:sldId id="283" r:id="rId12"/>
    <p:sldId id="266" r:id="rId13"/>
    <p:sldId id="267" r:id="rId14"/>
    <p:sldId id="268" r:id="rId15"/>
    <p:sldId id="289" r:id="rId16"/>
    <p:sldId id="290" r:id="rId17"/>
    <p:sldId id="291" r:id="rId18"/>
    <p:sldId id="292" r:id="rId19"/>
    <p:sldId id="293" r:id="rId20"/>
    <p:sldId id="294" r:id="rId21"/>
    <p:sldId id="275" r:id="rId22"/>
    <p:sldId id="276" r:id="rId23"/>
    <p:sldId id="277" r:id="rId24"/>
    <p:sldId id="284" r:id="rId25"/>
    <p:sldId id="278" r:id="rId26"/>
    <p:sldId id="279" r:id="rId27"/>
    <p:sldId id="269" r:id="rId28"/>
    <p:sldId id="270" r:id="rId29"/>
    <p:sldId id="271" r:id="rId30"/>
    <p:sldId id="272" r:id="rId31"/>
    <p:sldId id="273" r:id="rId32"/>
    <p:sldId id="274" r:id="rId33"/>
    <p:sldId id="285" r:id="rId34"/>
    <p:sldId id="286" r:id="rId35"/>
    <p:sldId id="287" r:id="rId36"/>
    <p:sldId id="288" r:id="rId37"/>
    <p:sldId id="295" r:id="rId38"/>
    <p:sldId id="280" r:id="rId3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A0003"/>
    <a:srgbClr val="303274"/>
    <a:srgbClr val="43B51B"/>
    <a:srgbClr val="660066"/>
    <a:srgbClr val="2B7208"/>
    <a:srgbClr val="FF3399"/>
    <a:srgbClr val="99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4662" autoAdjust="0"/>
  </p:normalViewPr>
  <p:slideViewPr>
    <p:cSldViewPr>
      <p:cViewPr varScale="1">
        <p:scale>
          <a:sx n="86" d="100"/>
          <a:sy n="86" d="100"/>
        </p:scale>
        <p:origin x="-1500" y="-78"/>
      </p:cViewPr>
      <p:guideLst>
        <p:guide orient="horz" pos="2160"/>
        <p:guide pos="2880"/>
      </p:guideLst>
    </p:cSldViewPr>
  </p:slideViewPr>
  <p:outlineViewPr>
    <p:cViewPr>
      <p:scale>
        <a:sx n="33" d="100"/>
        <a:sy n="33" d="100"/>
      </p:scale>
      <p:origin x="0" y="366"/>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95B29ADF-B65A-4314-9B9E-D64F53AACF7F}" type="datetimeFigureOut">
              <a:rPr lang="en-US" smtClean="0"/>
              <a:t>7/9/2025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BD3648-A761-4D22-B431-4FE21EDD931D}" type="slidenum">
              <a:rPr lang="en-US" smtClean="0"/>
              <a:t>‹#›</a:t>
            </a:fld>
            <a:endParaRPr lang="en-US"/>
          </a:p>
        </p:txBody>
      </p:sp>
    </p:spTree>
    <p:extLst>
      <p:ext uri="{BB962C8B-B14F-4D97-AF65-F5344CB8AC3E}">
        <p14:creationId xmlns:p14="http://schemas.microsoft.com/office/powerpoint/2010/main" val="37730911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5B29ADF-B65A-4314-9B9E-D64F53AACF7F}" type="datetimeFigureOut">
              <a:rPr lang="en-US" smtClean="0"/>
              <a:t>7/9/2025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BD3648-A761-4D22-B431-4FE21EDD931D}" type="slidenum">
              <a:rPr lang="en-US" smtClean="0"/>
              <a:t>‹#›</a:t>
            </a:fld>
            <a:endParaRPr lang="en-US"/>
          </a:p>
        </p:txBody>
      </p:sp>
    </p:spTree>
    <p:extLst>
      <p:ext uri="{BB962C8B-B14F-4D97-AF65-F5344CB8AC3E}">
        <p14:creationId xmlns:p14="http://schemas.microsoft.com/office/powerpoint/2010/main" val="29003381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5B29ADF-B65A-4314-9B9E-D64F53AACF7F}" type="datetimeFigureOut">
              <a:rPr lang="en-US" smtClean="0"/>
              <a:t>7/9/2025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BD3648-A761-4D22-B431-4FE21EDD931D}" type="slidenum">
              <a:rPr lang="en-US" smtClean="0"/>
              <a:t>‹#›</a:t>
            </a:fld>
            <a:endParaRPr lang="en-US"/>
          </a:p>
        </p:txBody>
      </p:sp>
    </p:spTree>
    <p:extLst>
      <p:ext uri="{BB962C8B-B14F-4D97-AF65-F5344CB8AC3E}">
        <p14:creationId xmlns:p14="http://schemas.microsoft.com/office/powerpoint/2010/main" val="41627039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5B29ADF-B65A-4314-9B9E-D64F53AACF7F}" type="datetimeFigureOut">
              <a:rPr lang="en-US" smtClean="0"/>
              <a:t>7/9/2025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BD3648-A761-4D22-B431-4FE21EDD931D}" type="slidenum">
              <a:rPr lang="en-US" smtClean="0"/>
              <a:t>‹#›</a:t>
            </a:fld>
            <a:endParaRPr lang="en-US"/>
          </a:p>
        </p:txBody>
      </p:sp>
    </p:spTree>
    <p:extLst>
      <p:ext uri="{BB962C8B-B14F-4D97-AF65-F5344CB8AC3E}">
        <p14:creationId xmlns:p14="http://schemas.microsoft.com/office/powerpoint/2010/main" val="26486159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5B29ADF-B65A-4314-9B9E-D64F53AACF7F}" type="datetimeFigureOut">
              <a:rPr lang="en-US" smtClean="0"/>
              <a:t>7/9/2025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CBD3648-A761-4D22-B431-4FE21EDD931D}" type="slidenum">
              <a:rPr lang="en-US" smtClean="0"/>
              <a:t>‹#›</a:t>
            </a:fld>
            <a:endParaRPr lang="en-US"/>
          </a:p>
        </p:txBody>
      </p:sp>
    </p:spTree>
    <p:extLst>
      <p:ext uri="{BB962C8B-B14F-4D97-AF65-F5344CB8AC3E}">
        <p14:creationId xmlns:p14="http://schemas.microsoft.com/office/powerpoint/2010/main" val="30955764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5B29ADF-B65A-4314-9B9E-D64F53AACF7F}" type="datetimeFigureOut">
              <a:rPr lang="en-US" smtClean="0"/>
              <a:t>7/9/2025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CBD3648-A761-4D22-B431-4FE21EDD931D}" type="slidenum">
              <a:rPr lang="en-US" smtClean="0"/>
              <a:t>‹#›</a:t>
            </a:fld>
            <a:endParaRPr lang="en-US"/>
          </a:p>
        </p:txBody>
      </p:sp>
    </p:spTree>
    <p:extLst>
      <p:ext uri="{BB962C8B-B14F-4D97-AF65-F5344CB8AC3E}">
        <p14:creationId xmlns:p14="http://schemas.microsoft.com/office/powerpoint/2010/main" val="12029137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5B29ADF-B65A-4314-9B9E-D64F53AACF7F}" type="datetimeFigureOut">
              <a:rPr lang="en-US" smtClean="0"/>
              <a:t>7/9/2025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CBD3648-A761-4D22-B431-4FE21EDD931D}" type="slidenum">
              <a:rPr lang="en-US" smtClean="0"/>
              <a:t>‹#›</a:t>
            </a:fld>
            <a:endParaRPr lang="en-US"/>
          </a:p>
        </p:txBody>
      </p:sp>
    </p:spTree>
    <p:extLst>
      <p:ext uri="{BB962C8B-B14F-4D97-AF65-F5344CB8AC3E}">
        <p14:creationId xmlns:p14="http://schemas.microsoft.com/office/powerpoint/2010/main" val="34692090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5B29ADF-B65A-4314-9B9E-D64F53AACF7F}" type="datetimeFigureOut">
              <a:rPr lang="en-US" smtClean="0"/>
              <a:t>7/9/2025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BD3648-A761-4D22-B431-4FE21EDD931D}" type="slidenum">
              <a:rPr lang="en-US" smtClean="0"/>
              <a:t>‹#›</a:t>
            </a:fld>
            <a:endParaRPr lang="en-US"/>
          </a:p>
        </p:txBody>
      </p:sp>
    </p:spTree>
    <p:extLst>
      <p:ext uri="{BB962C8B-B14F-4D97-AF65-F5344CB8AC3E}">
        <p14:creationId xmlns:p14="http://schemas.microsoft.com/office/powerpoint/2010/main" val="32216421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5B29ADF-B65A-4314-9B9E-D64F53AACF7F}" type="datetimeFigureOut">
              <a:rPr lang="en-US" smtClean="0"/>
              <a:t>7/9/2025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BD3648-A761-4D22-B431-4FE21EDD931D}" type="slidenum">
              <a:rPr lang="en-US" smtClean="0"/>
              <a:t>‹#›</a:t>
            </a:fld>
            <a:endParaRPr lang="en-US"/>
          </a:p>
        </p:txBody>
      </p:sp>
    </p:spTree>
    <p:extLst>
      <p:ext uri="{BB962C8B-B14F-4D97-AF65-F5344CB8AC3E}">
        <p14:creationId xmlns:p14="http://schemas.microsoft.com/office/powerpoint/2010/main" val="4022975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5B29ADF-B65A-4314-9B9E-D64F53AACF7F}" type="datetimeFigureOut">
              <a:rPr lang="en-US" smtClean="0"/>
              <a:t>7/9/2025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BD3648-A761-4D22-B431-4FE21EDD931D}" type="slidenum">
              <a:rPr lang="en-US" smtClean="0"/>
              <a:t>‹#›</a:t>
            </a:fld>
            <a:endParaRPr lang="en-US"/>
          </a:p>
        </p:txBody>
      </p:sp>
    </p:spTree>
    <p:extLst>
      <p:ext uri="{BB962C8B-B14F-4D97-AF65-F5344CB8AC3E}">
        <p14:creationId xmlns:p14="http://schemas.microsoft.com/office/powerpoint/2010/main" val="12278308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5B29ADF-B65A-4314-9B9E-D64F53AACF7F}" type="datetimeFigureOut">
              <a:rPr lang="en-US" smtClean="0"/>
              <a:t>7/9/2025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BD3648-A761-4D22-B431-4FE21EDD931D}" type="slidenum">
              <a:rPr lang="en-US" smtClean="0"/>
              <a:t>‹#›</a:t>
            </a:fld>
            <a:endParaRPr lang="en-US"/>
          </a:p>
        </p:txBody>
      </p:sp>
    </p:spTree>
    <p:extLst>
      <p:ext uri="{BB962C8B-B14F-4D97-AF65-F5344CB8AC3E}">
        <p14:creationId xmlns:p14="http://schemas.microsoft.com/office/powerpoint/2010/main" val="21657568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B29ADF-B65A-4314-9B9E-D64F53AACF7F}" type="datetimeFigureOut">
              <a:rPr lang="en-US" smtClean="0"/>
              <a:t>7/9/2025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BD3648-A761-4D22-B431-4FE21EDD931D}" type="slidenum">
              <a:rPr lang="en-US" smtClean="0"/>
              <a:t>‹#›</a:t>
            </a:fld>
            <a:endParaRPr lang="en-US"/>
          </a:p>
        </p:txBody>
      </p:sp>
    </p:spTree>
    <p:extLst>
      <p:ext uri="{BB962C8B-B14F-4D97-AF65-F5344CB8AC3E}">
        <p14:creationId xmlns:p14="http://schemas.microsoft.com/office/powerpoint/2010/main" val="28937558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hyperlink" Target="https://easychair.org/publications/preprint/5xGf" TargetMode="External"/><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hyperlink" Target="https://www.youtube.com/watch?v=r6q_Q-u05HU" TargetMode="External"/><Relationship Id="rId4" Type="http://schemas.openxmlformats.org/officeDocument/2006/relationships/hyperlink" Target="https://www.youtube.com/watch?v=XF74EqOrl-Q"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96747" y="152400"/>
            <a:ext cx="8013853" cy="4478149"/>
          </a:xfrm>
          <a:prstGeom prst="rect">
            <a:avLst/>
          </a:prstGeom>
        </p:spPr>
        <p:txBody>
          <a:bodyPr wrap="square">
            <a:spAutoFit/>
          </a:bodyPr>
          <a:lstStyle/>
          <a:p>
            <a:pPr algn="ctr">
              <a:lnSpc>
                <a:spcPct val="150000"/>
              </a:lnSpc>
            </a:pPr>
            <a:r>
              <a:rPr lang="en-US" sz="3500" b="1" dirty="0" err="1">
                <a:solidFill>
                  <a:srgbClr val="002060"/>
                </a:solidFill>
                <a:latin typeface="Times New Roman" pitchFamily="18" charset="0"/>
                <a:cs typeface="Times New Roman" pitchFamily="18" charset="0"/>
              </a:rPr>
              <a:t>Priyadarshini</a:t>
            </a:r>
            <a:r>
              <a:rPr lang="en-US" sz="3500" b="1" dirty="0">
                <a:solidFill>
                  <a:srgbClr val="002060"/>
                </a:solidFill>
                <a:latin typeface="Times New Roman" pitchFamily="18" charset="0"/>
                <a:cs typeface="Times New Roman" pitchFamily="18" charset="0"/>
              </a:rPr>
              <a:t> Engineering College </a:t>
            </a:r>
          </a:p>
          <a:p>
            <a:pPr algn="ctr"/>
            <a:r>
              <a:rPr lang="en-US" sz="2700" b="1" dirty="0">
                <a:solidFill>
                  <a:srgbClr val="002060"/>
                </a:solidFill>
                <a:latin typeface="Times New Roman" pitchFamily="18" charset="0"/>
                <a:cs typeface="Times New Roman" pitchFamily="18" charset="0"/>
              </a:rPr>
              <a:t>Department of Master of Computer Applications </a:t>
            </a:r>
          </a:p>
          <a:p>
            <a:pPr algn="ctr">
              <a:lnSpc>
                <a:spcPct val="150000"/>
              </a:lnSpc>
            </a:pPr>
            <a:r>
              <a:rPr lang="en-US" sz="2200" dirty="0">
                <a:solidFill>
                  <a:srgbClr val="FF0000"/>
                </a:solidFill>
                <a:latin typeface="Times New Roman" pitchFamily="18" charset="0"/>
                <a:cs typeface="Times New Roman" pitchFamily="18" charset="0"/>
              </a:rPr>
              <a:t>Name : </a:t>
            </a:r>
            <a:r>
              <a:rPr lang="en-US" sz="2400" b="1" dirty="0">
                <a:solidFill>
                  <a:srgbClr val="FF0000"/>
                </a:solidFill>
                <a:latin typeface="Times New Roman" pitchFamily="18" charset="0"/>
                <a:cs typeface="Times New Roman" pitchFamily="18" charset="0"/>
              </a:rPr>
              <a:t>Nesaraj.T</a:t>
            </a:r>
          </a:p>
          <a:p>
            <a:pPr algn="ctr"/>
            <a:r>
              <a:rPr lang="en-IN" sz="2200" dirty="0">
                <a:solidFill>
                  <a:srgbClr val="FF0000"/>
                </a:solidFill>
                <a:latin typeface="Times New Roman" pitchFamily="18" charset="0"/>
                <a:cs typeface="Times New Roman" pitchFamily="18" charset="0"/>
              </a:rPr>
              <a:t>Reg. No: </a:t>
            </a:r>
            <a:r>
              <a:rPr lang="en-IN" sz="2400" b="1" dirty="0">
                <a:solidFill>
                  <a:srgbClr val="FF0000"/>
                </a:solidFill>
                <a:latin typeface="Times New Roman" pitchFamily="18" charset="0"/>
                <a:cs typeface="Times New Roman" pitchFamily="18" charset="0"/>
              </a:rPr>
              <a:t>511922622035</a:t>
            </a:r>
            <a:r>
              <a:rPr lang="en-IN" sz="2400" dirty="0">
                <a:solidFill>
                  <a:srgbClr val="FF0000"/>
                </a:solidFill>
                <a:latin typeface="Times New Roman" pitchFamily="18" charset="0"/>
                <a:cs typeface="Times New Roman" pitchFamily="18" charset="0"/>
              </a:rPr>
              <a:t> </a:t>
            </a:r>
          </a:p>
          <a:p>
            <a:pPr algn="ctr">
              <a:lnSpc>
                <a:spcPct val="150000"/>
              </a:lnSpc>
            </a:pPr>
            <a:r>
              <a:rPr lang="en-US" sz="2500" b="1" dirty="0">
                <a:solidFill>
                  <a:srgbClr val="0070C0"/>
                </a:solidFill>
                <a:latin typeface="Times New Roman" pitchFamily="18" charset="0"/>
                <a:cs typeface="Times New Roman" pitchFamily="18" charset="0"/>
              </a:rPr>
              <a:t>MC4411 PROJECT WORK</a:t>
            </a:r>
          </a:p>
          <a:p>
            <a:pPr algn="ctr"/>
            <a:r>
              <a:rPr lang="en-US" sz="3600" b="1" dirty="0">
                <a:solidFill>
                  <a:srgbClr val="7A0003"/>
                </a:solidFill>
                <a:latin typeface="Times New Roman" pitchFamily="18" charset="0"/>
                <a:cs typeface="Times New Roman" pitchFamily="18" charset="0"/>
              </a:rPr>
              <a:t>Online Voting System </a:t>
            </a:r>
          </a:p>
          <a:p>
            <a:pPr algn="ctr"/>
            <a:r>
              <a:rPr lang="en-US" sz="3600" b="1" dirty="0">
                <a:solidFill>
                  <a:srgbClr val="7A0003"/>
                </a:solidFill>
                <a:latin typeface="Times New Roman" pitchFamily="18" charset="0"/>
                <a:cs typeface="Times New Roman" pitchFamily="18" charset="0"/>
              </a:rPr>
              <a:t>Web Application in Python</a:t>
            </a:r>
          </a:p>
          <a:p>
            <a:pPr algn="ctr"/>
            <a:endParaRPr lang="en-US" sz="3600" dirty="0">
              <a:latin typeface="Times New Roman" pitchFamily="18" charset="0"/>
              <a:cs typeface="Times New Roman" pitchFamily="18" charset="0"/>
            </a:endParaRPr>
          </a:p>
        </p:txBody>
      </p:sp>
      <p:pic>
        <p:nvPicPr>
          <p:cNvPr id="7" name="Picture 6"/>
          <p:cNvPicPr/>
          <p:nvPr/>
        </p:nvPicPr>
        <p:blipFill>
          <a:blip r:embed="rId2"/>
          <a:srcRect/>
          <a:stretch>
            <a:fillRect/>
          </a:stretch>
        </p:blipFill>
        <p:spPr bwMode="auto">
          <a:xfrm>
            <a:off x="228600" y="381000"/>
            <a:ext cx="768350" cy="846137"/>
          </a:xfrm>
          <a:prstGeom prst="rect">
            <a:avLst/>
          </a:prstGeom>
          <a:noFill/>
          <a:ln w="9525">
            <a:noFill/>
            <a:miter lim="800000"/>
            <a:headEnd/>
            <a:tailEnd/>
          </a:ln>
        </p:spPr>
      </p:pic>
      <p:sp>
        <p:nvSpPr>
          <p:cNvPr id="6" name="Rectangle 5"/>
          <p:cNvSpPr/>
          <p:nvPr/>
        </p:nvSpPr>
        <p:spPr>
          <a:xfrm>
            <a:off x="-76200" y="4419362"/>
            <a:ext cx="4678496" cy="1738938"/>
          </a:xfrm>
          <a:prstGeom prst="rect">
            <a:avLst/>
          </a:prstGeom>
        </p:spPr>
        <p:txBody>
          <a:bodyPr wrap="square">
            <a:spAutoFit/>
          </a:bodyPr>
          <a:lstStyle/>
          <a:p>
            <a:pPr algn="ctr">
              <a:lnSpc>
                <a:spcPct val="150000"/>
              </a:lnSpc>
            </a:pPr>
            <a:r>
              <a:rPr lang="en-US" b="1" dirty="0">
                <a:solidFill>
                  <a:srgbClr val="FF0000"/>
                </a:solidFill>
                <a:latin typeface="Times New Roman" pitchFamily="18" charset="0"/>
                <a:cs typeface="Times New Roman" pitchFamily="18" charset="0"/>
              </a:rPr>
              <a:t>SUPERVISOR</a:t>
            </a:r>
          </a:p>
          <a:p>
            <a:pPr algn="ctr"/>
            <a:r>
              <a:rPr lang="en-IN" sz="1600" b="1" dirty="0" err="1">
                <a:solidFill>
                  <a:srgbClr val="660066"/>
                </a:solidFill>
                <a:latin typeface="Times New Roman" pitchFamily="18" charset="0"/>
                <a:cs typeface="Times New Roman" pitchFamily="18" charset="0"/>
              </a:rPr>
              <a:t>Dr.Manikandan</a:t>
            </a:r>
            <a:r>
              <a:rPr lang="en-IN" sz="1600" b="1" dirty="0">
                <a:solidFill>
                  <a:srgbClr val="660066"/>
                </a:solidFill>
                <a:latin typeface="Times New Roman" pitchFamily="18" charset="0"/>
                <a:cs typeface="Times New Roman" pitchFamily="18" charset="0"/>
              </a:rPr>
              <a:t> G, M.Sc.,B.Ed.,M.Phil.,</a:t>
            </a:r>
            <a:r>
              <a:rPr lang="en-IN" sz="1600" b="1" dirty="0" err="1">
                <a:solidFill>
                  <a:srgbClr val="660066"/>
                </a:solidFill>
                <a:latin typeface="Times New Roman" pitchFamily="18" charset="0"/>
                <a:cs typeface="Times New Roman" pitchFamily="18" charset="0"/>
              </a:rPr>
              <a:t>Ph.D</a:t>
            </a:r>
            <a:r>
              <a:rPr lang="en-IN" sz="1600" b="1" dirty="0">
                <a:solidFill>
                  <a:srgbClr val="660066"/>
                </a:solidFill>
                <a:latin typeface="Times New Roman" pitchFamily="18" charset="0"/>
                <a:cs typeface="Times New Roman" pitchFamily="18" charset="0"/>
              </a:rPr>
              <a:t>., </a:t>
            </a:r>
            <a:r>
              <a:rPr lang="en-IN" sz="1600" b="1" dirty="0" smtClean="0">
                <a:solidFill>
                  <a:srgbClr val="660066"/>
                </a:solidFill>
                <a:latin typeface="Times New Roman" pitchFamily="18" charset="0"/>
                <a:cs typeface="Times New Roman" pitchFamily="18" charset="0"/>
              </a:rPr>
              <a:t>Head of the Department,</a:t>
            </a:r>
            <a:endParaRPr lang="en-IN" sz="1600" b="1" dirty="0">
              <a:solidFill>
                <a:srgbClr val="660066"/>
              </a:solidFill>
              <a:latin typeface="Times New Roman" pitchFamily="18" charset="0"/>
              <a:cs typeface="Times New Roman" pitchFamily="18" charset="0"/>
            </a:endParaRPr>
          </a:p>
          <a:p>
            <a:pPr algn="ctr"/>
            <a:r>
              <a:rPr lang="en-IN" sz="1600" b="1" dirty="0">
                <a:solidFill>
                  <a:srgbClr val="660066"/>
                </a:solidFill>
                <a:latin typeface="Times New Roman" pitchFamily="18" charset="0"/>
                <a:cs typeface="Times New Roman" pitchFamily="18" charset="0"/>
              </a:rPr>
              <a:t>Department of  Master of Computer Applications, </a:t>
            </a:r>
            <a:endParaRPr lang="en-US" sz="1600" b="1" dirty="0">
              <a:solidFill>
                <a:srgbClr val="660066"/>
              </a:solidFill>
              <a:latin typeface="Times New Roman" pitchFamily="18" charset="0"/>
              <a:cs typeface="Times New Roman" pitchFamily="18" charset="0"/>
            </a:endParaRPr>
          </a:p>
          <a:p>
            <a:pPr algn="ctr"/>
            <a:r>
              <a:rPr lang="en-US" sz="1600" b="1" dirty="0">
                <a:solidFill>
                  <a:srgbClr val="660066"/>
                </a:solidFill>
                <a:latin typeface="Times New Roman" pitchFamily="18" charset="0"/>
                <a:cs typeface="Times New Roman" pitchFamily="18" charset="0"/>
              </a:rPr>
              <a:t>Priyadarshini Engineering College. </a:t>
            </a:r>
          </a:p>
          <a:p>
            <a:pPr algn="ctr"/>
            <a:r>
              <a:rPr lang="en-US" sz="1600" b="1" dirty="0" err="1">
                <a:solidFill>
                  <a:srgbClr val="660066"/>
                </a:solidFill>
                <a:latin typeface="Times New Roman" pitchFamily="18" charset="0"/>
                <a:cs typeface="Times New Roman" pitchFamily="18" charset="0"/>
              </a:rPr>
              <a:t>Vaniyambadi</a:t>
            </a:r>
            <a:r>
              <a:rPr lang="en-US" sz="1600" b="1" dirty="0">
                <a:solidFill>
                  <a:srgbClr val="660066"/>
                </a:solidFill>
                <a:latin typeface="Times New Roman" pitchFamily="18" charset="0"/>
                <a:cs typeface="Times New Roman" pitchFamily="18" charset="0"/>
              </a:rPr>
              <a:t>. </a:t>
            </a:r>
          </a:p>
        </p:txBody>
      </p:sp>
      <p:sp>
        <p:nvSpPr>
          <p:cNvPr id="9" name="TextBox 8"/>
          <p:cNvSpPr txBox="1"/>
          <p:nvPr/>
        </p:nvSpPr>
        <p:spPr>
          <a:xfrm>
            <a:off x="4572000" y="4419600"/>
            <a:ext cx="4572000" cy="1769715"/>
          </a:xfrm>
          <a:prstGeom prst="rect">
            <a:avLst/>
          </a:prstGeom>
          <a:noFill/>
        </p:spPr>
        <p:txBody>
          <a:bodyPr wrap="square" rtlCol="0">
            <a:spAutoFit/>
          </a:bodyPr>
          <a:lstStyle/>
          <a:p>
            <a:pPr algn="ctr">
              <a:lnSpc>
                <a:spcPct val="150000"/>
              </a:lnSpc>
            </a:pPr>
            <a:r>
              <a:rPr lang="en-US" b="1" dirty="0">
                <a:solidFill>
                  <a:srgbClr val="FF0000"/>
                </a:solidFill>
                <a:latin typeface="Times New Roman" pitchFamily="18" charset="0"/>
                <a:cs typeface="Times New Roman" pitchFamily="18" charset="0"/>
              </a:rPr>
              <a:t>HEAD OF THE DEPARTMENT</a:t>
            </a:r>
          </a:p>
          <a:p>
            <a:pPr algn="ctr"/>
            <a:r>
              <a:rPr lang="en-IN" sz="1600" b="1" dirty="0" err="1">
                <a:solidFill>
                  <a:srgbClr val="660066"/>
                </a:solidFill>
                <a:latin typeface="Times New Roman" pitchFamily="18" charset="0"/>
                <a:cs typeface="Times New Roman" pitchFamily="18" charset="0"/>
              </a:rPr>
              <a:t>Dr.Manikandan</a:t>
            </a:r>
            <a:r>
              <a:rPr lang="en-IN" sz="1600" b="1" dirty="0">
                <a:solidFill>
                  <a:srgbClr val="660066"/>
                </a:solidFill>
                <a:latin typeface="Times New Roman" pitchFamily="18" charset="0"/>
                <a:cs typeface="Times New Roman" pitchFamily="18" charset="0"/>
              </a:rPr>
              <a:t> G, M.</a:t>
            </a:r>
            <a:r>
              <a:rPr lang="en-IN" sz="1600" b="1" dirty="0" err="1">
                <a:solidFill>
                  <a:srgbClr val="660066"/>
                </a:solidFill>
                <a:latin typeface="Times New Roman" pitchFamily="18" charset="0"/>
                <a:cs typeface="Times New Roman" pitchFamily="18" charset="0"/>
              </a:rPr>
              <a:t>Sc</a:t>
            </a:r>
            <a:r>
              <a:rPr lang="en-IN" sz="1600" b="1" dirty="0">
                <a:solidFill>
                  <a:srgbClr val="660066"/>
                </a:solidFill>
                <a:latin typeface="Times New Roman" pitchFamily="18" charset="0"/>
                <a:cs typeface="Times New Roman" pitchFamily="18" charset="0"/>
              </a:rPr>
              <a:t>.,B.Ed.,M.Phil.,</a:t>
            </a:r>
            <a:r>
              <a:rPr lang="en-IN" sz="1600" b="1" dirty="0" err="1">
                <a:solidFill>
                  <a:srgbClr val="660066"/>
                </a:solidFill>
                <a:latin typeface="Times New Roman" pitchFamily="18" charset="0"/>
                <a:cs typeface="Times New Roman" pitchFamily="18" charset="0"/>
              </a:rPr>
              <a:t>Ph.D</a:t>
            </a:r>
            <a:r>
              <a:rPr lang="en-IN" sz="1600" b="1" dirty="0">
                <a:solidFill>
                  <a:srgbClr val="660066"/>
                </a:solidFill>
                <a:latin typeface="Times New Roman" pitchFamily="18" charset="0"/>
                <a:cs typeface="Times New Roman" pitchFamily="18" charset="0"/>
              </a:rPr>
              <a:t>., </a:t>
            </a:r>
            <a:endParaRPr lang="en-US" sz="1600" b="1" dirty="0">
              <a:solidFill>
                <a:srgbClr val="660066"/>
              </a:solidFill>
              <a:latin typeface="Times New Roman" pitchFamily="18" charset="0"/>
              <a:cs typeface="Times New Roman" pitchFamily="18" charset="0"/>
            </a:endParaRPr>
          </a:p>
          <a:p>
            <a:pPr algn="ctr"/>
            <a:r>
              <a:rPr lang="en-IN" sz="1600" b="1" dirty="0" smtClean="0">
                <a:solidFill>
                  <a:srgbClr val="660066"/>
                </a:solidFill>
                <a:latin typeface="Times New Roman" pitchFamily="18" charset="0"/>
                <a:cs typeface="Times New Roman" pitchFamily="18" charset="0"/>
              </a:rPr>
              <a:t>Head of the Department,</a:t>
            </a:r>
            <a:endParaRPr lang="en-IN" sz="1600" b="1" dirty="0">
              <a:solidFill>
                <a:srgbClr val="660066"/>
              </a:solidFill>
              <a:latin typeface="Times New Roman" pitchFamily="18" charset="0"/>
              <a:cs typeface="Times New Roman" pitchFamily="18" charset="0"/>
            </a:endParaRPr>
          </a:p>
          <a:p>
            <a:pPr algn="ctr"/>
            <a:r>
              <a:rPr lang="en-IN" sz="1600" b="1" dirty="0">
                <a:solidFill>
                  <a:srgbClr val="660066"/>
                </a:solidFill>
                <a:latin typeface="Times New Roman" pitchFamily="18" charset="0"/>
                <a:cs typeface="Times New Roman" pitchFamily="18" charset="0"/>
              </a:rPr>
              <a:t>Department of  Master of Computer Applications, </a:t>
            </a:r>
            <a:endParaRPr lang="en-US" sz="1600" b="1" dirty="0">
              <a:solidFill>
                <a:srgbClr val="660066"/>
              </a:solidFill>
              <a:latin typeface="Times New Roman" pitchFamily="18" charset="0"/>
              <a:cs typeface="Times New Roman" pitchFamily="18" charset="0"/>
            </a:endParaRPr>
          </a:p>
          <a:p>
            <a:pPr algn="ctr"/>
            <a:r>
              <a:rPr lang="en-US" sz="1600" b="1" dirty="0" err="1">
                <a:solidFill>
                  <a:srgbClr val="660066"/>
                </a:solidFill>
                <a:latin typeface="Times New Roman" pitchFamily="18" charset="0"/>
                <a:cs typeface="Times New Roman" pitchFamily="18" charset="0"/>
              </a:rPr>
              <a:t>Priyadarshini</a:t>
            </a:r>
            <a:r>
              <a:rPr lang="en-US" sz="1600" b="1" dirty="0">
                <a:solidFill>
                  <a:srgbClr val="660066"/>
                </a:solidFill>
                <a:latin typeface="Times New Roman" pitchFamily="18" charset="0"/>
                <a:cs typeface="Times New Roman" pitchFamily="18" charset="0"/>
              </a:rPr>
              <a:t> Engineering College. </a:t>
            </a:r>
          </a:p>
          <a:p>
            <a:pPr algn="ctr"/>
            <a:r>
              <a:rPr lang="en-US" sz="1600" b="1" dirty="0" err="1">
                <a:solidFill>
                  <a:srgbClr val="660066"/>
                </a:solidFill>
                <a:latin typeface="Times New Roman" pitchFamily="18" charset="0"/>
                <a:cs typeface="Times New Roman" pitchFamily="18" charset="0"/>
              </a:rPr>
              <a:t>Vaniyambadi</a:t>
            </a:r>
            <a:r>
              <a:rPr lang="en-US" b="1" dirty="0">
                <a:solidFill>
                  <a:srgbClr val="660066"/>
                </a:solidFill>
                <a:latin typeface="Times New Roman" pitchFamily="18" charset="0"/>
                <a:cs typeface="Times New Roman" pitchFamily="18" charset="0"/>
              </a:rPr>
              <a:t>. </a:t>
            </a:r>
          </a:p>
        </p:txBody>
      </p:sp>
      <p:sp>
        <p:nvSpPr>
          <p:cNvPr id="10" name="Flowchart: Delay 9"/>
          <p:cNvSpPr/>
          <p:nvPr/>
        </p:nvSpPr>
        <p:spPr>
          <a:xfrm>
            <a:off x="762000" y="6429396"/>
            <a:ext cx="8354457" cy="428604"/>
          </a:xfrm>
          <a:prstGeom prst="flowChartDelay">
            <a:avLst/>
          </a:prstGeom>
          <a:solidFill>
            <a:srgbClr val="00B0F0"/>
          </a:solidFill>
          <a:ln>
            <a:solidFill>
              <a:srgbClr val="00B0F0"/>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rPr>
              <a:t>Anna University, Chennai</a:t>
            </a:r>
            <a:endParaRPr lang="en-US"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endParaRPr>
          </a:p>
        </p:txBody>
      </p:sp>
      <p:sp>
        <p:nvSpPr>
          <p:cNvPr id="8" name="AutoShape 6" descr="Anna University - Wikipedia"/>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8" descr="Anna University - Wikipedia"/>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10" descr="Anna University - Wikipedia"/>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12" descr="Anna University - Wikipedia"/>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AutoShape 14" descr="Anna University - Wikipedia"/>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AutoShape 16" descr="Anna University - Wikipedia"/>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AutoShape 18" descr="Anna University - Wikipedia"/>
          <p:cNvSpPr>
            <a:spLocks noChangeAspect="1" noChangeArrowheads="1"/>
          </p:cNvSpPr>
          <p:nvPr/>
        </p:nvSpPr>
        <p:spPr bwMode="auto">
          <a:xfrm>
            <a:off x="1069975" y="769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AutoShape 20" descr="Anna University - Wikipedia"/>
          <p:cNvSpPr>
            <a:spLocks noChangeAspect="1" noChangeArrowheads="1"/>
          </p:cNvSpPr>
          <p:nvPr/>
        </p:nvSpPr>
        <p:spPr bwMode="auto">
          <a:xfrm>
            <a:off x="1222375" y="922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AutoShape 22" descr="Anna University - Wikipedia"/>
          <p:cNvSpPr>
            <a:spLocks noChangeAspect="1" noChangeArrowheads="1"/>
          </p:cNvSpPr>
          <p:nvPr/>
        </p:nvSpPr>
        <p:spPr bwMode="auto">
          <a:xfrm>
            <a:off x="1374775" y="1074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AutoShape 24" descr="Anna University - Wikipedia"/>
          <p:cNvSpPr>
            <a:spLocks noChangeAspect="1" noChangeArrowheads="1"/>
          </p:cNvSpPr>
          <p:nvPr/>
        </p:nvSpPr>
        <p:spPr bwMode="auto">
          <a:xfrm>
            <a:off x="1527175" y="1227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50" name="Picture 26" descr="undefined"/>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051" y="6186522"/>
            <a:ext cx="675701" cy="6714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876177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lowchart: Delay 9"/>
          <p:cNvSpPr/>
          <p:nvPr/>
        </p:nvSpPr>
        <p:spPr>
          <a:xfrm>
            <a:off x="762000" y="6429396"/>
            <a:ext cx="8354457" cy="428604"/>
          </a:xfrm>
          <a:prstGeom prst="flowChartDelay">
            <a:avLst/>
          </a:prstGeom>
          <a:solidFill>
            <a:srgbClr val="00B0F0"/>
          </a:solidFill>
          <a:ln>
            <a:solidFill>
              <a:srgbClr val="00B0F0"/>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rPr>
              <a:t>Anna University, Chennai</a:t>
            </a:r>
            <a:endParaRPr lang="en-US"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endParaRPr>
          </a:p>
        </p:txBody>
      </p:sp>
      <p:sp>
        <p:nvSpPr>
          <p:cNvPr id="8" name="AutoShape 6" descr="Anna University - Wikipedia"/>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8" descr="Anna University - Wikipedia"/>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10" descr="Anna University - Wikipedia"/>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12" descr="Anna University - Wikipedia"/>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AutoShape 14" descr="Anna University - Wikipedia"/>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AutoShape 16" descr="Anna University - Wikipedia"/>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AutoShape 18" descr="Anna University - Wikipedia"/>
          <p:cNvSpPr>
            <a:spLocks noChangeAspect="1" noChangeArrowheads="1"/>
          </p:cNvSpPr>
          <p:nvPr/>
        </p:nvSpPr>
        <p:spPr bwMode="auto">
          <a:xfrm>
            <a:off x="1069975" y="769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AutoShape 20" descr="Anna University - Wikipedia"/>
          <p:cNvSpPr>
            <a:spLocks noChangeAspect="1" noChangeArrowheads="1"/>
          </p:cNvSpPr>
          <p:nvPr/>
        </p:nvSpPr>
        <p:spPr bwMode="auto">
          <a:xfrm>
            <a:off x="1222375" y="922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AutoShape 22" descr="Anna University - Wikipedia"/>
          <p:cNvSpPr>
            <a:spLocks noChangeAspect="1" noChangeArrowheads="1"/>
          </p:cNvSpPr>
          <p:nvPr/>
        </p:nvSpPr>
        <p:spPr bwMode="auto">
          <a:xfrm>
            <a:off x="1374775" y="1074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AutoShape 24" descr="Anna University - Wikipedia"/>
          <p:cNvSpPr>
            <a:spLocks noChangeAspect="1" noChangeArrowheads="1"/>
          </p:cNvSpPr>
          <p:nvPr/>
        </p:nvSpPr>
        <p:spPr bwMode="auto">
          <a:xfrm>
            <a:off x="1527175" y="1227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50" name="Picture 26" descr="undefine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051" y="6186522"/>
            <a:ext cx="675701" cy="671478"/>
          </a:xfrm>
          <a:prstGeom prst="rect">
            <a:avLst/>
          </a:prstGeom>
          <a:noFill/>
          <a:extLst>
            <a:ext uri="{909E8E84-426E-40DD-AFC4-6F175D3DCCD1}">
              <a14:hiddenFill xmlns:a14="http://schemas.microsoft.com/office/drawing/2010/main">
                <a:solidFill>
                  <a:srgbClr val="FFFFFF"/>
                </a:solidFill>
              </a14:hiddenFill>
            </a:ext>
          </a:extLst>
        </p:spPr>
      </p:pic>
      <p:sp>
        <p:nvSpPr>
          <p:cNvPr id="20" name="Title 1"/>
          <p:cNvSpPr txBox="1">
            <a:spLocks/>
          </p:cNvSpPr>
          <p:nvPr/>
        </p:nvSpPr>
        <p:spPr>
          <a:xfrm>
            <a:off x="370901" y="738475"/>
            <a:ext cx="8378826" cy="5283221"/>
          </a:xfrm>
          <a:prstGeom prst="rect">
            <a:avLst/>
          </a:prstGeom>
        </p:spPr>
        <p:txBody>
          <a:bodyPr vert="horz" lIns="91440" tIns="45720" rIns="91440" bIns="45720" rtlCol="0" anchor="ctr">
            <a:noAutofit/>
          </a:bodyPr>
          <a:lstStyle/>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pPr>
              <a:buFont typeface="Wingdings" pitchFamily="2" charset="2"/>
              <a:buChar char="v"/>
            </a:pPr>
            <a:endParaRPr lang="en-US" altLang="ko-KR" sz="2000" b="1" dirty="0">
              <a:solidFill>
                <a:srgbClr val="0070C0"/>
              </a:solidFill>
              <a:latin typeface="Times New Roman" pitchFamily="18" charset="0"/>
              <a:cs typeface="Times New Roman" pitchFamily="18" charset="0"/>
            </a:endParaRPr>
          </a:p>
          <a:p>
            <a:pPr>
              <a:buFont typeface="Wingdings" pitchFamily="2" charset="2"/>
              <a:buChar char="v"/>
            </a:pPr>
            <a:endParaRPr lang="en-US" altLang="ko-KR" sz="2000" b="1" dirty="0">
              <a:solidFill>
                <a:srgbClr val="0070C0"/>
              </a:solidFill>
              <a:latin typeface="Times New Roman" pitchFamily="18" charset="0"/>
              <a:cs typeface="Times New Roman" pitchFamily="18" charset="0"/>
            </a:endParaRPr>
          </a:p>
          <a:p>
            <a:pPr marL="342900" indent="-342900">
              <a:buFont typeface="Wingdings" pitchFamily="2" charset="2"/>
              <a:buChar char="v"/>
            </a:pPr>
            <a:r>
              <a:rPr lang="en-US" altLang="ko-KR" b="1" dirty="0">
                <a:solidFill>
                  <a:srgbClr val="0070C0"/>
                </a:solidFill>
                <a:latin typeface="Times New Roman" pitchFamily="18" charset="0"/>
                <a:cs typeface="Times New Roman" pitchFamily="18" charset="0"/>
              </a:rPr>
              <a:t>ABSTRACT</a:t>
            </a:r>
          </a:p>
          <a:p>
            <a:pPr marL="342900" indent="-342900">
              <a:buFont typeface="Wingdings" pitchFamily="2" charset="2"/>
              <a:buChar char="v"/>
            </a:pPr>
            <a:r>
              <a:rPr lang="en-US" altLang="ko-KR" b="1" dirty="0">
                <a:solidFill>
                  <a:srgbClr val="0070C0"/>
                </a:solidFill>
                <a:latin typeface="Times New Roman" pitchFamily="18" charset="0"/>
                <a:cs typeface="Times New Roman" pitchFamily="18" charset="0"/>
              </a:rPr>
              <a:t>INTRODUCTION</a:t>
            </a:r>
          </a:p>
          <a:p>
            <a:pPr marL="342900" indent="-342900">
              <a:buFont typeface="Wingdings" pitchFamily="2" charset="2"/>
              <a:buChar char="v"/>
            </a:pPr>
            <a:r>
              <a:rPr lang="en-US" altLang="ko-KR" b="1" dirty="0">
                <a:solidFill>
                  <a:srgbClr val="0070C0"/>
                </a:solidFill>
                <a:latin typeface="Times New Roman" pitchFamily="18" charset="0"/>
                <a:cs typeface="Times New Roman" pitchFamily="18" charset="0"/>
              </a:rPr>
              <a:t>PROBLEM DEFINITION</a:t>
            </a:r>
          </a:p>
          <a:p>
            <a:pPr marL="342900" indent="-342900">
              <a:buFont typeface="Wingdings" pitchFamily="2" charset="2"/>
              <a:buChar char="v"/>
            </a:pPr>
            <a:r>
              <a:rPr lang="en-US" altLang="ko-KR" b="1" dirty="0">
                <a:solidFill>
                  <a:srgbClr val="0070C0"/>
                </a:solidFill>
                <a:latin typeface="Times New Roman" pitchFamily="18" charset="0"/>
                <a:cs typeface="Times New Roman" pitchFamily="18" charset="0"/>
              </a:rPr>
              <a:t>OBJECTIVE OF THE PROJECT</a:t>
            </a:r>
          </a:p>
          <a:p>
            <a:pPr marL="342900" indent="-342900">
              <a:buFont typeface="Wingdings" pitchFamily="2" charset="2"/>
              <a:buChar char="v"/>
            </a:pPr>
            <a:r>
              <a:rPr lang="en-US" altLang="ko-KR" b="1" dirty="0">
                <a:solidFill>
                  <a:srgbClr val="0070C0"/>
                </a:solidFill>
                <a:latin typeface="Times New Roman" pitchFamily="18" charset="0"/>
                <a:cs typeface="Times New Roman" pitchFamily="18" charset="0"/>
              </a:rPr>
              <a:t>EXISTING SYSTEM</a:t>
            </a:r>
          </a:p>
          <a:p>
            <a:pPr marL="342900" indent="-342900">
              <a:buFont typeface="Wingdings" pitchFamily="2" charset="2"/>
              <a:buChar char="v"/>
            </a:pPr>
            <a:r>
              <a:rPr lang="en-US" altLang="ko-KR" b="1" dirty="0">
                <a:solidFill>
                  <a:srgbClr val="0070C0"/>
                </a:solidFill>
                <a:latin typeface="Times New Roman" pitchFamily="18" charset="0"/>
                <a:cs typeface="Times New Roman" pitchFamily="18" charset="0"/>
              </a:rPr>
              <a:t>PROPOSED SYSTEM</a:t>
            </a:r>
          </a:p>
          <a:p>
            <a:pPr marL="342900" indent="-342900">
              <a:buFont typeface="Wingdings" pitchFamily="2" charset="2"/>
              <a:buChar char="v"/>
            </a:pPr>
            <a:r>
              <a:rPr lang="en-US" altLang="ko-KR" b="1" dirty="0">
                <a:solidFill>
                  <a:srgbClr val="0070C0"/>
                </a:solidFill>
                <a:latin typeface="Times New Roman" pitchFamily="18" charset="0"/>
                <a:cs typeface="Times New Roman" pitchFamily="18" charset="0"/>
              </a:rPr>
              <a:t>HARDWARE REQUIREMENTS</a:t>
            </a:r>
          </a:p>
          <a:p>
            <a:pPr marL="342900" indent="-342900">
              <a:buFont typeface="Wingdings" pitchFamily="2" charset="2"/>
              <a:buChar char="v"/>
            </a:pPr>
            <a:r>
              <a:rPr lang="en-US" altLang="ko-KR" b="1" dirty="0">
                <a:solidFill>
                  <a:srgbClr val="0070C0"/>
                </a:solidFill>
                <a:latin typeface="Times New Roman" pitchFamily="18" charset="0"/>
                <a:cs typeface="Times New Roman" pitchFamily="18" charset="0"/>
              </a:rPr>
              <a:t>SOFTWARE REQUIREMENTS </a:t>
            </a:r>
          </a:p>
          <a:p>
            <a:pPr marL="342900" indent="-342900">
              <a:buFont typeface="Wingdings" pitchFamily="2" charset="2"/>
              <a:buChar char="v"/>
            </a:pPr>
            <a:r>
              <a:rPr lang="en-US" altLang="ko-KR" b="1" dirty="0">
                <a:solidFill>
                  <a:srgbClr val="0070C0"/>
                </a:solidFill>
                <a:latin typeface="Times New Roman" pitchFamily="18" charset="0"/>
                <a:cs typeface="Times New Roman" pitchFamily="18" charset="0"/>
              </a:rPr>
              <a:t>ARCHITECTURE DIAGRAM</a:t>
            </a:r>
          </a:p>
          <a:p>
            <a:pPr marL="342900" indent="-342900">
              <a:buFont typeface="Wingdings" pitchFamily="2" charset="2"/>
              <a:buChar char="v"/>
            </a:pPr>
            <a:r>
              <a:rPr lang="en-US" altLang="ko-KR" b="1" dirty="0">
                <a:solidFill>
                  <a:srgbClr val="0070C0"/>
                </a:solidFill>
                <a:latin typeface="Times New Roman" pitchFamily="18" charset="0"/>
                <a:cs typeface="Times New Roman" pitchFamily="18" charset="0"/>
              </a:rPr>
              <a:t>DATAFLOW DIAGRAM</a:t>
            </a:r>
          </a:p>
          <a:p>
            <a:pPr marL="342900" indent="-342900">
              <a:buFont typeface="Wingdings" pitchFamily="2" charset="2"/>
              <a:buChar char="v"/>
            </a:pPr>
            <a:r>
              <a:rPr lang="en-US" altLang="ko-KR" b="1" dirty="0">
                <a:solidFill>
                  <a:srgbClr val="0070C0"/>
                </a:solidFill>
                <a:latin typeface="Times New Roman" pitchFamily="18" charset="0"/>
                <a:cs typeface="Times New Roman" pitchFamily="18" charset="0"/>
              </a:rPr>
              <a:t>ER DIAGRAM</a:t>
            </a:r>
          </a:p>
          <a:p>
            <a:pPr marL="342900" indent="-342900">
              <a:buFont typeface="Wingdings" pitchFamily="2" charset="2"/>
              <a:buChar char="v"/>
            </a:pPr>
            <a:r>
              <a:rPr lang="en-US" altLang="ko-KR" b="1" dirty="0">
                <a:solidFill>
                  <a:srgbClr val="0070C0"/>
                </a:solidFill>
                <a:latin typeface="Times New Roman" pitchFamily="18" charset="0"/>
                <a:cs typeface="Times New Roman" pitchFamily="18" charset="0"/>
              </a:rPr>
              <a:t>CLASS DIAGRAM</a:t>
            </a:r>
          </a:p>
          <a:p>
            <a:pPr marL="342900" indent="-342900">
              <a:buFont typeface="Wingdings" pitchFamily="2" charset="2"/>
              <a:buChar char="v"/>
            </a:pPr>
            <a:r>
              <a:rPr lang="en-US" altLang="ko-KR" b="1" dirty="0">
                <a:solidFill>
                  <a:srgbClr val="0070C0"/>
                </a:solidFill>
                <a:latin typeface="Times New Roman" pitchFamily="18" charset="0"/>
                <a:cs typeface="Times New Roman" pitchFamily="18" charset="0"/>
              </a:rPr>
              <a:t>SEQUENCE DIAGRAM</a:t>
            </a:r>
          </a:p>
          <a:p>
            <a:pPr marL="342900" indent="-342900">
              <a:buFont typeface="Wingdings" pitchFamily="2" charset="2"/>
              <a:buChar char="v"/>
            </a:pPr>
            <a:r>
              <a:rPr lang="en-US" altLang="ko-KR" b="1" dirty="0">
                <a:solidFill>
                  <a:srgbClr val="0070C0"/>
                </a:solidFill>
                <a:latin typeface="Times New Roman" pitchFamily="18" charset="0"/>
                <a:cs typeface="Times New Roman" pitchFamily="18" charset="0"/>
              </a:rPr>
              <a:t>UML DIAGRAM</a:t>
            </a:r>
          </a:p>
          <a:p>
            <a:pPr marL="342900" indent="-342900">
              <a:buFont typeface="Wingdings" pitchFamily="2" charset="2"/>
              <a:buChar char="v"/>
            </a:pPr>
            <a:r>
              <a:rPr lang="en-US" altLang="ko-KR" b="1" dirty="0">
                <a:solidFill>
                  <a:srgbClr val="0070C0"/>
                </a:solidFill>
                <a:latin typeface="Times New Roman" pitchFamily="18" charset="0"/>
                <a:cs typeface="Times New Roman" pitchFamily="18" charset="0"/>
              </a:rPr>
              <a:t>ACTIVITY DIAGRAM</a:t>
            </a:r>
          </a:p>
          <a:p>
            <a:pPr marL="342900" indent="-342900">
              <a:buFont typeface="Wingdings" pitchFamily="2" charset="2"/>
              <a:buChar char="v"/>
            </a:pPr>
            <a:r>
              <a:rPr lang="en-US" altLang="ko-KR" b="1" dirty="0" smtClean="0">
                <a:solidFill>
                  <a:srgbClr val="0070C0"/>
                </a:solidFill>
                <a:latin typeface="Times New Roman" pitchFamily="18" charset="0"/>
                <a:cs typeface="Times New Roman" pitchFamily="18" charset="0"/>
              </a:rPr>
              <a:t>DATABASE </a:t>
            </a:r>
            <a:r>
              <a:rPr lang="en-US" altLang="ko-KR" b="1" dirty="0">
                <a:solidFill>
                  <a:srgbClr val="0070C0"/>
                </a:solidFill>
                <a:latin typeface="Times New Roman" pitchFamily="18" charset="0"/>
                <a:cs typeface="Times New Roman" pitchFamily="18" charset="0"/>
              </a:rPr>
              <a:t>DESCRIPTION</a:t>
            </a:r>
          </a:p>
          <a:p>
            <a:pPr marL="342900" indent="-342900">
              <a:buFont typeface="Wingdings" pitchFamily="2" charset="2"/>
              <a:buChar char="v"/>
            </a:pPr>
            <a:r>
              <a:rPr lang="en-US" altLang="ko-KR" b="1" dirty="0">
                <a:solidFill>
                  <a:srgbClr val="0070C0"/>
                </a:solidFill>
                <a:latin typeface="Times New Roman" pitchFamily="18" charset="0"/>
                <a:cs typeface="Times New Roman" pitchFamily="18" charset="0"/>
              </a:rPr>
              <a:t>CONCLUSION </a:t>
            </a:r>
          </a:p>
          <a:p>
            <a:pPr marL="342900" indent="-342900">
              <a:buFont typeface="Wingdings" pitchFamily="2" charset="2"/>
              <a:buChar char="v"/>
            </a:pPr>
            <a:r>
              <a:rPr lang="en-US" altLang="ko-KR" b="1" dirty="0">
                <a:solidFill>
                  <a:srgbClr val="0070C0"/>
                </a:solidFill>
                <a:latin typeface="Times New Roman" pitchFamily="18" charset="0"/>
                <a:cs typeface="Times New Roman" pitchFamily="18" charset="0"/>
              </a:rPr>
              <a:t>SCOPE FOR FUTURE ENHANCEMENT</a:t>
            </a:r>
          </a:p>
          <a:p>
            <a:pPr marL="342900" indent="-342900">
              <a:buFont typeface="Wingdings" pitchFamily="2" charset="2"/>
              <a:buChar char="v"/>
            </a:pPr>
            <a:r>
              <a:rPr lang="en-US" altLang="ko-KR" b="1" dirty="0">
                <a:solidFill>
                  <a:srgbClr val="0070C0"/>
                </a:solidFill>
                <a:latin typeface="Times New Roman" pitchFamily="18" charset="0"/>
                <a:cs typeface="Times New Roman" pitchFamily="18" charset="0"/>
              </a:rPr>
              <a:t>SCREEN SHOTS </a:t>
            </a:r>
          </a:p>
          <a:p>
            <a:pPr marL="342900" indent="-342900">
              <a:buFont typeface="Wingdings" pitchFamily="2" charset="2"/>
              <a:buChar char="v"/>
            </a:pPr>
            <a:r>
              <a:rPr lang="en-US" altLang="ko-KR" b="1" dirty="0">
                <a:solidFill>
                  <a:srgbClr val="0070C0"/>
                </a:solidFill>
                <a:latin typeface="Times New Roman" pitchFamily="18" charset="0"/>
                <a:cs typeface="Times New Roman" pitchFamily="18" charset="0"/>
              </a:rPr>
              <a:t>REFERENCES</a:t>
            </a:r>
          </a:p>
          <a:p>
            <a:r>
              <a:rPr lang="en-US" altLang="ko-KR" sz="2000" b="1" dirty="0">
                <a:solidFill>
                  <a:srgbClr val="FFFF00"/>
                </a:solidFill>
                <a:latin typeface="Times New Roman" pitchFamily="18" charset="0"/>
                <a:cs typeface="Times New Roman" pitchFamily="18" charset="0"/>
              </a:rPr>
              <a:t/>
            </a:r>
            <a:br>
              <a:rPr lang="en-US" altLang="ko-KR" sz="2000" b="1" dirty="0">
                <a:solidFill>
                  <a:srgbClr val="FFFF00"/>
                </a:solidFill>
                <a:latin typeface="Times New Roman" pitchFamily="18" charset="0"/>
                <a:cs typeface="Times New Roman" pitchFamily="18" charset="0"/>
              </a:rPr>
            </a:br>
            <a:endParaRPr lang="en-US" sz="2000" dirty="0"/>
          </a:p>
          <a:p>
            <a:pPr algn="just"/>
            <a:r>
              <a:rPr lang="en-US" sz="1600" dirty="0">
                <a:latin typeface="Times New Roman" pitchFamily="18" charset="0"/>
                <a:cs typeface="Times New Roman" pitchFamily="18" charset="0"/>
              </a:rPr>
              <a:t>	</a:t>
            </a:r>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ko-KR" sz="1600" b="1" i="0" u="none" strike="noStrike" kern="1200" cap="none" spc="0" normalizeH="0" baseline="0" noProof="0" dirty="0">
                <a:ln>
                  <a:noFill/>
                </a:ln>
                <a:solidFill>
                  <a:srgbClr val="FFFF00"/>
                </a:solidFill>
                <a:effectLst/>
                <a:uLnTx/>
                <a:uFillTx/>
                <a:latin typeface="Times New Roman" pitchFamily="18" charset="0"/>
                <a:ea typeface="+mj-ea"/>
                <a:cs typeface="Times New Roman" pitchFamily="18" charset="0"/>
              </a:rPr>
              <a:t/>
            </a:r>
            <a:br>
              <a:rPr kumimoji="0" lang="en-US" altLang="ko-KR" sz="1600" b="1" i="0" u="none" strike="noStrike" kern="1200" cap="none" spc="0" normalizeH="0" baseline="0" noProof="0" dirty="0">
                <a:ln>
                  <a:noFill/>
                </a:ln>
                <a:solidFill>
                  <a:srgbClr val="FFFF00"/>
                </a:solidFill>
                <a:effectLst/>
                <a:uLnTx/>
                <a:uFillTx/>
                <a:latin typeface="Times New Roman" pitchFamily="18" charset="0"/>
                <a:ea typeface="+mj-ea"/>
                <a:cs typeface="Times New Roman" pitchFamily="18" charset="0"/>
              </a:rPr>
            </a:br>
            <a:endParaRPr kumimoji="0" lang="en-US" sz="1600" b="0" i="0" u="none" strike="noStrike" kern="1200" cap="none" spc="0" normalizeH="0" baseline="0" noProof="0" dirty="0">
              <a:ln>
                <a:noFill/>
              </a:ln>
              <a:solidFill>
                <a:schemeClr val="tx1"/>
              </a:solidFill>
              <a:effectLst/>
              <a:uLnTx/>
              <a:uFillTx/>
              <a:latin typeface="+mj-lt"/>
              <a:ea typeface="+mj-ea"/>
              <a:cs typeface="+mj-cs"/>
            </a:endParaRPr>
          </a:p>
        </p:txBody>
      </p:sp>
      <p:sp>
        <p:nvSpPr>
          <p:cNvPr id="21" name="Title 1"/>
          <p:cNvSpPr>
            <a:spLocks noGrp="1"/>
          </p:cNvSpPr>
          <p:nvPr>
            <p:ph type="ctrTitle"/>
          </p:nvPr>
        </p:nvSpPr>
        <p:spPr>
          <a:xfrm>
            <a:off x="370901" y="279395"/>
            <a:ext cx="8572560" cy="642942"/>
          </a:xfrm>
        </p:spPr>
        <p:txBody>
          <a:bodyPr>
            <a:normAutofit fontScale="90000"/>
          </a:bodyPr>
          <a:lstStyle/>
          <a:p>
            <a:r>
              <a:rPr kumimoji="0" lang="en-US" altLang="ko-KR" b="1" dirty="0">
                <a:solidFill>
                  <a:srgbClr val="0070C0"/>
                </a:solidFill>
                <a:latin typeface="Times New Roman" pitchFamily="18" charset="0"/>
                <a:cs typeface="Times New Roman" pitchFamily="18" charset="0"/>
              </a:rPr>
              <a:t>Contents </a:t>
            </a:r>
            <a:r>
              <a:rPr kumimoji="0" lang="en-US" altLang="ko-KR" b="1" dirty="0">
                <a:solidFill>
                  <a:srgbClr val="FFFF00"/>
                </a:solidFill>
                <a:latin typeface="Times New Roman" pitchFamily="18" charset="0"/>
                <a:cs typeface="Times New Roman" pitchFamily="18" charset="0"/>
              </a:rPr>
              <a:t/>
            </a:r>
            <a:br>
              <a:rPr kumimoji="0" lang="en-US" altLang="ko-KR" b="1" dirty="0">
                <a:solidFill>
                  <a:srgbClr val="FFFF00"/>
                </a:solidFill>
                <a:latin typeface="Times New Roman" pitchFamily="18" charset="0"/>
                <a:cs typeface="Times New Roman" pitchFamily="18" charset="0"/>
              </a:rPr>
            </a:br>
            <a:endParaRPr lang="en-US" dirty="0"/>
          </a:p>
        </p:txBody>
      </p:sp>
    </p:spTree>
    <p:extLst>
      <p:ext uri="{BB962C8B-B14F-4D97-AF65-F5344CB8AC3E}">
        <p14:creationId xmlns:p14="http://schemas.microsoft.com/office/powerpoint/2010/main" val="406376928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lowchart: Delay 9"/>
          <p:cNvSpPr/>
          <p:nvPr/>
        </p:nvSpPr>
        <p:spPr>
          <a:xfrm>
            <a:off x="762000" y="6429396"/>
            <a:ext cx="8354457" cy="428604"/>
          </a:xfrm>
          <a:prstGeom prst="flowChartDelay">
            <a:avLst/>
          </a:prstGeom>
          <a:solidFill>
            <a:srgbClr val="00B0F0"/>
          </a:solidFill>
          <a:ln>
            <a:solidFill>
              <a:srgbClr val="00B0F0"/>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rPr>
              <a:t>Anna University, Chennai</a:t>
            </a:r>
            <a:endParaRPr lang="en-US"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endParaRPr>
          </a:p>
        </p:txBody>
      </p:sp>
      <p:sp>
        <p:nvSpPr>
          <p:cNvPr id="8" name="AutoShape 6" descr="Anna University - Wikipedia"/>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8" descr="Anna University - Wikipedia"/>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10" descr="Anna University - Wikipedia"/>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12" descr="Anna University - Wikipedia"/>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AutoShape 14" descr="Anna University - Wikipedia"/>
          <p:cNvSpPr>
            <a:spLocks noChangeAspect="1" noChangeArrowheads="1"/>
          </p:cNvSpPr>
          <p:nvPr/>
        </p:nvSpPr>
        <p:spPr bwMode="auto">
          <a:xfrm>
            <a:off x="765174" y="465137"/>
            <a:ext cx="1216025" cy="121602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AutoShape 16" descr="Anna University - Wikipedia"/>
          <p:cNvSpPr>
            <a:spLocks noChangeAspect="1" noChangeArrowheads="1"/>
          </p:cNvSpPr>
          <p:nvPr/>
        </p:nvSpPr>
        <p:spPr bwMode="auto">
          <a:xfrm>
            <a:off x="920750"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AutoShape 18" descr="Anna University - Wikipedia"/>
          <p:cNvSpPr>
            <a:spLocks noChangeAspect="1" noChangeArrowheads="1"/>
          </p:cNvSpPr>
          <p:nvPr/>
        </p:nvSpPr>
        <p:spPr bwMode="auto">
          <a:xfrm>
            <a:off x="1069975" y="769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AutoShape 20" descr="Anna University - Wikipedia"/>
          <p:cNvSpPr>
            <a:spLocks noChangeAspect="1" noChangeArrowheads="1"/>
          </p:cNvSpPr>
          <p:nvPr/>
        </p:nvSpPr>
        <p:spPr bwMode="auto">
          <a:xfrm>
            <a:off x="1222375" y="922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AutoShape 22" descr="Anna University - Wikipedia"/>
          <p:cNvSpPr>
            <a:spLocks noChangeAspect="1" noChangeArrowheads="1"/>
          </p:cNvSpPr>
          <p:nvPr/>
        </p:nvSpPr>
        <p:spPr bwMode="auto">
          <a:xfrm>
            <a:off x="1374775" y="1074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AutoShape 24" descr="Anna University - Wikipedia"/>
          <p:cNvSpPr>
            <a:spLocks noChangeAspect="1" noChangeArrowheads="1"/>
          </p:cNvSpPr>
          <p:nvPr/>
        </p:nvSpPr>
        <p:spPr bwMode="auto">
          <a:xfrm>
            <a:off x="1" y="7937"/>
            <a:ext cx="9116456" cy="617858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50" name="Picture 26" descr="undefine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051" y="6186522"/>
            <a:ext cx="675701" cy="671478"/>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460376" y="197346"/>
            <a:ext cx="8070850" cy="4262705"/>
          </a:xfrm>
          <a:prstGeom prst="rect">
            <a:avLst/>
          </a:prstGeom>
        </p:spPr>
        <p:txBody>
          <a:bodyPr wrap="square">
            <a:spAutoFit/>
          </a:bodyPr>
          <a:lstStyle/>
          <a:p>
            <a:pPr algn="ctr"/>
            <a:r>
              <a:rPr lang="en-US" sz="2400" b="1" dirty="0">
                <a:latin typeface="Times New Roman" pitchFamily="18" charset="0"/>
                <a:cs typeface="Times New Roman" pitchFamily="18" charset="0"/>
              </a:rPr>
              <a:t>ABSTRACT</a:t>
            </a:r>
          </a:p>
          <a:p>
            <a:pPr algn="ctr"/>
            <a:endParaRPr lang="en-US" sz="2300" b="1" dirty="0">
              <a:latin typeface="Times New Roman" pitchFamily="18" charset="0"/>
              <a:cs typeface="Times New Roman" pitchFamily="18" charset="0"/>
            </a:endParaRPr>
          </a:p>
          <a:p>
            <a:pPr algn="ct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Online Voting System Web Application in Python</a:t>
            </a:r>
          </a:p>
          <a:p>
            <a:pPr algn="ctr"/>
            <a:endParaRPr lang="en-US" dirty="0"/>
          </a:p>
          <a:p>
            <a:pPr algn="just"/>
            <a:r>
              <a:rPr lang="en-US" sz="2200" dirty="0">
                <a:latin typeface="Times New Roman" pitchFamily="18" charset="0"/>
                <a:cs typeface="Times New Roman" pitchFamily="18" charset="0"/>
              </a:rPr>
              <a:t>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The Online Voting System is a web-based application designed to streamline and modernize the voting process, making it more accessible, efficient, and secure. This system aims to eliminate geographical constraints, reduce the chances of fraud, and enhance the overall voting experience for both voters and administrators, the Online Voting System is a cutting-edge solution that addresses the challenges associated with traditional voting methods. By leveraging technology, it promotes a fair, transparent, and inclusive democratic process while maintaining the highest standards of security and integrity.</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406376928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lowchart: Delay 9"/>
          <p:cNvSpPr/>
          <p:nvPr/>
        </p:nvSpPr>
        <p:spPr>
          <a:xfrm>
            <a:off x="762000" y="6429396"/>
            <a:ext cx="8354457" cy="428604"/>
          </a:xfrm>
          <a:prstGeom prst="flowChartDelay">
            <a:avLst/>
          </a:prstGeom>
          <a:solidFill>
            <a:srgbClr val="00B0F0"/>
          </a:solidFill>
          <a:ln>
            <a:solidFill>
              <a:srgbClr val="00B0F0"/>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rPr>
              <a:t>Anna University, Chennai</a:t>
            </a:r>
            <a:endParaRPr lang="en-US"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endParaRPr>
          </a:p>
        </p:txBody>
      </p:sp>
      <p:sp>
        <p:nvSpPr>
          <p:cNvPr id="8" name="AutoShape 6" descr="Anna University - Wikipedia"/>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8" descr="Anna University - Wikipedia"/>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10" descr="Anna University - Wikipedia"/>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12" descr="Anna University - Wikipedia"/>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AutoShape 14" descr="Anna University - Wikipedia"/>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AutoShape 16" descr="Anna University - Wikipedia"/>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AutoShape 18" descr="Anna University - Wikipedia"/>
          <p:cNvSpPr>
            <a:spLocks noChangeAspect="1" noChangeArrowheads="1"/>
          </p:cNvSpPr>
          <p:nvPr/>
        </p:nvSpPr>
        <p:spPr bwMode="auto">
          <a:xfrm>
            <a:off x="1069975" y="769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AutoShape 20" descr="Anna University - Wikipedia"/>
          <p:cNvSpPr>
            <a:spLocks noChangeAspect="1" noChangeArrowheads="1"/>
          </p:cNvSpPr>
          <p:nvPr/>
        </p:nvSpPr>
        <p:spPr bwMode="auto">
          <a:xfrm>
            <a:off x="1222375" y="922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AutoShape 22" descr="Anna University - Wikipedia"/>
          <p:cNvSpPr>
            <a:spLocks noChangeAspect="1" noChangeArrowheads="1"/>
          </p:cNvSpPr>
          <p:nvPr/>
        </p:nvSpPr>
        <p:spPr bwMode="auto">
          <a:xfrm>
            <a:off x="1374775" y="1074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AutoShape 24" descr="Anna University - Wikipedia"/>
          <p:cNvSpPr>
            <a:spLocks noChangeAspect="1" noChangeArrowheads="1"/>
          </p:cNvSpPr>
          <p:nvPr/>
        </p:nvSpPr>
        <p:spPr bwMode="auto">
          <a:xfrm>
            <a:off x="1527175" y="1227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50" name="Picture 26" descr="undefine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051" y="6186522"/>
            <a:ext cx="675701" cy="671478"/>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76200" y="160336"/>
            <a:ext cx="8912226" cy="7034554"/>
          </a:xfrm>
          <a:prstGeom prst="rect">
            <a:avLst/>
          </a:prstGeom>
        </p:spPr>
        <p:txBody>
          <a:bodyPr wrap="square">
            <a:spAutoFit/>
          </a:bodyPr>
          <a:lstStyle/>
          <a:p>
            <a:pPr algn="ctr"/>
            <a:r>
              <a:rPr lang="en-US" sz="2400" b="1" dirty="0">
                <a:latin typeface="Times New Roman" pitchFamily="18" charset="0"/>
                <a:cs typeface="Times New Roman" pitchFamily="18" charset="0"/>
              </a:rPr>
              <a:t>INTRODUCTION</a:t>
            </a:r>
          </a:p>
          <a:p>
            <a:pPr algn="ctr"/>
            <a:endParaRPr lang="en-US" sz="2300" b="1" dirty="0">
              <a:latin typeface="Times New Roman" pitchFamily="18" charset="0"/>
              <a:cs typeface="Times New Roman" pitchFamily="18" charset="0"/>
            </a:endParaRPr>
          </a:p>
          <a:p>
            <a:pPr marL="0" indent="0" algn="ctr">
              <a:lnSpc>
                <a:spcPct val="107000"/>
              </a:lnSpc>
              <a:spcAft>
                <a:spcPts val="775"/>
              </a:spcAft>
              <a:buNone/>
            </a:pP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Online Voting System Web Application in Python </a:t>
            </a:r>
          </a:p>
          <a:p>
            <a:pPr marL="0" indent="0" algn="ctr">
              <a:spcAft>
                <a:spcPts val="775"/>
              </a:spcAft>
              <a:buNone/>
            </a:pPr>
            <a:endParaRPr lang="en-US" sz="800" b="1" dirty="0">
              <a:latin typeface="Times New Roman" pitchFamily="18" charset="0"/>
              <a:cs typeface="Times New Roman" pitchFamily="18" charset="0"/>
            </a:endParaRPr>
          </a:p>
          <a:p>
            <a:pPr marL="457200" indent="-186055" algn="just">
              <a:lnSpc>
                <a:spcPct val="150000"/>
              </a:lnSpc>
              <a:spcAft>
                <a:spcPts val="290"/>
              </a:spcAft>
            </a:pPr>
            <a:r>
              <a:rPr lang="en-IN" sz="2400" dirty="0">
                <a:latin typeface="Times New Roman" pitchFamily="18" charset="0"/>
                <a:cs typeface="Times New Roman" pitchFamily="18" charset="0"/>
              </a:rPr>
              <a:t>	</a:t>
            </a:r>
            <a:r>
              <a:rPr lang="en-US" dirty="0">
                <a:solidFill>
                  <a:srgbClr val="000000"/>
                </a:solidFill>
                <a:latin typeface="Times New Roman" panose="02020603050405020304" pitchFamily="18" charset="0"/>
                <a:cs typeface="Times New Roman" pitchFamily="18" charset="0"/>
              </a:rPr>
              <a:t>	</a:t>
            </a:r>
            <a:r>
              <a:rPr lang="en-US" sz="2000" dirty="0">
                <a:solidFill>
                  <a:srgbClr val="000000"/>
                </a:solidFill>
                <a:effectLst/>
                <a:latin typeface="Times New Roman" panose="02020603050405020304" pitchFamily="18" charset="0"/>
                <a:ea typeface="Times New Roman" panose="02020603050405020304" pitchFamily="18" charset="0"/>
              </a:rPr>
              <a:t>The Online Voting System is a web-based application designed to streamline and modernize the voting process, making it more accessible, efficient, and secure. This system aims to eliminate geographical constraints, reduce the chances of fraud, and enhance the overall voting experience for both voters and administrators, the Online Voting System is a cutting-edge solution that addresses the challenges associated with traditional voting methods. By leveraging technology, it promotes a fair, transparent, and inclusive democratic process while maintaining the highest standards of security and integrity.</a:t>
            </a:r>
            <a:endParaRPr lang="en-IN" sz="2000" dirty="0">
              <a:solidFill>
                <a:srgbClr val="000000"/>
              </a:solidFill>
              <a:effectLst/>
              <a:latin typeface="Times New Roman" panose="02020603050405020304" pitchFamily="18" charset="0"/>
              <a:ea typeface="Times New Roman" panose="02020603050405020304" pitchFamily="18" charset="0"/>
            </a:endParaRPr>
          </a:p>
          <a:p>
            <a:pPr algn="ctr"/>
            <a:endParaRPr lang="en-US" sz="2300" b="1" dirty="0">
              <a:latin typeface="Times New Roman" pitchFamily="18" charset="0"/>
              <a:cs typeface="Times New Roman" pitchFamily="18" charset="0"/>
            </a:endParaRPr>
          </a:p>
          <a:p>
            <a:pPr algn="ctr"/>
            <a:endParaRPr lang="en-US" sz="2300" b="1" dirty="0">
              <a:latin typeface="Times New Roman" pitchFamily="18" charset="0"/>
              <a:cs typeface="Times New Roman" pitchFamily="18" charset="0"/>
            </a:endParaRPr>
          </a:p>
          <a:p>
            <a:pPr algn="ctr"/>
            <a:endParaRPr lang="en-US" sz="2300" b="1" dirty="0">
              <a:latin typeface="Times New Roman" pitchFamily="18" charset="0"/>
              <a:cs typeface="Times New Roman" pitchFamily="18" charset="0"/>
            </a:endParaRPr>
          </a:p>
          <a:p>
            <a:pPr algn="ctr"/>
            <a:endParaRPr lang="en-US" sz="2300" b="1" dirty="0">
              <a:latin typeface="Times New Roman" pitchFamily="18" charset="0"/>
              <a:cs typeface="Times New Roman" pitchFamily="18" charset="0"/>
            </a:endParaRPr>
          </a:p>
        </p:txBody>
      </p:sp>
    </p:spTree>
    <p:extLst>
      <p:ext uri="{BB962C8B-B14F-4D97-AF65-F5344CB8AC3E}">
        <p14:creationId xmlns:p14="http://schemas.microsoft.com/office/powerpoint/2010/main" val="406376928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lowchart: Delay 9"/>
          <p:cNvSpPr/>
          <p:nvPr/>
        </p:nvSpPr>
        <p:spPr>
          <a:xfrm>
            <a:off x="756492" y="6396760"/>
            <a:ext cx="8354457" cy="428604"/>
          </a:xfrm>
          <a:prstGeom prst="flowChartDelay">
            <a:avLst/>
          </a:prstGeom>
          <a:solidFill>
            <a:srgbClr val="00B0F0"/>
          </a:solidFill>
          <a:ln>
            <a:solidFill>
              <a:srgbClr val="00B0F0"/>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rPr>
              <a:t>Anna University, Chennai</a:t>
            </a:r>
            <a:endParaRPr lang="en-US"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endParaRPr>
          </a:p>
        </p:txBody>
      </p:sp>
      <p:sp>
        <p:nvSpPr>
          <p:cNvPr id="8" name="AutoShape 6" descr="Anna University - Wikipedia"/>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8" descr="Anna University - Wikipedia"/>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10" descr="Anna University - Wikipedia"/>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12" descr="Anna University - Wikipedia"/>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AutoShape 14" descr="Anna University - Wikipedia"/>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AutoShape 16" descr="Anna University - Wikipedia"/>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AutoShape 18" descr="Anna University - Wikipedia"/>
          <p:cNvSpPr>
            <a:spLocks noChangeAspect="1" noChangeArrowheads="1"/>
          </p:cNvSpPr>
          <p:nvPr/>
        </p:nvSpPr>
        <p:spPr bwMode="auto">
          <a:xfrm>
            <a:off x="1069975" y="769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AutoShape 20" descr="Anna University - Wikipedia"/>
          <p:cNvSpPr>
            <a:spLocks noChangeAspect="1" noChangeArrowheads="1"/>
          </p:cNvSpPr>
          <p:nvPr/>
        </p:nvSpPr>
        <p:spPr bwMode="auto">
          <a:xfrm>
            <a:off x="1222375" y="922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AutoShape 22" descr="Anna University - Wikipedia"/>
          <p:cNvSpPr>
            <a:spLocks noChangeAspect="1" noChangeArrowheads="1"/>
          </p:cNvSpPr>
          <p:nvPr/>
        </p:nvSpPr>
        <p:spPr bwMode="auto">
          <a:xfrm>
            <a:off x="1374775" y="1074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AutoShape 24" descr="Anna University - Wikipedia"/>
          <p:cNvSpPr>
            <a:spLocks noChangeAspect="1" noChangeArrowheads="1"/>
          </p:cNvSpPr>
          <p:nvPr/>
        </p:nvSpPr>
        <p:spPr bwMode="auto">
          <a:xfrm>
            <a:off x="1527175" y="1227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50" name="Picture 26" descr="undefine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051" y="6186522"/>
            <a:ext cx="675701" cy="67147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3051" y="276285"/>
            <a:ext cx="9083406" cy="6304033"/>
          </a:xfrm>
          <a:prstGeom prst="rect">
            <a:avLst/>
          </a:prstGeom>
        </p:spPr>
        <p:txBody>
          <a:bodyPr wrap="square">
            <a:spAutoFit/>
          </a:bodyPr>
          <a:lstStyle/>
          <a:p>
            <a:pPr algn="ctr"/>
            <a:r>
              <a:rPr lang="en-US" sz="2400" b="1" dirty="0">
                <a:latin typeface="Times New Roman" pitchFamily="18" charset="0"/>
                <a:cs typeface="Times New Roman" pitchFamily="18" charset="0"/>
              </a:rPr>
              <a:t>PROBLEM DEFINITION</a:t>
            </a:r>
          </a:p>
          <a:p>
            <a:pPr algn="ctr"/>
            <a:endParaRPr lang="en-US" sz="2300" b="1" dirty="0">
              <a:latin typeface="Times New Roman" pitchFamily="18" charset="0"/>
              <a:cs typeface="Times New Roman" pitchFamily="18" charset="0"/>
            </a:endParaRPr>
          </a:p>
          <a:p>
            <a:pPr marL="0" indent="0" algn="ctr">
              <a:lnSpc>
                <a:spcPct val="107000"/>
              </a:lnSpc>
              <a:spcAft>
                <a:spcPts val="775"/>
              </a:spcAft>
              <a:buNone/>
            </a:pP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Online Voting System Web Application in Python </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07000"/>
              </a:lnSpc>
              <a:spcAft>
                <a:spcPts val="775"/>
              </a:spcAft>
              <a:buNone/>
            </a:pPr>
            <a:endParaRPr lang="en-US" b="1" dirty="0">
              <a:latin typeface="Times New Roman" pitchFamily="18" charset="0"/>
              <a:cs typeface="Times New Roman" pitchFamily="18" charset="0"/>
            </a:endParaRPr>
          </a:p>
          <a:p>
            <a:pPr algn="just">
              <a:lnSpc>
                <a:spcPct val="107000"/>
              </a:lnSpc>
              <a:spcAft>
                <a:spcPts val="1855"/>
              </a:spcAft>
            </a:pPr>
            <a:r>
              <a:rPr lang="en-IN" dirty="0">
                <a:latin typeface="Times New Roman" pitchFamily="18" charset="0"/>
                <a:cs typeface="Times New Roman" pitchFamily="18" charset="0"/>
              </a:rPr>
              <a:t>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The problem definition of an online voting system in a Python Django project typically involves designing a web application that allows users to securely vote for various options or candidates online. Here's a breakdown of the key components and features typically included in such a system:</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1855"/>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1.User Authentication: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Users should be able to register, log in, and log out securely. User authentication ensures that only registered users can participate in the voting process.</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1855"/>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2.Voting Options: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The system should present users with a list of options or candidates they can vote for. These options should be clearly displayed and easily accessible</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p>
            <a:pPr algn="ctr"/>
            <a:endParaRPr lang="en-US" b="1" dirty="0">
              <a:latin typeface="Times New Roman" pitchFamily="18" charset="0"/>
              <a:cs typeface="Times New Roman" pitchFamily="18" charset="0"/>
            </a:endParaRPr>
          </a:p>
          <a:p>
            <a:pPr algn="ctr"/>
            <a:endParaRPr lang="en-US" b="1" dirty="0">
              <a:latin typeface="Times New Roman" pitchFamily="18" charset="0"/>
              <a:cs typeface="Times New Roman" pitchFamily="18" charset="0"/>
            </a:endParaRPr>
          </a:p>
          <a:p>
            <a:pPr algn="ctr"/>
            <a:endParaRPr lang="en-US" b="1" dirty="0">
              <a:latin typeface="Times New Roman" pitchFamily="18" charset="0"/>
              <a:cs typeface="Times New Roman" pitchFamily="18" charset="0"/>
            </a:endParaRPr>
          </a:p>
        </p:txBody>
      </p:sp>
    </p:spTree>
    <p:extLst>
      <p:ext uri="{BB962C8B-B14F-4D97-AF65-F5344CB8AC3E}">
        <p14:creationId xmlns:p14="http://schemas.microsoft.com/office/powerpoint/2010/main" val="33139070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owchart: Delay 1">
            <a:extLst>
              <a:ext uri="{FF2B5EF4-FFF2-40B4-BE49-F238E27FC236}">
                <a16:creationId xmlns="" xmlns:a16="http://schemas.microsoft.com/office/drawing/2014/main" id="{8D18299F-242A-76D1-BE1F-A6479150C79C}"/>
              </a:ext>
            </a:extLst>
          </p:cNvPr>
          <p:cNvSpPr/>
          <p:nvPr/>
        </p:nvSpPr>
        <p:spPr>
          <a:xfrm>
            <a:off x="756492" y="6396760"/>
            <a:ext cx="8354457" cy="428604"/>
          </a:xfrm>
          <a:prstGeom prst="flowChartDelay">
            <a:avLst/>
          </a:prstGeom>
          <a:solidFill>
            <a:srgbClr val="00B0F0"/>
          </a:solidFill>
          <a:ln>
            <a:solidFill>
              <a:srgbClr val="00B0F0"/>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rPr>
              <a:t>Anna University, Chennai</a:t>
            </a:r>
            <a:endParaRPr lang="en-US"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endParaRPr>
          </a:p>
        </p:txBody>
      </p:sp>
      <p:pic>
        <p:nvPicPr>
          <p:cNvPr id="3" name="Picture 26" descr="undefined">
            <a:extLst>
              <a:ext uri="{FF2B5EF4-FFF2-40B4-BE49-F238E27FC236}">
                <a16:creationId xmlns="" xmlns:a16="http://schemas.microsoft.com/office/drawing/2014/main" id="{E97AAEDF-FEAA-FF10-2897-A209A8C6E0E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051" y="6186522"/>
            <a:ext cx="675701" cy="67147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 xmlns:a16="http://schemas.microsoft.com/office/drawing/2014/main" id="{B2AF8582-6B97-23C9-A809-6A4157EB769F}"/>
              </a:ext>
            </a:extLst>
          </p:cNvPr>
          <p:cNvSpPr txBox="1"/>
          <p:nvPr/>
        </p:nvSpPr>
        <p:spPr>
          <a:xfrm>
            <a:off x="130825" y="531832"/>
            <a:ext cx="8882349" cy="5654690"/>
          </a:xfrm>
          <a:prstGeom prst="rect">
            <a:avLst/>
          </a:prstGeom>
          <a:noFill/>
        </p:spPr>
        <p:txBody>
          <a:bodyPr wrap="square">
            <a:spAutoFit/>
          </a:bodyPr>
          <a:lstStyle/>
          <a:p>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3. Vote Submission: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Users should be able to cast their votes securely. Once a user submits their vote, it should be recorded and stored securely to ensure the integrity of the voting process.</a:t>
            </a:r>
          </a:p>
          <a:p>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1855"/>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4. Vote Counting: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The system needs to accurately count the votes cast for each option or candidate. The counting process should be transparent and secure to prevent tampering or manipulation of results.</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1855"/>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5.Result Presentation: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After the voting period ends, the system should display the results to users in a clear and understandable format. This could include graphs, charts, or simple tabular representations of the vote counts.</a:t>
            </a:r>
          </a:p>
          <a:p>
            <a:pPr algn="just">
              <a:lnSpc>
                <a:spcPct val="107000"/>
              </a:lnSpc>
              <a:spcAft>
                <a:spcPts val="1855"/>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6.Security and Integrity: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Security is crucial in an online voting system to prevent unauthorized access, tampering, or manipulation of votes. Measures such as encryption, secure authentication, and regular security audits should be implemented to ensure the integrity of the system</a:t>
            </a:r>
          </a:p>
          <a:p>
            <a:pPr algn="just">
              <a:lnSpc>
                <a:spcPct val="107000"/>
              </a:lnSpc>
              <a:spcAft>
                <a:spcPts val="1855"/>
              </a:spcAft>
            </a:pP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08089166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owchart: Delay 1">
            <a:extLst>
              <a:ext uri="{FF2B5EF4-FFF2-40B4-BE49-F238E27FC236}">
                <a16:creationId xmlns="" xmlns:a16="http://schemas.microsoft.com/office/drawing/2014/main" id="{2870116C-23AE-512F-6742-08CA8D28F54A}"/>
              </a:ext>
            </a:extLst>
          </p:cNvPr>
          <p:cNvSpPr/>
          <p:nvPr/>
        </p:nvSpPr>
        <p:spPr>
          <a:xfrm>
            <a:off x="756492" y="6396760"/>
            <a:ext cx="8354457" cy="428604"/>
          </a:xfrm>
          <a:prstGeom prst="flowChartDelay">
            <a:avLst/>
          </a:prstGeom>
          <a:solidFill>
            <a:srgbClr val="00B0F0"/>
          </a:solidFill>
          <a:ln>
            <a:solidFill>
              <a:srgbClr val="00B0F0"/>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rPr>
              <a:t>Anna University, Chennai</a:t>
            </a:r>
            <a:endParaRPr lang="en-US"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endParaRPr>
          </a:p>
        </p:txBody>
      </p:sp>
      <p:pic>
        <p:nvPicPr>
          <p:cNvPr id="3" name="Picture 26" descr="undefined">
            <a:extLst>
              <a:ext uri="{FF2B5EF4-FFF2-40B4-BE49-F238E27FC236}">
                <a16:creationId xmlns="" xmlns:a16="http://schemas.microsoft.com/office/drawing/2014/main" id="{1E9C00AD-428E-5669-F288-A6AA2B9D8E8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051" y="6186522"/>
            <a:ext cx="675701" cy="67147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 xmlns:a16="http://schemas.microsoft.com/office/drawing/2014/main" id="{AD462985-8652-7F54-FD87-2AFD8317D2CD}"/>
              </a:ext>
            </a:extLst>
          </p:cNvPr>
          <p:cNvSpPr txBox="1"/>
          <p:nvPr/>
        </p:nvSpPr>
        <p:spPr>
          <a:xfrm>
            <a:off x="228600" y="381000"/>
            <a:ext cx="8458200" cy="3191964"/>
          </a:xfrm>
          <a:prstGeom prst="rect">
            <a:avLst/>
          </a:prstGeom>
          <a:noFill/>
        </p:spPr>
        <p:txBody>
          <a:bodyPr wrap="square">
            <a:spAutoFit/>
          </a:bodyPr>
          <a:lstStyle/>
          <a:p>
            <a:pPr algn="just">
              <a:lnSpc>
                <a:spcPct val="107000"/>
              </a:lnSpc>
              <a:spcAft>
                <a:spcPts val="1855"/>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7. Audit Trail: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The system should maintain a detailed audit trail of all voting activities, including user logins, vote submissions, and any administrative actions taken. This helps ensure transparency and accountability in the voting process</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1855"/>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8.Accessibility:</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The voting system should be accessible to all eligible users, including those with disabilities. It should comply with accessibility standards to ensure that users can navigate and interact with the system effectively.</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1855"/>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By addressing these key components, you can develop a robust and secure online voting system using Python and Django.</a:t>
            </a:r>
            <a:endParaRPr lang="en-US" sz="2000" dirty="0">
              <a:latin typeface="Times New Roman" panose="02020603050405020304" pitchFamily="18" charset="0"/>
              <a:cs typeface="Times New Roman" pitchFamily="18" charset="0"/>
            </a:endParaRPr>
          </a:p>
        </p:txBody>
      </p:sp>
    </p:spTree>
    <p:extLst>
      <p:ext uri="{BB962C8B-B14F-4D97-AF65-F5344CB8AC3E}">
        <p14:creationId xmlns:p14="http://schemas.microsoft.com/office/powerpoint/2010/main" val="422367690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lowchart: Delay 9"/>
          <p:cNvSpPr/>
          <p:nvPr/>
        </p:nvSpPr>
        <p:spPr>
          <a:xfrm>
            <a:off x="762000" y="6429396"/>
            <a:ext cx="8354457" cy="428604"/>
          </a:xfrm>
          <a:prstGeom prst="flowChartDelay">
            <a:avLst/>
          </a:prstGeom>
          <a:solidFill>
            <a:srgbClr val="00B0F0"/>
          </a:solidFill>
          <a:ln>
            <a:solidFill>
              <a:srgbClr val="00B0F0"/>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rPr>
              <a:t>Anna University, Chennai</a:t>
            </a:r>
            <a:endParaRPr lang="en-US"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endParaRPr>
          </a:p>
        </p:txBody>
      </p:sp>
      <p:sp>
        <p:nvSpPr>
          <p:cNvPr id="8" name="AutoShape 6" descr="Anna University - Wikipedia"/>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8" descr="Anna University - Wikipedia"/>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10" descr="Anna University - Wikipedia"/>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12" descr="Anna University - Wikipedia"/>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AutoShape 14" descr="Anna University - Wikipedia"/>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AutoShape 16" descr="Anna University - Wikipedia"/>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AutoShape 18" descr="Anna University - Wikipedia"/>
          <p:cNvSpPr>
            <a:spLocks noChangeAspect="1" noChangeArrowheads="1"/>
          </p:cNvSpPr>
          <p:nvPr/>
        </p:nvSpPr>
        <p:spPr bwMode="auto">
          <a:xfrm>
            <a:off x="1069975" y="769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AutoShape 20" descr="Anna University - Wikipedia"/>
          <p:cNvSpPr>
            <a:spLocks noChangeAspect="1" noChangeArrowheads="1"/>
          </p:cNvSpPr>
          <p:nvPr/>
        </p:nvSpPr>
        <p:spPr bwMode="auto">
          <a:xfrm>
            <a:off x="1222375" y="922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AutoShape 22" descr="Anna University - Wikipedia"/>
          <p:cNvSpPr>
            <a:spLocks noChangeAspect="1" noChangeArrowheads="1"/>
          </p:cNvSpPr>
          <p:nvPr/>
        </p:nvSpPr>
        <p:spPr bwMode="auto">
          <a:xfrm>
            <a:off x="1374775" y="1074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AutoShape 24" descr="Anna University - Wikipedia"/>
          <p:cNvSpPr>
            <a:spLocks noChangeAspect="1" noChangeArrowheads="1"/>
          </p:cNvSpPr>
          <p:nvPr/>
        </p:nvSpPr>
        <p:spPr bwMode="auto">
          <a:xfrm>
            <a:off x="1527175" y="1227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50" name="Picture 26" descr="undefine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051" y="6186522"/>
            <a:ext cx="675701" cy="67147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81000" y="7937"/>
            <a:ext cx="9491949" cy="7040389"/>
          </a:xfrm>
          <a:prstGeom prst="rect">
            <a:avLst/>
          </a:prstGeom>
        </p:spPr>
        <p:txBody>
          <a:bodyPr wrap="square">
            <a:spAutoFit/>
          </a:bodyPr>
          <a:lstStyle/>
          <a:p>
            <a:pPr algn="ctr"/>
            <a:r>
              <a:rPr lang="en-US" sz="2400" b="1" dirty="0">
                <a:latin typeface="Times New Roman" pitchFamily="18" charset="0"/>
                <a:cs typeface="Times New Roman" pitchFamily="18" charset="0"/>
              </a:rPr>
              <a:t>OBJECTIVE OF THE PROJECT</a:t>
            </a:r>
          </a:p>
          <a:p>
            <a:pPr algn="ctr"/>
            <a:endParaRPr lang="en-US" sz="2300" b="1" dirty="0">
              <a:latin typeface="Times New Roman" pitchFamily="18" charset="0"/>
              <a:cs typeface="Times New Roman" pitchFamily="18" charset="0"/>
            </a:endParaRPr>
          </a:p>
          <a:p>
            <a:pPr algn="ct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Online Voting System Web Application in Python </a:t>
            </a:r>
          </a:p>
          <a:p>
            <a:pPr algn="ctr"/>
            <a:endParaRPr lang="en-US" sz="2400" b="1" dirty="0">
              <a:latin typeface="Times New Roman" pitchFamily="18" charset="0"/>
              <a:cs typeface="Times New Roman" pitchFamily="18" charset="0"/>
            </a:endParaRPr>
          </a:p>
          <a:p>
            <a:pPr marL="342900" lvl="0" indent="-342900" algn="just">
              <a:lnSpc>
                <a:spcPct val="150000"/>
              </a:lnSpc>
              <a:spcAft>
                <a:spcPts val="290"/>
              </a:spcAft>
              <a:buFont typeface="Symbol" panose="05050102010706020507" pitchFamily="18" charset="2"/>
              <a:buChar char=""/>
            </a:pPr>
            <a:r>
              <a:rPr lang="en-IN" sz="2000" dirty="0">
                <a:latin typeface="Times New Roman" pitchFamily="18" charset="0"/>
                <a:cs typeface="Times New Roman" pitchFamily="18" charset="0"/>
              </a:rPr>
              <a:t>	</a:t>
            </a:r>
            <a:r>
              <a:rPr lang="en-US" sz="2000" dirty="0">
                <a:solidFill>
                  <a:srgbClr val="000000"/>
                </a:solidFill>
                <a:effectLst/>
                <a:latin typeface="Times New Roman" panose="02020603050405020304" pitchFamily="18" charset="0"/>
                <a:ea typeface="Times New Roman" panose="02020603050405020304" pitchFamily="18" charset="0"/>
              </a:rPr>
              <a:t>Our project involves developing a sophisticated online voting system web application using Django, a high-level Python web framework. The primary objective is to create a secure, efficient, and user-friendly platform that enables voters to participate in elections conveniently from anywhere with internet access. The application will feature robust user authentication and authorization mechanisms to ensure the integrity of voter identities and access control. Voter registration will be streamlined, with validation processes to prevent duplicates and verify eligibility. Administrators will have comprehensive tools to manage election processes, including ballot creation and customization for different voting scenarios. The voting interface will be designed to be intuitive and responsive, supporting various devices and screen sizes.</a:t>
            </a:r>
            <a:endParaRPr lang="en-IN" sz="2000" dirty="0">
              <a:solidFill>
                <a:srgbClr val="000000"/>
              </a:solidFill>
              <a:effectLst/>
              <a:latin typeface="Times New Roman" panose="02020603050405020304" pitchFamily="18" charset="0"/>
              <a:ea typeface="Times New Roman" panose="02020603050405020304" pitchFamily="18" charset="0"/>
            </a:endParaRPr>
          </a:p>
          <a:p>
            <a:pPr algn="ctr"/>
            <a:endParaRPr lang="en-US" b="1" dirty="0">
              <a:latin typeface="Times New Roman" pitchFamily="18" charset="0"/>
              <a:cs typeface="Times New Roman" pitchFamily="18" charset="0"/>
            </a:endParaRPr>
          </a:p>
          <a:p>
            <a:pPr algn="ctr"/>
            <a:endParaRPr lang="en-US" b="1" dirty="0">
              <a:latin typeface="Times New Roman" pitchFamily="18" charset="0"/>
              <a:cs typeface="Times New Roman" pitchFamily="18" charset="0"/>
            </a:endParaRPr>
          </a:p>
          <a:p>
            <a:pPr algn="ctr"/>
            <a:endParaRPr lang="en-US" b="1" dirty="0">
              <a:latin typeface="Times New Roman" pitchFamily="18" charset="0"/>
              <a:cs typeface="Times New Roman" pitchFamily="18" charset="0"/>
            </a:endParaRPr>
          </a:p>
        </p:txBody>
      </p:sp>
    </p:spTree>
    <p:extLst>
      <p:ext uri="{BB962C8B-B14F-4D97-AF65-F5344CB8AC3E}">
        <p14:creationId xmlns:p14="http://schemas.microsoft.com/office/powerpoint/2010/main" val="84215566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lowchart: Delay 9"/>
          <p:cNvSpPr/>
          <p:nvPr/>
        </p:nvSpPr>
        <p:spPr>
          <a:xfrm>
            <a:off x="762000" y="6429396"/>
            <a:ext cx="8354457" cy="428604"/>
          </a:xfrm>
          <a:prstGeom prst="flowChartDelay">
            <a:avLst/>
          </a:prstGeom>
          <a:solidFill>
            <a:srgbClr val="00B0F0"/>
          </a:solidFill>
          <a:ln>
            <a:solidFill>
              <a:srgbClr val="00B0F0"/>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rPr>
              <a:t>Anna University, Chennai</a:t>
            </a:r>
            <a:endParaRPr lang="en-US"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endParaRPr>
          </a:p>
        </p:txBody>
      </p:sp>
      <p:sp>
        <p:nvSpPr>
          <p:cNvPr id="8" name="AutoShape 6" descr="Anna University - Wikipedia"/>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8" descr="Anna University - Wikipedia"/>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10" descr="Anna University - Wikipedia"/>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12" descr="Anna University - Wikipedia"/>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AutoShape 14" descr="Anna University - Wikipedia"/>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AutoShape 16" descr="Anna University - Wikipedia"/>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AutoShape 18" descr="Anna University - Wikipedia"/>
          <p:cNvSpPr>
            <a:spLocks noChangeAspect="1" noChangeArrowheads="1"/>
          </p:cNvSpPr>
          <p:nvPr/>
        </p:nvSpPr>
        <p:spPr bwMode="auto">
          <a:xfrm>
            <a:off x="1069975" y="769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AutoShape 20" descr="Anna University - Wikipedia"/>
          <p:cNvSpPr>
            <a:spLocks noChangeAspect="1" noChangeArrowheads="1"/>
          </p:cNvSpPr>
          <p:nvPr/>
        </p:nvSpPr>
        <p:spPr bwMode="auto">
          <a:xfrm>
            <a:off x="1222375" y="922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AutoShape 22" descr="Anna University - Wikipedia"/>
          <p:cNvSpPr>
            <a:spLocks noChangeAspect="1" noChangeArrowheads="1"/>
          </p:cNvSpPr>
          <p:nvPr/>
        </p:nvSpPr>
        <p:spPr bwMode="auto">
          <a:xfrm>
            <a:off x="1374775" y="1074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AutoShape 24" descr="Anna University - Wikipedia"/>
          <p:cNvSpPr>
            <a:spLocks noChangeAspect="1" noChangeArrowheads="1"/>
          </p:cNvSpPr>
          <p:nvPr/>
        </p:nvSpPr>
        <p:spPr bwMode="auto">
          <a:xfrm>
            <a:off x="1527175" y="1227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50" name="Picture 26" descr="undefine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051" y="6186522"/>
            <a:ext cx="675701" cy="67147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155575" y="276285"/>
            <a:ext cx="8836025" cy="4508927"/>
          </a:xfrm>
          <a:prstGeom prst="rect">
            <a:avLst/>
          </a:prstGeom>
        </p:spPr>
        <p:txBody>
          <a:bodyPr wrap="square">
            <a:spAutoFit/>
          </a:bodyPr>
          <a:lstStyle/>
          <a:p>
            <a:pPr algn="ctr"/>
            <a:r>
              <a:rPr lang="en-US" sz="2400" b="1" dirty="0">
                <a:latin typeface="Times New Roman" pitchFamily="18" charset="0"/>
                <a:cs typeface="Times New Roman" pitchFamily="18" charset="0"/>
              </a:rPr>
              <a:t>EXISTING SYSTEM</a:t>
            </a:r>
          </a:p>
          <a:p>
            <a:pPr algn="ctr"/>
            <a:endParaRPr lang="en-US" sz="2300" b="1" dirty="0">
              <a:latin typeface="Times New Roman" pitchFamily="18" charset="0"/>
              <a:cs typeface="Times New Roman" pitchFamily="18" charset="0"/>
            </a:endParaRPr>
          </a:p>
          <a:p>
            <a:pPr algn="ctr"/>
            <a:r>
              <a:rPr lang="en-US" sz="2400" b="1" dirty="0">
                <a:solidFill>
                  <a:srgbClr val="000000"/>
                </a:solidFill>
                <a:effectLst/>
                <a:latin typeface="Times New Roman" panose="02020603050405020304" pitchFamily="18" charset="0"/>
                <a:ea typeface="Times New Roman" panose="02020603050405020304" pitchFamily="18" charset="0"/>
              </a:rPr>
              <a:t>Online Voting System Web Application in Python</a:t>
            </a:r>
          </a:p>
          <a:p>
            <a:pPr algn="ctr"/>
            <a:endParaRPr lang="en-US" sz="2000" b="1" dirty="0">
              <a:latin typeface="Times New Roman" pitchFamily="18" charset="0"/>
              <a:cs typeface="Times New Roman" pitchFamily="18" charset="0"/>
            </a:endParaRPr>
          </a:p>
          <a:p>
            <a:pPr marL="285750" indent="-285750" algn="just">
              <a:buFont typeface="Wingdings" pitchFamily="2" charset="2"/>
              <a:buChar char="§"/>
            </a:pPr>
            <a:r>
              <a:rPr lang="en-US" sz="2000" b="1" dirty="0">
                <a:latin typeface="Times New Roman" pitchFamily="18" charset="0"/>
                <a:cs typeface="Times New Roman" pitchFamily="18" charset="0"/>
              </a:rPr>
              <a:t>Backend Technology:</a:t>
            </a:r>
            <a:r>
              <a:rPr lang="en-US" sz="2000" dirty="0">
                <a:latin typeface="Times New Roman" pitchFamily="18" charset="0"/>
                <a:cs typeface="Times New Roman" pitchFamily="18" charset="0"/>
              </a:rPr>
              <a:t> Typically built using Python with frameworks like Django or Flask.</a:t>
            </a:r>
          </a:p>
          <a:p>
            <a:pPr marL="285750" indent="-285750" algn="just">
              <a:buFont typeface="Wingdings" pitchFamily="2" charset="2"/>
              <a:buChar char="§"/>
            </a:pPr>
            <a:r>
              <a:rPr lang="en-US" sz="2000" b="1" dirty="0">
                <a:latin typeface="Times New Roman" pitchFamily="18" charset="0"/>
                <a:cs typeface="Times New Roman" pitchFamily="18" charset="0"/>
              </a:rPr>
              <a:t>Frontend Technology: </a:t>
            </a:r>
            <a:r>
              <a:rPr lang="en-US" sz="2000" dirty="0">
                <a:latin typeface="Times New Roman" pitchFamily="18" charset="0"/>
                <a:cs typeface="Times New Roman" pitchFamily="18" charset="0"/>
              </a:rPr>
              <a:t>HTML/CSS for user interfaces, often with JavaScript for dynamic interactions.</a:t>
            </a:r>
          </a:p>
          <a:p>
            <a:pPr marL="285750" indent="-285750" algn="just">
              <a:buFont typeface="Wingdings" pitchFamily="2" charset="2"/>
              <a:buChar char="§"/>
            </a:pPr>
            <a:r>
              <a:rPr lang="en-US" sz="2000" b="1" dirty="0">
                <a:latin typeface="Times New Roman" pitchFamily="18" charset="0"/>
                <a:cs typeface="Times New Roman" pitchFamily="18" charset="0"/>
              </a:rPr>
              <a:t>Database: </a:t>
            </a:r>
            <a:r>
              <a:rPr lang="en-US" sz="2000" dirty="0">
                <a:latin typeface="Times New Roman" pitchFamily="18" charset="0"/>
                <a:cs typeface="Times New Roman" pitchFamily="18" charset="0"/>
              </a:rPr>
              <a:t>Stores voter information, candidate details, and voting records. Commonly uses databases like PostgreSQL or MySQL.</a:t>
            </a:r>
          </a:p>
          <a:p>
            <a:pPr marL="285750" indent="-285750" algn="just">
              <a:buFont typeface="Wingdings" pitchFamily="2" charset="2"/>
              <a:buChar char="§"/>
            </a:pPr>
            <a:r>
              <a:rPr lang="en-US" sz="2000" b="1" dirty="0">
                <a:latin typeface="Times New Roman" pitchFamily="18" charset="0"/>
                <a:cs typeface="Times New Roman" pitchFamily="18" charset="0"/>
              </a:rPr>
              <a:t>Authentication: </a:t>
            </a:r>
            <a:r>
              <a:rPr lang="en-US" sz="2000" dirty="0">
                <a:latin typeface="Times New Roman" pitchFamily="18" charset="0"/>
                <a:cs typeface="Times New Roman" pitchFamily="18" charset="0"/>
              </a:rPr>
              <a:t>Username/password login for user identification.</a:t>
            </a:r>
          </a:p>
          <a:p>
            <a:pPr marL="285750" indent="-285750" algn="just">
              <a:buFont typeface="Wingdings" pitchFamily="2" charset="2"/>
              <a:buChar char="§"/>
            </a:pPr>
            <a:r>
              <a:rPr lang="en-US" sz="2000" b="1" dirty="0">
                <a:latin typeface="Times New Roman" pitchFamily="18" charset="0"/>
                <a:cs typeface="Times New Roman" pitchFamily="18" charset="0"/>
              </a:rPr>
              <a:t>Security Measures: </a:t>
            </a:r>
            <a:r>
              <a:rPr lang="en-US" sz="2000" dirty="0">
                <a:latin typeface="Times New Roman" pitchFamily="18" charset="0"/>
                <a:cs typeface="Times New Roman" pitchFamily="18" charset="0"/>
              </a:rPr>
              <a:t>Basic encryption for data transmission and </a:t>
            </a:r>
            <a:r>
              <a:rPr lang="en-US" sz="2000" dirty="0" err="1">
                <a:latin typeface="Times New Roman" pitchFamily="18" charset="0"/>
                <a:cs typeface="Times New Roman" pitchFamily="18" charset="0"/>
              </a:rPr>
              <a:t>stoagre</a:t>
            </a:r>
            <a:r>
              <a:rPr lang="en-US" sz="2000" dirty="0">
                <a:latin typeface="Times New Roman" pitchFamily="18" charset="0"/>
                <a:cs typeface="Times New Roman" pitchFamily="18" charset="0"/>
              </a:rPr>
              <a:t>.</a:t>
            </a:r>
          </a:p>
          <a:p>
            <a:pPr algn="ctr"/>
            <a:endParaRPr lang="en-US" b="1" dirty="0">
              <a:latin typeface="Times New Roman" pitchFamily="18" charset="0"/>
              <a:cs typeface="Times New Roman" pitchFamily="18" charset="0"/>
            </a:endParaRPr>
          </a:p>
          <a:p>
            <a:pPr algn="ctr"/>
            <a:endParaRPr lang="en-US" b="1" dirty="0">
              <a:latin typeface="Times New Roman" pitchFamily="18" charset="0"/>
              <a:cs typeface="Times New Roman" pitchFamily="18" charset="0"/>
            </a:endParaRPr>
          </a:p>
        </p:txBody>
      </p:sp>
    </p:spTree>
    <p:extLst>
      <p:ext uri="{BB962C8B-B14F-4D97-AF65-F5344CB8AC3E}">
        <p14:creationId xmlns:p14="http://schemas.microsoft.com/office/powerpoint/2010/main" val="310529155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lowchart: Delay 9"/>
          <p:cNvSpPr/>
          <p:nvPr/>
        </p:nvSpPr>
        <p:spPr>
          <a:xfrm>
            <a:off x="762000" y="6429396"/>
            <a:ext cx="8354457" cy="428604"/>
          </a:xfrm>
          <a:prstGeom prst="flowChartDelay">
            <a:avLst/>
          </a:prstGeom>
          <a:solidFill>
            <a:srgbClr val="00B0F0"/>
          </a:solidFill>
          <a:ln>
            <a:solidFill>
              <a:srgbClr val="00B0F0"/>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rPr>
              <a:t>Anna University, Chennai</a:t>
            </a:r>
            <a:endParaRPr lang="en-US"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endParaRPr>
          </a:p>
        </p:txBody>
      </p:sp>
      <p:sp>
        <p:nvSpPr>
          <p:cNvPr id="8" name="AutoShape 6" descr="Anna University - Wikipedia"/>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8" descr="Anna University - Wikipedia"/>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10" descr="Anna University - Wikipedia"/>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12" descr="Anna University - Wikipedia"/>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AutoShape 14" descr="Anna University - Wikipedia"/>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AutoShape 16" descr="Anna University - Wikipedia"/>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AutoShape 18" descr="Anna University - Wikipedia"/>
          <p:cNvSpPr>
            <a:spLocks noChangeAspect="1" noChangeArrowheads="1"/>
          </p:cNvSpPr>
          <p:nvPr/>
        </p:nvSpPr>
        <p:spPr bwMode="auto">
          <a:xfrm>
            <a:off x="1069975" y="769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AutoShape 20" descr="Anna University - Wikipedia"/>
          <p:cNvSpPr>
            <a:spLocks noChangeAspect="1" noChangeArrowheads="1"/>
          </p:cNvSpPr>
          <p:nvPr/>
        </p:nvSpPr>
        <p:spPr bwMode="auto">
          <a:xfrm>
            <a:off x="1222375" y="922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AutoShape 22" descr="Anna University - Wikipedia"/>
          <p:cNvSpPr>
            <a:spLocks noChangeAspect="1" noChangeArrowheads="1"/>
          </p:cNvSpPr>
          <p:nvPr/>
        </p:nvSpPr>
        <p:spPr bwMode="auto">
          <a:xfrm>
            <a:off x="1374775" y="1074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AutoShape 24" descr="Anna University - Wikipedia"/>
          <p:cNvSpPr>
            <a:spLocks noChangeAspect="1" noChangeArrowheads="1"/>
          </p:cNvSpPr>
          <p:nvPr/>
        </p:nvSpPr>
        <p:spPr bwMode="auto">
          <a:xfrm>
            <a:off x="1527175" y="1227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50" name="Picture 26" descr="undefine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051" y="6186522"/>
            <a:ext cx="675701" cy="67147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152400" y="152613"/>
            <a:ext cx="8836025" cy="6186309"/>
          </a:xfrm>
          <a:prstGeom prst="rect">
            <a:avLst/>
          </a:prstGeom>
        </p:spPr>
        <p:txBody>
          <a:bodyPr wrap="square">
            <a:spAutoFit/>
          </a:bodyPr>
          <a:lstStyle/>
          <a:p>
            <a:pPr algn="ctr"/>
            <a:r>
              <a:rPr lang="en-US" sz="2400" b="1" dirty="0">
                <a:latin typeface="Times New Roman" pitchFamily="18" charset="0"/>
                <a:cs typeface="Times New Roman" pitchFamily="18" charset="0"/>
              </a:rPr>
              <a:t>PROPOSED SYSTEM</a:t>
            </a:r>
          </a:p>
          <a:p>
            <a:pPr algn="ctr"/>
            <a:endParaRPr lang="en-US" sz="2400" b="1" dirty="0">
              <a:latin typeface="Times New Roman" pitchFamily="18" charset="0"/>
              <a:cs typeface="Times New Roman" pitchFamily="18" charset="0"/>
            </a:endParaRPr>
          </a:p>
          <a:p>
            <a:pPr algn="ctr"/>
            <a:r>
              <a:rPr lang="en-US" sz="2400" b="1" dirty="0">
                <a:solidFill>
                  <a:srgbClr val="000000"/>
                </a:solidFill>
                <a:effectLst/>
                <a:latin typeface="Times New Roman" panose="02020603050405020304" pitchFamily="18" charset="0"/>
                <a:ea typeface="Times New Roman" panose="02020603050405020304" pitchFamily="18" charset="0"/>
              </a:rPr>
              <a:t>Online Voting System Web Application in Python</a:t>
            </a:r>
          </a:p>
          <a:p>
            <a:pPr algn="ctr"/>
            <a:endParaRPr lang="en-US" sz="2400" b="1" dirty="0">
              <a:latin typeface="Times New Roman" pitchFamily="18" charset="0"/>
              <a:cs typeface="Times New Roman" pitchFamily="18" charset="0"/>
            </a:endParaRPr>
          </a:p>
          <a:p>
            <a:pPr algn="just"/>
            <a:r>
              <a:rPr lang="en-US" sz="2000" b="1" dirty="0">
                <a:latin typeface="Times New Roman" pitchFamily="18" charset="0"/>
                <a:cs typeface="Times New Roman" pitchFamily="18" charset="0"/>
              </a:rPr>
              <a:t>1. Enhanced Security:</a:t>
            </a:r>
          </a:p>
          <a:p>
            <a:pPr algn="just"/>
            <a:r>
              <a:rPr lang="en-US" sz="2000" dirty="0">
                <a:latin typeface="Times New Roman" pitchFamily="18" charset="0"/>
                <a:cs typeface="Times New Roman" pitchFamily="18" charset="0"/>
              </a:rPr>
              <a:t>   - Implement advanced encryption algorithms for heightened security.</a:t>
            </a:r>
          </a:p>
          <a:p>
            <a:pPr algn="just"/>
            <a:r>
              <a:rPr lang="en-US" sz="2000" b="1" dirty="0">
                <a:latin typeface="Times New Roman" pitchFamily="18" charset="0"/>
                <a:cs typeface="Times New Roman" pitchFamily="18" charset="0"/>
              </a:rPr>
              <a:t>2. Decentralization with Blockchain:</a:t>
            </a:r>
          </a:p>
          <a:p>
            <a:pPr algn="just"/>
            <a:r>
              <a:rPr lang="en-US" sz="2000" dirty="0">
                <a:latin typeface="Times New Roman" pitchFamily="18" charset="0"/>
                <a:cs typeface="Times New Roman" pitchFamily="18" charset="0"/>
              </a:rPr>
              <a:t>   - Utilize blockchain for decentralized storage of voting data,   reducing the risk of central point vulnerabilities.</a:t>
            </a:r>
          </a:p>
          <a:p>
            <a:pPr algn="just"/>
            <a:r>
              <a:rPr lang="en-US" sz="2000" b="1" dirty="0">
                <a:latin typeface="Times New Roman" pitchFamily="18" charset="0"/>
                <a:cs typeface="Times New Roman" pitchFamily="18" charset="0"/>
              </a:rPr>
              <a:t>3. Accessibility Features:</a:t>
            </a:r>
          </a:p>
          <a:p>
            <a:pPr algn="just"/>
            <a:r>
              <a:rPr lang="en-US" sz="2000" dirty="0">
                <a:latin typeface="Times New Roman" pitchFamily="18" charset="0"/>
                <a:cs typeface="Times New Roman" pitchFamily="18" charset="0"/>
              </a:rPr>
              <a:t>   - Design a user-friendly interface with considerations for accessibility (e.g., screen reader compatibility, high contrast options).</a:t>
            </a:r>
          </a:p>
          <a:p>
            <a:pPr algn="just"/>
            <a:r>
              <a:rPr lang="en-US" sz="2000" b="1" dirty="0">
                <a:latin typeface="Times New Roman" pitchFamily="18" charset="0"/>
                <a:cs typeface="Times New Roman" pitchFamily="18" charset="0"/>
              </a:rPr>
              <a:t>4. Multi-Factor Authentication (MFA):</a:t>
            </a:r>
          </a:p>
          <a:p>
            <a:pPr algn="just"/>
            <a:r>
              <a:rPr lang="en-US" sz="2000" dirty="0">
                <a:latin typeface="Times New Roman" pitchFamily="18" charset="0"/>
                <a:cs typeface="Times New Roman" pitchFamily="18" charset="0"/>
              </a:rPr>
              <a:t>   - Integrate MFA to add an extra layer of user verification,     ensuring secure access to the  voting system.</a:t>
            </a:r>
          </a:p>
          <a:p>
            <a:pPr algn="just"/>
            <a:r>
              <a:rPr lang="en-US" sz="2000" b="1" dirty="0">
                <a:latin typeface="Times New Roman" pitchFamily="18" charset="0"/>
                <a:cs typeface="Times New Roman" pitchFamily="18" charset="0"/>
              </a:rPr>
              <a:t>5. Real-Time Monitoring:</a:t>
            </a:r>
          </a:p>
          <a:p>
            <a:pPr algn="just"/>
            <a:r>
              <a:rPr lang="en-US" sz="2000" dirty="0">
                <a:latin typeface="Times New Roman" pitchFamily="18" charset="0"/>
                <a:cs typeface="Times New Roman" pitchFamily="18" charset="0"/>
              </a:rPr>
              <a:t>   - Provide real-time monitoring tools for election administrators to track voting progress and detect irregularities</a:t>
            </a:r>
          </a:p>
          <a:p>
            <a:pPr algn="just"/>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277639531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owchart: Delay 1">
            <a:extLst>
              <a:ext uri="{FF2B5EF4-FFF2-40B4-BE49-F238E27FC236}">
                <a16:creationId xmlns="" xmlns:a16="http://schemas.microsoft.com/office/drawing/2014/main" id="{69C657BD-4FB5-1CE7-B6AC-9E490D444AFA}"/>
              </a:ext>
            </a:extLst>
          </p:cNvPr>
          <p:cNvSpPr/>
          <p:nvPr/>
        </p:nvSpPr>
        <p:spPr>
          <a:xfrm>
            <a:off x="762000" y="6429396"/>
            <a:ext cx="8354457" cy="428604"/>
          </a:xfrm>
          <a:prstGeom prst="flowChartDelay">
            <a:avLst/>
          </a:prstGeom>
          <a:solidFill>
            <a:srgbClr val="00B0F0"/>
          </a:solidFill>
          <a:ln>
            <a:solidFill>
              <a:srgbClr val="00B0F0"/>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rPr>
              <a:t>Anna University, Chennai</a:t>
            </a:r>
            <a:endParaRPr lang="en-US"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endParaRPr>
          </a:p>
        </p:txBody>
      </p:sp>
      <p:pic>
        <p:nvPicPr>
          <p:cNvPr id="3" name="Picture 26" descr="undefined">
            <a:extLst>
              <a:ext uri="{FF2B5EF4-FFF2-40B4-BE49-F238E27FC236}">
                <a16:creationId xmlns="" xmlns:a16="http://schemas.microsoft.com/office/drawing/2014/main" id="{FB570A56-103B-B0EA-634C-538508CCE37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051" y="6186522"/>
            <a:ext cx="675701" cy="67147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 xmlns:a16="http://schemas.microsoft.com/office/drawing/2014/main" id="{D0CA30A1-8762-258A-F583-8E226A245D21}"/>
              </a:ext>
            </a:extLst>
          </p:cNvPr>
          <p:cNvSpPr txBox="1"/>
          <p:nvPr/>
        </p:nvSpPr>
        <p:spPr>
          <a:xfrm>
            <a:off x="152400" y="381000"/>
            <a:ext cx="8839200" cy="5293757"/>
          </a:xfrm>
          <a:prstGeom prst="rect">
            <a:avLst/>
          </a:prstGeom>
          <a:noFill/>
        </p:spPr>
        <p:txBody>
          <a:bodyPr wrap="square">
            <a:spAutoFit/>
          </a:bodyPr>
          <a:lstStyle/>
          <a:p>
            <a:pPr algn="just"/>
            <a:r>
              <a:rPr lang="en-US" sz="2000" b="1" dirty="0">
                <a:latin typeface="Times New Roman" pitchFamily="18" charset="0"/>
                <a:cs typeface="Times New Roman" pitchFamily="18" charset="0"/>
              </a:rPr>
              <a:t>6. Voter Verification Mechanism:</a:t>
            </a:r>
          </a:p>
          <a:p>
            <a:pPr algn="just"/>
            <a:r>
              <a:rPr lang="en-US" sz="2000" dirty="0">
                <a:latin typeface="Times New Roman" pitchFamily="18" charset="0"/>
                <a:cs typeface="Times New Roman" pitchFamily="18" charset="0"/>
              </a:rPr>
              <a:t>   - Establish a secure and transparent method for voters to verify that their vote was cast as intended.</a:t>
            </a:r>
          </a:p>
          <a:p>
            <a:pPr algn="just"/>
            <a:r>
              <a:rPr lang="en-US" sz="2000" b="1" dirty="0">
                <a:latin typeface="Times New Roman" pitchFamily="18" charset="0"/>
                <a:cs typeface="Times New Roman" pitchFamily="18" charset="0"/>
              </a:rPr>
              <a:t>7. Testing and Auditing:</a:t>
            </a:r>
          </a:p>
          <a:p>
            <a:pPr algn="just"/>
            <a:r>
              <a:rPr lang="en-US" sz="2000" dirty="0">
                <a:latin typeface="Times New Roman" pitchFamily="18" charset="0"/>
                <a:cs typeface="Times New Roman" pitchFamily="18" charset="0"/>
              </a:rPr>
              <a:t>   - Conduct thorough security testing and regular audits to identify and address potential vulnerabilities.</a:t>
            </a:r>
          </a:p>
          <a:p>
            <a:pPr algn="just"/>
            <a:r>
              <a:rPr lang="en-US" sz="2000" b="1" dirty="0">
                <a:latin typeface="Times New Roman" pitchFamily="18" charset="0"/>
                <a:cs typeface="Times New Roman" pitchFamily="18" charset="0"/>
              </a:rPr>
              <a:t>8. Digital Receipts:</a:t>
            </a:r>
          </a:p>
          <a:p>
            <a:pPr algn="just"/>
            <a:r>
              <a:rPr lang="en-US" sz="2000" dirty="0">
                <a:latin typeface="Times New Roman" pitchFamily="18" charset="0"/>
                <a:cs typeface="Times New Roman" pitchFamily="18" charset="0"/>
              </a:rPr>
              <a:t>   - Offer voters the option to receive a digital receipt for their vote, enhancing transparency and confidence in the system.</a:t>
            </a:r>
          </a:p>
          <a:p>
            <a:pPr algn="just"/>
            <a:r>
              <a:rPr lang="en-US" sz="2000" b="1" dirty="0">
                <a:latin typeface="Times New Roman" pitchFamily="18" charset="0"/>
                <a:cs typeface="Times New Roman" pitchFamily="18" charset="0"/>
              </a:rPr>
              <a:t>9.User Education:</a:t>
            </a:r>
          </a:p>
          <a:p>
            <a:pPr algn="just"/>
            <a:r>
              <a:rPr lang="en-US" sz="2000" dirty="0">
                <a:latin typeface="Times New Roman" pitchFamily="18" charset="0"/>
                <a:cs typeface="Times New Roman" pitchFamily="18" charset="0"/>
              </a:rPr>
              <a:t>    - Implement a comprehensive user education program to ensure voters are informed about the new features and security measures.</a:t>
            </a:r>
          </a:p>
          <a:p>
            <a:pPr algn="just"/>
            <a:r>
              <a:rPr lang="en-US" sz="2000" dirty="0">
                <a:latin typeface="Times New Roman" pitchFamily="18" charset="0"/>
                <a:cs typeface="Times New Roman" pitchFamily="18" charset="0"/>
              </a:rPr>
              <a:t> </a:t>
            </a:r>
          </a:p>
          <a:p>
            <a:pPr algn="just"/>
            <a:r>
              <a:rPr lang="en-US" sz="2000" dirty="0">
                <a:latin typeface="Times New Roman" pitchFamily="18" charset="0"/>
                <a:cs typeface="Times New Roman" pitchFamily="18" charset="0"/>
              </a:rPr>
              <a:t>The proposed system aims to address security concerns, enhance accessibility, and leverage emerging technologies for a more robust and trustworthy online voting experience.</a:t>
            </a:r>
          </a:p>
          <a:p>
            <a:pPr algn="just"/>
            <a:endParaRPr lang="en-US" sz="1800" dirty="0">
              <a:latin typeface="Times New Roman" pitchFamily="18" charset="0"/>
              <a:cs typeface="Times New Roman" pitchFamily="18" charset="0"/>
            </a:endParaRPr>
          </a:p>
        </p:txBody>
      </p:sp>
    </p:spTree>
    <p:extLst>
      <p:ext uri="{BB962C8B-B14F-4D97-AF65-F5344CB8AC3E}">
        <p14:creationId xmlns:p14="http://schemas.microsoft.com/office/powerpoint/2010/main" val="143928906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lowchart: Delay 9"/>
          <p:cNvSpPr/>
          <p:nvPr/>
        </p:nvSpPr>
        <p:spPr>
          <a:xfrm>
            <a:off x="762000" y="6429396"/>
            <a:ext cx="8354457" cy="428604"/>
          </a:xfrm>
          <a:prstGeom prst="flowChartDelay">
            <a:avLst/>
          </a:prstGeom>
          <a:solidFill>
            <a:srgbClr val="00B0F0"/>
          </a:solidFill>
          <a:ln>
            <a:solidFill>
              <a:srgbClr val="00B0F0"/>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rPr>
              <a:t>Anna University, Chennai</a:t>
            </a:r>
            <a:endParaRPr lang="en-US"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endParaRPr>
          </a:p>
        </p:txBody>
      </p:sp>
      <p:sp>
        <p:nvSpPr>
          <p:cNvPr id="8" name="AutoShape 6" descr="Anna University - Wikipedia"/>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8" descr="Anna University - Wikipedia"/>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10" descr="Anna University - Wikipedia"/>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12" descr="Anna University - Wikipedia"/>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AutoShape 14" descr="Anna University - Wikipedia"/>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AutoShape 16" descr="Anna University - Wikipedia"/>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AutoShape 18" descr="Anna University - Wikipedia"/>
          <p:cNvSpPr>
            <a:spLocks noChangeAspect="1" noChangeArrowheads="1"/>
          </p:cNvSpPr>
          <p:nvPr/>
        </p:nvSpPr>
        <p:spPr bwMode="auto">
          <a:xfrm>
            <a:off x="1069975" y="769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AutoShape 20" descr="Anna University - Wikipedia"/>
          <p:cNvSpPr>
            <a:spLocks noChangeAspect="1" noChangeArrowheads="1"/>
          </p:cNvSpPr>
          <p:nvPr/>
        </p:nvSpPr>
        <p:spPr bwMode="auto">
          <a:xfrm>
            <a:off x="1222375" y="922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AutoShape 22" descr="Anna University - Wikipedia"/>
          <p:cNvSpPr>
            <a:spLocks noChangeAspect="1" noChangeArrowheads="1"/>
          </p:cNvSpPr>
          <p:nvPr/>
        </p:nvSpPr>
        <p:spPr bwMode="auto">
          <a:xfrm>
            <a:off x="1374775" y="1074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AutoShape 24" descr="Anna University - Wikipedia"/>
          <p:cNvSpPr>
            <a:spLocks noChangeAspect="1" noChangeArrowheads="1"/>
          </p:cNvSpPr>
          <p:nvPr/>
        </p:nvSpPr>
        <p:spPr bwMode="auto">
          <a:xfrm>
            <a:off x="1527175" y="1227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50" name="Picture 26" descr="undefine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051" y="6186522"/>
            <a:ext cx="675701" cy="67147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3051" y="276285"/>
            <a:ext cx="9083406" cy="4893647"/>
          </a:xfrm>
          <a:prstGeom prst="rect">
            <a:avLst/>
          </a:prstGeom>
        </p:spPr>
        <p:txBody>
          <a:bodyPr wrap="square">
            <a:spAutoFit/>
          </a:bodyPr>
          <a:lstStyle/>
          <a:p>
            <a:pPr algn="ctr"/>
            <a:r>
              <a:rPr lang="en-US" sz="2400" b="1" dirty="0">
                <a:latin typeface="Times New Roman" pitchFamily="18" charset="0"/>
                <a:cs typeface="Times New Roman" pitchFamily="18" charset="0"/>
              </a:rPr>
              <a:t>HARDWARE REQUIREMENTS</a:t>
            </a:r>
          </a:p>
          <a:p>
            <a:pPr algn="ctr"/>
            <a:endParaRPr lang="en-US" sz="2300" b="1" dirty="0">
              <a:latin typeface="Times New Roman" pitchFamily="18" charset="0"/>
              <a:cs typeface="Times New Roman" pitchFamily="18" charset="0"/>
            </a:endParaRPr>
          </a:p>
          <a:p>
            <a:pPr marL="0" indent="0" algn="ctr">
              <a:lnSpc>
                <a:spcPct val="107000"/>
              </a:lnSpc>
              <a:spcAft>
                <a:spcPts val="775"/>
              </a:spcAft>
              <a:buNone/>
            </a:pP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Online Voting System Web Application in Python </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50000"/>
              </a:lnSpc>
            </a:pPr>
            <a:endParaRPr lang="en-US" b="1" dirty="0">
              <a:latin typeface="Times New Roman" pitchFamily="18" charset="0"/>
              <a:cs typeface="Times New Roman" pitchFamily="18" charset="0"/>
            </a:endParaRPr>
          </a:p>
          <a:p>
            <a:pPr marL="342900" indent="-342900" algn="just">
              <a:lnSpc>
                <a:spcPct val="150000"/>
              </a:lnSpc>
              <a:buFont typeface="Wingdings" pitchFamily="2" charset="2"/>
              <a:buChar char="§"/>
            </a:pPr>
            <a:r>
              <a:rPr lang="en-US" sz="2400" dirty="0">
                <a:latin typeface="Times New Roman" pitchFamily="18" charset="0"/>
                <a:cs typeface="Times New Roman" pitchFamily="18" charset="0"/>
              </a:rPr>
              <a:t>Processor		:   AMD PRO A4-4350B R4, </a:t>
            </a:r>
          </a:p>
          <a:p>
            <a:pPr algn="just">
              <a:lnSpc>
                <a:spcPct val="150000"/>
              </a:lnSpc>
            </a:pPr>
            <a:r>
              <a:rPr lang="en-US" sz="2400" dirty="0">
                <a:latin typeface="Times New Roman" pitchFamily="18" charset="0"/>
                <a:cs typeface="Times New Roman" pitchFamily="18" charset="0"/>
              </a:rPr>
              <a:t>		                5 COMPUTER CORES 2C+3G </a:t>
            </a:r>
          </a:p>
          <a:p>
            <a:pPr marL="342900" indent="-342900" algn="just">
              <a:lnSpc>
                <a:spcPct val="200000"/>
              </a:lnSpc>
              <a:buFont typeface="Wingdings" pitchFamily="2" charset="2"/>
              <a:buChar char="§"/>
            </a:pPr>
            <a:r>
              <a:rPr lang="en-US" sz="2400" dirty="0">
                <a:latin typeface="Times New Roman" pitchFamily="18" charset="0"/>
                <a:cs typeface="Times New Roman" pitchFamily="18" charset="0"/>
              </a:rPr>
              <a:t>Memory		:   4 GB RAM </a:t>
            </a:r>
          </a:p>
          <a:p>
            <a:pPr marL="342900" indent="-342900" algn="just">
              <a:lnSpc>
                <a:spcPct val="200000"/>
              </a:lnSpc>
              <a:buFont typeface="Wingdings" pitchFamily="2" charset="2"/>
              <a:buChar char="§"/>
            </a:pPr>
            <a:r>
              <a:rPr lang="en-US" sz="2400" dirty="0">
                <a:latin typeface="Times New Roman" pitchFamily="18" charset="0"/>
                <a:cs typeface="Times New Roman" pitchFamily="18" charset="0"/>
              </a:rPr>
              <a:t>Hard Drive		:   500 GB </a:t>
            </a:r>
          </a:p>
          <a:p>
            <a:pPr marL="342900" indent="-342900" algn="just">
              <a:lnSpc>
                <a:spcPct val="200000"/>
              </a:lnSpc>
              <a:buFont typeface="Wingdings" pitchFamily="2" charset="2"/>
              <a:buChar char="§"/>
            </a:pPr>
            <a:r>
              <a:rPr lang="en-US" sz="2400" dirty="0">
                <a:latin typeface="Times New Roman" pitchFamily="18" charset="0"/>
                <a:cs typeface="Times New Roman" pitchFamily="18" charset="0"/>
              </a:rPr>
              <a:t>System Type	:   x64-based processor</a:t>
            </a:r>
            <a:endParaRPr lang="en-US" b="1" dirty="0">
              <a:latin typeface="Times New Roman" pitchFamily="18" charset="0"/>
              <a:cs typeface="Times New Roman" pitchFamily="18" charset="0"/>
            </a:endParaRPr>
          </a:p>
        </p:txBody>
      </p:sp>
    </p:spTree>
    <p:extLst>
      <p:ext uri="{BB962C8B-B14F-4D97-AF65-F5344CB8AC3E}">
        <p14:creationId xmlns:p14="http://schemas.microsoft.com/office/powerpoint/2010/main" val="328039423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lowchart: Delay 9"/>
          <p:cNvSpPr/>
          <p:nvPr/>
        </p:nvSpPr>
        <p:spPr>
          <a:xfrm>
            <a:off x="762000" y="6429396"/>
            <a:ext cx="8354457" cy="428604"/>
          </a:xfrm>
          <a:prstGeom prst="flowChartDelay">
            <a:avLst/>
          </a:prstGeom>
          <a:solidFill>
            <a:srgbClr val="00B0F0"/>
          </a:solidFill>
          <a:ln>
            <a:solidFill>
              <a:srgbClr val="00B0F0"/>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rPr>
              <a:t>Anna University, Chennai</a:t>
            </a:r>
            <a:endParaRPr lang="en-US"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endParaRPr>
          </a:p>
        </p:txBody>
      </p:sp>
      <p:sp>
        <p:nvSpPr>
          <p:cNvPr id="8" name="AutoShape 6" descr="Anna University - Wikipedia"/>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8" descr="Anna University - Wikipedia"/>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10" descr="Anna University - Wikipedia"/>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12" descr="Anna University - Wikipedia"/>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AutoShape 14" descr="Anna University - Wikipedia"/>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AutoShape 16" descr="Anna University - Wikipedia"/>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AutoShape 18" descr="Anna University - Wikipedia"/>
          <p:cNvSpPr>
            <a:spLocks noChangeAspect="1" noChangeArrowheads="1"/>
          </p:cNvSpPr>
          <p:nvPr/>
        </p:nvSpPr>
        <p:spPr bwMode="auto">
          <a:xfrm>
            <a:off x="1069975" y="769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AutoShape 20" descr="Anna University - Wikipedia"/>
          <p:cNvSpPr>
            <a:spLocks noChangeAspect="1" noChangeArrowheads="1"/>
          </p:cNvSpPr>
          <p:nvPr/>
        </p:nvSpPr>
        <p:spPr bwMode="auto">
          <a:xfrm>
            <a:off x="1222375" y="922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AutoShape 22" descr="Anna University - Wikipedia"/>
          <p:cNvSpPr>
            <a:spLocks noChangeAspect="1" noChangeArrowheads="1"/>
          </p:cNvSpPr>
          <p:nvPr/>
        </p:nvSpPr>
        <p:spPr bwMode="auto">
          <a:xfrm>
            <a:off x="1374775" y="1074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AutoShape 24" descr="Anna University - Wikipedia"/>
          <p:cNvSpPr>
            <a:spLocks noChangeAspect="1" noChangeArrowheads="1"/>
          </p:cNvSpPr>
          <p:nvPr/>
        </p:nvSpPr>
        <p:spPr bwMode="auto">
          <a:xfrm>
            <a:off x="1527175" y="1227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50" name="Picture 26" descr="undefine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051" y="6186522"/>
            <a:ext cx="675701" cy="67147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3051" y="276285"/>
            <a:ext cx="9083406" cy="5309659"/>
          </a:xfrm>
          <a:prstGeom prst="rect">
            <a:avLst/>
          </a:prstGeom>
        </p:spPr>
        <p:txBody>
          <a:bodyPr wrap="square">
            <a:spAutoFit/>
          </a:bodyPr>
          <a:lstStyle/>
          <a:p>
            <a:pPr algn="ctr"/>
            <a:r>
              <a:rPr lang="en-US" sz="2400" b="1" dirty="0">
                <a:latin typeface="Times New Roman" pitchFamily="18" charset="0"/>
                <a:cs typeface="Times New Roman" pitchFamily="18" charset="0"/>
              </a:rPr>
              <a:t>SOFTWARE REQUIREMENTS</a:t>
            </a:r>
          </a:p>
          <a:p>
            <a:pPr algn="ctr"/>
            <a:endParaRPr lang="en-US" sz="2300" b="1" dirty="0">
              <a:latin typeface="Times New Roman" pitchFamily="18" charset="0"/>
              <a:cs typeface="Times New Roman" pitchFamily="18" charset="0"/>
            </a:endParaRPr>
          </a:p>
          <a:p>
            <a:pPr marL="0" indent="0" algn="ctr">
              <a:lnSpc>
                <a:spcPct val="107000"/>
              </a:lnSpc>
              <a:spcAft>
                <a:spcPts val="775"/>
              </a:spcAft>
              <a:buNone/>
            </a:pP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Online Voting System Web Application in Python </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50000"/>
              </a:lnSpc>
            </a:pPr>
            <a:endParaRPr lang="en-US" b="1" dirty="0">
              <a:latin typeface="Times New Roman" pitchFamily="18" charset="0"/>
              <a:cs typeface="Times New Roman" pitchFamily="18" charset="0"/>
            </a:endParaRPr>
          </a:p>
          <a:p>
            <a:pPr marL="342900" indent="-342900" algn="just">
              <a:lnSpc>
                <a:spcPct val="200000"/>
              </a:lnSpc>
              <a:buFont typeface="Wingdings" pitchFamily="2" charset="2"/>
              <a:buChar char="§"/>
            </a:pPr>
            <a:r>
              <a:rPr lang="en-IN" sz="2400" dirty="0">
                <a:latin typeface="Times New Roman" pitchFamily="18" charset="0"/>
                <a:cs typeface="Times New Roman" pitchFamily="18" charset="0"/>
              </a:rPr>
              <a:t>Operating System Edition	  : Windows 10 Pro Education, 64-bit </a:t>
            </a:r>
            <a:r>
              <a:rPr lang="en-IN" sz="2400" dirty="0" err="1">
                <a:latin typeface="Times New Roman" pitchFamily="18" charset="0"/>
                <a:cs typeface="Times New Roman" pitchFamily="18" charset="0"/>
              </a:rPr>
              <a:t>os</a:t>
            </a:r>
            <a:r>
              <a:rPr lang="en-IN" sz="2400" dirty="0">
                <a:latin typeface="Times New Roman" pitchFamily="18" charset="0"/>
                <a:cs typeface="Times New Roman" pitchFamily="18" charset="0"/>
              </a:rPr>
              <a:t> </a:t>
            </a:r>
          </a:p>
          <a:p>
            <a:pPr marL="342900" indent="-342900" algn="just">
              <a:lnSpc>
                <a:spcPct val="200000"/>
              </a:lnSpc>
              <a:buFont typeface="Wingdings" pitchFamily="2" charset="2"/>
              <a:buChar char="§"/>
            </a:pPr>
            <a:r>
              <a:rPr lang="en-IN" sz="2400" dirty="0">
                <a:latin typeface="Times New Roman" pitchFamily="18" charset="0"/>
                <a:cs typeface="Times New Roman" pitchFamily="18" charset="0"/>
              </a:rPr>
              <a:t>Version 			  : 22H2 </a:t>
            </a:r>
          </a:p>
          <a:p>
            <a:pPr marL="342900" indent="-342900" algn="just">
              <a:lnSpc>
                <a:spcPct val="200000"/>
              </a:lnSpc>
              <a:buFont typeface="Wingdings" pitchFamily="2" charset="2"/>
              <a:buChar char="§"/>
            </a:pPr>
            <a:r>
              <a:rPr lang="en-IN" sz="2400" dirty="0">
                <a:latin typeface="Times New Roman" pitchFamily="18" charset="0"/>
                <a:cs typeface="Times New Roman" pitchFamily="18" charset="0"/>
              </a:rPr>
              <a:t>Front End 			  : HTML, CSS,</a:t>
            </a:r>
          </a:p>
          <a:p>
            <a:pPr marL="342900" indent="-342900" algn="just">
              <a:lnSpc>
                <a:spcPct val="200000"/>
              </a:lnSpc>
              <a:buFont typeface="Wingdings" pitchFamily="2" charset="2"/>
              <a:buChar char="§"/>
            </a:pPr>
            <a:r>
              <a:rPr lang="en-IN" sz="2400" dirty="0">
                <a:latin typeface="Times New Roman" pitchFamily="18" charset="0"/>
                <a:cs typeface="Times New Roman" pitchFamily="18" charset="0"/>
              </a:rPr>
              <a:t>Back End 			  : Python, </a:t>
            </a:r>
            <a:r>
              <a:rPr lang="en-US" sz="2000" dirty="0">
                <a:solidFill>
                  <a:srgbClr val="000000"/>
                </a:solidFill>
                <a:effectLst/>
                <a:latin typeface="Times New Roman" panose="02020603050405020304" pitchFamily="18" charset="0"/>
                <a:ea typeface="Times New Roman" panose="02020603050405020304" pitchFamily="18" charset="0"/>
              </a:rPr>
              <a:t>Java Script</a:t>
            </a:r>
            <a:endParaRPr lang="en-IN" sz="2000" dirty="0">
              <a:latin typeface="Times New Roman" pitchFamily="18" charset="0"/>
              <a:cs typeface="Times New Roman" pitchFamily="18" charset="0"/>
            </a:endParaRPr>
          </a:p>
          <a:p>
            <a:pPr marL="342900" indent="-342900" algn="just">
              <a:lnSpc>
                <a:spcPct val="200000"/>
              </a:lnSpc>
              <a:buFont typeface="Wingdings" pitchFamily="2" charset="2"/>
              <a:buChar char="§"/>
            </a:pPr>
            <a:r>
              <a:rPr lang="en-IN" sz="2400" dirty="0">
                <a:latin typeface="Times New Roman" pitchFamily="18" charset="0"/>
                <a:cs typeface="Times New Roman" pitchFamily="18" charset="0"/>
              </a:rPr>
              <a:t>Server			  : </a:t>
            </a:r>
            <a:r>
              <a:rPr lang="en-US" sz="2000" dirty="0">
                <a:solidFill>
                  <a:srgbClr val="000000"/>
                </a:solidFill>
                <a:effectLst/>
                <a:latin typeface="Times New Roman" panose="02020603050405020304" pitchFamily="18" charset="0"/>
                <a:ea typeface="Times New Roman" panose="02020603050405020304" pitchFamily="18" charset="0"/>
              </a:rPr>
              <a:t>SQLite</a:t>
            </a:r>
            <a:endParaRPr lang="en-US" sz="2000" b="1" dirty="0">
              <a:latin typeface="Times New Roman" pitchFamily="18" charset="0"/>
              <a:cs typeface="Times New Roman" pitchFamily="18" charset="0"/>
            </a:endParaRPr>
          </a:p>
        </p:txBody>
      </p:sp>
    </p:spTree>
    <p:extLst>
      <p:ext uri="{BB962C8B-B14F-4D97-AF65-F5344CB8AC3E}">
        <p14:creationId xmlns:p14="http://schemas.microsoft.com/office/powerpoint/2010/main" val="407718552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lowchart: Delay 9"/>
          <p:cNvSpPr/>
          <p:nvPr/>
        </p:nvSpPr>
        <p:spPr>
          <a:xfrm>
            <a:off x="762000" y="6429396"/>
            <a:ext cx="8354457" cy="428604"/>
          </a:xfrm>
          <a:prstGeom prst="flowChartDelay">
            <a:avLst/>
          </a:prstGeom>
          <a:solidFill>
            <a:srgbClr val="00B0F0"/>
          </a:solidFill>
          <a:ln>
            <a:solidFill>
              <a:srgbClr val="00B0F0"/>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rPr>
              <a:t>Anna University, Chennai</a:t>
            </a:r>
            <a:endParaRPr lang="en-US"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endParaRPr>
          </a:p>
        </p:txBody>
      </p:sp>
      <p:sp>
        <p:nvSpPr>
          <p:cNvPr id="8" name="AutoShape 6" descr="Anna University - Wikipedia"/>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8" descr="Anna University - Wikipedia"/>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10" descr="Anna University - Wikipedia"/>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12" descr="Anna University - Wikipedia"/>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AutoShape 14" descr="Anna University - Wikipedia"/>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AutoShape 16" descr="Anna University - Wikipedia"/>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AutoShape 18" descr="Anna University - Wikipedia"/>
          <p:cNvSpPr>
            <a:spLocks noChangeAspect="1" noChangeArrowheads="1"/>
          </p:cNvSpPr>
          <p:nvPr/>
        </p:nvSpPr>
        <p:spPr bwMode="auto">
          <a:xfrm>
            <a:off x="1069975" y="769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AutoShape 20" descr="Anna University - Wikipedia"/>
          <p:cNvSpPr>
            <a:spLocks noChangeAspect="1" noChangeArrowheads="1"/>
          </p:cNvSpPr>
          <p:nvPr/>
        </p:nvSpPr>
        <p:spPr bwMode="auto">
          <a:xfrm>
            <a:off x="1222375" y="922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AutoShape 22" descr="Anna University - Wikipedia"/>
          <p:cNvSpPr>
            <a:spLocks noChangeAspect="1" noChangeArrowheads="1"/>
          </p:cNvSpPr>
          <p:nvPr/>
        </p:nvSpPr>
        <p:spPr bwMode="auto">
          <a:xfrm>
            <a:off x="1374775" y="1074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AutoShape 24" descr="Anna University - Wikipedia"/>
          <p:cNvSpPr>
            <a:spLocks noChangeAspect="1" noChangeArrowheads="1"/>
          </p:cNvSpPr>
          <p:nvPr/>
        </p:nvSpPr>
        <p:spPr bwMode="auto">
          <a:xfrm>
            <a:off x="1527175" y="1227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50" name="Picture 26" descr="undefine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051" y="6186522"/>
            <a:ext cx="675701" cy="67147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3051" y="276285"/>
            <a:ext cx="9083406" cy="2510111"/>
          </a:xfrm>
          <a:prstGeom prst="rect">
            <a:avLst/>
          </a:prstGeom>
        </p:spPr>
        <p:txBody>
          <a:bodyPr wrap="square">
            <a:spAutoFit/>
          </a:bodyPr>
          <a:lstStyle/>
          <a:p>
            <a:pPr algn="ctr"/>
            <a:r>
              <a:rPr lang="en-US" sz="2400" b="1" dirty="0">
                <a:latin typeface="Times New Roman" pitchFamily="18" charset="0"/>
                <a:cs typeface="Times New Roman" pitchFamily="18" charset="0"/>
              </a:rPr>
              <a:t>ARCHITECTURE DIAGRAM</a:t>
            </a:r>
          </a:p>
          <a:p>
            <a:pPr algn="ctr"/>
            <a:endParaRPr lang="en-US" sz="2300" b="1" dirty="0">
              <a:latin typeface="Times New Roman" pitchFamily="18" charset="0"/>
              <a:cs typeface="Times New Roman" pitchFamily="18" charset="0"/>
            </a:endParaRPr>
          </a:p>
          <a:p>
            <a:pPr marL="0" indent="0" algn="ctr">
              <a:lnSpc>
                <a:spcPct val="107000"/>
              </a:lnSpc>
              <a:spcAft>
                <a:spcPts val="775"/>
              </a:spcAft>
              <a:buNone/>
            </a:pP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Online Voting System Web Application in Python </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50000"/>
              </a:lnSpc>
            </a:pPr>
            <a:endParaRPr lang="en-US" b="1" dirty="0">
              <a:latin typeface="Times New Roman" pitchFamily="18" charset="0"/>
              <a:cs typeface="Times New Roman" pitchFamily="18" charset="0"/>
            </a:endParaRPr>
          </a:p>
          <a:p>
            <a:pPr algn="ctr">
              <a:lnSpc>
                <a:spcPct val="150000"/>
              </a:lnSpc>
            </a:pPr>
            <a:endParaRPr lang="en-US" b="1" dirty="0">
              <a:latin typeface="Times New Roman" pitchFamily="18" charset="0"/>
              <a:cs typeface="Times New Roman" pitchFamily="18" charset="0"/>
            </a:endParaRPr>
          </a:p>
          <a:p>
            <a:pPr algn="ctr">
              <a:lnSpc>
                <a:spcPct val="150000"/>
              </a:lnSpc>
            </a:pPr>
            <a:endParaRPr lang="en-US" b="1" dirty="0">
              <a:latin typeface="Times New Roman" pitchFamily="18" charset="0"/>
              <a:cs typeface="Times New Roman" pitchFamily="18" charset="0"/>
            </a:endParaRPr>
          </a:p>
        </p:txBody>
      </p:sp>
      <p:pic>
        <p:nvPicPr>
          <p:cNvPr id="21" name="Picture 1">
            <a:extLst>
              <a:ext uri="{FF2B5EF4-FFF2-40B4-BE49-F238E27FC236}">
                <a16:creationId xmlns="" xmlns:a16="http://schemas.microsoft.com/office/drawing/2014/main" id="{75BDB3DA-639F-4847-B223-68F47A2817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1974" y="1905001"/>
            <a:ext cx="5559425" cy="3995404"/>
          </a:xfrm>
          <a:prstGeom prst="rect">
            <a:avLst/>
          </a:prstGeom>
          <a:solidFill>
            <a:schemeClr val="bg1"/>
          </a:solidFill>
        </p:spPr>
      </p:pic>
    </p:spTree>
    <p:extLst>
      <p:ext uri="{BB962C8B-B14F-4D97-AF65-F5344CB8AC3E}">
        <p14:creationId xmlns:p14="http://schemas.microsoft.com/office/powerpoint/2010/main" val="379066939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lowchart: Delay 3">
            <a:extLst>
              <a:ext uri="{FF2B5EF4-FFF2-40B4-BE49-F238E27FC236}">
                <a16:creationId xmlns="" xmlns:a16="http://schemas.microsoft.com/office/drawing/2014/main" id="{0119FDBA-7E1B-4A92-849F-65667B7FF304}"/>
              </a:ext>
            </a:extLst>
          </p:cNvPr>
          <p:cNvSpPr/>
          <p:nvPr/>
        </p:nvSpPr>
        <p:spPr>
          <a:xfrm>
            <a:off x="762000" y="6429396"/>
            <a:ext cx="8354457" cy="428604"/>
          </a:xfrm>
          <a:prstGeom prst="flowChartDelay">
            <a:avLst/>
          </a:prstGeom>
          <a:solidFill>
            <a:srgbClr val="00B0F0"/>
          </a:solidFill>
          <a:ln>
            <a:solidFill>
              <a:srgbClr val="00B0F0"/>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rPr>
              <a:t>Anna University, Chennai</a:t>
            </a:r>
            <a:endParaRPr lang="en-US"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endParaRPr>
          </a:p>
        </p:txBody>
      </p:sp>
      <p:pic>
        <p:nvPicPr>
          <p:cNvPr id="5" name="Picture 26" descr="undefined">
            <a:extLst>
              <a:ext uri="{FF2B5EF4-FFF2-40B4-BE49-F238E27FC236}">
                <a16:creationId xmlns="" xmlns:a16="http://schemas.microsoft.com/office/drawing/2014/main" id="{935331DE-E35B-4731-A2F0-F59CEF489B6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051" y="6186522"/>
            <a:ext cx="675701" cy="67147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 xmlns:a16="http://schemas.microsoft.com/office/drawing/2014/main" id="{F2D93F9C-C1A7-4E0B-8ACE-A338A7F20129}"/>
              </a:ext>
            </a:extLst>
          </p:cNvPr>
          <p:cNvSpPr txBox="1"/>
          <p:nvPr/>
        </p:nvSpPr>
        <p:spPr>
          <a:xfrm>
            <a:off x="1181100" y="152400"/>
            <a:ext cx="6781800" cy="1199559"/>
          </a:xfrm>
          <a:prstGeom prst="rect">
            <a:avLst/>
          </a:prstGeom>
          <a:noFill/>
        </p:spPr>
        <p:txBody>
          <a:bodyPr wrap="square">
            <a:spAutoFit/>
          </a:bodyPr>
          <a:lstStyle/>
          <a:p>
            <a:pPr algn="ctr"/>
            <a:r>
              <a:rPr lang="en-US" sz="2400" b="1" dirty="0">
                <a:latin typeface="Times New Roman" pitchFamily="18" charset="0"/>
                <a:cs typeface="Times New Roman" pitchFamily="18" charset="0"/>
              </a:rPr>
              <a:t>DATAFLOW DIAGRAM</a:t>
            </a:r>
          </a:p>
          <a:p>
            <a:pPr algn="ctr"/>
            <a:endParaRPr lang="en-US" sz="2400" b="1" dirty="0">
              <a:latin typeface="Times New Roman" pitchFamily="18" charset="0"/>
              <a:cs typeface="Times New Roman" pitchFamily="18" charset="0"/>
            </a:endParaRPr>
          </a:p>
          <a:p>
            <a:pPr marL="0" indent="0" algn="ctr">
              <a:lnSpc>
                <a:spcPct val="107000"/>
              </a:lnSpc>
              <a:spcAft>
                <a:spcPts val="775"/>
              </a:spcAft>
              <a:buNone/>
            </a:pP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Online Voting System Web Application in Python </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8" name="Picture 4">
            <a:extLst>
              <a:ext uri="{FF2B5EF4-FFF2-40B4-BE49-F238E27FC236}">
                <a16:creationId xmlns="" xmlns:a16="http://schemas.microsoft.com/office/drawing/2014/main" id="{15B94B60-0B66-4DB3-ABE1-CE47F90CFE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7875" y="1351958"/>
            <a:ext cx="5048250" cy="50774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471044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owchart: Delay 1">
            <a:extLst>
              <a:ext uri="{FF2B5EF4-FFF2-40B4-BE49-F238E27FC236}">
                <a16:creationId xmlns="" xmlns:a16="http://schemas.microsoft.com/office/drawing/2014/main" id="{54F43BB1-C1FA-4F19-A8A0-D6163526C2A3}"/>
              </a:ext>
            </a:extLst>
          </p:cNvPr>
          <p:cNvSpPr/>
          <p:nvPr/>
        </p:nvSpPr>
        <p:spPr>
          <a:xfrm>
            <a:off x="762000" y="6429396"/>
            <a:ext cx="8354457" cy="428604"/>
          </a:xfrm>
          <a:prstGeom prst="flowChartDelay">
            <a:avLst/>
          </a:prstGeom>
          <a:solidFill>
            <a:srgbClr val="00B0F0"/>
          </a:solidFill>
          <a:ln>
            <a:solidFill>
              <a:srgbClr val="00B0F0"/>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rPr>
              <a:t>Anna University, Chennai</a:t>
            </a:r>
            <a:endParaRPr lang="en-US"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endParaRPr>
          </a:p>
        </p:txBody>
      </p:sp>
      <p:pic>
        <p:nvPicPr>
          <p:cNvPr id="3" name="Picture 26" descr="undefined">
            <a:extLst>
              <a:ext uri="{FF2B5EF4-FFF2-40B4-BE49-F238E27FC236}">
                <a16:creationId xmlns="" xmlns:a16="http://schemas.microsoft.com/office/drawing/2014/main" id="{11989B06-25D0-473C-A2AA-31B216272B2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051" y="6186522"/>
            <a:ext cx="675701" cy="67147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 xmlns:a16="http://schemas.microsoft.com/office/drawing/2014/main" id="{19F3CB18-E214-48EE-81F9-5FD3053D9A7F}"/>
              </a:ext>
            </a:extLst>
          </p:cNvPr>
          <p:cNvSpPr txBox="1"/>
          <p:nvPr/>
        </p:nvSpPr>
        <p:spPr>
          <a:xfrm>
            <a:off x="1295400" y="29308"/>
            <a:ext cx="6851325" cy="1199559"/>
          </a:xfrm>
          <a:prstGeom prst="rect">
            <a:avLst/>
          </a:prstGeom>
          <a:noFill/>
        </p:spPr>
        <p:txBody>
          <a:bodyPr wrap="square">
            <a:spAutoFit/>
          </a:bodyPr>
          <a:lstStyle/>
          <a:p>
            <a:pPr algn="ctr"/>
            <a:r>
              <a:rPr lang="en-US" sz="2400" b="1" dirty="0">
                <a:latin typeface="Times New Roman" pitchFamily="18" charset="0"/>
                <a:cs typeface="Times New Roman" pitchFamily="18" charset="0"/>
              </a:rPr>
              <a:t>ER DIAGRAM</a:t>
            </a:r>
          </a:p>
          <a:p>
            <a:pPr algn="ctr"/>
            <a:endParaRPr lang="en-US" sz="2400" b="1" dirty="0">
              <a:latin typeface="Times New Roman" pitchFamily="18" charset="0"/>
              <a:cs typeface="Times New Roman" pitchFamily="18" charset="0"/>
            </a:endParaRPr>
          </a:p>
          <a:p>
            <a:pPr marL="0" indent="0" algn="ctr">
              <a:lnSpc>
                <a:spcPct val="107000"/>
              </a:lnSpc>
              <a:spcAft>
                <a:spcPts val="775"/>
              </a:spcAft>
              <a:buNone/>
            </a:pP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Online Voting System Web Application in Python </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6" name="Picture 5">
            <a:extLst>
              <a:ext uri="{FF2B5EF4-FFF2-40B4-BE49-F238E27FC236}">
                <a16:creationId xmlns="" xmlns:a16="http://schemas.microsoft.com/office/drawing/2014/main" id="{7EB2324C-9C74-4F1A-9968-FB17D82BE4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1316133"/>
            <a:ext cx="6477000" cy="51132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720109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owchart: Delay 1">
            <a:extLst>
              <a:ext uri="{FF2B5EF4-FFF2-40B4-BE49-F238E27FC236}">
                <a16:creationId xmlns="" xmlns:a16="http://schemas.microsoft.com/office/drawing/2014/main" id="{AF860689-482C-43FC-85D9-72FC12743054}"/>
              </a:ext>
            </a:extLst>
          </p:cNvPr>
          <p:cNvSpPr/>
          <p:nvPr/>
        </p:nvSpPr>
        <p:spPr>
          <a:xfrm>
            <a:off x="762000" y="6429396"/>
            <a:ext cx="8354457" cy="428604"/>
          </a:xfrm>
          <a:prstGeom prst="flowChartDelay">
            <a:avLst/>
          </a:prstGeom>
          <a:solidFill>
            <a:srgbClr val="00B0F0"/>
          </a:solidFill>
          <a:ln>
            <a:solidFill>
              <a:srgbClr val="00B0F0"/>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rPr>
              <a:t>Anna University, Chennai</a:t>
            </a:r>
            <a:endParaRPr lang="en-US"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endParaRPr>
          </a:p>
        </p:txBody>
      </p:sp>
      <p:pic>
        <p:nvPicPr>
          <p:cNvPr id="3" name="Picture 26" descr="undefined">
            <a:extLst>
              <a:ext uri="{FF2B5EF4-FFF2-40B4-BE49-F238E27FC236}">
                <a16:creationId xmlns="" xmlns:a16="http://schemas.microsoft.com/office/drawing/2014/main" id="{A5861AD2-E1D4-4050-9F09-D89A41220CA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051" y="6186522"/>
            <a:ext cx="675701" cy="67147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 xmlns:a16="http://schemas.microsoft.com/office/drawing/2014/main" id="{9F5F539B-91B6-4E4F-8B80-6024CF1911E3}"/>
              </a:ext>
            </a:extLst>
          </p:cNvPr>
          <p:cNvSpPr txBox="1"/>
          <p:nvPr/>
        </p:nvSpPr>
        <p:spPr>
          <a:xfrm>
            <a:off x="1077940" y="108878"/>
            <a:ext cx="7722576" cy="1199559"/>
          </a:xfrm>
          <a:prstGeom prst="rect">
            <a:avLst/>
          </a:prstGeom>
          <a:noFill/>
        </p:spPr>
        <p:txBody>
          <a:bodyPr wrap="square">
            <a:spAutoFit/>
          </a:bodyPr>
          <a:lstStyle/>
          <a:p>
            <a:pPr algn="ctr"/>
            <a:r>
              <a:rPr lang="en-US" sz="2400" b="1" dirty="0">
                <a:latin typeface="Times New Roman" pitchFamily="18" charset="0"/>
                <a:cs typeface="Times New Roman" pitchFamily="18" charset="0"/>
              </a:rPr>
              <a:t>CLASS DIAGRAM</a:t>
            </a:r>
          </a:p>
          <a:p>
            <a:pPr algn="ctr"/>
            <a:endParaRPr lang="en-US" sz="2400" b="1" dirty="0">
              <a:latin typeface="Times New Roman" pitchFamily="18" charset="0"/>
              <a:cs typeface="Times New Roman" pitchFamily="18" charset="0"/>
            </a:endParaRPr>
          </a:p>
          <a:p>
            <a:pPr marL="0" indent="0" algn="ctr">
              <a:lnSpc>
                <a:spcPct val="107000"/>
              </a:lnSpc>
              <a:spcAft>
                <a:spcPts val="775"/>
              </a:spcAft>
              <a:buNone/>
            </a:pP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Online Voting System Web Application in Python </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6" name="Picture 9">
            <a:extLst>
              <a:ext uri="{FF2B5EF4-FFF2-40B4-BE49-F238E27FC236}">
                <a16:creationId xmlns="" xmlns:a16="http://schemas.microsoft.com/office/drawing/2014/main" id="{29410B17-4738-4C82-9F23-C99005CFC4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1308437"/>
            <a:ext cx="6846860" cy="51209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45854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owchart: Delay 1">
            <a:extLst>
              <a:ext uri="{FF2B5EF4-FFF2-40B4-BE49-F238E27FC236}">
                <a16:creationId xmlns="" xmlns:a16="http://schemas.microsoft.com/office/drawing/2014/main" id="{94B85F0E-E38D-4455-834E-C646AEC157D5}"/>
              </a:ext>
            </a:extLst>
          </p:cNvPr>
          <p:cNvSpPr/>
          <p:nvPr/>
        </p:nvSpPr>
        <p:spPr>
          <a:xfrm>
            <a:off x="762000" y="6429396"/>
            <a:ext cx="8354457" cy="428604"/>
          </a:xfrm>
          <a:prstGeom prst="flowChartDelay">
            <a:avLst/>
          </a:prstGeom>
          <a:solidFill>
            <a:srgbClr val="00B0F0"/>
          </a:solidFill>
          <a:ln>
            <a:solidFill>
              <a:srgbClr val="00B0F0"/>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rPr>
              <a:t>Anna University, Chennai</a:t>
            </a:r>
            <a:endParaRPr lang="en-US"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endParaRPr>
          </a:p>
        </p:txBody>
      </p:sp>
      <p:pic>
        <p:nvPicPr>
          <p:cNvPr id="3" name="Picture 26" descr="undefined">
            <a:extLst>
              <a:ext uri="{FF2B5EF4-FFF2-40B4-BE49-F238E27FC236}">
                <a16:creationId xmlns="" xmlns:a16="http://schemas.microsoft.com/office/drawing/2014/main" id="{7BA9BFDD-10A2-4ED5-A99B-11508420BF5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051" y="6186522"/>
            <a:ext cx="675701" cy="67147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 xmlns:a16="http://schemas.microsoft.com/office/drawing/2014/main" id="{5B313B99-7D09-4793-9464-2895CB7C457A}"/>
              </a:ext>
            </a:extLst>
          </p:cNvPr>
          <p:cNvSpPr txBox="1"/>
          <p:nvPr/>
        </p:nvSpPr>
        <p:spPr>
          <a:xfrm>
            <a:off x="901212" y="111073"/>
            <a:ext cx="7341576" cy="1199559"/>
          </a:xfrm>
          <a:prstGeom prst="rect">
            <a:avLst/>
          </a:prstGeom>
          <a:noFill/>
        </p:spPr>
        <p:txBody>
          <a:bodyPr wrap="square">
            <a:spAutoFit/>
          </a:bodyPr>
          <a:lstStyle/>
          <a:p>
            <a:pPr algn="ctr"/>
            <a:r>
              <a:rPr lang="en-US" sz="2400" b="1" dirty="0">
                <a:latin typeface="Times New Roman" pitchFamily="18" charset="0"/>
                <a:cs typeface="Times New Roman" pitchFamily="18" charset="0"/>
              </a:rPr>
              <a:t>SEQUENCE DIAGRAM</a:t>
            </a:r>
          </a:p>
          <a:p>
            <a:pPr algn="ctr"/>
            <a:endParaRPr lang="en-US" sz="2400" b="1" dirty="0">
              <a:latin typeface="Times New Roman" pitchFamily="18" charset="0"/>
              <a:cs typeface="Times New Roman" pitchFamily="18" charset="0"/>
            </a:endParaRPr>
          </a:p>
          <a:p>
            <a:pPr marL="0" indent="0" algn="ctr">
              <a:lnSpc>
                <a:spcPct val="107000"/>
              </a:lnSpc>
              <a:spcAft>
                <a:spcPts val="775"/>
              </a:spcAft>
              <a:buNone/>
            </a:pP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Online Voting System Web Application in Python </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6" name="Picture 6">
            <a:extLst>
              <a:ext uri="{FF2B5EF4-FFF2-40B4-BE49-F238E27FC236}">
                <a16:creationId xmlns="" xmlns:a16="http://schemas.microsoft.com/office/drawing/2014/main" id="{745537D5-CFAB-4FA6-96B0-CDB113FB15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1310631"/>
            <a:ext cx="6248399" cy="48758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33128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owchart: Delay 1">
            <a:extLst>
              <a:ext uri="{FF2B5EF4-FFF2-40B4-BE49-F238E27FC236}">
                <a16:creationId xmlns="" xmlns:a16="http://schemas.microsoft.com/office/drawing/2014/main" id="{B52D1A6D-1767-4137-B2D8-9C39F566E7B3}"/>
              </a:ext>
            </a:extLst>
          </p:cNvPr>
          <p:cNvSpPr/>
          <p:nvPr/>
        </p:nvSpPr>
        <p:spPr>
          <a:xfrm>
            <a:off x="762000" y="6429396"/>
            <a:ext cx="8354457" cy="428604"/>
          </a:xfrm>
          <a:prstGeom prst="flowChartDelay">
            <a:avLst/>
          </a:prstGeom>
          <a:solidFill>
            <a:srgbClr val="00B0F0"/>
          </a:solidFill>
          <a:ln>
            <a:solidFill>
              <a:srgbClr val="00B0F0"/>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rPr>
              <a:t>Anna University, Chennai</a:t>
            </a:r>
            <a:endParaRPr lang="en-US"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endParaRPr>
          </a:p>
        </p:txBody>
      </p:sp>
      <p:pic>
        <p:nvPicPr>
          <p:cNvPr id="4" name="Picture 26" descr="undefined">
            <a:extLst>
              <a:ext uri="{FF2B5EF4-FFF2-40B4-BE49-F238E27FC236}">
                <a16:creationId xmlns="" xmlns:a16="http://schemas.microsoft.com/office/drawing/2014/main" id="{38FA8E73-652A-44AF-AA8C-D92D9E0C858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051" y="6186522"/>
            <a:ext cx="675701" cy="67147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 xmlns:a16="http://schemas.microsoft.com/office/drawing/2014/main" id="{2166B5FF-C405-4392-8CF3-7B7E76112049}"/>
              </a:ext>
            </a:extLst>
          </p:cNvPr>
          <p:cNvSpPr txBox="1"/>
          <p:nvPr/>
        </p:nvSpPr>
        <p:spPr>
          <a:xfrm>
            <a:off x="1344640" y="0"/>
            <a:ext cx="7189176" cy="1199559"/>
          </a:xfrm>
          <a:prstGeom prst="rect">
            <a:avLst/>
          </a:prstGeom>
          <a:noFill/>
        </p:spPr>
        <p:txBody>
          <a:bodyPr wrap="square">
            <a:spAutoFit/>
          </a:bodyPr>
          <a:lstStyle/>
          <a:p>
            <a:pPr algn="ctr"/>
            <a:r>
              <a:rPr lang="en-US" sz="2400" b="1" dirty="0">
                <a:latin typeface="Times New Roman" pitchFamily="18" charset="0"/>
                <a:cs typeface="Times New Roman" pitchFamily="18" charset="0"/>
              </a:rPr>
              <a:t>UML DIAGRAM</a:t>
            </a:r>
          </a:p>
          <a:p>
            <a:pPr algn="ctr"/>
            <a:endParaRPr lang="en-US" sz="2400" b="1" dirty="0">
              <a:latin typeface="Times New Roman" pitchFamily="18" charset="0"/>
              <a:cs typeface="Times New Roman" pitchFamily="18" charset="0"/>
            </a:endParaRPr>
          </a:p>
          <a:p>
            <a:pPr marL="0" indent="0" algn="ctr">
              <a:lnSpc>
                <a:spcPct val="107000"/>
              </a:lnSpc>
              <a:spcAft>
                <a:spcPts val="775"/>
              </a:spcAft>
              <a:buNone/>
            </a:pP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Online Voting System Web Application in Python </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7" name="Picture 7">
            <a:extLst>
              <a:ext uri="{FF2B5EF4-FFF2-40B4-BE49-F238E27FC236}">
                <a16:creationId xmlns="" xmlns:a16="http://schemas.microsoft.com/office/drawing/2014/main" id="{CF3BFCA9-816F-4291-AC7D-D4F64D4CF1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72228" y="1199559"/>
            <a:ext cx="5334000" cy="52298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73605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owchart: Delay 1">
            <a:extLst>
              <a:ext uri="{FF2B5EF4-FFF2-40B4-BE49-F238E27FC236}">
                <a16:creationId xmlns="" xmlns:a16="http://schemas.microsoft.com/office/drawing/2014/main" id="{9E14D6AD-A7AD-40D7-9847-E3DD042EFFCC}"/>
              </a:ext>
            </a:extLst>
          </p:cNvPr>
          <p:cNvSpPr/>
          <p:nvPr/>
        </p:nvSpPr>
        <p:spPr>
          <a:xfrm>
            <a:off x="762000" y="6429396"/>
            <a:ext cx="8354457" cy="428604"/>
          </a:xfrm>
          <a:prstGeom prst="flowChartDelay">
            <a:avLst/>
          </a:prstGeom>
          <a:solidFill>
            <a:srgbClr val="00B0F0"/>
          </a:solidFill>
          <a:ln>
            <a:solidFill>
              <a:srgbClr val="00B0F0"/>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rPr>
              <a:t>Anna University, Chennai</a:t>
            </a:r>
            <a:endParaRPr lang="en-US"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endParaRPr>
          </a:p>
        </p:txBody>
      </p:sp>
      <p:pic>
        <p:nvPicPr>
          <p:cNvPr id="3" name="Picture 26" descr="undefined">
            <a:extLst>
              <a:ext uri="{FF2B5EF4-FFF2-40B4-BE49-F238E27FC236}">
                <a16:creationId xmlns="" xmlns:a16="http://schemas.microsoft.com/office/drawing/2014/main" id="{7BECD784-FF0A-48CA-8638-93BE3D207FF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051" y="6186522"/>
            <a:ext cx="675701" cy="67147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 xmlns:a16="http://schemas.microsoft.com/office/drawing/2014/main" id="{058933A1-8414-4D18-B5DD-1C63C29F7B52}"/>
              </a:ext>
            </a:extLst>
          </p:cNvPr>
          <p:cNvSpPr txBox="1"/>
          <p:nvPr/>
        </p:nvSpPr>
        <p:spPr>
          <a:xfrm>
            <a:off x="558312" y="0"/>
            <a:ext cx="8027376" cy="1199559"/>
          </a:xfrm>
          <a:prstGeom prst="rect">
            <a:avLst/>
          </a:prstGeom>
          <a:noFill/>
        </p:spPr>
        <p:txBody>
          <a:bodyPr wrap="square">
            <a:spAutoFit/>
          </a:bodyPr>
          <a:lstStyle/>
          <a:p>
            <a:pPr algn="ctr"/>
            <a:r>
              <a:rPr lang="en-US" sz="2400" b="1" dirty="0">
                <a:latin typeface="Times New Roman" pitchFamily="18" charset="0"/>
                <a:cs typeface="Times New Roman" pitchFamily="18" charset="0"/>
              </a:rPr>
              <a:t>ACTIVITY DIAGRAM</a:t>
            </a:r>
          </a:p>
          <a:p>
            <a:pPr algn="ctr"/>
            <a:endParaRPr lang="en-US" sz="2400" b="1" dirty="0">
              <a:latin typeface="Times New Roman" pitchFamily="18" charset="0"/>
              <a:cs typeface="Times New Roman" pitchFamily="18" charset="0"/>
            </a:endParaRPr>
          </a:p>
          <a:p>
            <a:pPr marL="0" indent="0" algn="ctr">
              <a:lnSpc>
                <a:spcPct val="107000"/>
              </a:lnSpc>
              <a:spcAft>
                <a:spcPts val="775"/>
              </a:spcAft>
              <a:buNone/>
            </a:pP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Online Voting System Web Application in Python </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6" name="Picture 8">
            <a:extLst>
              <a:ext uri="{FF2B5EF4-FFF2-40B4-BE49-F238E27FC236}">
                <a16:creationId xmlns="" xmlns:a16="http://schemas.microsoft.com/office/drawing/2014/main" id="{6D308F39-CB36-47FD-9247-5B23E2DFE5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1199559"/>
            <a:ext cx="6096000" cy="49869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242228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lowchart: Delay 9"/>
          <p:cNvSpPr/>
          <p:nvPr/>
        </p:nvSpPr>
        <p:spPr>
          <a:xfrm>
            <a:off x="762000" y="6429396"/>
            <a:ext cx="8354457" cy="428604"/>
          </a:xfrm>
          <a:prstGeom prst="flowChartDelay">
            <a:avLst/>
          </a:prstGeom>
          <a:solidFill>
            <a:srgbClr val="00B0F0"/>
          </a:solidFill>
          <a:ln>
            <a:solidFill>
              <a:srgbClr val="00B0F0"/>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rPr>
              <a:t>Anna University, Chennai</a:t>
            </a:r>
            <a:endParaRPr lang="en-US"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endParaRPr>
          </a:p>
        </p:txBody>
      </p:sp>
      <p:sp>
        <p:nvSpPr>
          <p:cNvPr id="8" name="AutoShape 6" descr="Anna University - Wikipedia"/>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8" descr="Anna University - Wikipedia"/>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10" descr="Anna University - Wikipedia"/>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12" descr="Anna University - Wikipedia"/>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AutoShape 14" descr="Anna University - Wikipedia"/>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AutoShape 16" descr="Anna University - Wikipedia"/>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AutoShape 18" descr="Anna University - Wikipedia"/>
          <p:cNvSpPr>
            <a:spLocks noChangeAspect="1" noChangeArrowheads="1"/>
          </p:cNvSpPr>
          <p:nvPr/>
        </p:nvSpPr>
        <p:spPr bwMode="auto">
          <a:xfrm>
            <a:off x="1069975" y="769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AutoShape 20" descr="Anna University - Wikipedia"/>
          <p:cNvSpPr>
            <a:spLocks noChangeAspect="1" noChangeArrowheads="1"/>
          </p:cNvSpPr>
          <p:nvPr/>
        </p:nvSpPr>
        <p:spPr bwMode="auto">
          <a:xfrm>
            <a:off x="1222375" y="922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AutoShape 22" descr="Anna University - Wikipedia"/>
          <p:cNvSpPr>
            <a:spLocks noChangeAspect="1" noChangeArrowheads="1"/>
          </p:cNvSpPr>
          <p:nvPr/>
        </p:nvSpPr>
        <p:spPr bwMode="auto">
          <a:xfrm>
            <a:off x="1374775" y="1074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AutoShape 24" descr="Anna University - Wikipedia"/>
          <p:cNvSpPr>
            <a:spLocks noChangeAspect="1" noChangeArrowheads="1"/>
          </p:cNvSpPr>
          <p:nvPr/>
        </p:nvSpPr>
        <p:spPr bwMode="auto">
          <a:xfrm>
            <a:off x="1527175" y="1227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50" name="Picture 26" descr="undefine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051" y="6186522"/>
            <a:ext cx="675701" cy="67147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3051" y="276285"/>
            <a:ext cx="9083406" cy="6340197"/>
          </a:xfrm>
          <a:prstGeom prst="rect">
            <a:avLst/>
          </a:prstGeom>
        </p:spPr>
        <p:txBody>
          <a:bodyPr wrap="square">
            <a:spAutoFit/>
          </a:bodyPr>
          <a:lstStyle/>
          <a:p>
            <a:pPr algn="ctr"/>
            <a:r>
              <a:rPr lang="en-US" sz="2400" b="1" dirty="0" smtClean="0">
                <a:latin typeface="Times New Roman" pitchFamily="18" charset="0"/>
                <a:cs typeface="Times New Roman" pitchFamily="18" charset="0"/>
              </a:rPr>
              <a:t>DATABASE DESCRIPTION</a:t>
            </a:r>
            <a:endParaRPr lang="en-US" sz="2400" b="1" dirty="0">
              <a:latin typeface="Times New Roman" pitchFamily="18" charset="0"/>
              <a:cs typeface="Times New Roman" pitchFamily="18" charset="0"/>
            </a:endParaRPr>
          </a:p>
          <a:p>
            <a:pPr algn="ctr"/>
            <a:endParaRPr lang="en-US" sz="2300" b="1" dirty="0">
              <a:latin typeface="Times New Roman" pitchFamily="18" charset="0"/>
              <a:cs typeface="Times New Roman" pitchFamily="18" charset="0"/>
            </a:endParaRPr>
          </a:p>
          <a:p>
            <a:pPr algn="ctr"/>
            <a:r>
              <a:rPr lang="en-US" sz="2400" b="1" dirty="0">
                <a:solidFill>
                  <a:srgbClr val="000000"/>
                </a:solidFill>
                <a:effectLst/>
                <a:latin typeface="Times New Roman" panose="02020603050405020304" pitchFamily="18" charset="0"/>
                <a:ea typeface="Times New Roman" panose="02020603050405020304" pitchFamily="18" charset="0"/>
              </a:rPr>
              <a:t>Online Voting System Web Application in Python</a:t>
            </a:r>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pPr algn="ctr"/>
            <a:endParaRPr lang="en-US" dirty="0">
              <a:latin typeface="Times New Roman" pitchFamily="18" charset="0"/>
              <a:cs typeface="Times New Roman" pitchFamily="18" charset="0"/>
            </a:endParaRPr>
          </a:p>
          <a:p>
            <a:pPr algn="ctr"/>
            <a:r>
              <a:rPr lang="en-US" dirty="0">
                <a:latin typeface="Times New Roman" pitchFamily="18" charset="0"/>
                <a:cs typeface="Times New Roman" pitchFamily="18" charset="0"/>
              </a:rPr>
              <a:t>Table No: 1. Users</a:t>
            </a:r>
          </a:p>
          <a:p>
            <a:endParaRPr lang="en-US" sz="2300" b="1" dirty="0">
              <a:latin typeface="Times New Roman" pitchFamily="18" charset="0"/>
              <a:cs typeface="Times New Roman" pitchFamily="18" charset="0"/>
            </a:endParaRPr>
          </a:p>
        </p:txBody>
      </p:sp>
      <p:graphicFrame>
        <p:nvGraphicFramePr>
          <p:cNvPr id="2" name="Table 1">
            <a:extLst>
              <a:ext uri="{FF2B5EF4-FFF2-40B4-BE49-F238E27FC236}">
                <a16:creationId xmlns="" xmlns:a16="http://schemas.microsoft.com/office/drawing/2014/main" id="{4882D16C-0904-C32B-5C8C-6D726895A0C5}"/>
              </a:ext>
            </a:extLst>
          </p:cNvPr>
          <p:cNvGraphicFramePr>
            <a:graphicFrameLocks noGrp="1"/>
          </p:cNvGraphicFramePr>
          <p:nvPr>
            <p:extLst>
              <p:ext uri="{D42A27DB-BD31-4B8C-83A1-F6EECF244321}">
                <p14:modId xmlns:p14="http://schemas.microsoft.com/office/powerpoint/2010/main" val="728905282"/>
              </p:ext>
            </p:extLst>
          </p:nvPr>
        </p:nvGraphicFramePr>
        <p:xfrm>
          <a:off x="307974" y="1591454"/>
          <a:ext cx="8455026" cy="4039408"/>
        </p:xfrm>
        <a:graphic>
          <a:graphicData uri="http://schemas.openxmlformats.org/drawingml/2006/table">
            <a:tbl>
              <a:tblPr>
                <a:tableStyleId>{5940675A-B579-460E-94D1-54222C63F5DA}</a:tableStyleId>
              </a:tblPr>
              <a:tblGrid>
                <a:gridCol w="1173134">
                  <a:extLst>
                    <a:ext uri="{9D8B030D-6E8A-4147-A177-3AD203B41FA5}">
                      <a16:colId xmlns="" xmlns:a16="http://schemas.microsoft.com/office/drawing/2014/main" val="114251563"/>
                    </a:ext>
                  </a:extLst>
                </a:gridCol>
                <a:gridCol w="1173134">
                  <a:extLst>
                    <a:ext uri="{9D8B030D-6E8A-4147-A177-3AD203B41FA5}">
                      <a16:colId xmlns="" xmlns:a16="http://schemas.microsoft.com/office/drawing/2014/main" val="985052098"/>
                    </a:ext>
                  </a:extLst>
                </a:gridCol>
                <a:gridCol w="1292218">
                  <a:extLst>
                    <a:ext uri="{9D8B030D-6E8A-4147-A177-3AD203B41FA5}">
                      <a16:colId xmlns="" xmlns:a16="http://schemas.microsoft.com/office/drawing/2014/main" val="1504112142"/>
                    </a:ext>
                  </a:extLst>
                </a:gridCol>
                <a:gridCol w="962520">
                  <a:extLst>
                    <a:ext uri="{9D8B030D-6E8A-4147-A177-3AD203B41FA5}">
                      <a16:colId xmlns="" xmlns:a16="http://schemas.microsoft.com/office/drawing/2014/main" val="2857215045"/>
                    </a:ext>
                  </a:extLst>
                </a:gridCol>
                <a:gridCol w="1353238">
                  <a:extLst>
                    <a:ext uri="{9D8B030D-6E8A-4147-A177-3AD203B41FA5}">
                      <a16:colId xmlns="" xmlns:a16="http://schemas.microsoft.com/office/drawing/2014/main" val="2904469819"/>
                    </a:ext>
                  </a:extLst>
                </a:gridCol>
                <a:gridCol w="2500782">
                  <a:extLst>
                    <a:ext uri="{9D8B030D-6E8A-4147-A177-3AD203B41FA5}">
                      <a16:colId xmlns="" xmlns:a16="http://schemas.microsoft.com/office/drawing/2014/main" val="3009681256"/>
                    </a:ext>
                  </a:extLst>
                </a:gridCol>
              </a:tblGrid>
              <a:tr h="949097">
                <a:tc>
                  <a:txBody>
                    <a:bodyPr/>
                    <a:lstStyle/>
                    <a:p>
                      <a:pPr algn="ctr" fontAlgn="b">
                        <a:lnSpc>
                          <a:spcPct val="107000"/>
                        </a:lnSpc>
                        <a:spcAft>
                          <a:spcPts val="800"/>
                        </a:spcAft>
                      </a:pPr>
                      <a:r>
                        <a:rPr lang="en-IN" sz="1300" b="1" kern="1200" dirty="0">
                          <a:solidFill>
                            <a:schemeClr val="tx1"/>
                          </a:solidFill>
                          <a:effectLst/>
                          <a:latin typeface="Time Roman" pitchFamily="2" charset="0"/>
                        </a:rPr>
                        <a:t> </a:t>
                      </a:r>
                      <a:endParaRPr lang="en-IN" sz="1100" b="1" dirty="0">
                        <a:solidFill>
                          <a:schemeClr val="tx1"/>
                        </a:solidFill>
                        <a:effectLst/>
                        <a:latin typeface="Time Roman" pitchFamily="2" charset="0"/>
                      </a:endParaRPr>
                    </a:p>
                    <a:p>
                      <a:pPr algn="ctr" fontAlgn="b">
                        <a:lnSpc>
                          <a:spcPct val="107000"/>
                        </a:lnSpc>
                        <a:spcAft>
                          <a:spcPts val="800"/>
                        </a:spcAft>
                      </a:pPr>
                      <a:r>
                        <a:rPr lang="en-IN" sz="1300" b="1" kern="1200" dirty="0">
                          <a:solidFill>
                            <a:schemeClr val="tx1"/>
                          </a:solidFill>
                          <a:effectLst/>
                          <a:latin typeface="Time Roman" pitchFamily="2" charset="0"/>
                        </a:rPr>
                        <a:t>S.NO</a:t>
                      </a:r>
                      <a:endParaRPr lang="en-IN" sz="1100" b="1"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fontAlgn="b">
                        <a:lnSpc>
                          <a:spcPct val="107000"/>
                        </a:lnSpc>
                        <a:spcAft>
                          <a:spcPts val="800"/>
                        </a:spcAft>
                      </a:pPr>
                      <a:r>
                        <a:rPr lang="en-IN" sz="1300" b="1" kern="1200" dirty="0">
                          <a:solidFill>
                            <a:schemeClr val="tx1"/>
                          </a:solidFill>
                          <a:effectLst/>
                          <a:latin typeface="Time Roman" pitchFamily="2" charset="0"/>
                        </a:rPr>
                        <a:t>FILED NAME</a:t>
                      </a:r>
                      <a:endParaRPr lang="en-IN" sz="1100" b="1" dirty="0">
                        <a:solidFill>
                          <a:schemeClr val="tx1"/>
                        </a:solidFill>
                        <a:effectLst/>
                        <a:latin typeface="Time Roman" pitchFamily="2" charset="0"/>
                      </a:endParaRPr>
                    </a:p>
                    <a:p>
                      <a:pPr algn="ctr" fontAlgn="b">
                        <a:lnSpc>
                          <a:spcPct val="107000"/>
                        </a:lnSpc>
                        <a:spcAft>
                          <a:spcPts val="800"/>
                        </a:spcAft>
                      </a:pPr>
                      <a:r>
                        <a:rPr lang="en-IN" sz="1300" b="1" kern="1200" dirty="0">
                          <a:solidFill>
                            <a:schemeClr val="tx1"/>
                          </a:solidFill>
                          <a:effectLst/>
                          <a:latin typeface="Time Roman" pitchFamily="2" charset="0"/>
                        </a:rPr>
                        <a:t> </a:t>
                      </a:r>
                      <a:endParaRPr lang="en-IN" sz="1100" b="1"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b"/>
                </a:tc>
                <a:tc>
                  <a:txBody>
                    <a:bodyPr/>
                    <a:lstStyle/>
                    <a:p>
                      <a:pPr algn="ctr" fontAlgn="b">
                        <a:lnSpc>
                          <a:spcPct val="107000"/>
                        </a:lnSpc>
                        <a:spcAft>
                          <a:spcPts val="800"/>
                        </a:spcAft>
                      </a:pPr>
                      <a:r>
                        <a:rPr lang="en-IN" sz="1300" b="1" kern="1200">
                          <a:solidFill>
                            <a:schemeClr val="tx1"/>
                          </a:solidFill>
                          <a:effectLst/>
                          <a:latin typeface="Time Roman" pitchFamily="2" charset="0"/>
                        </a:rPr>
                        <a:t>DATA TYPE</a:t>
                      </a:r>
                      <a:endParaRPr lang="en-IN" sz="1100" b="1">
                        <a:solidFill>
                          <a:schemeClr val="tx1"/>
                        </a:solidFill>
                        <a:effectLst/>
                        <a:latin typeface="Time Roman" pitchFamily="2" charset="0"/>
                      </a:endParaRPr>
                    </a:p>
                    <a:p>
                      <a:pPr fontAlgn="b">
                        <a:lnSpc>
                          <a:spcPct val="107000"/>
                        </a:lnSpc>
                        <a:spcAft>
                          <a:spcPts val="800"/>
                        </a:spcAft>
                      </a:pPr>
                      <a:r>
                        <a:rPr lang="en-IN" sz="1300" b="1" kern="1200">
                          <a:solidFill>
                            <a:schemeClr val="tx1"/>
                          </a:solidFill>
                          <a:effectLst/>
                          <a:latin typeface="Time Roman" pitchFamily="2" charset="0"/>
                        </a:rPr>
                        <a:t> </a:t>
                      </a:r>
                      <a:endParaRPr lang="en-IN" sz="1100" b="1">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b"/>
                </a:tc>
                <a:tc>
                  <a:txBody>
                    <a:bodyPr/>
                    <a:lstStyle/>
                    <a:p>
                      <a:pPr algn="ctr" fontAlgn="b">
                        <a:lnSpc>
                          <a:spcPct val="107000"/>
                        </a:lnSpc>
                        <a:spcAft>
                          <a:spcPts val="800"/>
                        </a:spcAft>
                      </a:pPr>
                      <a:r>
                        <a:rPr lang="en-IN" sz="1300" b="1" kern="1200" dirty="0">
                          <a:solidFill>
                            <a:schemeClr val="tx1"/>
                          </a:solidFill>
                          <a:effectLst/>
                          <a:latin typeface="Time Roman" pitchFamily="2" charset="0"/>
                        </a:rPr>
                        <a:t> </a:t>
                      </a:r>
                      <a:endParaRPr lang="en-IN" sz="1100" b="1" dirty="0">
                        <a:solidFill>
                          <a:schemeClr val="tx1"/>
                        </a:solidFill>
                        <a:effectLst/>
                        <a:latin typeface="Time Roman" pitchFamily="2" charset="0"/>
                      </a:endParaRPr>
                    </a:p>
                    <a:p>
                      <a:pPr algn="ctr" fontAlgn="b">
                        <a:lnSpc>
                          <a:spcPct val="107000"/>
                        </a:lnSpc>
                        <a:spcAft>
                          <a:spcPts val="800"/>
                        </a:spcAft>
                      </a:pPr>
                      <a:r>
                        <a:rPr lang="en-IN" sz="1300" b="1" kern="1200" dirty="0">
                          <a:solidFill>
                            <a:schemeClr val="tx1"/>
                          </a:solidFill>
                          <a:effectLst/>
                          <a:latin typeface="Time Roman" pitchFamily="2" charset="0"/>
                        </a:rPr>
                        <a:t>SIZE</a:t>
                      </a:r>
                      <a:endParaRPr lang="en-IN" sz="1100" b="1"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fontAlgn="b">
                        <a:lnSpc>
                          <a:spcPct val="107000"/>
                        </a:lnSpc>
                        <a:spcAft>
                          <a:spcPts val="800"/>
                        </a:spcAft>
                      </a:pPr>
                      <a:r>
                        <a:rPr lang="en-IN" sz="1300" b="1" kern="1200">
                          <a:solidFill>
                            <a:schemeClr val="tx1"/>
                          </a:solidFill>
                          <a:effectLst/>
                          <a:latin typeface="Time Roman" pitchFamily="2" charset="0"/>
                        </a:rPr>
                        <a:t> </a:t>
                      </a:r>
                      <a:endParaRPr lang="en-IN" sz="1100" b="1">
                        <a:solidFill>
                          <a:schemeClr val="tx1"/>
                        </a:solidFill>
                        <a:effectLst/>
                        <a:latin typeface="Time Roman" pitchFamily="2" charset="0"/>
                      </a:endParaRPr>
                    </a:p>
                    <a:p>
                      <a:pPr algn="ctr" fontAlgn="b">
                        <a:lnSpc>
                          <a:spcPct val="107000"/>
                        </a:lnSpc>
                        <a:spcAft>
                          <a:spcPts val="800"/>
                        </a:spcAft>
                      </a:pPr>
                      <a:r>
                        <a:rPr lang="en-IN" sz="1300" b="1" kern="1200">
                          <a:solidFill>
                            <a:schemeClr val="tx1"/>
                          </a:solidFill>
                          <a:effectLst/>
                          <a:latin typeface="Time Roman" pitchFamily="2" charset="0"/>
                        </a:rPr>
                        <a:t>CONSTRAINTS</a:t>
                      </a:r>
                      <a:endParaRPr lang="en-IN" sz="1100" b="1">
                        <a:solidFill>
                          <a:schemeClr val="tx1"/>
                        </a:solidFill>
                        <a:effectLst/>
                        <a:latin typeface="Time Roman" pitchFamily="2" charset="0"/>
                      </a:endParaRPr>
                    </a:p>
                    <a:p>
                      <a:pPr algn="ctr" fontAlgn="b">
                        <a:lnSpc>
                          <a:spcPct val="107000"/>
                        </a:lnSpc>
                        <a:spcAft>
                          <a:spcPts val="800"/>
                        </a:spcAft>
                      </a:pPr>
                      <a:r>
                        <a:rPr lang="en-IN" sz="1300" b="1" kern="1200">
                          <a:solidFill>
                            <a:schemeClr val="tx1"/>
                          </a:solidFill>
                          <a:effectLst/>
                          <a:latin typeface="Time Roman" pitchFamily="2" charset="0"/>
                        </a:rPr>
                        <a:t> </a:t>
                      </a:r>
                      <a:endParaRPr lang="en-IN" sz="1100" b="1">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b"/>
                </a:tc>
                <a:tc>
                  <a:txBody>
                    <a:bodyPr/>
                    <a:lstStyle/>
                    <a:p>
                      <a:pPr algn="ctr" fontAlgn="b">
                        <a:lnSpc>
                          <a:spcPct val="107000"/>
                        </a:lnSpc>
                        <a:spcAft>
                          <a:spcPts val="800"/>
                        </a:spcAft>
                      </a:pPr>
                      <a:r>
                        <a:rPr lang="en-IN" sz="1300" b="1" kern="1200" dirty="0">
                          <a:solidFill>
                            <a:schemeClr val="tx1"/>
                          </a:solidFill>
                          <a:effectLst/>
                          <a:latin typeface="Time Roman" pitchFamily="2" charset="0"/>
                        </a:rPr>
                        <a:t>DESCRIPTION</a:t>
                      </a:r>
                      <a:endParaRPr lang="en-IN" sz="1100" b="1" dirty="0">
                        <a:solidFill>
                          <a:schemeClr val="tx1"/>
                        </a:solidFill>
                        <a:effectLst/>
                        <a:latin typeface="Time Roman" pitchFamily="2" charset="0"/>
                      </a:endParaRPr>
                    </a:p>
                    <a:p>
                      <a:pPr algn="ctr" fontAlgn="b">
                        <a:lnSpc>
                          <a:spcPct val="107000"/>
                        </a:lnSpc>
                        <a:spcAft>
                          <a:spcPts val="800"/>
                        </a:spcAft>
                      </a:pPr>
                      <a:r>
                        <a:rPr lang="en-IN" sz="1300" b="1" kern="1200" dirty="0">
                          <a:solidFill>
                            <a:schemeClr val="tx1"/>
                          </a:solidFill>
                          <a:effectLst/>
                          <a:latin typeface="Time Roman" pitchFamily="2" charset="0"/>
                        </a:rPr>
                        <a:t> </a:t>
                      </a:r>
                      <a:endParaRPr lang="en-IN" sz="1100" b="1"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b"/>
                </a:tc>
                <a:extLst>
                  <a:ext uri="{0D108BD9-81ED-4DB2-BD59-A6C34878D82A}">
                    <a16:rowId xmlns="" xmlns:a16="http://schemas.microsoft.com/office/drawing/2014/main" val="3394013785"/>
                  </a:ext>
                </a:extLst>
              </a:tr>
              <a:tr h="576509">
                <a:tc>
                  <a:txBody>
                    <a:bodyPr/>
                    <a:lstStyle/>
                    <a:p>
                      <a:pPr algn="ctr" fontAlgn="base">
                        <a:lnSpc>
                          <a:spcPct val="107000"/>
                        </a:lnSpc>
                        <a:spcAft>
                          <a:spcPts val="800"/>
                        </a:spcAft>
                      </a:pPr>
                      <a:r>
                        <a:rPr lang="en-IN" sz="1300" kern="1200">
                          <a:solidFill>
                            <a:schemeClr val="tx1"/>
                          </a:solidFill>
                          <a:effectLst/>
                          <a:latin typeface="Time Roman" pitchFamily="2" charset="0"/>
                        </a:rPr>
                        <a:t> </a:t>
                      </a:r>
                      <a:endParaRPr lang="en-IN" sz="1100">
                        <a:solidFill>
                          <a:schemeClr val="tx1"/>
                        </a:solidFill>
                        <a:effectLst/>
                        <a:latin typeface="Time Roman" pitchFamily="2" charset="0"/>
                      </a:endParaRPr>
                    </a:p>
                    <a:p>
                      <a:pPr algn="ctr" fontAlgn="base">
                        <a:lnSpc>
                          <a:spcPct val="107000"/>
                        </a:lnSpc>
                        <a:spcAft>
                          <a:spcPts val="800"/>
                        </a:spcAft>
                      </a:pPr>
                      <a:r>
                        <a:rPr lang="en-IN" sz="1300" kern="1200">
                          <a:solidFill>
                            <a:schemeClr val="tx1"/>
                          </a:solidFill>
                          <a:effectLst/>
                          <a:latin typeface="Time Roman" pitchFamily="2" charset="0"/>
                        </a:rPr>
                        <a:t>1</a:t>
                      </a:r>
                      <a:endParaRPr lang="en-IN" sz="110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fontAlgn="base">
                        <a:lnSpc>
                          <a:spcPct val="107000"/>
                        </a:lnSpc>
                        <a:spcAft>
                          <a:spcPts val="800"/>
                        </a:spcAft>
                      </a:pPr>
                      <a:r>
                        <a:rPr lang="en-IN" sz="1300" kern="1200" dirty="0" err="1">
                          <a:solidFill>
                            <a:schemeClr val="tx1"/>
                          </a:solidFill>
                          <a:effectLst/>
                          <a:latin typeface="Time Roman" pitchFamily="2" charset="0"/>
                        </a:rPr>
                        <a:t>User_id</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r>
                        <a:rPr lang="en-IN" sz="1300" kern="1200" dirty="0">
                          <a:solidFill>
                            <a:schemeClr val="tx1"/>
                          </a:solidFill>
                          <a:effectLst/>
                          <a:latin typeface="Time Roman" pitchFamily="2" charset="0"/>
                        </a:rPr>
                        <a:t>Int</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r>
                        <a:rPr lang="en-IN" sz="1300" kern="1200">
                          <a:solidFill>
                            <a:schemeClr val="tx1"/>
                          </a:solidFill>
                          <a:effectLst/>
                          <a:latin typeface="Time Roman" pitchFamily="2" charset="0"/>
                        </a:rPr>
                        <a:t> </a:t>
                      </a:r>
                      <a:endParaRPr lang="en-IN" sz="1100">
                        <a:solidFill>
                          <a:schemeClr val="tx1"/>
                        </a:solidFill>
                        <a:effectLst/>
                        <a:latin typeface="Time Roman" pitchFamily="2" charset="0"/>
                      </a:endParaRPr>
                    </a:p>
                    <a:p>
                      <a:pPr algn="ctr" fontAlgn="base">
                        <a:lnSpc>
                          <a:spcPct val="107000"/>
                        </a:lnSpc>
                        <a:spcAft>
                          <a:spcPts val="800"/>
                        </a:spcAft>
                      </a:pPr>
                      <a:r>
                        <a:rPr lang="en-IN" sz="1300" kern="1200">
                          <a:solidFill>
                            <a:schemeClr val="tx1"/>
                          </a:solidFill>
                          <a:effectLst/>
                          <a:latin typeface="Time Roman" pitchFamily="2" charset="0"/>
                        </a:rPr>
                        <a:t>10</a:t>
                      </a:r>
                      <a:endParaRPr lang="en-IN" sz="110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fontAlgn="base">
                        <a:lnSpc>
                          <a:spcPct val="107000"/>
                        </a:lnSpc>
                        <a:spcAft>
                          <a:spcPts val="800"/>
                        </a:spcAft>
                      </a:pPr>
                      <a:r>
                        <a:rPr lang="en-IN" sz="1300" kern="1200">
                          <a:solidFill>
                            <a:schemeClr val="tx1"/>
                          </a:solidFill>
                          <a:effectLst/>
                          <a:latin typeface="Time Roman" pitchFamily="2" charset="0"/>
                        </a:rPr>
                        <a:t>Primary key</a:t>
                      </a:r>
                      <a:endParaRPr lang="en-IN" sz="110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r>
                        <a:rPr lang="en-IN" sz="1300" kern="1200" dirty="0">
                          <a:solidFill>
                            <a:schemeClr val="tx1"/>
                          </a:solidFill>
                          <a:effectLst/>
                          <a:latin typeface="Time Roman" pitchFamily="2" charset="0"/>
                        </a:rPr>
                        <a:t>Unique identifier for each user</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extLst>
                  <a:ext uri="{0D108BD9-81ED-4DB2-BD59-A6C34878D82A}">
                    <a16:rowId xmlns="" xmlns:a16="http://schemas.microsoft.com/office/drawing/2014/main" val="2538554340"/>
                  </a:ext>
                </a:extLst>
              </a:tr>
              <a:tr h="650035">
                <a:tc>
                  <a:txBody>
                    <a:bodyPr/>
                    <a:lstStyle/>
                    <a:p>
                      <a:pPr algn="ctr" fontAlgn="base">
                        <a:lnSpc>
                          <a:spcPct val="107000"/>
                        </a:lnSpc>
                        <a:spcAft>
                          <a:spcPts val="800"/>
                        </a:spcAft>
                      </a:pPr>
                      <a:r>
                        <a:rPr lang="en-IN" sz="1300" kern="1200">
                          <a:solidFill>
                            <a:schemeClr val="tx1"/>
                          </a:solidFill>
                          <a:effectLst/>
                          <a:latin typeface="Time Roman" pitchFamily="2" charset="0"/>
                        </a:rPr>
                        <a:t> </a:t>
                      </a:r>
                      <a:endParaRPr lang="en-IN" sz="1100">
                        <a:solidFill>
                          <a:schemeClr val="tx1"/>
                        </a:solidFill>
                        <a:effectLst/>
                        <a:latin typeface="Time Roman" pitchFamily="2" charset="0"/>
                      </a:endParaRPr>
                    </a:p>
                    <a:p>
                      <a:pPr algn="ctr" fontAlgn="base">
                        <a:lnSpc>
                          <a:spcPct val="107000"/>
                        </a:lnSpc>
                        <a:spcAft>
                          <a:spcPts val="800"/>
                        </a:spcAft>
                      </a:pPr>
                      <a:r>
                        <a:rPr lang="en-IN" sz="1300" kern="1200">
                          <a:solidFill>
                            <a:schemeClr val="tx1"/>
                          </a:solidFill>
                          <a:effectLst/>
                          <a:latin typeface="Time Roman" pitchFamily="2" charset="0"/>
                        </a:rPr>
                        <a:t>2</a:t>
                      </a:r>
                      <a:endParaRPr lang="en-IN" sz="110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fontAlgn="base">
                        <a:lnSpc>
                          <a:spcPct val="107000"/>
                        </a:lnSpc>
                        <a:spcAft>
                          <a:spcPts val="800"/>
                        </a:spcAft>
                      </a:pPr>
                      <a:r>
                        <a:rPr lang="en-IN" sz="1300" kern="1200">
                          <a:solidFill>
                            <a:schemeClr val="tx1"/>
                          </a:solidFill>
                          <a:effectLst/>
                          <a:latin typeface="Time Roman" pitchFamily="2" charset="0"/>
                        </a:rPr>
                        <a:t>Username</a:t>
                      </a:r>
                      <a:endParaRPr lang="en-IN" sz="110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r>
                        <a:rPr lang="en-IN" sz="1300" kern="1200" dirty="0">
                          <a:solidFill>
                            <a:schemeClr val="tx1"/>
                          </a:solidFill>
                          <a:effectLst/>
                          <a:latin typeface="Time Roman" pitchFamily="2" charset="0"/>
                        </a:rPr>
                        <a:t>Varchar</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r>
                        <a:rPr lang="en-IN" sz="1300" kern="1200" dirty="0">
                          <a:solidFill>
                            <a:schemeClr val="tx1"/>
                          </a:solidFill>
                          <a:effectLst/>
                          <a:latin typeface="Time Roman" pitchFamily="2" charset="0"/>
                        </a:rPr>
                        <a:t> </a:t>
                      </a:r>
                      <a:endParaRPr lang="en-IN" sz="1100" dirty="0">
                        <a:solidFill>
                          <a:schemeClr val="tx1"/>
                        </a:solidFill>
                        <a:effectLst/>
                        <a:latin typeface="Time Roman" pitchFamily="2" charset="0"/>
                      </a:endParaRPr>
                    </a:p>
                    <a:p>
                      <a:pPr algn="ctr" fontAlgn="base">
                        <a:lnSpc>
                          <a:spcPct val="107000"/>
                        </a:lnSpc>
                        <a:spcAft>
                          <a:spcPts val="800"/>
                        </a:spcAft>
                      </a:pPr>
                      <a:r>
                        <a:rPr lang="en-IN" sz="1300" kern="1200" dirty="0">
                          <a:solidFill>
                            <a:schemeClr val="tx1"/>
                          </a:solidFill>
                          <a:effectLst/>
                          <a:latin typeface="Time Roman" pitchFamily="2" charset="0"/>
                        </a:rPr>
                        <a:t>20</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fontAlgn="base">
                        <a:lnSpc>
                          <a:spcPct val="107000"/>
                        </a:lnSpc>
                        <a:spcAft>
                          <a:spcPts val="800"/>
                        </a:spcAft>
                      </a:pPr>
                      <a:r>
                        <a:rPr lang="en-IN" sz="1300" kern="1200" dirty="0">
                          <a:solidFill>
                            <a:schemeClr val="tx1"/>
                          </a:solidFill>
                          <a:effectLst/>
                          <a:latin typeface="Time Roman" pitchFamily="2" charset="0"/>
                        </a:rPr>
                        <a:t>UNIQUE</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r>
                        <a:rPr lang="en-IN" sz="1300" kern="1200" dirty="0">
                          <a:solidFill>
                            <a:schemeClr val="tx1"/>
                          </a:solidFill>
                          <a:effectLst/>
                          <a:latin typeface="Time Roman" pitchFamily="2" charset="0"/>
                        </a:rPr>
                        <a:t>User's username for login</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extLst>
                  <a:ext uri="{0D108BD9-81ED-4DB2-BD59-A6C34878D82A}">
                    <a16:rowId xmlns="" xmlns:a16="http://schemas.microsoft.com/office/drawing/2014/main" val="707759503"/>
                  </a:ext>
                </a:extLst>
              </a:tr>
              <a:tr h="643908">
                <a:tc>
                  <a:txBody>
                    <a:bodyPr/>
                    <a:lstStyle/>
                    <a:p>
                      <a:pPr algn="ctr" fontAlgn="base">
                        <a:lnSpc>
                          <a:spcPct val="107000"/>
                        </a:lnSpc>
                        <a:spcAft>
                          <a:spcPts val="800"/>
                        </a:spcAft>
                      </a:pPr>
                      <a:r>
                        <a:rPr lang="en-IN" sz="1300" kern="1200">
                          <a:solidFill>
                            <a:schemeClr val="tx1"/>
                          </a:solidFill>
                          <a:effectLst/>
                          <a:latin typeface="Time Roman" pitchFamily="2" charset="0"/>
                        </a:rPr>
                        <a:t> </a:t>
                      </a:r>
                      <a:endParaRPr lang="en-IN" sz="1100">
                        <a:solidFill>
                          <a:schemeClr val="tx1"/>
                        </a:solidFill>
                        <a:effectLst/>
                        <a:latin typeface="Time Roman" pitchFamily="2" charset="0"/>
                      </a:endParaRPr>
                    </a:p>
                    <a:p>
                      <a:pPr algn="ctr" fontAlgn="base">
                        <a:lnSpc>
                          <a:spcPct val="107000"/>
                        </a:lnSpc>
                        <a:spcAft>
                          <a:spcPts val="800"/>
                        </a:spcAft>
                      </a:pPr>
                      <a:r>
                        <a:rPr lang="en-IN" sz="1300" kern="1200">
                          <a:solidFill>
                            <a:schemeClr val="tx1"/>
                          </a:solidFill>
                          <a:effectLst/>
                          <a:latin typeface="Time Roman" pitchFamily="2" charset="0"/>
                        </a:rPr>
                        <a:t>3</a:t>
                      </a:r>
                      <a:endParaRPr lang="en-IN" sz="110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fontAlgn="base">
                        <a:lnSpc>
                          <a:spcPct val="107000"/>
                        </a:lnSpc>
                        <a:spcAft>
                          <a:spcPts val="800"/>
                        </a:spcAft>
                      </a:pPr>
                      <a:r>
                        <a:rPr lang="en-IN" sz="1300" kern="1200">
                          <a:solidFill>
                            <a:schemeClr val="tx1"/>
                          </a:solidFill>
                          <a:effectLst/>
                          <a:latin typeface="Time Roman" pitchFamily="2" charset="0"/>
                        </a:rPr>
                        <a:t>Password</a:t>
                      </a:r>
                      <a:endParaRPr lang="en-IN" sz="110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r>
                        <a:rPr lang="en-IN" sz="1300" kern="1200">
                          <a:solidFill>
                            <a:schemeClr val="tx1"/>
                          </a:solidFill>
                          <a:effectLst/>
                          <a:latin typeface="Time Roman" pitchFamily="2" charset="0"/>
                        </a:rPr>
                        <a:t>Varchar</a:t>
                      </a:r>
                      <a:endParaRPr lang="en-IN" sz="110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a:lnSpc>
                          <a:spcPct val="107000"/>
                        </a:lnSpc>
                        <a:spcAft>
                          <a:spcPts val="800"/>
                        </a:spcAft>
                      </a:pPr>
                      <a:r>
                        <a:rPr lang="en-IN" sz="1300" dirty="0">
                          <a:solidFill>
                            <a:schemeClr val="tx1"/>
                          </a:solidFill>
                          <a:effectLst/>
                          <a:latin typeface="Time Roman" pitchFamily="2" charset="0"/>
                        </a:rPr>
                        <a:t> </a:t>
                      </a:r>
                      <a:endParaRPr lang="en-IN" sz="1100" dirty="0">
                        <a:solidFill>
                          <a:schemeClr val="tx1"/>
                        </a:solidFill>
                        <a:effectLst/>
                        <a:latin typeface="Time Roman" pitchFamily="2" charset="0"/>
                      </a:endParaRPr>
                    </a:p>
                    <a:p>
                      <a:pPr algn="ctr">
                        <a:lnSpc>
                          <a:spcPct val="107000"/>
                        </a:lnSpc>
                        <a:spcAft>
                          <a:spcPts val="800"/>
                        </a:spcAft>
                      </a:pPr>
                      <a:r>
                        <a:rPr lang="en-IN" sz="1300" dirty="0">
                          <a:solidFill>
                            <a:schemeClr val="tx1"/>
                          </a:solidFill>
                          <a:effectLst/>
                          <a:latin typeface="Time Roman" pitchFamily="2" charset="0"/>
                        </a:rPr>
                        <a:t>20</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a:lnSpc>
                          <a:spcPct val="107000"/>
                        </a:lnSpc>
                        <a:spcAft>
                          <a:spcPts val="800"/>
                        </a:spcAft>
                      </a:pPr>
                      <a:r>
                        <a:rPr lang="en-IN" sz="1300">
                          <a:solidFill>
                            <a:schemeClr val="tx1"/>
                          </a:solidFill>
                          <a:effectLst/>
                          <a:latin typeface="Time Roman" pitchFamily="2" charset="0"/>
                        </a:rPr>
                        <a:t>Not null</a:t>
                      </a:r>
                      <a:endParaRPr lang="en-IN" sz="110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r>
                        <a:rPr lang="en-IN" sz="1300" kern="1200" dirty="0">
                          <a:solidFill>
                            <a:schemeClr val="tx1"/>
                          </a:solidFill>
                          <a:effectLst/>
                          <a:latin typeface="Time Roman" pitchFamily="2" charset="0"/>
                        </a:rPr>
                        <a:t>Hashed password for authentication</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extLst>
                  <a:ext uri="{0D108BD9-81ED-4DB2-BD59-A6C34878D82A}">
                    <a16:rowId xmlns="" xmlns:a16="http://schemas.microsoft.com/office/drawing/2014/main" val="2857421491"/>
                  </a:ext>
                </a:extLst>
              </a:tr>
              <a:tr h="546987">
                <a:tc>
                  <a:txBody>
                    <a:bodyPr/>
                    <a:lstStyle/>
                    <a:p>
                      <a:pPr algn="ctr" fontAlgn="base">
                        <a:lnSpc>
                          <a:spcPct val="107000"/>
                        </a:lnSpc>
                        <a:spcAft>
                          <a:spcPts val="800"/>
                        </a:spcAft>
                      </a:pPr>
                      <a:r>
                        <a:rPr lang="en-IN" sz="1300" kern="1200">
                          <a:solidFill>
                            <a:schemeClr val="tx1"/>
                          </a:solidFill>
                          <a:effectLst/>
                          <a:latin typeface="Time Roman" pitchFamily="2" charset="0"/>
                        </a:rPr>
                        <a:t> </a:t>
                      </a:r>
                      <a:endParaRPr lang="en-IN" sz="1100">
                        <a:solidFill>
                          <a:schemeClr val="tx1"/>
                        </a:solidFill>
                        <a:effectLst/>
                        <a:latin typeface="Time Roman" pitchFamily="2" charset="0"/>
                      </a:endParaRPr>
                    </a:p>
                    <a:p>
                      <a:pPr algn="ctr" fontAlgn="base">
                        <a:lnSpc>
                          <a:spcPct val="107000"/>
                        </a:lnSpc>
                        <a:spcAft>
                          <a:spcPts val="800"/>
                        </a:spcAft>
                      </a:pPr>
                      <a:r>
                        <a:rPr lang="en-IN" sz="1300" kern="1200">
                          <a:solidFill>
                            <a:schemeClr val="tx1"/>
                          </a:solidFill>
                          <a:effectLst/>
                          <a:latin typeface="Time Roman" pitchFamily="2" charset="0"/>
                        </a:rPr>
                        <a:t>4</a:t>
                      </a:r>
                      <a:endParaRPr lang="en-IN" sz="110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fontAlgn="base">
                        <a:lnSpc>
                          <a:spcPct val="107000"/>
                        </a:lnSpc>
                        <a:spcAft>
                          <a:spcPts val="800"/>
                        </a:spcAft>
                      </a:pPr>
                      <a:r>
                        <a:rPr lang="en-IN" sz="1300" kern="1200">
                          <a:solidFill>
                            <a:schemeClr val="tx1"/>
                          </a:solidFill>
                          <a:effectLst/>
                          <a:latin typeface="Time Roman" pitchFamily="2" charset="0"/>
                        </a:rPr>
                        <a:t>Email</a:t>
                      </a:r>
                      <a:endParaRPr lang="en-IN" sz="110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r>
                        <a:rPr lang="en-IN" sz="1300" kern="1200">
                          <a:solidFill>
                            <a:schemeClr val="tx1"/>
                          </a:solidFill>
                          <a:effectLst/>
                          <a:latin typeface="Time Roman" pitchFamily="2" charset="0"/>
                        </a:rPr>
                        <a:t>Varchar</a:t>
                      </a:r>
                      <a:endParaRPr lang="en-IN" sz="110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r>
                        <a:rPr lang="en-IN" sz="1300" kern="1200">
                          <a:solidFill>
                            <a:schemeClr val="tx1"/>
                          </a:solidFill>
                          <a:effectLst/>
                          <a:latin typeface="Time Roman" pitchFamily="2" charset="0"/>
                        </a:rPr>
                        <a:t> </a:t>
                      </a:r>
                      <a:endParaRPr lang="en-IN" sz="1100">
                        <a:solidFill>
                          <a:schemeClr val="tx1"/>
                        </a:solidFill>
                        <a:effectLst/>
                        <a:latin typeface="Time Roman" pitchFamily="2" charset="0"/>
                      </a:endParaRPr>
                    </a:p>
                    <a:p>
                      <a:pPr algn="ctr" fontAlgn="base">
                        <a:lnSpc>
                          <a:spcPct val="107000"/>
                        </a:lnSpc>
                        <a:spcAft>
                          <a:spcPts val="800"/>
                        </a:spcAft>
                      </a:pPr>
                      <a:r>
                        <a:rPr lang="en-IN" sz="1300" kern="1200">
                          <a:solidFill>
                            <a:schemeClr val="tx1"/>
                          </a:solidFill>
                          <a:effectLst/>
                          <a:latin typeface="Time Roman" pitchFamily="2" charset="0"/>
                        </a:rPr>
                        <a:t>30</a:t>
                      </a:r>
                      <a:endParaRPr lang="en-IN" sz="110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fontAlgn="base">
                        <a:lnSpc>
                          <a:spcPct val="107000"/>
                        </a:lnSpc>
                        <a:spcAft>
                          <a:spcPts val="800"/>
                        </a:spcAft>
                      </a:pPr>
                      <a:r>
                        <a:rPr lang="en-IN" sz="1300" kern="1200" dirty="0">
                          <a:solidFill>
                            <a:schemeClr val="tx1"/>
                          </a:solidFill>
                          <a:effectLst/>
                          <a:latin typeface="Time Roman" pitchFamily="2" charset="0"/>
                        </a:rPr>
                        <a:t>Unique</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r>
                        <a:rPr lang="en-IN" sz="1300" kern="1200" dirty="0">
                          <a:solidFill>
                            <a:schemeClr val="tx1"/>
                          </a:solidFill>
                          <a:effectLst/>
                          <a:latin typeface="Time Roman" pitchFamily="2" charset="0"/>
                        </a:rPr>
                        <a:t>User's email address</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extLst>
                  <a:ext uri="{0D108BD9-81ED-4DB2-BD59-A6C34878D82A}">
                    <a16:rowId xmlns="" xmlns:a16="http://schemas.microsoft.com/office/drawing/2014/main" val="1360029502"/>
                  </a:ext>
                </a:extLst>
              </a:tr>
              <a:tr h="672872">
                <a:tc>
                  <a:txBody>
                    <a:bodyPr/>
                    <a:lstStyle/>
                    <a:p>
                      <a:pPr algn="ctr" fontAlgn="base">
                        <a:lnSpc>
                          <a:spcPct val="107000"/>
                        </a:lnSpc>
                        <a:spcAft>
                          <a:spcPts val="800"/>
                        </a:spcAft>
                      </a:pPr>
                      <a:r>
                        <a:rPr lang="en-IN" sz="1300" kern="1200">
                          <a:solidFill>
                            <a:schemeClr val="tx1"/>
                          </a:solidFill>
                          <a:effectLst/>
                          <a:latin typeface="Time Roman" pitchFamily="2" charset="0"/>
                        </a:rPr>
                        <a:t> </a:t>
                      </a:r>
                      <a:endParaRPr lang="en-IN" sz="1100">
                        <a:solidFill>
                          <a:schemeClr val="tx1"/>
                        </a:solidFill>
                        <a:effectLst/>
                        <a:latin typeface="Time Roman" pitchFamily="2" charset="0"/>
                      </a:endParaRPr>
                    </a:p>
                    <a:p>
                      <a:pPr algn="ctr" fontAlgn="base">
                        <a:lnSpc>
                          <a:spcPct val="107000"/>
                        </a:lnSpc>
                        <a:spcAft>
                          <a:spcPts val="800"/>
                        </a:spcAft>
                      </a:pPr>
                      <a:r>
                        <a:rPr lang="en-IN" sz="1300" kern="1200">
                          <a:solidFill>
                            <a:schemeClr val="tx1"/>
                          </a:solidFill>
                          <a:effectLst/>
                          <a:latin typeface="Time Roman" pitchFamily="2" charset="0"/>
                        </a:rPr>
                        <a:t>5</a:t>
                      </a:r>
                      <a:endParaRPr lang="en-IN" sz="110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fontAlgn="base">
                        <a:lnSpc>
                          <a:spcPct val="107000"/>
                        </a:lnSpc>
                        <a:spcAft>
                          <a:spcPts val="800"/>
                        </a:spcAft>
                      </a:pPr>
                      <a:r>
                        <a:rPr lang="en-IN" sz="1300" kern="1200">
                          <a:solidFill>
                            <a:schemeClr val="tx1"/>
                          </a:solidFill>
                          <a:effectLst/>
                          <a:latin typeface="Time Roman" pitchFamily="2" charset="0"/>
                        </a:rPr>
                        <a:t>Role</a:t>
                      </a:r>
                      <a:endParaRPr lang="en-IN" sz="110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r>
                        <a:rPr lang="en-IN" sz="1300" kern="1200" dirty="0">
                          <a:solidFill>
                            <a:schemeClr val="tx1"/>
                          </a:solidFill>
                          <a:effectLst/>
                          <a:latin typeface="Time Roman" pitchFamily="2" charset="0"/>
                        </a:rPr>
                        <a:t>Varchar</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a:lnSpc>
                          <a:spcPct val="107000"/>
                        </a:lnSpc>
                        <a:spcAft>
                          <a:spcPts val="800"/>
                        </a:spcAft>
                      </a:pPr>
                      <a:r>
                        <a:rPr lang="en-IN" sz="1300">
                          <a:solidFill>
                            <a:schemeClr val="tx1"/>
                          </a:solidFill>
                          <a:effectLst/>
                          <a:latin typeface="Time Roman" pitchFamily="2" charset="0"/>
                        </a:rPr>
                        <a:t> </a:t>
                      </a:r>
                      <a:endParaRPr lang="en-IN" sz="1100">
                        <a:solidFill>
                          <a:schemeClr val="tx1"/>
                        </a:solidFill>
                        <a:effectLst/>
                        <a:latin typeface="Time Roman" pitchFamily="2" charset="0"/>
                      </a:endParaRPr>
                    </a:p>
                    <a:p>
                      <a:pPr algn="ctr">
                        <a:lnSpc>
                          <a:spcPct val="107000"/>
                        </a:lnSpc>
                        <a:spcAft>
                          <a:spcPts val="800"/>
                        </a:spcAft>
                      </a:pPr>
                      <a:r>
                        <a:rPr lang="en-IN" sz="1300">
                          <a:solidFill>
                            <a:schemeClr val="tx1"/>
                          </a:solidFill>
                          <a:effectLst/>
                          <a:latin typeface="Time Roman" pitchFamily="2" charset="0"/>
                        </a:rPr>
                        <a:t>30</a:t>
                      </a:r>
                      <a:endParaRPr lang="en-IN" sz="110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a:lnSpc>
                          <a:spcPct val="107000"/>
                        </a:lnSpc>
                        <a:spcAft>
                          <a:spcPts val="800"/>
                        </a:spcAft>
                      </a:pPr>
                      <a:r>
                        <a:rPr lang="en-IN" sz="1300">
                          <a:solidFill>
                            <a:schemeClr val="tx1"/>
                          </a:solidFill>
                          <a:effectLst/>
                          <a:latin typeface="Time Roman" pitchFamily="2" charset="0"/>
                        </a:rPr>
                        <a:t>Not null</a:t>
                      </a:r>
                      <a:endParaRPr lang="en-IN" sz="110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r>
                        <a:rPr lang="en-IN" sz="1300" kern="1200" dirty="0">
                          <a:solidFill>
                            <a:schemeClr val="tx1"/>
                          </a:solidFill>
                          <a:effectLst/>
                          <a:latin typeface="Time Roman" pitchFamily="2" charset="0"/>
                        </a:rPr>
                        <a:t>Role of the user (e.g., voter, admin)</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extLst>
                  <a:ext uri="{0D108BD9-81ED-4DB2-BD59-A6C34878D82A}">
                    <a16:rowId xmlns="" xmlns:a16="http://schemas.microsoft.com/office/drawing/2014/main" val="2949048478"/>
                  </a:ext>
                </a:extLst>
              </a:tr>
            </a:tbl>
          </a:graphicData>
        </a:graphic>
      </p:graphicFrame>
    </p:spTree>
    <p:extLst>
      <p:ext uri="{BB962C8B-B14F-4D97-AF65-F5344CB8AC3E}">
        <p14:creationId xmlns:p14="http://schemas.microsoft.com/office/powerpoint/2010/main" val="17584784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lowchart: Delay 9"/>
          <p:cNvSpPr/>
          <p:nvPr/>
        </p:nvSpPr>
        <p:spPr>
          <a:xfrm>
            <a:off x="762000" y="6429396"/>
            <a:ext cx="8354457" cy="428604"/>
          </a:xfrm>
          <a:prstGeom prst="flowChartDelay">
            <a:avLst/>
          </a:prstGeom>
          <a:solidFill>
            <a:srgbClr val="00B0F0"/>
          </a:solidFill>
          <a:ln>
            <a:solidFill>
              <a:srgbClr val="00B0F0"/>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rPr>
              <a:t>Anna University, Chennai</a:t>
            </a:r>
            <a:endParaRPr lang="en-US"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endParaRPr>
          </a:p>
        </p:txBody>
      </p:sp>
      <p:sp>
        <p:nvSpPr>
          <p:cNvPr id="8" name="AutoShape 6" descr="Anna University - Wikipedia"/>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8" descr="Anna University - Wikipedia"/>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10" descr="Anna University - Wikipedia"/>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12" descr="Anna University - Wikipedia"/>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AutoShape 14" descr="Anna University - Wikipedia"/>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AutoShape 16" descr="Anna University - Wikipedia"/>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AutoShape 18" descr="Anna University - Wikipedia"/>
          <p:cNvSpPr>
            <a:spLocks noChangeAspect="1" noChangeArrowheads="1"/>
          </p:cNvSpPr>
          <p:nvPr/>
        </p:nvSpPr>
        <p:spPr bwMode="auto">
          <a:xfrm>
            <a:off x="1069975" y="769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AutoShape 20" descr="Anna University - Wikipedia"/>
          <p:cNvSpPr>
            <a:spLocks noChangeAspect="1" noChangeArrowheads="1"/>
          </p:cNvSpPr>
          <p:nvPr/>
        </p:nvSpPr>
        <p:spPr bwMode="auto">
          <a:xfrm>
            <a:off x="1222375" y="922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AutoShape 22" descr="Anna University - Wikipedia"/>
          <p:cNvSpPr>
            <a:spLocks noChangeAspect="1" noChangeArrowheads="1"/>
          </p:cNvSpPr>
          <p:nvPr/>
        </p:nvSpPr>
        <p:spPr bwMode="auto">
          <a:xfrm>
            <a:off x="1374775" y="1074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AutoShape 24" descr="Anna University - Wikipedia"/>
          <p:cNvSpPr>
            <a:spLocks noChangeAspect="1" noChangeArrowheads="1"/>
          </p:cNvSpPr>
          <p:nvPr/>
        </p:nvSpPr>
        <p:spPr bwMode="auto">
          <a:xfrm>
            <a:off x="1527175" y="1227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50" name="Picture 26" descr="undefine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051" y="6186522"/>
            <a:ext cx="675701" cy="67147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0297" y="111853"/>
            <a:ext cx="9083406" cy="6263253"/>
          </a:xfrm>
          <a:prstGeom prst="rect">
            <a:avLst/>
          </a:prstGeom>
        </p:spPr>
        <p:txBody>
          <a:bodyPr wrap="square">
            <a:spAutoFit/>
          </a:bodyPr>
          <a:lstStyle/>
          <a:p>
            <a:pPr algn="ctr"/>
            <a:r>
              <a:rPr lang="en-US" sz="2400" b="1" dirty="0" smtClean="0">
                <a:latin typeface="Times New Roman" pitchFamily="18" charset="0"/>
                <a:cs typeface="Times New Roman" pitchFamily="18" charset="0"/>
              </a:rPr>
              <a:t>DATABASE </a:t>
            </a:r>
            <a:r>
              <a:rPr lang="en-US" sz="2400" b="1" dirty="0">
                <a:latin typeface="Times New Roman" pitchFamily="18" charset="0"/>
                <a:cs typeface="Times New Roman" pitchFamily="18" charset="0"/>
              </a:rPr>
              <a:t>DESCRIPTION</a:t>
            </a:r>
          </a:p>
          <a:p>
            <a:pPr algn="ctr"/>
            <a:endParaRPr lang="en-US" sz="2300" b="1" dirty="0">
              <a:latin typeface="Times New Roman" pitchFamily="18" charset="0"/>
              <a:cs typeface="Times New Roman" pitchFamily="18" charset="0"/>
            </a:endParaRPr>
          </a:p>
          <a:p>
            <a:pPr algn="ctr"/>
            <a:r>
              <a:rPr lang="en-US" sz="2400" b="1" dirty="0">
                <a:solidFill>
                  <a:srgbClr val="000000"/>
                </a:solidFill>
                <a:effectLst/>
                <a:latin typeface="Times New Roman" panose="02020603050405020304" pitchFamily="18" charset="0"/>
                <a:ea typeface="Times New Roman" panose="02020603050405020304" pitchFamily="18" charset="0"/>
              </a:rPr>
              <a:t>Online Voting System Web Application in Python</a:t>
            </a:r>
            <a:endParaRPr lang="en-US" sz="24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pPr algn="ctr"/>
            <a:endParaRPr lang="en-US" dirty="0">
              <a:latin typeface="Times New Roman" pitchFamily="18" charset="0"/>
              <a:cs typeface="Times New Roman" pitchFamily="18" charset="0"/>
            </a:endParaRPr>
          </a:p>
          <a:p>
            <a:pPr algn="ctr"/>
            <a:endParaRPr lang="en-US" dirty="0">
              <a:latin typeface="Times New Roman" pitchFamily="18" charset="0"/>
              <a:cs typeface="Times New Roman" pitchFamily="18" charset="0"/>
            </a:endParaRPr>
          </a:p>
          <a:p>
            <a:pPr algn="ctr"/>
            <a:r>
              <a:rPr lang="en-US" dirty="0">
                <a:latin typeface="Times New Roman" pitchFamily="18" charset="0"/>
                <a:cs typeface="Times New Roman" pitchFamily="18" charset="0"/>
              </a:rPr>
              <a:t>Table No: 2. </a:t>
            </a:r>
            <a:r>
              <a:rPr lang="en-IN" sz="1800" dirty="0">
                <a:effectLst/>
                <a:latin typeface="Times New Roman" panose="02020603050405020304" pitchFamily="18" charset="0"/>
                <a:ea typeface="Times New Roman" panose="02020603050405020304" pitchFamily="18" charset="0"/>
              </a:rPr>
              <a:t>Election</a:t>
            </a:r>
            <a:endParaRPr lang="en-US" sz="2300" b="1" dirty="0">
              <a:latin typeface="Times New Roman" pitchFamily="18" charset="0"/>
              <a:cs typeface="Times New Roman" pitchFamily="18" charset="0"/>
            </a:endParaRPr>
          </a:p>
        </p:txBody>
      </p:sp>
      <p:graphicFrame>
        <p:nvGraphicFramePr>
          <p:cNvPr id="2" name="Table 1">
            <a:extLst>
              <a:ext uri="{FF2B5EF4-FFF2-40B4-BE49-F238E27FC236}">
                <a16:creationId xmlns="" xmlns:a16="http://schemas.microsoft.com/office/drawing/2014/main" id="{2680147B-08A5-7E7F-005D-D732671817B8}"/>
              </a:ext>
            </a:extLst>
          </p:cNvPr>
          <p:cNvGraphicFramePr>
            <a:graphicFrameLocks noGrp="1"/>
          </p:cNvGraphicFramePr>
          <p:nvPr>
            <p:extLst>
              <p:ext uri="{D42A27DB-BD31-4B8C-83A1-F6EECF244321}">
                <p14:modId xmlns:p14="http://schemas.microsoft.com/office/powerpoint/2010/main" val="4219226750"/>
              </p:ext>
            </p:extLst>
          </p:nvPr>
        </p:nvGraphicFramePr>
        <p:xfrm>
          <a:off x="307975" y="1297526"/>
          <a:ext cx="8354458" cy="4443969"/>
        </p:xfrm>
        <a:graphic>
          <a:graphicData uri="http://schemas.openxmlformats.org/drawingml/2006/table">
            <a:tbl>
              <a:tblPr>
                <a:tableStyleId>{616DA210-FB5B-4158-B5E0-FEB733F419BA}</a:tableStyleId>
              </a:tblPr>
              <a:tblGrid>
                <a:gridCol w="987425">
                  <a:extLst>
                    <a:ext uri="{9D8B030D-6E8A-4147-A177-3AD203B41FA5}">
                      <a16:colId xmlns="" xmlns:a16="http://schemas.microsoft.com/office/drawing/2014/main" val="147995925"/>
                    </a:ext>
                  </a:extLst>
                </a:gridCol>
                <a:gridCol w="1447800">
                  <a:extLst>
                    <a:ext uri="{9D8B030D-6E8A-4147-A177-3AD203B41FA5}">
                      <a16:colId xmlns="" xmlns:a16="http://schemas.microsoft.com/office/drawing/2014/main" val="2554651222"/>
                    </a:ext>
                  </a:extLst>
                </a:gridCol>
                <a:gridCol w="1447800">
                  <a:extLst>
                    <a:ext uri="{9D8B030D-6E8A-4147-A177-3AD203B41FA5}">
                      <a16:colId xmlns="" xmlns:a16="http://schemas.microsoft.com/office/drawing/2014/main" val="3798395435"/>
                    </a:ext>
                  </a:extLst>
                </a:gridCol>
                <a:gridCol w="1371600">
                  <a:extLst>
                    <a:ext uri="{9D8B030D-6E8A-4147-A177-3AD203B41FA5}">
                      <a16:colId xmlns="" xmlns:a16="http://schemas.microsoft.com/office/drawing/2014/main" val="1050366993"/>
                    </a:ext>
                  </a:extLst>
                </a:gridCol>
                <a:gridCol w="1447800">
                  <a:extLst>
                    <a:ext uri="{9D8B030D-6E8A-4147-A177-3AD203B41FA5}">
                      <a16:colId xmlns="" xmlns:a16="http://schemas.microsoft.com/office/drawing/2014/main" val="1627566207"/>
                    </a:ext>
                  </a:extLst>
                </a:gridCol>
                <a:gridCol w="1652033">
                  <a:extLst>
                    <a:ext uri="{9D8B030D-6E8A-4147-A177-3AD203B41FA5}">
                      <a16:colId xmlns="" xmlns:a16="http://schemas.microsoft.com/office/drawing/2014/main" val="3023756965"/>
                    </a:ext>
                  </a:extLst>
                </a:gridCol>
              </a:tblGrid>
              <a:tr h="808105">
                <a:tc>
                  <a:txBody>
                    <a:bodyPr/>
                    <a:lstStyle/>
                    <a:p>
                      <a:pPr algn="ctr" fontAlgn="b">
                        <a:lnSpc>
                          <a:spcPct val="107000"/>
                        </a:lnSpc>
                        <a:spcAft>
                          <a:spcPts val="800"/>
                        </a:spcAft>
                      </a:pPr>
                      <a:r>
                        <a:rPr lang="en-IN" sz="1300" b="1" kern="1200" dirty="0">
                          <a:effectLst/>
                          <a:latin typeface="Time Roman" pitchFamily="2" charset="0"/>
                        </a:rPr>
                        <a:t> </a:t>
                      </a:r>
                    </a:p>
                    <a:p>
                      <a:pPr algn="ctr" fontAlgn="b">
                        <a:lnSpc>
                          <a:spcPct val="107000"/>
                        </a:lnSpc>
                        <a:spcAft>
                          <a:spcPts val="800"/>
                        </a:spcAft>
                      </a:pPr>
                      <a:r>
                        <a:rPr lang="en-IN" sz="1300" b="1" kern="1200" dirty="0">
                          <a:effectLst/>
                          <a:latin typeface="Time Roman" pitchFamily="2" charset="0"/>
                        </a:rPr>
                        <a:t>S.NO</a:t>
                      </a:r>
                      <a:endParaRPr lang="en-IN" sz="1300" b="1" dirty="0">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fontAlgn="b">
                        <a:lnSpc>
                          <a:spcPct val="107000"/>
                        </a:lnSpc>
                        <a:spcAft>
                          <a:spcPts val="800"/>
                        </a:spcAft>
                      </a:pPr>
                      <a:endParaRPr lang="en-IN" sz="1300" b="1" kern="1200" dirty="0">
                        <a:effectLst/>
                        <a:latin typeface="Time Roman" pitchFamily="2" charset="0"/>
                      </a:endParaRPr>
                    </a:p>
                    <a:p>
                      <a:pPr algn="ctr" fontAlgn="b">
                        <a:lnSpc>
                          <a:spcPct val="107000"/>
                        </a:lnSpc>
                        <a:spcAft>
                          <a:spcPts val="800"/>
                        </a:spcAft>
                      </a:pPr>
                      <a:r>
                        <a:rPr lang="en-IN" sz="1300" b="1" kern="1200" dirty="0">
                          <a:effectLst/>
                          <a:latin typeface="Time Roman" pitchFamily="2" charset="0"/>
                        </a:rPr>
                        <a:t>FILED  NAME</a:t>
                      </a:r>
                      <a:endParaRPr lang="en-IN" sz="1300" b="1" dirty="0">
                        <a:effectLst/>
                        <a:latin typeface="Time Roman" pitchFamily="2" charset="0"/>
                      </a:endParaRPr>
                    </a:p>
                    <a:p>
                      <a:pPr algn="l" fontAlgn="b">
                        <a:lnSpc>
                          <a:spcPct val="107000"/>
                        </a:lnSpc>
                        <a:spcAft>
                          <a:spcPts val="800"/>
                        </a:spcAft>
                      </a:pPr>
                      <a:r>
                        <a:rPr lang="en-IN" sz="1300" b="1" kern="1200" dirty="0">
                          <a:effectLst/>
                          <a:latin typeface="Time Roman" pitchFamily="2" charset="0"/>
                        </a:rPr>
                        <a:t> </a:t>
                      </a:r>
                      <a:endParaRPr lang="en-IN" sz="1300" b="1" dirty="0">
                        <a:effectLst/>
                        <a:latin typeface="Time Roman" pitchFamily="2" charset="0"/>
                        <a:ea typeface="Calibri" panose="020F0502020204030204" pitchFamily="34" charset="0"/>
                        <a:cs typeface="Times New Roman" panose="02020603050405020304" pitchFamily="18" charset="0"/>
                      </a:endParaRPr>
                    </a:p>
                  </a:txBody>
                  <a:tcPr marL="72040" marR="72040" marT="36020" marB="36020" anchor="b"/>
                </a:tc>
                <a:tc>
                  <a:txBody>
                    <a:bodyPr/>
                    <a:lstStyle/>
                    <a:p>
                      <a:pPr algn="ctr" fontAlgn="b">
                        <a:lnSpc>
                          <a:spcPct val="107000"/>
                        </a:lnSpc>
                        <a:spcAft>
                          <a:spcPts val="800"/>
                        </a:spcAft>
                      </a:pPr>
                      <a:r>
                        <a:rPr lang="en-IN" sz="1300" b="1" kern="1200">
                          <a:effectLst/>
                          <a:latin typeface="Time Roman" pitchFamily="2" charset="0"/>
                        </a:rPr>
                        <a:t>DATA TYPE</a:t>
                      </a:r>
                      <a:endParaRPr lang="en-IN" sz="1300" b="1">
                        <a:effectLst/>
                        <a:latin typeface="Time Roman" pitchFamily="2" charset="0"/>
                      </a:endParaRPr>
                    </a:p>
                    <a:p>
                      <a:pPr algn="ctr" fontAlgn="b">
                        <a:lnSpc>
                          <a:spcPct val="107000"/>
                        </a:lnSpc>
                        <a:spcAft>
                          <a:spcPts val="800"/>
                        </a:spcAft>
                      </a:pPr>
                      <a:r>
                        <a:rPr lang="en-IN" sz="1300" b="1" kern="1200">
                          <a:effectLst/>
                          <a:latin typeface="Time Roman" pitchFamily="2" charset="0"/>
                        </a:rPr>
                        <a:t> </a:t>
                      </a:r>
                      <a:endParaRPr lang="en-IN" sz="1300" b="1">
                        <a:effectLst/>
                        <a:latin typeface="Time Roman" pitchFamily="2" charset="0"/>
                        <a:ea typeface="Calibri" panose="020F0502020204030204" pitchFamily="34" charset="0"/>
                        <a:cs typeface="Times New Roman" panose="02020603050405020304" pitchFamily="18" charset="0"/>
                      </a:endParaRPr>
                    </a:p>
                  </a:txBody>
                  <a:tcPr marL="72040" marR="72040" marT="36020" marB="36020" anchor="b"/>
                </a:tc>
                <a:tc>
                  <a:txBody>
                    <a:bodyPr/>
                    <a:lstStyle/>
                    <a:p>
                      <a:pPr algn="ctr" fontAlgn="b">
                        <a:lnSpc>
                          <a:spcPct val="107000"/>
                        </a:lnSpc>
                        <a:spcAft>
                          <a:spcPts val="800"/>
                        </a:spcAft>
                      </a:pPr>
                      <a:r>
                        <a:rPr lang="en-IN" sz="1300" b="1" kern="1200" dirty="0">
                          <a:effectLst/>
                          <a:latin typeface="Time Roman" pitchFamily="2" charset="0"/>
                        </a:rPr>
                        <a:t> </a:t>
                      </a:r>
                      <a:endParaRPr lang="en-IN" sz="1300" b="1" dirty="0">
                        <a:effectLst/>
                        <a:latin typeface="Time Roman" pitchFamily="2" charset="0"/>
                      </a:endParaRPr>
                    </a:p>
                    <a:p>
                      <a:pPr algn="ctr" fontAlgn="b">
                        <a:lnSpc>
                          <a:spcPct val="107000"/>
                        </a:lnSpc>
                        <a:spcAft>
                          <a:spcPts val="800"/>
                        </a:spcAft>
                      </a:pPr>
                      <a:r>
                        <a:rPr lang="en-IN" sz="1300" b="1" kern="1200" dirty="0">
                          <a:effectLst/>
                          <a:latin typeface="Time Roman" pitchFamily="2" charset="0"/>
                        </a:rPr>
                        <a:t>SIZE</a:t>
                      </a:r>
                      <a:endParaRPr lang="en-IN" sz="1300" b="1" dirty="0">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l" fontAlgn="b">
                        <a:lnSpc>
                          <a:spcPct val="107000"/>
                        </a:lnSpc>
                        <a:spcAft>
                          <a:spcPts val="800"/>
                        </a:spcAft>
                      </a:pPr>
                      <a:r>
                        <a:rPr lang="en-IN" sz="1300" b="1" kern="1200" dirty="0">
                          <a:effectLst/>
                          <a:latin typeface="Time Roman" pitchFamily="2" charset="0"/>
                        </a:rPr>
                        <a:t>CONSTRAINTS</a:t>
                      </a:r>
                      <a:endParaRPr lang="en-IN" sz="1300" b="1" dirty="0">
                        <a:effectLst/>
                        <a:latin typeface="Time Roman" pitchFamily="2" charset="0"/>
                      </a:endParaRPr>
                    </a:p>
                    <a:p>
                      <a:pPr algn="ctr" fontAlgn="b">
                        <a:lnSpc>
                          <a:spcPct val="107000"/>
                        </a:lnSpc>
                        <a:spcAft>
                          <a:spcPts val="800"/>
                        </a:spcAft>
                      </a:pPr>
                      <a:r>
                        <a:rPr lang="en-IN" sz="1300" b="1" kern="1200" dirty="0">
                          <a:effectLst/>
                          <a:latin typeface="Time Roman" pitchFamily="2" charset="0"/>
                        </a:rPr>
                        <a:t> </a:t>
                      </a:r>
                      <a:endParaRPr lang="en-IN" sz="1300" b="1" dirty="0">
                        <a:effectLst/>
                        <a:latin typeface="Time Roman" pitchFamily="2" charset="0"/>
                        <a:ea typeface="Calibri" panose="020F0502020204030204" pitchFamily="34" charset="0"/>
                        <a:cs typeface="Times New Roman" panose="02020603050405020304" pitchFamily="18" charset="0"/>
                      </a:endParaRPr>
                    </a:p>
                  </a:txBody>
                  <a:tcPr marL="72040" marR="72040" marT="36020" marB="36020" anchor="b"/>
                </a:tc>
                <a:tc>
                  <a:txBody>
                    <a:bodyPr/>
                    <a:lstStyle/>
                    <a:p>
                      <a:pPr algn="ctr" fontAlgn="b">
                        <a:lnSpc>
                          <a:spcPct val="107000"/>
                        </a:lnSpc>
                        <a:spcAft>
                          <a:spcPts val="800"/>
                        </a:spcAft>
                      </a:pPr>
                      <a:r>
                        <a:rPr lang="en-IN" sz="1300" b="1" kern="1200" dirty="0">
                          <a:effectLst/>
                          <a:latin typeface="Time Roman" pitchFamily="2" charset="0"/>
                        </a:rPr>
                        <a:t>DESCRIPTION</a:t>
                      </a:r>
                      <a:endParaRPr lang="en-IN" sz="1300" b="1" dirty="0">
                        <a:effectLst/>
                        <a:latin typeface="Time Roman" pitchFamily="2" charset="0"/>
                      </a:endParaRPr>
                    </a:p>
                    <a:p>
                      <a:pPr algn="ctr" fontAlgn="b">
                        <a:lnSpc>
                          <a:spcPct val="107000"/>
                        </a:lnSpc>
                        <a:spcAft>
                          <a:spcPts val="800"/>
                        </a:spcAft>
                      </a:pPr>
                      <a:r>
                        <a:rPr lang="en-IN" sz="1300" b="1" kern="1200" dirty="0">
                          <a:effectLst/>
                          <a:latin typeface="Time Roman" pitchFamily="2" charset="0"/>
                        </a:rPr>
                        <a:t> </a:t>
                      </a:r>
                      <a:endParaRPr lang="en-IN" sz="1300" b="1" dirty="0">
                        <a:effectLst/>
                        <a:latin typeface="Time Roman" pitchFamily="2" charset="0"/>
                        <a:ea typeface="Calibri" panose="020F0502020204030204" pitchFamily="34" charset="0"/>
                        <a:cs typeface="Times New Roman" panose="02020603050405020304" pitchFamily="18" charset="0"/>
                      </a:endParaRPr>
                    </a:p>
                  </a:txBody>
                  <a:tcPr marL="72040" marR="72040" marT="36020" marB="36020" anchor="b"/>
                </a:tc>
                <a:extLst>
                  <a:ext uri="{0D108BD9-81ED-4DB2-BD59-A6C34878D82A}">
                    <a16:rowId xmlns="" xmlns:a16="http://schemas.microsoft.com/office/drawing/2014/main" val="2377184254"/>
                  </a:ext>
                </a:extLst>
              </a:tr>
              <a:tr h="620447">
                <a:tc>
                  <a:txBody>
                    <a:bodyPr/>
                    <a:lstStyle/>
                    <a:p>
                      <a:pPr algn="ctr" fontAlgn="base">
                        <a:lnSpc>
                          <a:spcPct val="107000"/>
                        </a:lnSpc>
                        <a:spcAft>
                          <a:spcPts val="800"/>
                        </a:spcAft>
                      </a:pPr>
                      <a:r>
                        <a:rPr lang="en-IN" sz="1300" kern="1200" dirty="0">
                          <a:effectLst/>
                          <a:latin typeface="Time Roman" pitchFamily="2" charset="0"/>
                        </a:rPr>
                        <a:t>  </a:t>
                      </a:r>
                      <a:endParaRPr lang="en-IN" sz="1300" dirty="0">
                        <a:effectLst/>
                        <a:latin typeface="Time Roman" pitchFamily="2" charset="0"/>
                      </a:endParaRPr>
                    </a:p>
                    <a:p>
                      <a:pPr algn="ctr" fontAlgn="base">
                        <a:lnSpc>
                          <a:spcPct val="107000"/>
                        </a:lnSpc>
                        <a:spcAft>
                          <a:spcPts val="800"/>
                        </a:spcAft>
                      </a:pPr>
                      <a:r>
                        <a:rPr lang="en-IN" sz="1300" kern="1200" dirty="0">
                          <a:effectLst/>
                          <a:latin typeface="Time Roman" pitchFamily="2" charset="0"/>
                        </a:rPr>
                        <a:t>1</a:t>
                      </a:r>
                      <a:endParaRPr lang="en-IN" sz="1300" dirty="0">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fontAlgn="base">
                        <a:lnSpc>
                          <a:spcPct val="107000"/>
                        </a:lnSpc>
                        <a:spcAft>
                          <a:spcPts val="800"/>
                        </a:spcAft>
                      </a:pPr>
                      <a:r>
                        <a:rPr lang="en-IN" sz="1300" kern="1200" dirty="0" err="1">
                          <a:effectLst/>
                          <a:latin typeface="Time Roman" pitchFamily="2" charset="0"/>
                        </a:rPr>
                        <a:t>Election_id</a:t>
                      </a:r>
                      <a:endParaRPr lang="en-IN" sz="1300" dirty="0">
                        <a:effectLst/>
                        <a:latin typeface="Time Roman" pitchFamily="2" charset="0"/>
                        <a:ea typeface="Calibri" panose="020F0502020204030204" pitchFamily="34" charset="0"/>
                        <a:cs typeface="Times New Roman" panose="02020603050405020304" pitchFamily="18" charset="0"/>
                      </a:endParaRPr>
                    </a:p>
                  </a:txBody>
                  <a:tcPr marL="72040" marR="72040" marT="36020" marB="36020" anchor="ctr"/>
                </a:tc>
                <a:tc>
                  <a:txBody>
                    <a:bodyPr/>
                    <a:lstStyle/>
                    <a:p>
                      <a:pPr algn="ctr" fontAlgn="base">
                        <a:lnSpc>
                          <a:spcPct val="107000"/>
                        </a:lnSpc>
                        <a:spcAft>
                          <a:spcPts val="800"/>
                        </a:spcAft>
                      </a:pPr>
                      <a:r>
                        <a:rPr lang="en-IN" sz="1300" kern="1200" dirty="0">
                          <a:effectLst/>
                          <a:latin typeface="Time Roman" pitchFamily="2" charset="0"/>
                        </a:rPr>
                        <a:t>Int</a:t>
                      </a:r>
                      <a:endParaRPr lang="en-IN" sz="1300" dirty="0">
                        <a:effectLst/>
                        <a:latin typeface="Time Roman" pitchFamily="2" charset="0"/>
                        <a:ea typeface="Calibri" panose="020F0502020204030204" pitchFamily="34" charset="0"/>
                        <a:cs typeface="Times New Roman" panose="02020603050405020304" pitchFamily="18" charset="0"/>
                      </a:endParaRPr>
                    </a:p>
                  </a:txBody>
                  <a:tcPr marL="72040" marR="72040" marT="36020" marB="36020" anchor="ctr"/>
                </a:tc>
                <a:tc>
                  <a:txBody>
                    <a:bodyPr/>
                    <a:lstStyle/>
                    <a:p>
                      <a:pPr algn="ctr" fontAlgn="base">
                        <a:lnSpc>
                          <a:spcPct val="107000"/>
                        </a:lnSpc>
                        <a:spcAft>
                          <a:spcPts val="800"/>
                        </a:spcAft>
                      </a:pPr>
                      <a:r>
                        <a:rPr lang="en-IN" sz="1300" kern="1200" dirty="0">
                          <a:effectLst/>
                          <a:latin typeface="Time Roman" pitchFamily="2" charset="0"/>
                        </a:rPr>
                        <a:t> </a:t>
                      </a:r>
                      <a:endParaRPr lang="en-IN" sz="1300" dirty="0">
                        <a:effectLst/>
                        <a:latin typeface="Time Roman" pitchFamily="2" charset="0"/>
                      </a:endParaRPr>
                    </a:p>
                    <a:p>
                      <a:pPr algn="ctr" fontAlgn="base">
                        <a:lnSpc>
                          <a:spcPct val="107000"/>
                        </a:lnSpc>
                        <a:spcAft>
                          <a:spcPts val="800"/>
                        </a:spcAft>
                      </a:pPr>
                      <a:r>
                        <a:rPr lang="en-IN" sz="1300" kern="1200" dirty="0">
                          <a:effectLst/>
                          <a:latin typeface="Time Roman" pitchFamily="2" charset="0"/>
                        </a:rPr>
                        <a:t> 10</a:t>
                      </a:r>
                      <a:endParaRPr lang="en-IN" sz="1300" dirty="0">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fontAlgn="base">
                        <a:lnSpc>
                          <a:spcPct val="107000"/>
                        </a:lnSpc>
                        <a:spcAft>
                          <a:spcPts val="800"/>
                        </a:spcAft>
                      </a:pPr>
                      <a:r>
                        <a:rPr lang="en-IN" sz="1300" kern="1200">
                          <a:effectLst/>
                          <a:latin typeface="Time Roman" pitchFamily="2" charset="0"/>
                        </a:rPr>
                        <a:t>Primary key</a:t>
                      </a:r>
                      <a:endParaRPr lang="en-IN" sz="1300">
                        <a:effectLst/>
                        <a:latin typeface="Time Roman" pitchFamily="2" charset="0"/>
                        <a:ea typeface="Calibri" panose="020F0502020204030204" pitchFamily="34" charset="0"/>
                        <a:cs typeface="Times New Roman" panose="02020603050405020304" pitchFamily="18" charset="0"/>
                      </a:endParaRPr>
                    </a:p>
                  </a:txBody>
                  <a:tcPr marL="72040" marR="72040" marT="36020" marB="36020" anchor="ctr"/>
                </a:tc>
                <a:tc>
                  <a:txBody>
                    <a:bodyPr/>
                    <a:lstStyle/>
                    <a:p>
                      <a:pPr algn="ctr" fontAlgn="base">
                        <a:lnSpc>
                          <a:spcPct val="107000"/>
                        </a:lnSpc>
                        <a:spcAft>
                          <a:spcPts val="800"/>
                        </a:spcAft>
                      </a:pPr>
                      <a:r>
                        <a:rPr lang="en-IN" sz="1300" kern="1200">
                          <a:effectLst/>
                          <a:latin typeface="Time Roman" pitchFamily="2" charset="0"/>
                        </a:rPr>
                        <a:t>Unique identifier for each election</a:t>
                      </a:r>
                      <a:endParaRPr lang="en-IN" sz="1300">
                        <a:effectLst/>
                        <a:latin typeface="Time Roman" pitchFamily="2" charset="0"/>
                        <a:ea typeface="Calibri" panose="020F0502020204030204" pitchFamily="34" charset="0"/>
                        <a:cs typeface="Times New Roman" panose="02020603050405020304" pitchFamily="18" charset="0"/>
                      </a:endParaRPr>
                    </a:p>
                  </a:txBody>
                  <a:tcPr marL="72040" marR="72040" marT="36020" marB="36020" anchor="ctr"/>
                </a:tc>
                <a:extLst>
                  <a:ext uri="{0D108BD9-81ED-4DB2-BD59-A6C34878D82A}">
                    <a16:rowId xmlns="" xmlns:a16="http://schemas.microsoft.com/office/drawing/2014/main" val="3231736791"/>
                  </a:ext>
                </a:extLst>
              </a:tr>
              <a:tr h="462949">
                <a:tc>
                  <a:txBody>
                    <a:bodyPr/>
                    <a:lstStyle/>
                    <a:p>
                      <a:pPr algn="ctr" fontAlgn="base">
                        <a:lnSpc>
                          <a:spcPct val="107000"/>
                        </a:lnSpc>
                        <a:spcAft>
                          <a:spcPts val="800"/>
                        </a:spcAft>
                      </a:pPr>
                      <a:r>
                        <a:rPr lang="en-IN" sz="1300" kern="1200" dirty="0">
                          <a:effectLst/>
                          <a:latin typeface="Time Roman" pitchFamily="2" charset="0"/>
                        </a:rPr>
                        <a:t> </a:t>
                      </a:r>
                    </a:p>
                    <a:p>
                      <a:pPr algn="ctr" fontAlgn="base">
                        <a:lnSpc>
                          <a:spcPct val="107000"/>
                        </a:lnSpc>
                        <a:spcAft>
                          <a:spcPts val="800"/>
                        </a:spcAft>
                      </a:pPr>
                      <a:r>
                        <a:rPr lang="en-IN" sz="1300" kern="1200" dirty="0">
                          <a:effectLst/>
                          <a:latin typeface="Time Roman" pitchFamily="2" charset="0"/>
                        </a:rPr>
                        <a:t>2</a:t>
                      </a:r>
                      <a:endParaRPr lang="en-IN" sz="1300" dirty="0">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fontAlgn="base">
                        <a:lnSpc>
                          <a:spcPct val="107000"/>
                        </a:lnSpc>
                        <a:spcAft>
                          <a:spcPts val="800"/>
                        </a:spcAft>
                      </a:pPr>
                      <a:r>
                        <a:rPr lang="en-IN" sz="1300" kern="1200">
                          <a:effectLst/>
                          <a:latin typeface="Time Roman" pitchFamily="2" charset="0"/>
                        </a:rPr>
                        <a:t>Title</a:t>
                      </a:r>
                      <a:endParaRPr lang="en-IN" sz="1300">
                        <a:effectLst/>
                        <a:latin typeface="Time Roman" pitchFamily="2" charset="0"/>
                        <a:ea typeface="Calibri" panose="020F0502020204030204" pitchFamily="34" charset="0"/>
                        <a:cs typeface="Times New Roman" panose="02020603050405020304" pitchFamily="18" charset="0"/>
                      </a:endParaRPr>
                    </a:p>
                  </a:txBody>
                  <a:tcPr marL="72040" marR="72040" marT="36020" marB="36020" anchor="ctr"/>
                </a:tc>
                <a:tc>
                  <a:txBody>
                    <a:bodyPr/>
                    <a:lstStyle/>
                    <a:p>
                      <a:pPr algn="ctr" fontAlgn="base">
                        <a:lnSpc>
                          <a:spcPct val="107000"/>
                        </a:lnSpc>
                        <a:spcAft>
                          <a:spcPts val="800"/>
                        </a:spcAft>
                      </a:pPr>
                      <a:r>
                        <a:rPr lang="en-IN" sz="1300" kern="1200" dirty="0">
                          <a:effectLst/>
                          <a:latin typeface="Time Roman" pitchFamily="2" charset="0"/>
                        </a:rPr>
                        <a:t>Varchar</a:t>
                      </a:r>
                      <a:endParaRPr lang="en-IN" sz="1300" dirty="0">
                        <a:effectLst/>
                        <a:latin typeface="Time Roman" pitchFamily="2" charset="0"/>
                        <a:ea typeface="Calibri" panose="020F0502020204030204" pitchFamily="34" charset="0"/>
                        <a:cs typeface="Times New Roman" panose="02020603050405020304" pitchFamily="18" charset="0"/>
                      </a:endParaRPr>
                    </a:p>
                  </a:txBody>
                  <a:tcPr marL="72040" marR="72040" marT="36020" marB="36020" anchor="ctr"/>
                </a:tc>
                <a:tc>
                  <a:txBody>
                    <a:bodyPr/>
                    <a:lstStyle/>
                    <a:p>
                      <a:pPr algn="ctr">
                        <a:lnSpc>
                          <a:spcPct val="107000"/>
                        </a:lnSpc>
                        <a:spcAft>
                          <a:spcPts val="800"/>
                        </a:spcAft>
                      </a:pPr>
                      <a:r>
                        <a:rPr lang="en-IN" sz="1300" kern="1200" dirty="0">
                          <a:effectLst/>
                          <a:latin typeface="Time Roman" pitchFamily="2" charset="0"/>
                        </a:rPr>
                        <a:t> </a:t>
                      </a:r>
                    </a:p>
                    <a:p>
                      <a:pPr algn="ctr">
                        <a:lnSpc>
                          <a:spcPct val="107000"/>
                        </a:lnSpc>
                        <a:spcAft>
                          <a:spcPts val="800"/>
                        </a:spcAft>
                      </a:pPr>
                      <a:r>
                        <a:rPr lang="en-IN" sz="1300" kern="1200" dirty="0">
                          <a:effectLst/>
                          <a:latin typeface="Time Roman" pitchFamily="2" charset="0"/>
                        </a:rPr>
                        <a:t>20</a:t>
                      </a:r>
                      <a:endParaRPr lang="en-IN" sz="1300" dirty="0">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a:lnSpc>
                          <a:spcPct val="107000"/>
                        </a:lnSpc>
                        <a:spcAft>
                          <a:spcPts val="800"/>
                        </a:spcAft>
                      </a:pPr>
                      <a:r>
                        <a:rPr lang="en-IN" sz="1300" kern="1200">
                          <a:effectLst/>
                          <a:latin typeface="Time Roman" pitchFamily="2" charset="0"/>
                        </a:rPr>
                        <a:t>Primary key</a:t>
                      </a:r>
                      <a:endParaRPr lang="en-IN" sz="1300">
                        <a:effectLst/>
                        <a:latin typeface="Time Roman" pitchFamily="2" charset="0"/>
                        <a:ea typeface="Calibri" panose="020F0502020204030204" pitchFamily="34" charset="0"/>
                        <a:cs typeface="Times New Roman" panose="02020603050405020304" pitchFamily="18" charset="0"/>
                      </a:endParaRPr>
                    </a:p>
                  </a:txBody>
                  <a:tcPr marL="72040" marR="72040" marT="36020" marB="36020" anchor="ctr"/>
                </a:tc>
                <a:tc>
                  <a:txBody>
                    <a:bodyPr/>
                    <a:lstStyle/>
                    <a:p>
                      <a:pPr algn="ctr" fontAlgn="base">
                        <a:lnSpc>
                          <a:spcPct val="107000"/>
                        </a:lnSpc>
                        <a:spcAft>
                          <a:spcPts val="800"/>
                        </a:spcAft>
                      </a:pPr>
                      <a:r>
                        <a:rPr lang="en-IN" sz="1300" kern="1200">
                          <a:effectLst/>
                          <a:latin typeface="Time Roman" pitchFamily="2" charset="0"/>
                        </a:rPr>
                        <a:t>Title of the election</a:t>
                      </a:r>
                      <a:endParaRPr lang="en-IN" sz="1300">
                        <a:effectLst/>
                        <a:latin typeface="Time Roman" pitchFamily="2" charset="0"/>
                        <a:ea typeface="Calibri" panose="020F0502020204030204" pitchFamily="34" charset="0"/>
                        <a:cs typeface="Times New Roman" panose="02020603050405020304" pitchFamily="18" charset="0"/>
                      </a:endParaRPr>
                    </a:p>
                  </a:txBody>
                  <a:tcPr marL="72040" marR="72040" marT="36020" marB="36020" anchor="ctr"/>
                </a:tc>
                <a:extLst>
                  <a:ext uri="{0D108BD9-81ED-4DB2-BD59-A6C34878D82A}">
                    <a16:rowId xmlns="" xmlns:a16="http://schemas.microsoft.com/office/drawing/2014/main" val="809998211"/>
                  </a:ext>
                </a:extLst>
              </a:tr>
              <a:tr h="478856">
                <a:tc>
                  <a:txBody>
                    <a:bodyPr/>
                    <a:lstStyle/>
                    <a:p>
                      <a:pPr algn="ctr" fontAlgn="base">
                        <a:lnSpc>
                          <a:spcPct val="107000"/>
                        </a:lnSpc>
                        <a:spcAft>
                          <a:spcPts val="800"/>
                        </a:spcAft>
                      </a:pPr>
                      <a:r>
                        <a:rPr lang="en-IN" sz="1300" kern="1200">
                          <a:effectLst/>
                          <a:latin typeface="Time Roman" pitchFamily="2" charset="0"/>
                        </a:rPr>
                        <a:t> </a:t>
                      </a:r>
                      <a:endParaRPr lang="en-IN" sz="1300">
                        <a:effectLst/>
                        <a:latin typeface="Time Roman" pitchFamily="2" charset="0"/>
                      </a:endParaRPr>
                    </a:p>
                    <a:p>
                      <a:pPr algn="ctr" fontAlgn="base">
                        <a:lnSpc>
                          <a:spcPct val="107000"/>
                        </a:lnSpc>
                        <a:spcAft>
                          <a:spcPts val="800"/>
                        </a:spcAft>
                      </a:pPr>
                      <a:r>
                        <a:rPr lang="en-IN" sz="1300" kern="1200">
                          <a:effectLst/>
                          <a:latin typeface="Time Roman" pitchFamily="2" charset="0"/>
                        </a:rPr>
                        <a:t>3</a:t>
                      </a:r>
                      <a:endParaRPr lang="en-IN" sz="1300">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fontAlgn="base">
                        <a:lnSpc>
                          <a:spcPct val="107000"/>
                        </a:lnSpc>
                        <a:spcAft>
                          <a:spcPts val="800"/>
                        </a:spcAft>
                      </a:pPr>
                      <a:r>
                        <a:rPr lang="en-IN" sz="1300" kern="1200">
                          <a:effectLst/>
                          <a:latin typeface="Time Roman" pitchFamily="2" charset="0"/>
                        </a:rPr>
                        <a:t>Description</a:t>
                      </a:r>
                      <a:endParaRPr lang="en-IN" sz="1300">
                        <a:effectLst/>
                        <a:latin typeface="Time Roman" pitchFamily="2" charset="0"/>
                        <a:ea typeface="Calibri" panose="020F0502020204030204" pitchFamily="34" charset="0"/>
                        <a:cs typeface="Times New Roman" panose="02020603050405020304" pitchFamily="18" charset="0"/>
                      </a:endParaRPr>
                    </a:p>
                  </a:txBody>
                  <a:tcPr marL="72040" marR="72040" marT="36020" marB="36020" anchor="ctr"/>
                </a:tc>
                <a:tc>
                  <a:txBody>
                    <a:bodyPr/>
                    <a:lstStyle/>
                    <a:p>
                      <a:pPr algn="ctr" fontAlgn="base">
                        <a:lnSpc>
                          <a:spcPct val="107000"/>
                        </a:lnSpc>
                        <a:spcAft>
                          <a:spcPts val="800"/>
                        </a:spcAft>
                      </a:pPr>
                      <a:r>
                        <a:rPr lang="en-IN" sz="1300" kern="1200" dirty="0">
                          <a:effectLst/>
                          <a:latin typeface="Time Roman" pitchFamily="2" charset="0"/>
                        </a:rPr>
                        <a:t>Text</a:t>
                      </a:r>
                      <a:endParaRPr lang="en-IN" sz="1300" dirty="0">
                        <a:effectLst/>
                        <a:latin typeface="Time Roman" pitchFamily="2" charset="0"/>
                        <a:ea typeface="Calibri" panose="020F0502020204030204" pitchFamily="34" charset="0"/>
                        <a:cs typeface="Times New Roman" panose="02020603050405020304" pitchFamily="18" charset="0"/>
                      </a:endParaRPr>
                    </a:p>
                  </a:txBody>
                  <a:tcPr marL="72040" marR="72040" marT="36020" marB="36020" anchor="ctr"/>
                </a:tc>
                <a:tc>
                  <a:txBody>
                    <a:bodyPr/>
                    <a:lstStyle/>
                    <a:p>
                      <a:pPr algn="ctr">
                        <a:lnSpc>
                          <a:spcPct val="107000"/>
                        </a:lnSpc>
                        <a:spcAft>
                          <a:spcPts val="800"/>
                        </a:spcAft>
                      </a:pPr>
                      <a:r>
                        <a:rPr lang="en-IN" sz="1300" dirty="0">
                          <a:effectLst/>
                          <a:latin typeface="Time Roman" pitchFamily="2" charset="0"/>
                        </a:rPr>
                        <a:t> </a:t>
                      </a:r>
                    </a:p>
                    <a:p>
                      <a:pPr algn="ctr">
                        <a:lnSpc>
                          <a:spcPct val="107000"/>
                        </a:lnSpc>
                        <a:spcAft>
                          <a:spcPts val="800"/>
                        </a:spcAft>
                      </a:pPr>
                      <a:r>
                        <a:rPr lang="en-IN" sz="1300" dirty="0">
                          <a:effectLst/>
                          <a:latin typeface="Time Roman" pitchFamily="2" charset="0"/>
                        </a:rPr>
                        <a:t>30</a:t>
                      </a:r>
                      <a:endParaRPr lang="en-IN" sz="1300" dirty="0">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a:lnSpc>
                          <a:spcPct val="107000"/>
                        </a:lnSpc>
                        <a:spcAft>
                          <a:spcPts val="800"/>
                        </a:spcAft>
                      </a:pPr>
                      <a:r>
                        <a:rPr lang="en-IN" sz="1300" dirty="0">
                          <a:effectLst/>
                          <a:latin typeface="Time Roman" pitchFamily="2" charset="0"/>
                        </a:rPr>
                        <a:t>Not null</a:t>
                      </a:r>
                      <a:endParaRPr lang="en-IN" sz="1300" dirty="0">
                        <a:effectLst/>
                        <a:latin typeface="Time Roman" pitchFamily="2" charset="0"/>
                        <a:ea typeface="Calibri" panose="020F0502020204030204" pitchFamily="34" charset="0"/>
                        <a:cs typeface="Times New Roman" panose="02020603050405020304" pitchFamily="18" charset="0"/>
                      </a:endParaRPr>
                    </a:p>
                  </a:txBody>
                  <a:tcPr marL="72040" marR="72040" marT="36020" marB="36020" anchor="ctr"/>
                </a:tc>
                <a:tc>
                  <a:txBody>
                    <a:bodyPr/>
                    <a:lstStyle/>
                    <a:p>
                      <a:pPr algn="ctr" fontAlgn="base">
                        <a:lnSpc>
                          <a:spcPct val="107000"/>
                        </a:lnSpc>
                        <a:spcAft>
                          <a:spcPts val="800"/>
                        </a:spcAft>
                      </a:pPr>
                      <a:r>
                        <a:rPr lang="en-IN" sz="1300" kern="1200">
                          <a:effectLst/>
                          <a:latin typeface="Time Roman" pitchFamily="2" charset="0"/>
                        </a:rPr>
                        <a:t>Description of the election</a:t>
                      </a:r>
                      <a:endParaRPr lang="en-IN" sz="1300">
                        <a:effectLst/>
                        <a:latin typeface="Time Roman" pitchFamily="2" charset="0"/>
                        <a:ea typeface="Calibri" panose="020F0502020204030204" pitchFamily="34" charset="0"/>
                        <a:cs typeface="Times New Roman" panose="02020603050405020304" pitchFamily="18" charset="0"/>
                      </a:endParaRPr>
                    </a:p>
                  </a:txBody>
                  <a:tcPr marL="72040" marR="72040" marT="36020" marB="36020" anchor="ctr"/>
                </a:tc>
                <a:extLst>
                  <a:ext uri="{0D108BD9-81ED-4DB2-BD59-A6C34878D82A}">
                    <a16:rowId xmlns="" xmlns:a16="http://schemas.microsoft.com/office/drawing/2014/main" val="1800301208"/>
                  </a:ext>
                </a:extLst>
              </a:tr>
              <a:tr h="620447">
                <a:tc>
                  <a:txBody>
                    <a:bodyPr/>
                    <a:lstStyle/>
                    <a:p>
                      <a:pPr algn="ctr" fontAlgn="base">
                        <a:lnSpc>
                          <a:spcPct val="107000"/>
                        </a:lnSpc>
                        <a:spcAft>
                          <a:spcPts val="800"/>
                        </a:spcAft>
                      </a:pPr>
                      <a:r>
                        <a:rPr lang="en-IN" sz="1300" kern="1200" dirty="0">
                          <a:effectLst/>
                          <a:latin typeface="Time Roman" pitchFamily="2" charset="0"/>
                        </a:rPr>
                        <a:t> </a:t>
                      </a:r>
                      <a:endParaRPr lang="en-IN" sz="1300" dirty="0">
                        <a:effectLst/>
                        <a:latin typeface="Time Roman" pitchFamily="2" charset="0"/>
                      </a:endParaRPr>
                    </a:p>
                    <a:p>
                      <a:pPr algn="ctr" fontAlgn="base">
                        <a:lnSpc>
                          <a:spcPct val="107000"/>
                        </a:lnSpc>
                        <a:spcAft>
                          <a:spcPts val="800"/>
                        </a:spcAft>
                      </a:pPr>
                      <a:r>
                        <a:rPr lang="en-IN" sz="1300" kern="1200" dirty="0">
                          <a:effectLst/>
                          <a:latin typeface="Time Roman" pitchFamily="2" charset="0"/>
                        </a:rPr>
                        <a:t> 4</a:t>
                      </a:r>
                      <a:endParaRPr lang="en-IN" sz="1300" dirty="0">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fontAlgn="base">
                        <a:lnSpc>
                          <a:spcPct val="107000"/>
                        </a:lnSpc>
                        <a:spcAft>
                          <a:spcPts val="800"/>
                        </a:spcAft>
                      </a:pPr>
                      <a:r>
                        <a:rPr lang="en-IN" sz="1300" kern="1200">
                          <a:effectLst/>
                          <a:latin typeface="Time Roman" pitchFamily="2" charset="0"/>
                        </a:rPr>
                        <a:t>Start_date</a:t>
                      </a:r>
                      <a:endParaRPr lang="en-IN" sz="1300">
                        <a:effectLst/>
                        <a:latin typeface="Time Roman" pitchFamily="2" charset="0"/>
                        <a:ea typeface="Calibri" panose="020F0502020204030204" pitchFamily="34" charset="0"/>
                        <a:cs typeface="Times New Roman" panose="02020603050405020304" pitchFamily="18" charset="0"/>
                      </a:endParaRPr>
                    </a:p>
                  </a:txBody>
                  <a:tcPr marL="72040" marR="72040" marT="36020" marB="36020" anchor="ctr"/>
                </a:tc>
                <a:tc>
                  <a:txBody>
                    <a:bodyPr/>
                    <a:lstStyle/>
                    <a:p>
                      <a:pPr algn="ctr" fontAlgn="base">
                        <a:lnSpc>
                          <a:spcPct val="107000"/>
                        </a:lnSpc>
                        <a:spcAft>
                          <a:spcPts val="800"/>
                        </a:spcAft>
                      </a:pPr>
                      <a:r>
                        <a:rPr lang="en-IN" sz="1300" kern="1200">
                          <a:effectLst/>
                          <a:latin typeface="Time Roman" pitchFamily="2" charset="0"/>
                        </a:rPr>
                        <a:t>Datetime</a:t>
                      </a:r>
                      <a:endParaRPr lang="en-IN" sz="1300">
                        <a:effectLst/>
                        <a:latin typeface="Time Roman" pitchFamily="2" charset="0"/>
                        <a:ea typeface="Calibri" panose="020F0502020204030204" pitchFamily="34" charset="0"/>
                        <a:cs typeface="Times New Roman" panose="02020603050405020304" pitchFamily="18" charset="0"/>
                      </a:endParaRPr>
                    </a:p>
                  </a:txBody>
                  <a:tcPr marL="72040" marR="72040" marT="36020" marB="36020" anchor="ctr"/>
                </a:tc>
                <a:tc>
                  <a:txBody>
                    <a:bodyPr/>
                    <a:lstStyle/>
                    <a:p>
                      <a:pPr algn="ctr">
                        <a:lnSpc>
                          <a:spcPct val="107000"/>
                        </a:lnSpc>
                        <a:spcAft>
                          <a:spcPts val="800"/>
                        </a:spcAft>
                      </a:pPr>
                      <a:r>
                        <a:rPr lang="en-IN" sz="1300" dirty="0">
                          <a:effectLst/>
                          <a:latin typeface="Time Roman" pitchFamily="2" charset="0"/>
                        </a:rPr>
                        <a:t> </a:t>
                      </a:r>
                    </a:p>
                    <a:p>
                      <a:pPr algn="ctr">
                        <a:lnSpc>
                          <a:spcPct val="107000"/>
                        </a:lnSpc>
                        <a:spcAft>
                          <a:spcPts val="800"/>
                        </a:spcAft>
                      </a:pPr>
                      <a:r>
                        <a:rPr lang="en-IN" sz="1300" dirty="0">
                          <a:effectLst/>
                          <a:latin typeface="Time Roman" pitchFamily="2" charset="0"/>
                        </a:rPr>
                        <a:t> 10</a:t>
                      </a:r>
                      <a:endParaRPr lang="en-IN" sz="1300" dirty="0">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a:lnSpc>
                          <a:spcPct val="107000"/>
                        </a:lnSpc>
                        <a:spcAft>
                          <a:spcPts val="800"/>
                        </a:spcAft>
                      </a:pPr>
                      <a:r>
                        <a:rPr lang="en-IN" sz="1300" dirty="0">
                          <a:effectLst/>
                          <a:latin typeface="Time Roman" pitchFamily="2" charset="0"/>
                        </a:rPr>
                        <a:t>Not null</a:t>
                      </a:r>
                      <a:endParaRPr lang="en-IN" sz="1300" dirty="0">
                        <a:effectLst/>
                        <a:latin typeface="Time Roman" pitchFamily="2" charset="0"/>
                        <a:ea typeface="Calibri" panose="020F0502020204030204" pitchFamily="34" charset="0"/>
                        <a:cs typeface="Times New Roman" panose="02020603050405020304" pitchFamily="18" charset="0"/>
                      </a:endParaRPr>
                    </a:p>
                  </a:txBody>
                  <a:tcPr marL="72040" marR="72040" marT="36020" marB="36020" anchor="ctr"/>
                </a:tc>
                <a:tc>
                  <a:txBody>
                    <a:bodyPr/>
                    <a:lstStyle/>
                    <a:p>
                      <a:pPr algn="ctr" fontAlgn="base">
                        <a:lnSpc>
                          <a:spcPct val="107000"/>
                        </a:lnSpc>
                        <a:spcAft>
                          <a:spcPts val="800"/>
                        </a:spcAft>
                      </a:pPr>
                      <a:r>
                        <a:rPr lang="en-IN" sz="1300" kern="1200">
                          <a:effectLst/>
                          <a:latin typeface="Time Roman" pitchFamily="2" charset="0"/>
                        </a:rPr>
                        <a:t>Start date and time of the election</a:t>
                      </a:r>
                      <a:endParaRPr lang="en-IN" sz="1300">
                        <a:effectLst/>
                        <a:latin typeface="Time Roman" pitchFamily="2" charset="0"/>
                        <a:ea typeface="Calibri" panose="020F0502020204030204" pitchFamily="34" charset="0"/>
                        <a:cs typeface="Times New Roman" panose="02020603050405020304" pitchFamily="18" charset="0"/>
                      </a:endParaRPr>
                    </a:p>
                  </a:txBody>
                  <a:tcPr marL="72040" marR="72040" marT="36020" marB="36020" anchor="ctr"/>
                </a:tc>
                <a:extLst>
                  <a:ext uri="{0D108BD9-81ED-4DB2-BD59-A6C34878D82A}">
                    <a16:rowId xmlns="" xmlns:a16="http://schemas.microsoft.com/office/drawing/2014/main" val="1626105217"/>
                  </a:ext>
                </a:extLst>
              </a:tr>
              <a:tr h="620447">
                <a:tc>
                  <a:txBody>
                    <a:bodyPr/>
                    <a:lstStyle/>
                    <a:p>
                      <a:pPr algn="ctr" fontAlgn="base">
                        <a:lnSpc>
                          <a:spcPct val="107000"/>
                        </a:lnSpc>
                        <a:spcAft>
                          <a:spcPts val="800"/>
                        </a:spcAft>
                      </a:pPr>
                      <a:r>
                        <a:rPr lang="en-IN" sz="1300" kern="1200" dirty="0">
                          <a:effectLst/>
                          <a:latin typeface="Time Roman" pitchFamily="2" charset="0"/>
                        </a:rPr>
                        <a:t> </a:t>
                      </a:r>
                      <a:endParaRPr lang="en-IN" sz="1300" dirty="0">
                        <a:effectLst/>
                        <a:latin typeface="Time Roman" pitchFamily="2" charset="0"/>
                      </a:endParaRPr>
                    </a:p>
                    <a:p>
                      <a:pPr algn="ctr" fontAlgn="base">
                        <a:lnSpc>
                          <a:spcPct val="107000"/>
                        </a:lnSpc>
                        <a:spcAft>
                          <a:spcPts val="800"/>
                        </a:spcAft>
                      </a:pPr>
                      <a:r>
                        <a:rPr lang="en-IN" sz="1300" kern="1200" dirty="0">
                          <a:effectLst/>
                          <a:latin typeface="Time Roman" pitchFamily="2" charset="0"/>
                        </a:rPr>
                        <a:t> 5</a:t>
                      </a:r>
                      <a:endParaRPr lang="en-IN" sz="1300" dirty="0">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fontAlgn="base">
                        <a:lnSpc>
                          <a:spcPct val="107000"/>
                        </a:lnSpc>
                        <a:spcAft>
                          <a:spcPts val="800"/>
                        </a:spcAft>
                      </a:pPr>
                      <a:r>
                        <a:rPr lang="en-IN" sz="1300" kern="1200">
                          <a:effectLst/>
                          <a:latin typeface="Time Roman" pitchFamily="2" charset="0"/>
                        </a:rPr>
                        <a:t>End_date</a:t>
                      </a:r>
                      <a:endParaRPr lang="en-IN" sz="1300">
                        <a:effectLst/>
                        <a:latin typeface="Time Roman" pitchFamily="2" charset="0"/>
                        <a:ea typeface="Calibri" panose="020F0502020204030204" pitchFamily="34" charset="0"/>
                        <a:cs typeface="Times New Roman" panose="02020603050405020304" pitchFamily="18" charset="0"/>
                      </a:endParaRPr>
                    </a:p>
                  </a:txBody>
                  <a:tcPr marL="72040" marR="72040" marT="36020" marB="36020" anchor="ctr"/>
                </a:tc>
                <a:tc>
                  <a:txBody>
                    <a:bodyPr/>
                    <a:lstStyle/>
                    <a:p>
                      <a:pPr algn="ctr" fontAlgn="base">
                        <a:lnSpc>
                          <a:spcPct val="107000"/>
                        </a:lnSpc>
                        <a:spcAft>
                          <a:spcPts val="800"/>
                        </a:spcAft>
                      </a:pPr>
                      <a:r>
                        <a:rPr lang="en-IN" sz="1300" kern="1200">
                          <a:effectLst/>
                          <a:latin typeface="Time Roman" pitchFamily="2" charset="0"/>
                        </a:rPr>
                        <a:t>Datetime</a:t>
                      </a:r>
                      <a:endParaRPr lang="en-IN" sz="1300">
                        <a:effectLst/>
                        <a:latin typeface="Time Roman" pitchFamily="2" charset="0"/>
                        <a:ea typeface="Calibri" panose="020F0502020204030204" pitchFamily="34" charset="0"/>
                        <a:cs typeface="Times New Roman" panose="02020603050405020304" pitchFamily="18" charset="0"/>
                      </a:endParaRPr>
                    </a:p>
                  </a:txBody>
                  <a:tcPr marL="72040" marR="72040" marT="36020" marB="36020" anchor="ctr"/>
                </a:tc>
                <a:tc>
                  <a:txBody>
                    <a:bodyPr/>
                    <a:lstStyle/>
                    <a:p>
                      <a:pPr algn="ctr">
                        <a:lnSpc>
                          <a:spcPct val="107000"/>
                        </a:lnSpc>
                        <a:spcAft>
                          <a:spcPts val="800"/>
                        </a:spcAft>
                      </a:pPr>
                      <a:r>
                        <a:rPr lang="en-IN" sz="1300" dirty="0">
                          <a:effectLst/>
                          <a:latin typeface="Time Roman" pitchFamily="2" charset="0"/>
                        </a:rPr>
                        <a:t> </a:t>
                      </a:r>
                    </a:p>
                    <a:p>
                      <a:pPr algn="ctr">
                        <a:lnSpc>
                          <a:spcPct val="107000"/>
                        </a:lnSpc>
                        <a:spcAft>
                          <a:spcPts val="800"/>
                        </a:spcAft>
                      </a:pPr>
                      <a:r>
                        <a:rPr lang="en-IN" sz="1300" dirty="0">
                          <a:effectLst/>
                          <a:latin typeface="Time Roman" pitchFamily="2" charset="0"/>
                        </a:rPr>
                        <a:t> 10</a:t>
                      </a:r>
                      <a:endParaRPr lang="en-IN" sz="1300" dirty="0">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a:lnSpc>
                          <a:spcPct val="107000"/>
                        </a:lnSpc>
                        <a:spcAft>
                          <a:spcPts val="800"/>
                        </a:spcAft>
                      </a:pPr>
                      <a:r>
                        <a:rPr lang="en-IN" sz="1300" dirty="0">
                          <a:effectLst/>
                          <a:latin typeface="Time Roman" pitchFamily="2" charset="0"/>
                        </a:rPr>
                        <a:t>Not null</a:t>
                      </a:r>
                      <a:endParaRPr lang="en-IN" sz="1300" dirty="0">
                        <a:effectLst/>
                        <a:latin typeface="Time Roman" pitchFamily="2" charset="0"/>
                        <a:ea typeface="Calibri" panose="020F0502020204030204" pitchFamily="34" charset="0"/>
                        <a:cs typeface="Times New Roman" panose="02020603050405020304" pitchFamily="18" charset="0"/>
                      </a:endParaRPr>
                    </a:p>
                  </a:txBody>
                  <a:tcPr marL="72040" marR="72040" marT="36020" marB="36020" anchor="ctr"/>
                </a:tc>
                <a:tc>
                  <a:txBody>
                    <a:bodyPr/>
                    <a:lstStyle/>
                    <a:p>
                      <a:pPr algn="ctr" fontAlgn="base">
                        <a:lnSpc>
                          <a:spcPct val="107000"/>
                        </a:lnSpc>
                        <a:spcAft>
                          <a:spcPts val="800"/>
                        </a:spcAft>
                      </a:pPr>
                      <a:r>
                        <a:rPr lang="en-IN" sz="1300" kern="1200" dirty="0">
                          <a:effectLst/>
                          <a:latin typeface="Time Roman" pitchFamily="2" charset="0"/>
                        </a:rPr>
                        <a:t>End date and time of the election</a:t>
                      </a:r>
                      <a:endParaRPr lang="en-IN" sz="1300" dirty="0">
                        <a:effectLst/>
                        <a:latin typeface="Time Roman" pitchFamily="2" charset="0"/>
                        <a:ea typeface="Calibri" panose="020F0502020204030204" pitchFamily="34" charset="0"/>
                        <a:cs typeface="Times New Roman" panose="02020603050405020304" pitchFamily="18" charset="0"/>
                      </a:endParaRPr>
                    </a:p>
                  </a:txBody>
                  <a:tcPr marL="72040" marR="72040" marT="36020" marB="36020" anchor="ctr"/>
                </a:tc>
                <a:extLst>
                  <a:ext uri="{0D108BD9-81ED-4DB2-BD59-A6C34878D82A}">
                    <a16:rowId xmlns="" xmlns:a16="http://schemas.microsoft.com/office/drawing/2014/main" val="924216795"/>
                  </a:ext>
                </a:extLst>
              </a:tr>
              <a:tr h="620447">
                <a:tc>
                  <a:txBody>
                    <a:bodyPr/>
                    <a:lstStyle/>
                    <a:p>
                      <a:pPr algn="ctr" fontAlgn="base">
                        <a:lnSpc>
                          <a:spcPct val="107000"/>
                        </a:lnSpc>
                        <a:spcAft>
                          <a:spcPts val="800"/>
                        </a:spcAft>
                      </a:pPr>
                      <a:r>
                        <a:rPr lang="en-IN" sz="1300" kern="1200">
                          <a:effectLst/>
                          <a:latin typeface="Time Roman" pitchFamily="2" charset="0"/>
                        </a:rPr>
                        <a:t> </a:t>
                      </a:r>
                      <a:endParaRPr lang="en-IN" sz="1300">
                        <a:effectLst/>
                        <a:latin typeface="Time Roman" pitchFamily="2" charset="0"/>
                      </a:endParaRPr>
                    </a:p>
                    <a:p>
                      <a:pPr algn="ctr" fontAlgn="base">
                        <a:lnSpc>
                          <a:spcPct val="107000"/>
                        </a:lnSpc>
                        <a:spcAft>
                          <a:spcPts val="800"/>
                        </a:spcAft>
                      </a:pPr>
                      <a:r>
                        <a:rPr lang="en-IN" sz="1300" kern="1200">
                          <a:effectLst/>
                          <a:latin typeface="Time Roman" pitchFamily="2" charset="0"/>
                        </a:rPr>
                        <a:t>6</a:t>
                      </a:r>
                      <a:endParaRPr lang="en-IN" sz="1300">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fontAlgn="base">
                        <a:lnSpc>
                          <a:spcPct val="107000"/>
                        </a:lnSpc>
                        <a:spcAft>
                          <a:spcPts val="800"/>
                        </a:spcAft>
                      </a:pPr>
                      <a:r>
                        <a:rPr lang="en-IN" sz="1300" kern="1200">
                          <a:effectLst/>
                          <a:latin typeface="Time Roman" pitchFamily="2" charset="0"/>
                        </a:rPr>
                        <a:t>Status</a:t>
                      </a:r>
                      <a:endParaRPr lang="en-IN" sz="1300">
                        <a:effectLst/>
                        <a:latin typeface="Time Roman" pitchFamily="2" charset="0"/>
                        <a:ea typeface="Calibri" panose="020F0502020204030204" pitchFamily="34" charset="0"/>
                        <a:cs typeface="Times New Roman" panose="02020603050405020304" pitchFamily="18" charset="0"/>
                      </a:endParaRPr>
                    </a:p>
                  </a:txBody>
                  <a:tcPr marL="72040" marR="72040" marT="36020" marB="36020" anchor="ctr"/>
                </a:tc>
                <a:tc>
                  <a:txBody>
                    <a:bodyPr/>
                    <a:lstStyle/>
                    <a:p>
                      <a:pPr algn="ctr" fontAlgn="base">
                        <a:lnSpc>
                          <a:spcPct val="107000"/>
                        </a:lnSpc>
                        <a:spcAft>
                          <a:spcPts val="800"/>
                        </a:spcAft>
                      </a:pPr>
                      <a:r>
                        <a:rPr lang="en-IN" sz="1300" kern="1200" dirty="0">
                          <a:effectLst/>
                          <a:latin typeface="Time Roman" pitchFamily="2" charset="0"/>
                        </a:rPr>
                        <a:t>Varchar</a:t>
                      </a:r>
                      <a:endParaRPr lang="en-IN" sz="1300" dirty="0">
                        <a:effectLst/>
                        <a:latin typeface="Time Roman" pitchFamily="2" charset="0"/>
                        <a:ea typeface="Calibri" panose="020F0502020204030204" pitchFamily="34" charset="0"/>
                        <a:cs typeface="Times New Roman" panose="02020603050405020304" pitchFamily="18" charset="0"/>
                      </a:endParaRPr>
                    </a:p>
                  </a:txBody>
                  <a:tcPr marL="72040" marR="72040" marT="36020" marB="36020" anchor="ctr"/>
                </a:tc>
                <a:tc>
                  <a:txBody>
                    <a:bodyPr/>
                    <a:lstStyle/>
                    <a:p>
                      <a:pPr algn="ctr">
                        <a:lnSpc>
                          <a:spcPct val="107000"/>
                        </a:lnSpc>
                        <a:spcAft>
                          <a:spcPts val="800"/>
                        </a:spcAft>
                      </a:pPr>
                      <a:r>
                        <a:rPr lang="en-IN" sz="1300" dirty="0">
                          <a:effectLst/>
                          <a:latin typeface="Time Roman" pitchFamily="2" charset="0"/>
                        </a:rPr>
                        <a:t> </a:t>
                      </a:r>
                    </a:p>
                    <a:p>
                      <a:pPr algn="ctr">
                        <a:lnSpc>
                          <a:spcPct val="107000"/>
                        </a:lnSpc>
                        <a:spcAft>
                          <a:spcPts val="800"/>
                        </a:spcAft>
                      </a:pPr>
                      <a:r>
                        <a:rPr lang="en-IN" sz="1300" dirty="0">
                          <a:effectLst/>
                          <a:latin typeface="Time Roman" pitchFamily="2" charset="0"/>
                        </a:rPr>
                        <a:t>30</a:t>
                      </a:r>
                      <a:endParaRPr lang="en-IN" sz="1300" dirty="0">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a:lnSpc>
                          <a:spcPct val="107000"/>
                        </a:lnSpc>
                        <a:spcAft>
                          <a:spcPts val="800"/>
                        </a:spcAft>
                      </a:pPr>
                      <a:r>
                        <a:rPr lang="en-IN" sz="1300">
                          <a:effectLst/>
                          <a:latin typeface="Time Roman" pitchFamily="2" charset="0"/>
                        </a:rPr>
                        <a:t>Not null</a:t>
                      </a:r>
                      <a:endParaRPr lang="en-IN" sz="1300">
                        <a:effectLst/>
                        <a:latin typeface="Time Roman" pitchFamily="2" charset="0"/>
                        <a:ea typeface="Calibri" panose="020F0502020204030204" pitchFamily="34" charset="0"/>
                        <a:cs typeface="Times New Roman" panose="02020603050405020304" pitchFamily="18" charset="0"/>
                      </a:endParaRPr>
                    </a:p>
                  </a:txBody>
                  <a:tcPr marL="72040" marR="72040" marT="36020" marB="36020" anchor="ctr"/>
                </a:tc>
                <a:tc>
                  <a:txBody>
                    <a:bodyPr/>
                    <a:lstStyle/>
                    <a:p>
                      <a:pPr algn="ctr" fontAlgn="base">
                        <a:lnSpc>
                          <a:spcPct val="107000"/>
                        </a:lnSpc>
                        <a:spcAft>
                          <a:spcPts val="800"/>
                        </a:spcAft>
                      </a:pPr>
                      <a:r>
                        <a:rPr lang="en-IN" sz="1300" kern="1200" dirty="0">
                          <a:effectLst/>
                          <a:latin typeface="Time Roman" pitchFamily="2" charset="0"/>
                        </a:rPr>
                        <a:t>Current status of the election</a:t>
                      </a:r>
                      <a:endParaRPr lang="en-IN" sz="1300" dirty="0">
                        <a:effectLst/>
                        <a:latin typeface="Time Roman" pitchFamily="2" charset="0"/>
                        <a:ea typeface="Calibri" panose="020F0502020204030204" pitchFamily="34" charset="0"/>
                        <a:cs typeface="Times New Roman" panose="02020603050405020304" pitchFamily="18" charset="0"/>
                      </a:endParaRPr>
                    </a:p>
                  </a:txBody>
                  <a:tcPr marL="72040" marR="72040" marT="36020" marB="36020" anchor="ctr"/>
                </a:tc>
                <a:extLst>
                  <a:ext uri="{0D108BD9-81ED-4DB2-BD59-A6C34878D82A}">
                    <a16:rowId xmlns="" xmlns:a16="http://schemas.microsoft.com/office/drawing/2014/main" val="2770797630"/>
                  </a:ext>
                </a:extLst>
              </a:tr>
            </a:tbl>
          </a:graphicData>
        </a:graphic>
      </p:graphicFrame>
    </p:spTree>
    <p:extLst>
      <p:ext uri="{BB962C8B-B14F-4D97-AF65-F5344CB8AC3E}">
        <p14:creationId xmlns:p14="http://schemas.microsoft.com/office/powerpoint/2010/main" val="1526975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lowchart: Delay 9"/>
          <p:cNvSpPr/>
          <p:nvPr/>
        </p:nvSpPr>
        <p:spPr>
          <a:xfrm>
            <a:off x="762000" y="6429396"/>
            <a:ext cx="8354457" cy="428604"/>
          </a:xfrm>
          <a:prstGeom prst="flowChartDelay">
            <a:avLst/>
          </a:prstGeom>
          <a:solidFill>
            <a:srgbClr val="00B0F0"/>
          </a:solidFill>
          <a:ln>
            <a:solidFill>
              <a:srgbClr val="00B0F0"/>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rPr>
              <a:t>Anna University, Chennai</a:t>
            </a:r>
            <a:endParaRPr lang="en-US"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endParaRPr>
          </a:p>
        </p:txBody>
      </p:sp>
      <p:sp>
        <p:nvSpPr>
          <p:cNvPr id="8" name="AutoShape 6" descr="Anna University - Wikipedia"/>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8" descr="Anna University - Wikipedia"/>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10" descr="Anna University - Wikipedia"/>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12" descr="Anna University - Wikipedia"/>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AutoShape 14" descr="Anna University - Wikipedia"/>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AutoShape 16" descr="Anna University - Wikipedia"/>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AutoShape 18" descr="Anna University - Wikipedia"/>
          <p:cNvSpPr>
            <a:spLocks noChangeAspect="1" noChangeArrowheads="1"/>
          </p:cNvSpPr>
          <p:nvPr/>
        </p:nvSpPr>
        <p:spPr bwMode="auto">
          <a:xfrm>
            <a:off x="1069975" y="769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AutoShape 20" descr="Anna University - Wikipedia"/>
          <p:cNvSpPr>
            <a:spLocks noChangeAspect="1" noChangeArrowheads="1"/>
          </p:cNvSpPr>
          <p:nvPr/>
        </p:nvSpPr>
        <p:spPr bwMode="auto">
          <a:xfrm>
            <a:off x="1222375" y="922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AutoShape 22" descr="Anna University - Wikipedia"/>
          <p:cNvSpPr>
            <a:spLocks noChangeAspect="1" noChangeArrowheads="1"/>
          </p:cNvSpPr>
          <p:nvPr/>
        </p:nvSpPr>
        <p:spPr bwMode="auto">
          <a:xfrm>
            <a:off x="1374775" y="1074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AutoShape 24" descr="Anna University - Wikipedia"/>
          <p:cNvSpPr>
            <a:spLocks noChangeAspect="1" noChangeArrowheads="1"/>
          </p:cNvSpPr>
          <p:nvPr/>
        </p:nvSpPr>
        <p:spPr bwMode="auto">
          <a:xfrm>
            <a:off x="1527175" y="1227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50" name="Picture 26" descr="undefine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051" y="6186522"/>
            <a:ext cx="675701" cy="67147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3051" y="276285"/>
            <a:ext cx="9083406" cy="6017032"/>
          </a:xfrm>
          <a:prstGeom prst="rect">
            <a:avLst/>
          </a:prstGeom>
        </p:spPr>
        <p:txBody>
          <a:bodyPr wrap="square">
            <a:spAutoFit/>
          </a:bodyPr>
          <a:lstStyle/>
          <a:p>
            <a:pPr algn="ctr"/>
            <a:r>
              <a:rPr lang="en-US" sz="2400" b="1" dirty="0" smtClean="0">
                <a:latin typeface="Times New Roman" pitchFamily="18" charset="0"/>
                <a:cs typeface="Times New Roman" pitchFamily="18" charset="0"/>
              </a:rPr>
              <a:t>DATABASE </a:t>
            </a:r>
            <a:r>
              <a:rPr lang="en-US" sz="2400" b="1" dirty="0">
                <a:latin typeface="Times New Roman" pitchFamily="18" charset="0"/>
                <a:cs typeface="Times New Roman" pitchFamily="18" charset="0"/>
              </a:rPr>
              <a:t>DESCRIPTION</a:t>
            </a:r>
            <a:endParaRPr lang="en-US" sz="2300" b="1" dirty="0">
              <a:latin typeface="Times New Roman" pitchFamily="18" charset="0"/>
              <a:cs typeface="Times New Roman" pitchFamily="18" charset="0"/>
            </a:endParaRPr>
          </a:p>
          <a:p>
            <a:pPr algn="ctr"/>
            <a:endParaRPr lang="en-US" sz="2000" b="1" dirty="0">
              <a:latin typeface="Times New Roman" pitchFamily="18" charset="0"/>
              <a:cs typeface="Times New Roman" pitchFamily="18" charset="0"/>
            </a:endParaRPr>
          </a:p>
          <a:p>
            <a:pPr algn="ctr"/>
            <a:r>
              <a:rPr lang="en-US" sz="2400" b="1" dirty="0">
                <a:solidFill>
                  <a:srgbClr val="000000"/>
                </a:solidFill>
                <a:effectLst/>
                <a:latin typeface="Times New Roman" panose="02020603050405020304" pitchFamily="18" charset="0"/>
                <a:ea typeface="Times New Roman" panose="02020603050405020304" pitchFamily="18" charset="0"/>
              </a:rPr>
              <a:t>Online Voting System Web Application in Python</a:t>
            </a:r>
            <a:endParaRPr lang="en-US" sz="24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pPr algn="ctr"/>
            <a:r>
              <a:rPr lang="en-US" dirty="0">
                <a:latin typeface="Times New Roman" pitchFamily="18" charset="0"/>
                <a:cs typeface="Times New Roman" pitchFamily="18" charset="0"/>
              </a:rPr>
              <a:t>Table No: 3. </a:t>
            </a:r>
            <a:r>
              <a:rPr lang="en-IN" dirty="0">
                <a:effectLst/>
                <a:latin typeface="Times New Roman" panose="02020603050405020304" pitchFamily="18" charset="0"/>
                <a:ea typeface="Times New Roman" panose="02020603050405020304" pitchFamily="18" charset="0"/>
              </a:rPr>
              <a:t>Candidates</a:t>
            </a:r>
            <a:endParaRPr lang="en-US" b="1" dirty="0">
              <a:latin typeface="Times New Roman" pitchFamily="18" charset="0"/>
              <a:cs typeface="Times New Roman" pitchFamily="18" charset="0"/>
            </a:endParaRPr>
          </a:p>
        </p:txBody>
      </p:sp>
      <p:graphicFrame>
        <p:nvGraphicFramePr>
          <p:cNvPr id="2" name="Table 1">
            <a:extLst>
              <a:ext uri="{FF2B5EF4-FFF2-40B4-BE49-F238E27FC236}">
                <a16:creationId xmlns="" xmlns:a16="http://schemas.microsoft.com/office/drawing/2014/main" id="{0E002CA2-8105-8367-9355-220601B674FB}"/>
              </a:ext>
            </a:extLst>
          </p:cNvPr>
          <p:cNvGraphicFramePr>
            <a:graphicFrameLocks noGrp="1"/>
          </p:cNvGraphicFramePr>
          <p:nvPr>
            <p:extLst>
              <p:ext uri="{D42A27DB-BD31-4B8C-83A1-F6EECF244321}">
                <p14:modId xmlns:p14="http://schemas.microsoft.com/office/powerpoint/2010/main" val="3394385461"/>
              </p:ext>
            </p:extLst>
          </p:nvPr>
        </p:nvGraphicFramePr>
        <p:xfrm>
          <a:off x="370901" y="1363217"/>
          <a:ext cx="8455024" cy="4619371"/>
        </p:xfrm>
        <a:graphic>
          <a:graphicData uri="http://schemas.openxmlformats.org/drawingml/2006/table">
            <a:tbl>
              <a:tblPr>
                <a:tableStyleId>{616DA210-FB5B-4158-B5E0-FEB733F419BA}</a:tableStyleId>
              </a:tblPr>
              <a:tblGrid>
                <a:gridCol w="682625">
                  <a:extLst>
                    <a:ext uri="{9D8B030D-6E8A-4147-A177-3AD203B41FA5}">
                      <a16:colId xmlns="" xmlns:a16="http://schemas.microsoft.com/office/drawing/2014/main" val="2300746831"/>
                    </a:ext>
                  </a:extLst>
                </a:gridCol>
                <a:gridCol w="1588350">
                  <a:extLst>
                    <a:ext uri="{9D8B030D-6E8A-4147-A177-3AD203B41FA5}">
                      <a16:colId xmlns="" xmlns:a16="http://schemas.microsoft.com/office/drawing/2014/main" val="783954190"/>
                    </a:ext>
                  </a:extLst>
                </a:gridCol>
                <a:gridCol w="1112992">
                  <a:extLst>
                    <a:ext uri="{9D8B030D-6E8A-4147-A177-3AD203B41FA5}">
                      <a16:colId xmlns="" xmlns:a16="http://schemas.microsoft.com/office/drawing/2014/main" val="1634823885"/>
                    </a:ext>
                  </a:extLst>
                </a:gridCol>
                <a:gridCol w="1047464">
                  <a:extLst>
                    <a:ext uri="{9D8B030D-6E8A-4147-A177-3AD203B41FA5}">
                      <a16:colId xmlns="" xmlns:a16="http://schemas.microsoft.com/office/drawing/2014/main" val="3946450418"/>
                    </a:ext>
                  </a:extLst>
                </a:gridCol>
                <a:gridCol w="2038203">
                  <a:extLst>
                    <a:ext uri="{9D8B030D-6E8A-4147-A177-3AD203B41FA5}">
                      <a16:colId xmlns="" xmlns:a16="http://schemas.microsoft.com/office/drawing/2014/main" val="3081472487"/>
                    </a:ext>
                  </a:extLst>
                </a:gridCol>
                <a:gridCol w="1985390">
                  <a:extLst>
                    <a:ext uri="{9D8B030D-6E8A-4147-A177-3AD203B41FA5}">
                      <a16:colId xmlns="" xmlns:a16="http://schemas.microsoft.com/office/drawing/2014/main" val="4027802757"/>
                    </a:ext>
                  </a:extLst>
                </a:gridCol>
              </a:tblGrid>
              <a:tr h="769480">
                <a:tc>
                  <a:txBody>
                    <a:bodyPr/>
                    <a:lstStyle/>
                    <a:p>
                      <a:pPr fontAlgn="b">
                        <a:lnSpc>
                          <a:spcPct val="107000"/>
                        </a:lnSpc>
                        <a:spcAft>
                          <a:spcPts val="800"/>
                        </a:spcAft>
                      </a:pPr>
                      <a:r>
                        <a:rPr lang="en-IN" sz="1300" b="1" kern="1200" dirty="0">
                          <a:effectLst/>
                          <a:latin typeface="Time Roman" pitchFamily="2" charset="0"/>
                        </a:rPr>
                        <a:t> </a:t>
                      </a:r>
                      <a:endParaRPr lang="en-IN" sz="1300" b="1" dirty="0">
                        <a:effectLst/>
                        <a:latin typeface="Time Roman" pitchFamily="2" charset="0"/>
                      </a:endParaRPr>
                    </a:p>
                    <a:p>
                      <a:pPr fontAlgn="b">
                        <a:lnSpc>
                          <a:spcPct val="107000"/>
                        </a:lnSpc>
                        <a:spcAft>
                          <a:spcPts val="800"/>
                        </a:spcAft>
                      </a:pPr>
                      <a:r>
                        <a:rPr lang="en-IN" sz="1300" b="1" kern="1200" dirty="0">
                          <a:effectLst/>
                          <a:latin typeface="Time Roman" pitchFamily="2" charset="0"/>
                        </a:rPr>
                        <a:t> </a:t>
                      </a:r>
                      <a:endParaRPr lang="en-IN" sz="1300" b="1" dirty="0">
                        <a:effectLst/>
                        <a:latin typeface="Time Roman" pitchFamily="2" charset="0"/>
                      </a:endParaRPr>
                    </a:p>
                    <a:p>
                      <a:pPr fontAlgn="b">
                        <a:lnSpc>
                          <a:spcPct val="107000"/>
                        </a:lnSpc>
                        <a:spcAft>
                          <a:spcPts val="800"/>
                        </a:spcAft>
                      </a:pPr>
                      <a:r>
                        <a:rPr lang="en-IN" sz="1300" b="1" kern="1200" dirty="0">
                          <a:effectLst/>
                          <a:latin typeface="Time Roman" pitchFamily="2" charset="0"/>
                        </a:rPr>
                        <a:t>     S.NO</a:t>
                      </a:r>
                      <a:endParaRPr lang="en-IN" sz="1300" b="1" dirty="0">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fontAlgn="b">
                        <a:lnSpc>
                          <a:spcPct val="107000"/>
                        </a:lnSpc>
                        <a:spcAft>
                          <a:spcPts val="800"/>
                        </a:spcAft>
                      </a:pPr>
                      <a:r>
                        <a:rPr lang="en-IN" sz="1300" b="1" kern="1200" dirty="0">
                          <a:effectLst/>
                          <a:latin typeface="Time Roman" pitchFamily="2" charset="0"/>
                        </a:rPr>
                        <a:t>     FILED NAME</a:t>
                      </a:r>
                      <a:endParaRPr lang="en-IN" sz="1300" b="1" dirty="0">
                        <a:effectLst/>
                        <a:latin typeface="Time Roman" pitchFamily="2" charset="0"/>
                        <a:ea typeface="Calibri" panose="020F0502020204030204" pitchFamily="34" charset="0"/>
                        <a:cs typeface="Times New Roman" panose="02020603050405020304" pitchFamily="18" charset="0"/>
                      </a:endParaRPr>
                    </a:p>
                  </a:txBody>
                  <a:tcPr marL="43097" marR="43097" marT="21549" marB="21549" anchor="b"/>
                </a:tc>
                <a:tc>
                  <a:txBody>
                    <a:bodyPr/>
                    <a:lstStyle/>
                    <a:p>
                      <a:pPr algn="ctr" fontAlgn="b">
                        <a:lnSpc>
                          <a:spcPct val="107000"/>
                        </a:lnSpc>
                        <a:spcAft>
                          <a:spcPts val="800"/>
                        </a:spcAft>
                      </a:pPr>
                      <a:r>
                        <a:rPr lang="en-IN" sz="1300" b="1" kern="1200" dirty="0">
                          <a:effectLst/>
                          <a:latin typeface="Time Roman" pitchFamily="2" charset="0"/>
                        </a:rPr>
                        <a:t>DATA TYPE</a:t>
                      </a:r>
                      <a:endParaRPr lang="en-IN" sz="1300" b="1" dirty="0">
                        <a:effectLst/>
                        <a:latin typeface="Time Roman" pitchFamily="2" charset="0"/>
                        <a:ea typeface="Calibri" panose="020F0502020204030204" pitchFamily="34" charset="0"/>
                        <a:cs typeface="Times New Roman" panose="02020603050405020304" pitchFamily="18" charset="0"/>
                      </a:endParaRPr>
                    </a:p>
                  </a:txBody>
                  <a:tcPr marL="43097" marR="43097" marT="21549" marB="21549" anchor="b"/>
                </a:tc>
                <a:tc>
                  <a:txBody>
                    <a:bodyPr/>
                    <a:lstStyle/>
                    <a:p>
                      <a:pPr algn="ctr" fontAlgn="b">
                        <a:lnSpc>
                          <a:spcPct val="107000"/>
                        </a:lnSpc>
                        <a:spcAft>
                          <a:spcPts val="800"/>
                        </a:spcAft>
                      </a:pPr>
                      <a:endParaRPr lang="en-IN" sz="1300" b="1" kern="1200" dirty="0">
                        <a:effectLst/>
                        <a:latin typeface="Time Roman" pitchFamily="2" charset="0"/>
                      </a:endParaRPr>
                    </a:p>
                    <a:p>
                      <a:pPr algn="ctr" fontAlgn="b">
                        <a:lnSpc>
                          <a:spcPct val="107000"/>
                        </a:lnSpc>
                        <a:spcAft>
                          <a:spcPts val="800"/>
                        </a:spcAft>
                      </a:pPr>
                      <a:endParaRPr lang="en-IN" sz="1300" b="1" kern="1200" dirty="0">
                        <a:effectLst/>
                        <a:latin typeface="Time Roman" pitchFamily="2" charset="0"/>
                      </a:endParaRPr>
                    </a:p>
                    <a:p>
                      <a:pPr algn="ctr" fontAlgn="b">
                        <a:lnSpc>
                          <a:spcPct val="107000"/>
                        </a:lnSpc>
                        <a:spcAft>
                          <a:spcPts val="800"/>
                        </a:spcAft>
                      </a:pPr>
                      <a:r>
                        <a:rPr lang="en-IN" sz="1300" b="1" kern="1200" dirty="0">
                          <a:effectLst/>
                          <a:latin typeface="Time Roman" pitchFamily="2" charset="0"/>
                        </a:rPr>
                        <a:t> SIZE</a:t>
                      </a:r>
                      <a:endParaRPr lang="en-IN" sz="1300" b="1" dirty="0">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fontAlgn="b">
                        <a:lnSpc>
                          <a:spcPct val="107000"/>
                        </a:lnSpc>
                        <a:spcAft>
                          <a:spcPts val="800"/>
                        </a:spcAft>
                      </a:pPr>
                      <a:r>
                        <a:rPr lang="en-IN" sz="1300" b="1" kern="1200" dirty="0">
                          <a:effectLst/>
                          <a:latin typeface="Time Roman" pitchFamily="2" charset="0"/>
                        </a:rPr>
                        <a:t>          CONSTRAINTS</a:t>
                      </a:r>
                      <a:endParaRPr lang="en-IN" sz="1300" b="1" dirty="0">
                        <a:effectLst/>
                        <a:latin typeface="Time Roman" pitchFamily="2" charset="0"/>
                        <a:ea typeface="Calibri" panose="020F0502020204030204" pitchFamily="34" charset="0"/>
                        <a:cs typeface="Times New Roman" panose="02020603050405020304" pitchFamily="18" charset="0"/>
                      </a:endParaRPr>
                    </a:p>
                  </a:txBody>
                  <a:tcPr marL="43097" marR="43097" marT="21549" marB="21549" anchor="b"/>
                </a:tc>
                <a:tc>
                  <a:txBody>
                    <a:bodyPr/>
                    <a:lstStyle/>
                    <a:p>
                      <a:pPr algn="ctr" fontAlgn="b">
                        <a:lnSpc>
                          <a:spcPct val="107000"/>
                        </a:lnSpc>
                        <a:spcAft>
                          <a:spcPts val="800"/>
                        </a:spcAft>
                      </a:pPr>
                      <a:r>
                        <a:rPr lang="en-IN" sz="1300" b="1" kern="1200" dirty="0">
                          <a:effectLst/>
                          <a:latin typeface="Time Roman" pitchFamily="2" charset="0"/>
                        </a:rPr>
                        <a:t>DESCRIPTION</a:t>
                      </a:r>
                      <a:endParaRPr lang="en-IN" sz="1300" b="1" dirty="0">
                        <a:effectLst/>
                        <a:latin typeface="Time Roman" pitchFamily="2" charset="0"/>
                        <a:ea typeface="Calibri" panose="020F0502020204030204" pitchFamily="34" charset="0"/>
                        <a:cs typeface="Times New Roman" panose="02020603050405020304" pitchFamily="18" charset="0"/>
                      </a:endParaRPr>
                    </a:p>
                  </a:txBody>
                  <a:tcPr marL="43097" marR="43097" marT="21549" marB="21549" anchor="b"/>
                </a:tc>
                <a:extLst>
                  <a:ext uri="{0D108BD9-81ED-4DB2-BD59-A6C34878D82A}">
                    <a16:rowId xmlns="" xmlns:a16="http://schemas.microsoft.com/office/drawing/2014/main" val="714042362"/>
                  </a:ext>
                </a:extLst>
              </a:tr>
              <a:tr h="491093">
                <a:tc>
                  <a:txBody>
                    <a:bodyPr/>
                    <a:lstStyle/>
                    <a:p>
                      <a:pPr algn="ctr" fontAlgn="base">
                        <a:lnSpc>
                          <a:spcPct val="107000"/>
                        </a:lnSpc>
                        <a:spcAft>
                          <a:spcPts val="800"/>
                        </a:spcAft>
                      </a:pPr>
                      <a:r>
                        <a:rPr lang="en-IN" sz="1300" kern="1200" dirty="0">
                          <a:effectLst/>
                          <a:latin typeface="Time Roman" pitchFamily="2" charset="0"/>
                        </a:rPr>
                        <a:t> </a:t>
                      </a:r>
                      <a:endParaRPr lang="en-IN" sz="1300" dirty="0">
                        <a:effectLst/>
                        <a:latin typeface="Time Roman" pitchFamily="2" charset="0"/>
                      </a:endParaRPr>
                    </a:p>
                    <a:p>
                      <a:pPr algn="ctr" fontAlgn="base">
                        <a:lnSpc>
                          <a:spcPct val="107000"/>
                        </a:lnSpc>
                        <a:spcAft>
                          <a:spcPts val="800"/>
                        </a:spcAft>
                      </a:pPr>
                      <a:r>
                        <a:rPr lang="en-IN" sz="1300" kern="1200" dirty="0">
                          <a:effectLst/>
                          <a:latin typeface="Time Roman" pitchFamily="2" charset="0"/>
                        </a:rPr>
                        <a:t>1</a:t>
                      </a:r>
                      <a:endParaRPr lang="en-IN" sz="1300" dirty="0">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fontAlgn="base">
                        <a:lnSpc>
                          <a:spcPct val="107000"/>
                        </a:lnSpc>
                        <a:spcAft>
                          <a:spcPts val="800"/>
                        </a:spcAft>
                      </a:pPr>
                      <a:r>
                        <a:rPr lang="en-IN" sz="1300" kern="1200">
                          <a:effectLst/>
                          <a:latin typeface="Time Roman" pitchFamily="2" charset="0"/>
                        </a:rPr>
                        <a:t>Candidate_id</a:t>
                      </a:r>
                      <a:endParaRPr lang="en-IN" sz="1300">
                        <a:effectLst/>
                        <a:latin typeface="Time Roman" pitchFamily="2" charset="0"/>
                        <a:ea typeface="Calibri" panose="020F0502020204030204" pitchFamily="34" charset="0"/>
                        <a:cs typeface="Times New Roman" panose="02020603050405020304" pitchFamily="18" charset="0"/>
                      </a:endParaRPr>
                    </a:p>
                  </a:txBody>
                  <a:tcPr marL="43097" marR="43097" marT="21549" marB="21549" anchor="ctr"/>
                </a:tc>
                <a:tc>
                  <a:txBody>
                    <a:bodyPr/>
                    <a:lstStyle/>
                    <a:p>
                      <a:pPr algn="ctr" fontAlgn="base">
                        <a:lnSpc>
                          <a:spcPct val="107000"/>
                        </a:lnSpc>
                        <a:spcAft>
                          <a:spcPts val="800"/>
                        </a:spcAft>
                      </a:pPr>
                      <a:r>
                        <a:rPr lang="en-IN" sz="1300" kern="1200">
                          <a:effectLst/>
                          <a:latin typeface="Time Roman" pitchFamily="2" charset="0"/>
                        </a:rPr>
                        <a:t>Int</a:t>
                      </a:r>
                      <a:endParaRPr lang="en-IN" sz="1300">
                        <a:effectLst/>
                        <a:latin typeface="Time Roman" pitchFamily="2" charset="0"/>
                        <a:ea typeface="Calibri" panose="020F0502020204030204" pitchFamily="34" charset="0"/>
                        <a:cs typeface="Times New Roman" panose="02020603050405020304" pitchFamily="18" charset="0"/>
                      </a:endParaRPr>
                    </a:p>
                  </a:txBody>
                  <a:tcPr marL="43097" marR="43097" marT="21549" marB="21549" anchor="ctr"/>
                </a:tc>
                <a:tc>
                  <a:txBody>
                    <a:bodyPr/>
                    <a:lstStyle/>
                    <a:p>
                      <a:pPr algn="ctr" fontAlgn="base">
                        <a:lnSpc>
                          <a:spcPct val="107000"/>
                        </a:lnSpc>
                        <a:spcAft>
                          <a:spcPts val="800"/>
                        </a:spcAft>
                      </a:pPr>
                      <a:r>
                        <a:rPr lang="en-IN" sz="1300" kern="1200">
                          <a:effectLst/>
                          <a:latin typeface="Time Roman" pitchFamily="2" charset="0"/>
                        </a:rPr>
                        <a:t> </a:t>
                      </a:r>
                      <a:endParaRPr lang="en-IN" sz="1300">
                        <a:effectLst/>
                        <a:latin typeface="Time Roman" pitchFamily="2" charset="0"/>
                      </a:endParaRPr>
                    </a:p>
                    <a:p>
                      <a:pPr algn="ctr" fontAlgn="base">
                        <a:lnSpc>
                          <a:spcPct val="107000"/>
                        </a:lnSpc>
                        <a:spcAft>
                          <a:spcPts val="800"/>
                        </a:spcAft>
                      </a:pPr>
                      <a:r>
                        <a:rPr lang="en-IN" sz="1300" kern="1200">
                          <a:effectLst/>
                          <a:latin typeface="Time Roman" pitchFamily="2" charset="0"/>
                        </a:rPr>
                        <a:t>20</a:t>
                      </a:r>
                      <a:endParaRPr lang="en-IN" sz="1300">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fontAlgn="base">
                        <a:lnSpc>
                          <a:spcPct val="107000"/>
                        </a:lnSpc>
                        <a:spcAft>
                          <a:spcPts val="800"/>
                        </a:spcAft>
                      </a:pPr>
                      <a:r>
                        <a:rPr lang="en-IN" sz="1300" kern="1200">
                          <a:effectLst/>
                          <a:latin typeface="Time Roman" pitchFamily="2" charset="0"/>
                        </a:rPr>
                        <a:t>Primary key</a:t>
                      </a:r>
                      <a:endParaRPr lang="en-IN" sz="1300">
                        <a:effectLst/>
                        <a:latin typeface="Time Roman" pitchFamily="2" charset="0"/>
                        <a:ea typeface="Calibri" panose="020F0502020204030204" pitchFamily="34" charset="0"/>
                        <a:cs typeface="Times New Roman" panose="02020603050405020304" pitchFamily="18" charset="0"/>
                      </a:endParaRPr>
                    </a:p>
                  </a:txBody>
                  <a:tcPr marL="43097" marR="43097" marT="21549" marB="21549" anchor="ctr"/>
                </a:tc>
                <a:tc>
                  <a:txBody>
                    <a:bodyPr/>
                    <a:lstStyle/>
                    <a:p>
                      <a:pPr algn="ctr" fontAlgn="base">
                        <a:lnSpc>
                          <a:spcPct val="107000"/>
                        </a:lnSpc>
                        <a:spcAft>
                          <a:spcPts val="800"/>
                        </a:spcAft>
                      </a:pPr>
                      <a:r>
                        <a:rPr lang="en-IN" sz="1300" kern="1200">
                          <a:effectLst/>
                          <a:latin typeface="Time Roman" pitchFamily="2" charset="0"/>
                        </a:rPr>
                        <a:t>Unique identifier for each candidate</a:t>
                      </a:r>
                      <a:endParaRPr lang="en-IN" sz="1300">
                        <a:effectLst/>
                        <a:latin typeface="Time Roman" pitchFamily="2" charset="0"/>
                        <a:ea typeface="Calibri" panose="020F0502020204030204" pitchFamily="34" charset="0"/>
                        <a:cs typeface="Times New Roman" panose="02020603050405020304" pitchFamily="18" charset="0"/>
                      </a:endParaRPr>
                    </a:p>
                  </a:txBody>
                  <a:tcPr marL="43097" marR="43097" marT="21549" marB="21549" anchor="ctr"/>
                </a:tc>
                <a:extLst>
                  <a:ext uri="{0D108BD9-81ED-4DB2-BD59-A6C34878D82A}">
                    <a16:rowId xmlns="" xmlns:a16="http://schemas.microsoft.com/office/drawing/2014/main" val="2517799804"/>
                  </a:ext>
                </a:extLst>
              </a:tr>
              <a:tr h="491093">
                <a:tc>
                  <a:txBody>
                    <a:bodyPr/>
                    <a:lstStyle/>
                    <a:p>
                      <a:pPr algn="ctr" fontAlgn="base">
                        <a:lnSpc>
                          <a:spcPct val="107000"/>
                        </a:lnSpc>
                        <a:spcAft>
                          <a:spcPts val="800"/>
                        </a:spcAft>
                      </a:pPr>
                      <a:r>
                        <a:rPr lang="en-IN" sz="1300" kern="1200">
                          <a:effectLst/>
                          <a:latin typeface="Time Roman" pitchFamily="2" charset="0"/>
                        </a:rPr>
                        <a:t> </a:t>
                      </a:r>
                      <a:endParaRPr lang="en-IN" sz="1300">
                        <a:effectLst/>
                        <a:latin typeface="Time Roman" pitchFamily="2" charset="0"/>
                      </a:endParaRPr>
                    </a:p>
                    <a:p>
                      <a:pPr algn="ctr" fontAlgn="base">
                        <a:lnSpc>
                          <a:spcPct val="107000"/>
                        </a:lnSpc>
                        <a:spcAft>
                          <a:spcPts val="800"/>
                        </a:spcAft>
                      </a:pPr>
                      <a:r>
                        <a:rPr lang="en-IN" sz="1300" kern="1200">
                          <a:effectLst/>
                          <a:latin typeface="Time Roman" pitchFamily="2" charset="0"/>
                        </a:rPr>
                        <a:t>2</a:t>
                      </a:r>
                      <a:endParaRPr lang="en-IN" sz="1300">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fontAlgn="base">
                        <a:lnSpc>
                          <a:spcPct val="107000"/>
                        </a:lnSpc>
                        <a:spcAft>
                          <a:spcPts val="800"/>
                        </a:spcAft>
                      </a:pPr>
                      <a:r>
                        <a:rPr lang="en-IN" sz="1300" kern="1200" dirty="0" err="1">
                          <a:effectLst/>
                          <a:latin typeface="Time Roman" pitchFamily="2" charset="0"/>
                        </a:rPr>
                        <a:t>Election_id</a:t>
                      </a:r>
                      <a:endParaRPr lang="en-IN" sz="1300" dirty="0">
                        <a:effectLst/>
                        <a:latin typeface="Time Roman" pitchFamily="2" charset="0"/>
                        <a:ea typeface="Calibri" panose="020F0502020204030204" pitchFamily="34" charset="0"/>
                        <a:cs typeface="Times New Roman" panose="02020603050405020304" pitchFamily="18" charset="0"/>
                      </a:endParaRPr>
                    </a:p>
                  </a:txBody>
                  <a:tcPr marL="43097" marR="43097" marT="21549" marB="21549" anchor="ctr"/>
                </a:tc>
                <a:tc>
                  <a:txBody>
                    <a:bodyPr/>
                    <a:lstStyle/>
                    <a:p>
                      <a:pPr algn="ctr" fontAlgn="base">
                        <a:lnSpc>
                          <a:spcPct val="107000"/>
                        </a:lnSpc>
                        <a:spcAft>
                          <a:spcPts val="800"/>
                        </a:spcAft>
                      </a:pPr>
                      <a:r>
                        <a:rPr lang="en-IN" sz="1300" kern="1200">
                          <a:effectLst/>
                          <a:latin typeface="Time Roman" pitchFamily="2" charset="0"/>
                        </a:rPr>
                        <a:t>Int</a:t>
                      </a:r>
                      <a:endParaRPr lang="en-IN" sz="1300">
                        <a:effectLst/>
                        <a:latin typeface="Time Roman" pitchFamily="2" charset="0"/>
                        <a:ea typeface="Calibri" panose="020F0502020204030204" pitchFamily="34" charset="0"/>
                        <a:cs typeface="Times New Roman" panose="02020603050405020304" pitchFamily="18" charset="0"/>
                      </a:endParaRPr>
                    </a:p>
                  </a:txBody>
                  <a:tcPr marL="43097" marR="43097" marT="21549" marB="21549" anchor="ctr"/>
                </a:tc>
                <a:tc>
                  <a:txBody>
                    <a:bodyPr/>
                    <a:lstStyle/>
                    <a:p>
                      <a:pPr algn="ctr" fontAlgn="base">
                        <a:lnSpc>
                          <a:spcPct val="107000"/>
                        </a:lnSpc>
                        <a:spcAft>
                          <a:spcPts val="800"/>
                        </a:spcAft>
                      </a:pPr>
                      <a:r>
                        <a:rPr lang="en-IN" sz="1300" kern="1200">
                          <a:effectLst/>
                          <a:latin typeface="Time Roman" pitchFamily="2" charset="0"/>
                        </a:rPr>
                        <a:t> </a:t>
                      </a:r>
                      <a:endParaRPr lang="en-IN" sz="1300">
                        <a:effectLst/>
                        <a:latin typeface="Time Roman" pitchFamily="2" charset="0"/>
                      </a:endParaRPr>
                    </a:p>
                    <a:p>
                      <a:pPr algn="ctr" fontAlgn="base">
                        <a:lnSpc>
                          <a:spcPct val="107000"/>
                        </a:lnSpc>
                        <a:spcAft>
                          <a:spcPts val="800"/>
                        </a:spcAft>
                      </a:pPr>
                      <a:r>
                        <a:rPr lang="en-IN" sz="1300" kern="1200">
                          <a:effectLst/>
                          <a:latin typeface="Time Roman" pitchFamily="2" charset="0"/>
                        </a:rPr>
                        <a:t>30</a:t>
                      </a:r>
                      <a:endParaRPr lang="en-IN" sz="1300">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fontAlgn="base">
                        <a:lnSpc>
                          <a:spcPct val="107000"/>
                        </a:lnSpc>
                        <a:spcAft>
                          <a:spcPts val="800"/>
                        </a:spcAft>
                      </a:pPr>
                      <a:r>
                        <a:rPr lang="en-IN" sz="1300" kern="1200">
                          <a:effectLst/>
                          <a:latin typeface="Time Roman" pitchFamily="2" charset="0"/>
                        </a:rPr>
                        <a:t>Foreign key</a:t>
                      </a:r>
                      <a:endParaRPr lang="en-IN" sz="1300">
                        <a:effectLst/>
                        <a:latin typeface="Time Roman" pitchFamily="2" charset="0"/>
                        <a:ea typeface="Calibri" panose="020F0502020204030204" pitchFamily="34" charset="0"/>
                        <a:cs typeface="Times New Roman" panose="02020603050405020304" pitchFamily="18" charset="0"/>
                      </a:endParaRPr>
                    </a:p>
                  </a:txBody>
                  <a:tcPr marL="43097" marR="43097" marT="21549" marB="21549" anchor="ctr"/>
                </a:tc>
                <a:tc>
                  <a:txBody>
                    <a:bodyPr/>
                    <a:lstStyle/>
                    <a:p>
                      <a:pPr algn="ctr" fontAlgn="base">
                        <a:lnSpc>
                          <a:spcPct val="107000"/>
                        </a:lnSpc>
                        <a:spcAft>
                          <a:spcPts val="800"/>
                        </a:spcAft>
                      </a:pPr>
                      <a:r>
                        <a:rPr lang="en-IN" sz="1300" kern="1200">
                          <a:effectLst/>
                          <a:latin typeface="Time Roman" pitchFamily="2" charset="0"/>
                        </a:rPr>
                        <a:t>Identifier of the associated election</a:t>
                      </a:r>
                      <a:endParaRPr lang="en-IN" sz="1300">
                        <a:effectLst/>
                        <a:latin typeface="Time Roman" pitchFamily="2" charset="0"/>
                        <a:ea typeface="Calibri" panose="020F0502020204030204" pitchFamily="34" charset="0"/>
                        <a:cs typeface="Times New Roman" panose="02020603050405020304" pitchFamily="18" charset="0"/>
                      </a:endParaRPr>
                    </a:p>
                  </a:txBody>
                  <a:tcPr marL="43097" marR="43097" marT="21549" marB="21549" anchor="ctr"/>
                </a:tc>
                <a:extLst>
                  <a:ext uri="{0D108BD9-81ED-4DB2-BD59-A6C34878D82A}">
                    <a16:rowId xmlns="" xmlns:a16="http://schemas.microsoft.com/office/drawing/2014/main" val="23278932"/>
                  </a:ext>
                </a:extLst>
              </a:tr>
              <a:tr h="789740">
                <a:tc>
                  <a:txBody>
                    <a:bodyPr/>
                    <a:lstStyle/>
                    <a:p>
                      <a:pPr algn="ctr" fontAlgn="base">
                        <a:lnSpc>
                          <a:spcPct val="107000"/>
                        </a:lnSpc>
                        <a:spcAft>
                          <a:spcPts val="800"/>
                        </a:spcAft>
                      </a:pPr>
                      <a:r>
                        <a:rPr lang="en-IN" sz="1300" kern="1200">
                          <a:effectLst/>
                          <a:latin typeface="Time Roman" pitchFamily="2" charset="0"/>
                        </a:rPr>
                        <a:t>3</a:t>
                      </a:r>
                      <a:endParaRPr lang="en-IN" sz="1300">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fontAlgn="base">
                        <a:lnSpc>
                          <a:spcPct val="107000"/>
                        </a:lnSpc>
                        <a:spcAft>
                          <a:spcPts val="800"/>
                        </a:spcAft>
                      </a:pPr>
                      <a:r>
                        <a:rPr lang="en-IN" sz="1300" kern="1200" dirty="0">
                          <a:effectLst/>
                          <a:latin typeface="Time Roman" pitchFamily="2" charset="0"/>
                        </a:rPr>
                        <a:t>Name</a:t>
                      </a:r>
                      <a:endParaRPr lang="en-IN" sz="1300" dirty="0">
                        <a:effectLst/>
                        <a:latin typeface="Time Roman" pitchFamily="2" charset="0"/>
                        <a:ea typeface="Calibri" panose="020F0502020204030204" pitchFamily="34" charset="0"/>
                        <a:cs typeface="Times New Roman" panose="02020603050405020304" pitchFamily="18" charset="0"/>
                      </a:endParaRPr>
                    </a:p>
                  </a:txBody>
                  <a:tcPr marL="43097" marR="43097" marT="21549" marB="21549" anchor="ctr"/>
                </a:tc>
                <a:tc>
                  <a:txBody>
                    <a:bodyPr/>
                    <a:lstStyle/>
                    <a:p>
                      <a:pPr algn="ctr" fontAlgn="base">
                        <a:lnSpc>
                          <a:spcPct val="107000"/>
                        </a:lnSpc>
                        <a:spcAft>
                          <a:spcPts val="800"/>
                        </a:spcAft>
                      </a:pPr>
                      <a:r>
                        <a:rPr lang="en-IN" sz="1300" kern="1200">
                          <a:effectLst/>
                          <a:latin typeface="Time Roman" pitchFamily="2" charset="0"/>
                        </a:rPr>
                        <a:t>Varchar</a:t>
                      </a:r>
                      <a:endParaRPr lang="en-IN" sz="1300">
                        <a:effectLst/>
                        <a:latin typeface="Time Roman" pitchFamily="2" charset="0"/>
                        <a:ea typeface="Calibri" panose="020F0502020204030204" pitchFamily="34" charset="0"/>
                        <a:cs typeface="Times New Roman" panose="02020603050405020304" pitchFamily="18" charset="0"/>
                      </a:endParaRPr>
                    </a:p>
                  </a:txBody>
                  <a:tcPr marL="43097" marR="43097" marT="21549" marB="21549" anchor="ctr"/>
                </a:tc>
                <a:tc>
                  <a:txBody>
                    <a:bodyPr/>
                    <a:lstStyle/>
                    <a:p>
                      <a:pPr algn="ctr">
                        <a:lnSpc>
                          <a:spcPct val="107000"/>
                        </a:lnSpc>
                        <a:spcAft>
                          <a:spcPts val="800"/>
                        </a:spcAft>
                      </a:pPr>
                      <a:r>
                        <a:rPr lang="en-IN" sz="1300">
                          <a:effectLst/>
                          <a:latin typeface="Time Roman" pitchFamily="2" charset="0"/>
                        </a:rPr>
                        <a:t> </a:t>
                      </a:r>
                    </a:p>
                    <a:p>
                      <a:pPr algn="ctr">
                        <a:lnSpc>
                          <a:spcPct val="107000"/>
                        </a:lnSpc>
                        <a:spcAft>
                          <a:spcPts val="800"/>
                        </a:spcAft>
                      </a:pPr>
                      <a:r>
                        <a:rPr lang="en-IN" sz="1300">
                          <a:effectLst/>
                          <a:latin typeface="Time Roman" pitchFamily="2" charset="0"/>
                        </a:rPr>
                        <a:t>15</a:t>
                      </a:r>
                    </a:p>
                    <a:p>
                      <a:pPr algn="ctr">
                        <a:lnSpc>
                          <a:spcPct val="107000"/>
                        </a:lnSpc>
                        <a:spcAft>
                          <a:spcPts val="800"/>
                        </a:spcAft>
                      </a:pPr>
                      <a:r>
                        <a:rPr lang="en-IN" sz="1300">
                          <a:effectLst/>
                          <a:latin typeface="Time Roman" pitchFamily="2" charset="0"/>
                        </a:rPr>
                        <a:t> </a:t>
                      </a:r>
                      <a:endParaRPr lang="en-IN" sz="1300">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a:lnSpc>
                          <a:spcPct val="107000"/>
                        </a:lnSpc>
                        <a:spcAft>
                          <a:spcPts val="800"/>
                        </a:spcAft>
                      </a:pPr>
                      <a:r>
                        <a:rPr lang="en-IN" sz="1300">
                          <a:effectLst/>
                          <a:latin typeface="Time Roman" pitchFamily="2" charset="0"/>
                        </a:rPr>
                        <a:t>Not null</a:t>
                      </a:r>
                      <a:endParaRPr lang="en-IN" sz="1300">
                        <a:effectLst/>
                        <a:latin typeface="Time Roman" pitchFamily="2" charset="0"/>
                        <a:ea typeface="Calibri" panose="020F0502020204030204" pitchFamily="34" charset="0"/>
                        <a:cs typeface="Times New Roman" panose="02020603050405020304" pitchFamily="18" charset="0"/>
                      </a:endParaRPr>
                    </a:p>
                  </a:txBody>
                  <a:tcPr marL="43097" marR="43097" marT="21549" marB="21549" anchor="ctr"/>
                </a:tc>
                <a:tc>
                  <a:txBody>
                    <a:bodyPr/>
                    <a:lstStyle/>
                    <a:p>
                      <a:pPr algn="ctr" fontAlgn="base">
                        <a:lnSpc>
                          <a:spcPct val="107000"/>
                        </a:lnSpc>
                        <a:spcAft>
                          <a:spcPts val="800"/>
                        </a:spcAft>
                      </a:pPr>
                      <a:r>
                        <a:rPr lang="en-IN" sz="1300" kern="1200">
                          <a:effectLst/>
                          <a:latin typeface="Time Roman" pitchFamily="2" charset="0"/>
                        </a:rPr>
                        <a:t>Name of the candidate</a:t>
                      </a:r>
                      <a:endParaRPr lang="en-IN" sz="1300">
                        <a:effectLst/>
                        <a:latin typeface="Time Roman" pitchFamily="2" charset="0"/>
                        <a:ea typeface="Calibri" panose="020F0502020204030204" pitchFamily="34" charset="0"/>
                        <a:cs typeface="Times New Roman" panose="02020603050405020304" pitchFamily="18" charset="0"/>
                      </a:endParaRPr>
                    </a:p>
                  </a:txBody>
                  <a:tcPr marL="43097" marR="43097" marT="21549" marB="21549" anchor="ctr"/>
                </a:tc>
                <a:extLst>
                  <a:ext uri="{0D108BD9-81ED-4DB2-BD59-A6C34878D82A}">
                    <a16:rowId xmlns="" xmlns:a16="http://schemas.microsoft.com/office/drawing/2014/main" val="989305733"/>
                  </a:ext>
                </a:extLst>
              </a:tr>
              <a:tr h="491093">
                <a:tc>
                  <a:txBody>
                    <a:bodyPr/>
                    <a:lstStyle/>
                    <a:p>
                      <a:pPr algn="ctr" fontAlgn="base">
                        <a:lnSpc>
                          <a:spcPct val="107000"/>
                        </a:lnSpc>
                        <a:spcAft>
                          <a:spcPts val="800"/>
                        </a:spcAft>
                      </a:pPr>
                      <a:r>
                        <a:rPr lang="en-IN" sz="1300" kern="1200">
                          <a:effectLst/>
                          <a:latin typeface="Time Roman" pitchFamily="2" charset="0"/>
                        </a:rPr>
                        <a:t>4</a:t>
                      </a:r>
                      <a:endParaRPr lang="en-IN" sz="1300">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fontAlgn="base">
                        <a:lnSpc>
                          <a:spcPct val="107000"/>
                        </a:lnSpc>
                        <a:spcAft>
                          <a:spcPts val="800"/>
                        </a:spcAft>
                      </a:pPr>
                      <a:r>
                        <a:rPr lang="en-IN" sz="1300" kern="1200">
                          <a:effectLst/>
                          <a:latin typeface="Time Roman" pitchFamily="2" charset="0"/>
                        </a:rPr>
                        <a:t>Party</a:t>
                      </a:r>
                      <a:endParaRPr lang="en-IN" sz="1300">
                        <a:effectLst/>
                        <a:latin typeface="Time Roman" pitchFamily="2" charset="0"/>
                        <a:ea typeface="Calibri" panose="020F0502020204030204" pitchFamily="34" charset="0"/>
                        <a:cs typeface="Times New Roman" panose="02020603050405020304" pitchFamily="18" charset="0"/>
                      </a:endParaRPr>
                    </a:p>
                  </a:txBody>
                  <a:tcPr marL="43097" marR="43097" marT="21549" marB="21549" anchor="ctr"/>
                </a:tc>
                <a:tc>
                  <a:txBody>
                    <a:bodyPr/>
                    <a:lstStyle/>
                    <a:p>
                      <a:pPr algn="ctr" fontAlgn="base">
                        <a:lnSpc>
                          <a:spcPct val="107000"/>
                        </a:lnSpc>
                        <a:spcAft>
                          <a:spcPts val="800"/>
                        </a:spcAft>
                      </a:pPr>
                      <a:r>
                        <a:rPr lang="en-IN" sz="1300" kern="1200" dirty="0">
                          <a:effectLst/>
                          <a:latin typeface="Time Roman" pitchFamily="2" charset="0"/>
                        </a:rPr>
                        <a:t>Varchar</a:t>
                      </a:r>
                      <a:endParaRPr lang="en-IN" sz="1300" dirty="0">
                        <a:effectLst/>
                        <a:latin typeface="Time Roman" pitchFamily="2" charset="0"/>
                        <a:ea typeface="Calibri" panose="020F0502020204030204" pitchFamily="34" charset="0"/>
                        <a:cs typeface="Times New Roman" panose="02020603050405020304" pitchFamily="18" charset="0"/>
                      </a:endParaRPr>
                    </a:p>
                  </a:txBody>
                  <a:tcPr marL="43097" marR="43097" marT="21549" marB="21549" anchor="ctr"/>
                </a:tc>
                <a:tc>
                  <a:txBody>
                    <a:bodyPr/>
                    <a:lstStyle/>
                    <a:p>
                      <a:pPr algn="ctr">
                        <a:lnSpc>
                          <a:spcPct val="107000"/>
                        </a:lnSpc>
                        <a:spcAft>
                          <a:spcPts val="800"/>
                        </a:spcAft>
                      </a:pPr>
                      <a:r>
                        <a:rPr lang="en-IN" sz="1300">
                          <a:effectLst/>
                          <a:latin typeface="Time Roman" pitchFamily="2" charset="0"/>
                        </a:rPr>
                        <a:t> </a:t>
                      </a:r>
                    </a:p>
                    <a:p>
                      <a:pPr algn="ctr">
                        <a:lnSpc>
                          <a:spcPct val="107000"/>
                        </a:lnSpc>
                        <a:spcAft>
                          <a:spcPts val="800"/>
                        </a:spcAft>
                      </a:pPr>
                      <a:r>
                        <a:rPr lang="en-IN" sz="1300">
                          <a:effectLst/>
                          <a:latin typeface="Time Roman" pitchFamily="2" charset="0"/>
                        </a:rPr>
                        <a:t>20</a:t>
                      </a:r>
                      <a:endParaRPr lang="en-IN" sz="1300">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a:lnSpc>
                          <a:spcPct val="107000"/>
                        </a:lnSpc>
                        <a:spcAft>
                          <a:spcPts val="800"/>
                        </a:spcAft>
                      </a:pPr>
                      <a:r>
                        <a:rPr lang="en-IN" sz="1300">
                          <a:effectLst/>
                          <a:latin typeface="Time Roman" pitchFamily="2" charset="0"/>
                        </a:rPr>
                        <a:t>Not null</a:t>
                      </a:r>
                      <a:endParaRPr lang="en-IN" sz="1300">
                        <a:effectLst/>
                        <a:latin typeface="Time Roman" pitchFamily="2" charset="0"/>
                        <a:ea typeface="Calibri" panose="020F0502020204030204" pitchFamily="34" charset="0"/>
                        <a:cs typeface="Times New Roman" panose="02020603050405020304" pitchFamily="18" charset="0"/>
                      </a:endParaRPr>
                    </a:p>
                  </a:txBody>
                  <a:tcPr marL="43097" marR="43097" marT="21549" marB="21549" anchor="ctr"/>
                </a:tc>
                <a:tc>
                  <a:txBody>
                    <a:bodyPr/>
                    <a:lstStyle/>
                    <a:p>
                      <a:pPr algn="ctr" fontAlgn="base">
                        <a:lnSpc>
                          <a:spcPct val="107000"/>
                        </a:lnSpc>
                        <a:spcAft>
                          <a:spcPts val="800"/>
                        </a:spcAft>
                      </a:pPr>
                      <a:r>
                        <a:rPr lang="en-IN" sz="1300" kern="1200">
                          <a:effectLst/>
                          <a:latin typeface="Time Roman" pitchFamily="2" charset="0"/>
                        </a:rPr>
                        <a:t>Party affiliation or independent</a:t>
                      </a:r>
                      <a:endParaRPr lang="en-IN" sz="1300">
                        <a:effectLst/>
                        <a:latin typeface="Time Roman" pitchFamily="2" charset="0"/>
                        <a:ea typeface="Calibri" panose="020F0502020204030204" pitchFamily="34" charset="0"/>
                        <a:cs typeface="Times New Roman" panose="02020603050405020304" pitchFamily="18" charset="0"/>
                      </a:endParaRPr>
                    </a:p>
                  </a:txBody>
                  <a:tcPr marL="43097" marR="43097" marT="21549" marB="21549" anchor="ctr"/>
                </a:tc>
                <a:extLst>
                  <a:ext uri="{0D108BD9-81ED-4DB2-BD59-A6C34878D82A}">
                    <a16:rowId xmlns="" xmlns:a16="http://schemas.microsoft.com/office/drawing/2014/main" val="2677261198"/>
                  </a:ext>
                </a:extLst>
              </a:tr>
              <a:tr h="491093">
                <a:tc>
                  <a:txBody>
                    <a:bodyPr/>
                    <a:lstStyle/>
                    <a:p>
                      <a:pPr algn="ctr" fontAlgn="base">
                        <a:lnSpc>
                          <a:spcPct val="107000"/>
                        </a:lnSpc>
                        <a:spcAft>
                          <a:spcPts val="800"/>
                        </a:spcAft>
                      </a:pPr>
                      <a:r>
                        <a:rPr lang="en-IN" sz="1300" kern="1200">
                          <a:effectLst/>
                          <a:latin typeface="Time Roman" pitchFamily="2" charset="0"/>
                        </a:rPr>
                        <a:t>5</a:t>
                      </a:r>
                      <a:endParaRPr lang="en-IN" sz="1300">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fontAlgn="base">
                        <a:lnSpc>
                          <a:spcPct val="107000"/>
                        </a:lnSpc>
                        <a:spcAft>
                          <a:spcPts val="800"/>
                        </a:spcAft>
                      </a:pPr>
                      <a:r>
                        <a:rPr lang="en-IN" sz="1300" kern="1200">
                          <a:effectLst/>
                          <a:latin typeface="Time Roman" pitchFamily="2" charset="0"/>
                        </a:rPr>
                        <a:t>Description</a:t>
                      </a:r>
                      <a:endParaRPr lang="en-IN" sz="1300">
                        <a:effectLst/>
                        <a:latin typeface="Time Roman" pitchFamily="2" charset="0"/>
                        <a:ea typeface="Calibri" panose="020F0502020204030204" pitchFamily="34" charset="0"/>
                        <a:cs typeface="Times New Roman" panose="02020603050405020304" pitchFamily="18" charset="0"/>
                      </a:endParaRPr>
                    </a:p>
                  </a:txBody>
                  <a:tcPr marL="43097" marR="43097" marT="21549" marB="21549" anchor="ctr"/>
                </a:tc>
                <a:tc>
                  <a:txBody>
                    <a:bodyPr/>
                    <a:lstStyle/>
                    <a:p>
                      <a:pPr algn="ctr" fontAlgn="base">
                        <a:lnSpc>
                          <a:spcPct val="107000"/>
                        </a:lnSpc>
                        <a:spcAft>
                          <a:spcPts val="800"/>
                        </a:spcAft>
                      </a:pPr>
                      <a:r>
                        <a:rPr lang="en-IN" sz="1300" kern="1200">
                          <a:effectLst/>
                          <a:latin typeface="Time Roman" pitchFamily="2" charset="0"/>
                        </a:rPr>
                        <a:t>Text</a:t>
                      </a:r>
                      <a:endParaRPr lang="en-IN" sz="1300">
                        <a:effectLst/>
                        <a:latin typeface="Time Roman" pitchFamily="2" charset="0"/>
                        <a:ea typeface="Calibri" panose="020F0502020204030204" pitchFamily="34" charset="0"/>
                        <a:cs typeface="Times New Roman" panose="02020603050405020304" pitchFamily="18" charset="0"/>
                      </a:endParaRPr>
                    </a:p>
                  </a:txBody>
                  <a:tcPr marL="43097" marR="43097" marT="21549" marB="21549" anchor="ctr"/>
                </a:tc>
                <a:tc>
                  <a:txBody>
                    <a:bodyPr/>
                    <a:lstStyle/>
                    <a:p>
                      <a:pPr algn="ctr">
                        <a:lnSpc>
                          <a:spcPct val="107000"/>
                        </a:lnSpc>
                        <a:spcAft>
                          <a:spcPts val="800"/>
                        </a:spcAft>
                      </a:pPr>
                      <a:r>
                        <a:rPr lang="en-IN" sz="1300" dirty="0">
                          <a:effectLst/>
                          <a:latin typeface="Time Roman" pitchFamily="2" charset="0"/>
                        </a:rPr>
                        <a:t> </a:t>
                      </a:r>
                    </a:p>
                    <a:p>
                      <a:pPr algn="ctr">
                        <a:lnSpc>
                          <a:spcPct val="107000"/>
                        </a:lnSpc>
                        <a:spcAft>
                          <a:spcPts val="800"/>
                        </a:spcAft>
                      </a:pPr>
                      <a:r>
                        <a:rPr lang="en-IN" sz="1300" dirty="0">
                          <a:effectLst/>
                          <a:latin typeface="Time Roman" pitchFamily="2" charset="0"/>
                        </a:rPr>
                        <a:t>30</a:t>
                      </a:r>
                      <a:endParaRPr lang="en-IN" sz="1300" dirty="0">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a:lnSpc>
                          <a:spcPct val="107000"/>
                        </a:lnSpc>
                        <a:spcAft>
                          <a:spcPts val="800"/>
                        </a:spcAft>
                      </a:pPr>
                      <a:r>
                        <a:rPr lang="en-IN" sz="1300">
                          <a:effectLst/>
                          <a:latin typeface="Time Roman" pitchFamily="2" charset="0"/>
                        </a:rPr>
                        <a:t>Not null</a:t>
                      </a:r>
                      <a:endParaRPr lang="en-IN" sz="1300">
                        <a:effectLst/>
                        <a:latin typeface="Time Roman" pitchFamily="2" charset="0"/>
                        <a:ea typeface="Calibri" panose="020F0502020204030204" pitchFamily="34" charset="0"/>
                        <a:cs typeface="Times New Roman" panose="02020603050405020304" pitchFamily="18" charset="0"/>
                      </a:endParaRPr>
                    </a:p>
                  </a:txBody>
                  <a:tcPr marL="43097" marR="43097" marT="21549" marB="21549" anchor="ctr"/>
                </a:tc>
                <a:tc>
                  <a:txBody>
                    <a:bodyPr/>
                    <a:lstStyle/>
                    <a:p>
                      <a:pPr algn="ctr" fontAlgn="base">
                        <a:lnSpc>
                          <a:spcPct val="107000"/>
                        </a:lnSpc>
                        <a:spcAft>
                          <a:spcPts val="800"/>
                        </a:spcAft>
                      </a:pPr>
                      <a:r>
                        <a:rPr lang="en-IN" sz="1300" kern="1200">
                          <a:effectLst/>
                          <a:latin typeface="Time Roman" pitchFamily="2" charset="0"/>
                        </a:rPr>
                        <a:t>Description or bio of the candidate</a:t>
                      </a:r>
                      <a:endParaRPr lang="en-IN" sz="1300">
                        <a:effectLst/>
                        <a:latin typeface="Time Roman" pitchFamily="2" charset="0"/>
                        <a:ea typeface="Calibri" panose="020F0502020204030204" pitchFamily="34" charset="0"/>
                        <a:cs typeface="Times New Roman" panose="02020603050405020304" pitchFamily="18" charset="0"/>
                      </a:endParaRPr>
                    </a:p>
                  </a:txBody>
                  <a:tcPr marL="43097" marR="43097" marT="21549" marB="21549" anchor="ctr"/>
                </a:tc>
                <a:extLst>
                  <a:ext uri="{0D108BD9-81ED-4DB2-BD59-A6C34878D82A}">
                    <a16:rowId xmlns="" xmlns:a16="http://schemas.microsoft.com/office/drawing/2014/main" val="3372104616"/>
                  </a:ext>
                </a:extLst>
              </a:tr>
              <a:tr h="789740">
                <a:tc>
                  <a:txBody>
                    <a:bodyPr/>
                    <a:lstStyle/>
                    <a:p>
                      <a:pPr algn="ctr" fontAlgn="base">
                        <a:lnSpc>
                          <a:spcPct val="107000"/>
                        </a:lnSpc>
                        <a:spcAft>
                          <a:spcPts val="800"/>
                        </a:spcAft>
                      </a:pPr>
                      <a:r>
                        <a:rPr lang="en-IN" sz="1300" kern="1200">
                          <a:effectLst/>
                          <a:latin typeface="Time Roman" pitchFamily="2" charset="0"/>
                        </a:rPr>
                        <a:t> </a:t>
                      </a:r>
                      <a:endParaRPr lang="en-IN" sz="1300">
                        <a:effectLst/>
                        <a:latin typeface="Time Roman" pitchFamily="2" charset="0"/>
                      </a:endParaRPr>
                    </a:p>
                    <a:p>
                      <a:pPr algn="ctr" fontAlgn="base">
                        <a:lnSpc>
                          <a:spcPct val="107000"/>
                        </a:lnSpc>
                        <a:spcAft>
                          <a:spcPts val="800"/>
                        </a:spcAft>
                      </a:pPr>
                      <a:r>
                        <a:rPr lang="en-IN" sz="1300" kern="1200">
                          <a:effectLst/>
                          <a:latin typeface="Time Roman" pitchFamily="2" charset="0"/>
                        </a:rPr>
                        <a:t> </a:t>
                      </a:r>
                      <a:endParaRPr lang="en-IN" sz="1300">
                        <a:effectLst/>
                        <a:latin typeface="Time Roman" pitchFamily="2" charset="0"/>
                      </a:endParaRPr>
                    </a:p>
                    <a:p>
                      <a:pPr algn="ctr" fontAlgn="base">
                        <a:lnSpc>
                          <a:spcPct val="107000"/>
                        </a:lnSpc>
                        <a:spcAft>
                          <a:spcPts val="800"/>
                        </a:spcAft>
                      </a:pPr>
                      <a:r>
                        <a:rPr lang="en-IN" sz="1300" kern="1200">
                          <a:effectLst/>
                          <a:latin typeface="Time Roman" pitchFamily="2" charset="0"/>
                        </a:rPr>
                        <a:t>6</a:t>
                      </a:r>
                      <a:endParaRPr lang="en-IN" sz="1300">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fontAlgn="base">
                        <a:lnSpc>
                          <a:spcPct val="107000"/>
                        </a:lnSpc>
                        <a:spcAft>
                          <a:spcPts val="800"/>
                        </a:spcAft>
                      </a:pPr>
                      <a:r>
                        <a:rPr lang="en-IN" sz="1300" kern="1200">
                          <a:effectLst/>
                          <a:latin typeface="Time Roman" pitchFamily="2" charset="0"/>
                        </a:rPr>
                        <a:t>Image_url</a:t>
                      </a:r>
                      <a:endParaRPr lang="en-IN" sz="1300">
                        <a:effectLst/>
                        <a:latin typeface="Time Roman" pitchFamily="2" charset="0"/>
                        <a:ea typeface="Calibri" panose="020F0502020204030204" pitchFamily="34" charset="0"/>
                        <a:cs typeface="Times New Roman" panose="02020603050405020304" pitchFamily="18" charset="0"/>
                      </a:endParaRPr>
                    </a:p>
                  </a:txBody>
                  <a:tcPr marL="43097" marR="43097" marT="21549" marB="21549" anchor="ctr"/>
                </a:tc>
                <a:tc>
                  <a:txBody>
                    <a:bodyPr/>
                    <a:lstStyle/>
                    <a:p>
                      <a:pPr algn="ctr" fontAlgn="base">
                        <a:lnSpc>
                          <a:spcPct val="107000"/>
                        </a:lnSpc>
                        <a:spcAft>
                          <a:spcPts val="800"/>
                        </a:spcAft>
                      </a:pPr>
                      <a:r>
                        <a:rPr lang="en-IN" sz="1300" kern="1200" dirty="0">
                          <a:effectLst/>
                          <a:latin typeface="Time Roman" pitchFamily="2" charset="0"/>
                        </a:rPr>
                        <a:t>Varchar</a:t>
                      </a:r>
                      <a:endParaRPr lang="en-IN" sz="1300" dirty="0">
                        <a:effectLst/>
                        <a:latin typeface="Time Roman" pitchFamily="2" charset="0"/>
                        <a:ea typeface="Calibri" panose="020F0502020204030204" pitchFamily="34" charset="0"/>
                        <a:cs typeface="Times New Roman" panose="02020603050405020304" pitchFamily="18" charset="0"/>
                      </a:endParaRPr>
                    </a:p>
                  </a:txBody>
                  <a:tcPr marL="43097" marR="43097" marT="21549" marB="21549" anchor="ctr"/>
                </a:tc>
                <a:tc>
                  <a:txBody>
                    <a:bodyPr/>
                    <a:lstStyle/>
                    <a:p>
                      <a:pPr algn="ctr">
                        <a:lnSpc>
                          <a:spcPct val="107000"/>
                        </a:lnSpc>
                        <a:spcAft>
                          <a:spcPts val="800"/>
                        </a:spcAft>
                      </a:pPr>
                      <a:r>
                        <a:rPr lang="en-IN" sz="1300">
                          <a:effectLst/>
                          <a:latin typeface="Time Roman" pitchFamily="2" charset="0"/>
                        </a:rPr>
                        <a:t> </a:t>
                      </a:r>
                    </a:p>
                    <a:p>
                      <a:pPr algn="ctr">
                        <a:lnSpc>
                          <a:spcPct val="107000"/>
                        </a:lnSpc>
                        <a:spcAft>
                          <a:spcPts val="800"/>
                        </a:spcAft>
                      </a:pPr>
                      <a:r>
                        <a:rPr lang="en-IN" sz="1300">
                          <a:effectLst/>
                          <a:latin typeface="Time Roman" pitchFamily="2" charset="0"/>
                        </a:rPr>
                        <a:t> </a:t>
                      </a:r>
                    </a:p>
                    <a:p>
                      <a:pPr algn="ctr">
                        <a:lnSpc>
                          <a:spcPct val="107000"/>
                        </a:lnSpc>
                        <a:spcAft>
                          <a:spcPts val="800"/>
                        </a:spcAft>
                      </a:pPr>
                      <a:r>
                        <a:rPr lang="en-IN" sz="1300">
                          <a:effectLst/>
                          <a:latin typeface="Time Roman" pitchFamily="2" charset="0"/>
                        </a:rPr>
                        <a:t>30</a:t>
                      </a:r>
                      <a:endParaRPr lang="en-IN" sz="1300">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a:lnSpc>
                          <a:spcPct val="107000"/>
                        </a:lnSpc>
                        <a:spcAft>
                          <a:spcPts val="800"/>
                        </a:spcAft>
                      </a:pPr>
                      <a:r>
                        <a:rPr lang="en-IN" sz="1300" dirty="0">
                          <a:effectLst/>
                          <a:latin typeface="Time Roman" pitchFamily="2" charset="0"/>
                        </a:rPr>
                        <a:t>Not null</a:t>
                      </a:r>
                      <a:endParaRPr lang="en-IN" sz="1300" dirty="0">
                        <a:effectLst/>
                        <a:latin typeface="Time Roman" pitchFamily="2" charset="0"/>
                        <a:ea typeface="Calibri" panose="020F0502020204030204" pitchFamily="34" charset="0"/>
                        <a:cs typeface="Times New Roman" panose="02020603050405020304" pitchFamily="18" charset="0"/>
                      </a:endParaRPr>
                    </a:p>
                  </a:txBody>
                  <a:tcPr marL="43097" marR="43097" marT="21549" marB="21549" anchor="ctr"/>
                </a:tc>
                <a:tc>
                  <a:txBody>
                    <a:bodyPr/>
                    <a:lstStyle/>
                    <a:p>
                      <a:pPr algn="ctr" fontAlgn="base">
                        <a:lnSpc>
                          <a:spcPct val="107000"/>
                        </a:lnSpc>
                        <a:spcAft>
                          <a:spcPts val="800"/>
                        </a:spcAft>
                      </a:pPr>
                      <a:r>
                        <a:rPr lang="en-IN" sz="1300" kern="1200" dirty="0" err="1">
                          <a:effectLst/>
                          <a:latin typeface="Time Roman" pitchFamily="2" charset="0"/>
                        </a:rPr>
                        <a:t>Url</a:t>
                      </a:r>
                      <a:r>
                        <a:rPr lang="en-IN" sz="1300" kern="1200" dirty="0">
                          <a:effectLst/>
                          <a:latin typeface="Time Roman" pitchFamily="2" charset="0"/>
                        </a:rPr>
                        <a:t> to the candidate's image</a:t>
                      </a:r>
                      <a:endParaRPr lang="en-IN" sz="1300" dirty="0">
                        <a:effectLst/>
                        <a:latin typeface="Time Roman" pitchFamily="2" charset="0"/>
                        <a:ea typeface="Calibri" panose="020F0502020204030204" pitchFamily="34" charset="0"/>
                        <a:cs typeface="Times New Roman" panose="02020603050405020304" pitchFamily="18" charset="0"/>
                      </a:endParaRPr>
                    </a:p>
                  </a:txBody>
                  <a:tcPr marL="43097" marR="43097" marT="21549" marB="21549" anchor="ctr"/>
                </a:tc>
                <a:extLst>
                  <a:ext uri="{0D108BD9-81ED-4DB2-BD59-A6C34878D82A}">
                    <a16:rowId xmlns="" xmlns:a16="http://schemas.microsoft.com/office/drawing/2014/main" val="390936085"/>
                  </a:ext>
                </a:extLst>
              </a:tr>
            </a:tbl>
          </a:graphicData>
        </a:graphic>
      </p:graphicFrame>
    </p:spTree>
    <p:extLst>
      <p:ext uri="{BB962C8B-B14F-4D97-AF65-F5344CB8AC3E}">
        <p14:creationId xmlns:p14="http://schemas.microsoft.com/office/powerpoint/2010/main" val="282965355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8A1666BE-7015-BAB1-118D-2C94BDC87C7A}"/>
              </a:ext>
            </a:extLst>
          </p:cNvPr>
          <p:cNvSpPr txBox="1"/>
          <p:nvPr/>
        </p:nvSpPr>
        <p:spPr>
          <a:xfrm>
            <a:off x="647700" y="76200"/>
            <a:ext cx="7848600" cy="1200329"/>
          </a:xfrm>
          <a:prstGeom prst="rect">
            <a:avLst/>
          </a:prstGeom>
          <a:noFill/>
        </p:spPr>
        <p:txBody>
          <a:bodyPr wrap="square">
            <a:spAutoFit/>
          </a:bodyPr>
          <a:lstStyle/>
          <a:p>
            <a:pPr algn="ctr"/>
            <a:r>
              <a:rPr lang="en-US" sz="2400" b="1" dirty="0" smtClean="0">
                <a:latin typeface="Times New Roman" pitchFamily="18" charset="0"/>
                <a:cs typeface="Times New Roman" pitchFamily="18" charset="0"/>
              </a:rPr>
              <a:t>DATABASE </a:t>
            </a:r>
            <a:r>
              <a:rPr lang="en-US" sz="2400" b="1" dirty="0">
                <a:latin typeface="Times New Roman" pitchFamily="18" charset="0"/>
                <a:cs typeface="Times New Roman" pitchFamily="18" charset="0"/>
              </a:rPr>
              <a:t>DESCRIPTION</a:t>
            </a:r>
          </a:p>
          <a:p>
            <a:pPr algn="ctr"/>
            <a:endParaRPr lang="en-US" sz="2400" b="1" dirty="0">
              <a:latin typeface="Times New Roman" pitchFamily="18" charset="0"/>
              <a:cs typeface="Times New Roman" pitchFamily="18" charset="0"/>
            </a:endParaRPr>
          </a:p>
          <a:p>
            <a:pPr algn="ctr"/>
            <a:r>
              <a:rPr lang="en-US" sz="2400" b="1" dirty="0">
                <a:solidFill>
                  <a:srgbClr val="000000"/>
                </a:solidFill>
                <a:effectLst/>
                <a:latin typeface="Times New Roman" panose="02020603050405020304" pitchFamily="18" charset="0"/>
                <a:ea typeface="Times New Roman" panose="02020603050405020304" pitchFamily="18" charset="0"/>
              </a:rPr>
              <a:t>Online Voting System Web Application in Python</a:t>
            </a:r>
            <a:endParaRPr lang="en-US" sz="2400" b="1" dirty="0">
              <a:latin typeface="Times New Roman" pitchFamily="18" charset="0"/>
              <a:cs typeface="Times New Roman" pitchFamily="18" charset="0"/>
            </a:endParaRPr>
          </a:p>
        </p:txBody>
      </p:sp>
      <p:sp>
        <p:nvSpPr>
          <p:cNvPr id="4" name="Flowchart: Delay 3">
            <a:extLst>
              <a:ext uri="{FF2B5EF4-FFF2-40B4-BE49-F238E27FC236}">
                <a16:creationId xmlns="" xmlns:a16="http://schemas.microsoft.com/office/drawing/2014/main" id="{E6C43309-16E3-1838-EFDB-670735F62441}"/>
              </a:ext>
            </a:extLst>
          </p:cNvPr>
          <p:cNvSpPr/>
          <p:nvPr/>
        </p:nvSpPr>
        <p:spPr>
          <a:xfrm>
            <a:off x="762000" y="6429396"/>
            <a:ext cx="8354457" cy="428604"/>
          </a:xfrm>
          <a:prstGeom prst="flowChartDelay">
            <a:avLst/>
          </a:prstGeom>
          <a:solidFill>
            <a:srgbClr val="00B0F0"/>
          </a:solidFill>
          <a:ln>
            <a:solidFill>
              <a:srgbClr val="00B0F0"/>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rPr>
              <a:t>Anna University, Chennai</a:t>
            </a:r>
            <a:endParaRPr lang="en-US"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endParaRPr>
          </a:p>
        </p:txBody>
      </p:sp>
      <p:pic>
        <p:nvPicPr>
          <p:cNvPr id="5" name="Picture 26" descr="undefined">
            <a:extLst>
              <a:ext uri="{FF2B5EF4-FFF2-40B4-BE49-F238E27FC236}">
                <a16:creationId xmlns="" xmlns:a16="http://schemas.microsoft.com/office/drawing/2014/main" id="{5E8A024B-B24A-670C-F75C-C385F6E74DF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051" y="6186522"/>
            <a:ext cx="675701" cy="67147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 xmlns:a16="http://schemas.microsoft.com/office/drawing/2014/main" id="{562DCD41-61FA-9B67-BE30-5017457E4098}"/>
              </a:ext>
            </a:extLst>
          </p:cNvPr>
          <p:cNvSpPr txBox="1"/>
          <p:nvPr/>
        </p:nvSpPr>
        <p:spPr>
          <a:xfrm>
            <a:off x="2362200" y="5961924"/>
            <a:ext cx="4590288" cy="369332"/>
          </a:xfrm>
          <a:prstGeom prst="rect">
            <a:avLst/>
          </a:prstGeom>
          <a:noFill/>
        </p:spPr>
        <p:txBody>
          <a:bodyPr wrap="square">
            <a:spAutoFit/>
          </a:bodyPr>
          <a:lstStyle/>
          <a:p>
            <a:pPr algn="ctr"/>
            <a:r>
              <a:rPr lang="en-US" dirty="0">
                <a:latin typeface="Times New Roman" pitchFamily="18" charset="0"/>
                <a:cs typeface="Times New Roman" pitchFamily="18" charset="0"/>
              </a:rPr>
              <a:t>Table No: 4 .</a:t>
            </a:r>
            <a:r>
              <a:rPr lang="en-IN" dirty="0">
                <a:effectLst/>
                <a:latin typeface="Times New Roman" panose="02020603050405020304" pitchFamily="18" charset="0"/>
                <a:ea typeface="Times New Roman" panose="02020603050405020304" pitchFamily="18" charset="0"/>
              </a:rPr>
              <a:t>Votes</a:t>
            </a:r>
            <a:endParaRPr lang="en-US" b="1" dirty="0">
              <a:latin typeface="Times New Roman" pitchFamily="18" charset="0"/>
              <a:cs typeface="Times New Roman" pitchFamily="18" charset="0"/>
            </a:endParaRPr>
          </a:p>
        </p:txBody>
      </p:sp>
      <p:graphicFrame>
        <p:nvGraphicFramePr>
          <p:cNvPr id="8" name="Table 7">
            <a:extLst>
              <a:ext uri="{FF2B5EF4-FFF2-40B4-BE49-F238E27FC236}">
                <a16:creationId xmlns="" xmlns:a16="http://schemas.microsoft.com/office/drawing/2014/main" id="{4764E388-7E98-C95C-B491-8A664CD41D6F}"/>
              </a:ext>
            </a:extLst>
          </p:cNvPr>
          <p:cNvGraphicFramePr>
            <a:graphicFrameLocks noGrp="1"/>
          </p:cNvGraphicFramePr>
          <p:nvPr>
            <p:extLst>
              <p:ext uri="{D42A27DB-BD31-4B8C-83A1-F6EECF244321}">
                <p14:modId xmlns:p14="http://schemas.microsoft.com/office/powerpoint/2010/main" val="2252232978"/>
              </p:ext>
            </p:extLst>
          </p:nvPr>
        </p:nvGraphicFramePr>
        <p:xfrm>
          <a:off x="476250" y="1276529"/>
          <a:ext cx="8191499" cy="4729464"/>
        </p:xfrm>
        <a:graphic>
          <a:graphicData uri="http://schemas.openxmlformats.org/drawingml/2006/table">
            <a:tbl>
              <a:tblPr>
                <a:tableStyleId>{5940675A-B579-460E-94D1-54222C63F5DA}</a:tableStyleId>
              </a:tblPr>
              <a:tblGrid>
                <a:gridCol w="742458">
                  <a:extLst>
                    <a:ext uri="{9D8B030D-6E8A-4147-A177-3AD203B41FA5}">
                      <a16:colId xmlns="" xmlns:a16="http://schemas.microsoft.com/office/drawing/2014/main" val="1235956935"/>
                    </a:ext>
                  </a:extLst>
                </a:gridCol>
                <a:gridCol w="1529142">
                  <a:extLst>
                    <a:ext uri="{9D8B030D-6E8A-4147-A177-3AD203B41FA5}">
                      <a16:colId xmlns="" xmlns:a16="http://schemas.microsoft.com/office/drawing/2014/main" val="3661692377"/>
                    </a:ext>
                  </a:extLst>
                </a:gridCol>
                <a:gridCol w="1234607">
                  <a:extLst>
                    <a:ext uri="{9D8B030D-6E8A-4147-A177-3AD203B41FA5}">
                      <a16:colId xmlns="" xmlns:a16="http://schemas.microsoft.com/office/drawing/2014/main" val="1246532029"/>
                    </a:ext>
                  </a:extLst>
                </a:gridCol>
                <a:gridCol w="744339">
                  <a:extLst>
                    <a:ext uri="{9D8B030D-6E8A-4147-A177-3AD203B41FA5}">
                      <a16:colId xmlns="" xmlns:a16="http://schemas.microsoft.com/office/drawing/2014/main" val="3070935362"/>
                    </a:ext>
                  </a:extLst>
                </a:gridCol>
                <a:gridCol w="2006236">
                  <a:extLst>
                    <a:ext uri="{9D8B030D-6E8A-4147-A177-3AD203B41FA5}">
                      <a16:colId xmlns="" xmlns:a16="http://schemas.microsoft.com/office/drawing/2014/main" val="275902529"/>
                    </a:ext>
                  </a:extLst>
                </a:gridCol>
                <a:gridCol w="1934717">
                  <a:extLst>
                    <a:ext uri="{9D8B030D-6E8A-4147-A177-3AD203B41FA5}">
                      <a16:colId xmlns="" xmlns:a16="http://schemas.microsoft.com/office/drawing/2014/main" val="4065669244"/>
                    </a:ext>
                  </a:extLst>
                </a:gridCol>
              </a:tblGrid>
              <a:tr h="625059">
                <a:tc>
                  <a:txBody>
                    <a:bodyPr/>
                    <a:lstStyle/>
                    <a:p>
                      <a:pPr algn="ctr" fontAlgn="b">
                        <a:lnSpc>
                          <a:spcPct val="107000"/>
                        </a:lnSpc>
                        <a:spcAft>
                          <a:spcPts val="800"/>
                        </a:spcAft>
                      </a:pPr>
                      <a:r>
                        <a:rPr lang="en-IN" sz="1300" b="0" kern="1200" dirty="0">
                          <a:effectLst/>
                          <a:latin typeface="Time Roman"/>
                        </a:rPr>
                        <a:t> </a:t>
                      </a:r>
                      <a:endParaRPr lang="en-IN" sz="1300" b="0" dirty="0">
                        <a:effectLst/>
                        <a:latin typeface="Time Roman"/>
                      </a:endParaRPr>
                    </a:p>
                    <a:p>
                      <a:pPr algn="ctr" fontAlgn="b">
                        <a:lnSpc>
                          <a:spcPct val="107000"/>
                        </a:lnSpc>
                        <a:spcAft>
                          <a:spcPts val="800"/>
                        </a:spcAft>
                      </a:pPr>
                      <a:r>
                        <a:rPr lang="en-IN" sz="1300" b="0" kern="1200" dirty="0">
                          <a:effectLst/>
                          <a:latin typeface="Time Roman"/>
                        </a:rPr>
                        <a:t> </a:t>
                      </a:r>
                      <a:endParaRPr lang="en-IN" sz="1300" b="0" dirty="0">
                        <a:effectLst/>
                        <a:latin typeface="Time Roman"/>
                      </a:endParaRPr>
                    </a:p>
                    <a:p>
                      <a:pPr algn="ctr" fontAlgn="b">
                        <a:lnSpc>
                          <a:spcPct val="107000"/>
                        </a:lnSpc>
                        <a:spcAft>
                          <a:spcPts val="800"/>
                        </a:spcAft>
                      </a:pPr>
                      <a:r>
                        <a:rPr lang="en-IN" sz="1300" b="0" kern="1200" dirty="0">
                          <a:effectLst/>
                          <a:latin typeface="Time Roman"/>
                        </a:rPr>
                        <a:t>S.NO</a:t>
                      </a:r>
                      <a:endParaRPr lang="en-IN" sz="1300" b="0" dirty="0">
                        <a:effectLst/>
                        <a:latin typeface="Time Roman"/>
                        <a:ea typeface="Calibri" panose="020F0502020204030204" pitchFamily="34" charset="0"/>
                        <a:cs typeface="Times New Roman" panose="02020603050405020304" pitchFamily="18" charset="0"/>
                      </a:endParaRPr>
                    </a:p>
                  </a:txBody>
                  <a:tcPr marL="0" marR="0" marT="0" marB="0"/>
                </a:tc>
                <a:tc>
                  <a:txBody>
                    <a:bodyPr/>
                    <a:lstStyle/>
                    <a:p>
                      <a:pPr algn="ctr" fontAlgn="b">
                        <a:lnSpc>
                          <a:spcPct val="107000"/>
                        </a:lnSpc>
                        <a:spcAft>
                          <a:spcPts val="800"/>
                        </a:spcAft>
                      </a:pPr>
                      <a:r>
                        <a:rPr lang="en-IN" sz="1300" b="0" kern="1200" dirty="0">
                          <a:effectLst/>
                          <a:latin typeface="Time Roman"/>
                        </a:rPr>
                        <a:t>FILED NAME</a:t>
                      </a:r>
                      <a:endParaRPr lang="en-IN" sz="1300" b="0" dirty="0">
                        <a:effectLst/>
                        <a:latin typeface="Time Roman"/>
                        <a:ea typeface="Calibri" panose="020F0502020204030204" pitchFamily="34" charset="0"/>
                        <a:cs typeface="Times New Roman" panose="02020603050405020304" pitchFamily="18" charset="0"/>
                      </a:endParaRPr>
                    </a:p>
                  </a:txBody>
                  <a:tcPr marL="46679" marR="46679" marT="23585" marB="23585" anchor="b"/>
                </a:tc>
                <a:tc>
                  <a:txBody>
                    <a:bodyPr/>
                    <a:lstStyle/>
                    <a:p>
                      <a:pPr algn="ctr" fontAlgn="b">
                        <a:lnSpc>
                          <a:spcPct val="107000"/>
                        </a:lnSpc>
                        <a:spcAft>
                          <a:spcPts val="800"/>
                        </a:spcAft>
                      </a:pPr>
                      <a:r>
                        <a:rPr lang="en-IN" sz="1300" b="0" kern="1200">
                          <a:effectLst/>
                          <a:latin typeface="Time Roman"/>
                        </a:rPr>
                        <a:t>DATA TYPE</a:t>
                      </a:r>
                      <a:endParaRPr lang="en-IN" sz="1300" b="0">
                        <a:effectLst/>
                        <a:latin typeface="Time Roman"/>
                        <a:ea typeface="Calibri" panose="020F0502020204030204" pitchFamily="34" charset="0"/>
                        <a:cs typeface="Times New Roman" panose="02020603050405020304" pitchFamily="18" charset="0"/>
                      </a:endParaRPr>
                    </a:p>
                  </a:txBody>
                  <a:tcPr marL="46679" marR="46679" marT="23585" marB="23585" anchor="b"/>
                </a:tc>
                <a:tc>
                  <a:txBody>
                    <a:bodyPr/>
                    <a:lstStyle/>
                    <a:p>
                      <a:pPr algn="ctr" fontAlgn="b">
                        <a:lnSpc>
                          <a:spcPct val="107000"/>
                        </a:lnSpc>
                        <a:spcAft>
                          <a:spcPts val="800"/>
                        </a:spcAft>
                      </a:pPr>
                      <a:r>
                        <a:rPr lang="en-IN" sz="1300" b="0" kern="1200">
                          <a:effectLst/>
                          <a:latin typeface="Time Roman"/>
                        </a:rPr>
                        <a:t> </a:t>
                      </a:r>
                      <a:endParaRPr lang="en-IN" sz="1300" b="0">
                        <a:effectLst/>
                        <a:latin typeface="Time Roman"/>
                      </a:endParaRPr>
                    </a:p>
                    <a:p>
                      <a:pPr algn="ctr" fontAlgn="b">
                        <a:lnSpc>
                          <a:spcPct val="107000"/>
                        </a:lnSpc>
                        <a:spcAft>
                          <a:spcPts val="800"/>
                        </a:spcAft>
                      </a:pPr>
                      <a:r>
                        <a:rPr lang="en-IN" sz="1300" b="0" kern="1200">
                          <a:effectLst/>
                          <a:latin typeface="Time Roman"/>
                        </a:rPr>
                        <a:t> </a:t>
                      </a:r>
                      <a:endParaRPr lang="en-IN" sz="1300" b="0">
                        <a:effectLst/>
                        <a:latin typeface="Time Roman"/>
                      </a:endParaRPr>
                    </a:p>
                    <a:p>
                      <a:pPr algn="ctr" fontAlgn="b">
                        <a:lnSpc>
                          <a:spcPct val="107000"/>
                        </a:lnSpc>
                        <a:spcAft>
                          <a:spcPts val="800"/>
                        </a:spcAft>
                      </a:pPr>
                      <a:r>
                        <a:rPr lang="en-IN" sz="1300" b="0" kern="1200">
                          <a:effectLst/>
                          <a:latin typeface="Time Roman"/>
                        </a:rPr>
                        <a:t>SIZE</a:t>
                      </a:r>
                      <a:endParaRPr lang="en-IN" sz="1300" b="0">
                        <a:effectLst/>
                        <a:latin typeface="Time Roman"/>
                        <a:ea typeface="Calibri" panose="020F0502020204030204" pitchFamily="34" charset="0"/>
                        <a:cs typeface="Times New Roman" panose="02020603050405020304" pitchFamily="18" charset="0"/>
                      </a:endParaRPr>
                    </a:p>
                  </a:txBody>
                  <a:tcPr marL="0" marR="0" marT="0" marB="0"/>
                </a:tc>
                <a:tc>
                  <a:txBody>
                    <a:bodyPr/>
                    <a:lstStyle/>
                    <a:p>
                      <a:pPr algn="ctr" fontAlgn="b">
                        <a:lnSpc>
                          <a:spcPct val="107000"/>
                        </a:lnSpc>
                        <a:spcAft>
                          <a:spcPts val="800"/>
                        </a:spcAft>
                      </a:pPr>
                      <a:r>
                        <a:rPr lang="en-IN" sz="1300" b="0" kern="1200">
                          <a:effectLst/>
                          <a:latin typeface="Time Roman"/>
                        </a:rPr>
                        <a:t>CONSTRAINTS</a:t>
                      </a:r>
                      <a:endParaRPr lang="en-IN" sz="1300" b="0">
                        <a:effectLst/>
                        <a:latin typeface="Time Roman"/>
                        <a:ea typeface="Calibri" panose="020F0502020204030204" pitchFamily="34" charset="0"/>
                        <a:cs typeface="Times New Roman" panose="02020603050405020304" pitchFamily="18" charset="0"/>
                      </a:endParaRPr>
                    </a:p>
                  </a:txBody>
                  <a:tcPr marL="46679" marR="46679" marT="23585" marB="23585" anchor="b"/>
                </a:tc>
                <a:tc>
                  <a:txBody>
                    <a:bodyPr/>
                    <a:lstStyle/>
                    <a:p>
                      <a:pPr algn="ctr" fontAlgn="b">
                        <a:lnSpc>
                          <a:spcPct val="107000"/>
                        </a:lnSpc>
                        <a:spcAft>
                          <a:spcPts val="800"/>
                        </a:spcAft>
                      </a:pPr>
                      <a:r>
                        <a:rPr lang="en-IN" sz="1300" b="0" kern="1200" dirty="0">
                          <a:effectLst/>
                          <a:latin typeface="Time Roman"/>
                        </a:rPr>
                        <a:t>DESCRIPTION</a:t>
                      </a:r>
                      <a:endParaRPr lang="en-IN" sz="1300" b="0" dirty="0">
                        <a:effectLst/>
                        <a:latin typeface="Time Roman"/>
                        <a:ea typeface="Calibri" panose="020F0502020204030204" pitchFamily="34" charset="0"/>
                        <a:cs typeface="Times New Roman" panose="02020603050405020304" pitchFamily="18" charset="0"/>
                      </a:endParaRPr>
                    </a:p>
                  </a:txBody>
                  <a:tcPr marL="46679" marR="46679" marT="23585" marB="23585" anchor="b"/>
                </a:tc>
                <a:extLst>
                  <a:ext uri="{0D108BD9-81ED-4DB2-BD59-A6C34878D82A}">
                    <a16:rowId xmlns="" xmlns:a16="http://schemas.microsoft.com/office/drawing/2014/main" val="4259692498"/>
                  </a:ext>
                </a:extLst>
              </a:tr>
              <a:tr h="659840">
                <a:tc>
                  <a:txBody>
                    <a:bodyPr/>
                    <a:lstStyle/>
                    <a:p>
                      <a:pPr algn="ctr" fontAlgn="base">
                        <a:lnSpc>
                          <a:spcPct val="107000"/>
                        </a:lnSpc>
                        <a:spcAft>
                          <a:spcPts val="800"/>
                        </a:spcAft>
                      </a:pPr>
                      <a:r>
                        <a:rPr lang="en-IN" sz="1300" b="0" kern="1200">
                          <a:effectLst/>
                          <a:latin typeface="Time Roman"/>
                        </a:rPr>
                        <a:t> </a:t>
                      </a:r>
                      <a:endParaRPr lang="en-IN" sz="1300" b="0">
                        <a:effectLst/>
                        <a:latin typeface="Time Roman"/>
                      </a:endParaRPr>
                    </a:p>
                    <a:p>
                      <a:pPr algn="ctr" fontAlgn="base">
                        <a:lnSpc>
                          <a:spcPct val="107000"/>
                        </a:lnSpc>
                        <a:spcAft>
                          <a:spcPts val="800"/>
                        </a:spcAft>
                      </a:pPr>
                      <a:r>
                        <a:rPr lang="en-IN" sz="1300" b="0" kern="1200">
                          <a:effectLst/>
                          <a:latin typeface="Time Roman"/>
                        </a:rPr>
                        <a:t>1</a:t>
                      </a:r>
                      <a:endParaRPr lang="en-IN" sz="1300" b="0">
                        <a:effectLst/>
                        <a:latin typeface="Time Roman"/>
                        <a:ea typeface="Calibri" panose="020F0502020204030204" pitchFamily="34" charset="0"/>
                        <a:cs typeface="Times New Roman" panose="02020603050405020304" pitchFamily="18" charset="0"/>
                      </a:endParaRPr>
                    </a:p>
                  </a:txBody>
                  <a:tcPr marL="0" marR="0" marT="0" marB="0"/>
                </a:tc>
                <a:tc>
                  <a:txBody>
                    <a:bodyPr/>
                    <a:lstStyle/>
                    <a:p>
                      <a:pPr algn="ctr" fontAlgn="base">
                        <a:lnSpc>
                          <a:spcPct val="107000"/>
                        </a:lnSpc>
                        <a:spcAft>
                          <a:spcPts val="800"/>
                        </a:spcAft>
                      </a:pPr>
                      <a:r>
                        <a:rPr lang="en-IN" sz="1300" b="0" kern="1200" dirty="0" err="1">
                          <a:effectLst/>
                          <a:latin typeface="Time Roman"/>
                        </a:rPr>
                        <a:t>Vote_id</a:t>
                      </a:r>
                      <a:endParaRPr lang="en-IN" sz="1300" b="0" dirty="0">
                        <a:effectLst/>
                        <a:latin typeface="Time Roman"/>
                        <a:ea typeface="Calibri" panose="020F0502020204030204" pitchFamily="34" charset="0"/>
                        <a:cs typeface="Times New Roman" panose="02020603050405020304" pitchFamily="18" charset="0"/>
                      </a:endParaRPr>
                    </a:p>
                  </a:txBody>
                  <a:tcPr marL="46679" marR="46679" marT="23585" marB="23585" anchor="ctr"/>
                </a:tc>
                <a:tc>
                  <a:txBody>
                    <a:bodyPr/>
                    <a:lstStyle/>
                    <a:p>
                      <a:pPr algn="ctr" fontAlgn="base">
                        <a:lnSpc>
                          <a:spcPct val="107000"/>
                        </a:lnSpc>
                        <a:spcAft>
                          <a:spcPts val="800"/>
                        </a:spcAft>
                      </a:pPr>
                      <a:r>
                        <a:rPr lang="en-IN" sz="1300" b="0" kern="1200" dirty="0">
                          <a:effectLst/>
                          <a:latin typeface="Time Roman"/>
                        </a:rPr>
                        <a:t>Int</a:t>
                      </a:r>
                      <a:endParaRPr lang="en-IN" sz="1300" b="0" dirty="0">
                        <a:effectLst/>
                        <a:latin typeface="Time Roman"/>
                        <a:ea typeface="Calibri" panose="020F0502020204030204" pitchFamily="34" charset="0"/>
                        <a:cs typeface="Times New Roman" panose="02020603050405020304" pitchFamily="18" charset="0"/>
                      </a:endParaRPr>
                    </a:p>
                  </a:txBody>
                  <a:tcPr marL="46679" marR="46679" marT="23585" marB="23585" anchor="ctr"/>
                </a:tc>
                <a:tc>
                  <a:txBody>
                    <a:bodyPr/>
                    <a:lstStyle/>
                    <a:p>
                      <a:pPr algn="ctr" fontAlgn="base">
                        <a:lnSpc>
                          <a:spcPct val="107000"/>
                        </a:lnSpc>
                        <a:spcAft>
                          <a:spcPts val="800"/>
                        </a:spcAft>
                      </a:pPr>
                      <a:r>
                        <a:rPr lang="en-IN" sz="1300" b="0" kern="1200" dirty="0">
                          <a:effectLst/>
                          <a:latin typeface="Time Roman"/>
                        </a:rPr>
                        <a:t> </a:t>
                      </a:r>
                      <a:endParaRPr lang="en-IN" sz="1300" b="0" dirty="0">
                        <a:effectLst/>
                        <a:latin typeface="Time Roman"/>
                      </a:endParaRPr>
                    </a:p>
                    <a:p>
                      <a:pPr algn="ctr" fontAlgn="base">
                        <a:lnSpc>
                          <a:spcPct val="107000"/>
                        </a:lnSpc>
                        <a:spcAft>
                          <a:spcPts val="800"/>
                        </a:spcAft>
                      </a:pPr>
                      <a:r>
                        <a:rPr lang="en-IN" sz="1300" b="0" kern="1200" dirty="0">
                          <a:effectLst/>
                          <a:latin typeface="Time Roman"/>
                        </a:rPr>
                        <a:t>10</a:t>
                      </a:r>
                      <a:endParaRPr lang="en-IN" sz="1300" b="0" dirty="0">
                        <a:effectLst/>
                        <a:latin typeface="Time Roman"/>
                        <a:ea typeface="Calibri" panose="020F0502020204030204" pitchFamily="34" charset="0"/>
                        <a:cs typeface="Times New Roman" panose="02020603050405020304" pitchFamily="18" charset="0"/>
                      </a:endParaRPr>
                    </a:p>
                  </a:txBody>
                  <a:tcPr marL="0" marR="0" marT="0" marB="0"/>
                </a:tc>
                <a:tc>
                  <a:txBody>
                    <a:bodyPr/>
                    <a:lstStyle/>
                    <a:p>
                      <a:pPr algn="ctr" fontAlgn="base">
                        <a:lnSpc>
                          <a:spcPct val="107000"/>
                        </a:lnSpc>
                        <a:spcAft>
                          <a:spcPts val="800"/>
                        </a:spcAft>
                      </a:pPr>
                      <a:r>
                        <a:rPr lang="en-IN" sz="1300" b="0" kern="1200" dirty="0">
                          <a:effectLst/>
                          <a:latin typeface="Time Roman"/>
                        </a:rPr>
                        <a:t>Primary key</a:t>
                      </a:r>
                      <a:endParaRPr lang="en-IN" sz="1300" b="0" dirty="0">
                        <a:effectLst/>
                        <a:latin typeface="Time Roman"/>
                        <a:ea typeface="Calibri" panose="020F0502020204030204" pitchFamily="34" charset="0"/>
                        <a:cs typeface="Times New Roman" panose="02020603050405020304" pitchFamily="18" charset="0"/>
                      </a:endParaRPr>
                    </a:p>
                  </a:txBody>
                  <a:tcPr marL="46679" marR="46679" marT="23585" marB="23585" anchor="ctr"/>
                </a:tc>
                <a:tc>
                  <a:txBody>
                    <a:bodyPr/>
                    <a:lstStyle/>
                    <a:p>
                      <a:pPr algn="ctr" fontAlgn="base">
                        <a:lnSpc>
                          <a:spcPct val="107000"/>
                        </a:lnSpc>
                        <a:spcAft>
                          <a:spcPts val="800"/>
                        </a:spcAft>
                      </a:pPr>
                      <a:r>
                        <a:rPr lang="en-IN" sz="1300" b="0" kern="1200" dirty="0">
                          <a:effectLst/>
                          <a:latin typeface="Time Roman"/>
                        </a:rPr>
                        <a:t>Unique identifier for each vote</a:t>
                      </a:r>
                      <a:endParaRPr lang="en-IN" sz="1300" b="0" dirty="0">
                        <a:effectLst/>
                        <a:latin typeface="Time Roman"/>
                        <a:ea typeface="Calibri" panose="020F0502020204030204" pitchFamily="34" charset="0"/>
                        <a:cs typeface="Times New Roman" panose="02020603050405020304" pitchFamily="18" charset="0"/>
                      </a:endParaRPr>
                    </a:p>
                  </a:txBody>
                  <a:tcPr marL="46679" marR="46679" marT="23585" marB="23585" anchor="ctr"/>
                </a:tc>
                <a:extLst>
                  <a:ext uri="{0D108BD9-81ED-4DB2-BD59-A6C34878D82A}">
                    <a16:rowId xmlns="" xmlns:a16="http://schemas.microsoft.com/office/drawing/2014/main" val="3571970218"/>
                  </a:ext>
                </a:extLst>
              </a:tr>
              <a:tr h="843664">
                <a:tc>
                  <a:txBody>
                    <a:bodyPr/>
                    <a:lstStyle/>
                    <a:p>
                      <a:pPr algn="ctr" fontAlgn="base">
                        <a:lnSpc>
                          <a:spcPct val="107000"/>
                        </a:lnSpc>
                        <a:spcAft>
                          <a:spcPts val="800"/>
                        </a:spcAft>
                      </a:pPr>
                      <a:r>
                        <a:rPr lang="en-IN" sz="1300" b="0" kern="1200">
                          <a:effectLst/>
                          <a:latin typeface="Time Roman"/>
                        </a:rPr>
                        <a:t> </a:t>
                      </a:r>
                      <a:endParaRPr lang="en-IN" sz="1300" b="0">
                        <a:effectLst/>
                        <a:latin typeface="Time Roman"/>
                      </a:endParaRPr>
                    </a:p>
                    <a:p>
                      <a:pPr algn="ctr" fontAlgn="base">
                        <a:lnSpc>
                          <a:spcPct val="107000"/>
                        </a:lnSpc>
                        <a:spcAft>
                          <a:spcPts val="800"/>
                        </a:spcAft>
                      </a:pPr>
                      <a:r>
                        <a:rPr lang="en-IN" sz="1300" b="0" kern="1200">
                          <a:effectLst/>
                          <a:latin typeface="Time Roman"/>
                        </a:rPr>
                        <a:t>2</a:t>
                      </a:r>
                      <a:endParaRPr lang="en-IN" sz="1300" b="0">
                        <a:effectLst/>
                        <a:latin typeface="Time Roman"/>
                        <a:ea typeface="Calibri" panose="020F0502020204030204" pitchFamily="34" charset="0"/>
                        <a:cs typeface="Times New Roman" panose="02020603050405020304" pitchFamily="18" charset="0"/>
                      </a:endParaRPr>
                    </a:p>
                  </a:txBody>
                  <a:tcPr marL="0" marR="0" marT="0" marB="0"/>
                </a:tc>
                <a:tc>
                  <a:txBody>
                    <a:bodyPr/>
                    <a:lstStyle/>
                    <a:p>
                      <a:pPr algn="ctr" fontAlgn="base">
                        <a:lnSpc>
                          <a:spcPct val="107000"/>
                        </a:lnSpc>
                        <a:spcAft>
                          <a:spcPts val="800"/>
                        </a:spcAft>
                      </a:pPr>
                      <a:r>
                        <a:rPr lang="en-IN" sz="1300" b="0" kern="1200" dirty="0" err="1">
                          <a:effectLst/>
                          <a:latin typeface="Time Roman"/>
                        </a:rPr>
                        <a:t>User_id</a:t>
                      </a:r>
                      <a:endParaRPr lang="en-IN" sz="1300" b="0" dirty="0">
                        <a:effectLst/>
                        <a:latin typeface="Time Roman"/>
                        <a:ea typeface="Calibri" panose="020F0502020204030204" pitchFamily="34" charset="0"/>
                        <a:cs typeface="Times New Roman" panose="02020603050405020304" pitchFamily="18" charset="0"/>
                      </a:endParaRPr>
                    </a:p>
                  </a:txBody>
                  <a:tcPr marL="46679" marR="46679" marT="23585" marB="23585" anchor="ctr"/>
                </a:tc>
                <a:tc>
                  <a:txBody>
                    <a:bodyPr/>
                    <a:lstStyle/>
                    <a:p>
                      <a:pPr algn="ctr" fontAlgn="base">
                        <a:lnSpc>
                          <a:spcPct val="107000"/>
                        </a:lnSpc>
                        <a:spcAft>
                          <a:spcPts val="800"/>
                        </a:spcAft>
                      </a:pPr>
                      <a:r>
                        <a:rPr lang="en-IN" sz="1300" b="0" kern="1200" dirty="0">
                          <a:effectLst/>
                          <a:latin typeface="Time Roman"/>
                        </a:rPr>
                        <a:t>Int</a:t>
                      </a:r>
                      <a:endParaRPr lang="en-IN" sz="1300" b="0" dirty="0">
                        <a:effectLst/>
                        <a:latin typeface="Time Roman"/>
                        <a:ea typeface="Calibri" panose="020F0502020204030204" pitchFamily="34" charset="0"/>
                        <a:cs typeface="Times New Roman" panose="02020603050405020304" pitchFamily="18" charset="0"/>
                      </a:endParaRPr>
                    </a:p>
                  </a:txBody>
                  <a:tcPr marL="46679" marR="46679" marT="23585" marB="23585" anchor="ctr"/>
                </a:tc>
                <a:tc>
                  <a:txBody>
                    <a:bodyPr/>
                    <a:lstStyle/>
                    <a:p>
                      <a:pPr algn="ctr" fontAlgn="base">
                        <a:lnSpc>
                          <a:spcPct val="107000"/>
                        </a:lnSpc>
                        <a:spcAft>
                          <a:spcPts val="800"/>
                        </a:spcAft>
                      </a:pPr>
                      <a:r>
                        <a:rPr lang="en-IN" sz="1300" b="0" kern="1200" dirty="0">
                          <a:effectLst/>
                          <a:latin typeface="Time Roman"/>
                        </a:rPr>
                        <a:t> </a:t>
                      </a:r>
                      <a:endParaRPr lang="en-IN" sz="1300" b="0" dirty="0">
                        <a:effectLst/>
                        <a:latin typeface="Time Roman"/>
                      </a:endParaRPr>
                    </a:p>
                    <a:p>
                      <a:pPr algn="ctr" fontAlgn="base">
                        <a:lnSpc>
                          <a:spcPct val="107000"/>
                        </a:lnSpc>
                        <a:spcAft>
                          <a:spcPts val="800"/>
                        </a:spcAft>
                      </a:pPr>
                      <a:r>
                        <a:rPr lang="en-IN" sz="1300" b="0" kern="1200" dirty="0">
                          <a:effectLst/>
                          <a:latin typeface="Time Roman"/>
                        </a:rPr>
                        <a:t>20</a:t>
                      </a:r>
                      <a:endParaRPr lang="en-IN" sz="1300" b="0" dirty="0">
                        <a:effectLst/>
                        <a:latin typeface="Time Roman"/>
                        <a:ea typeface="Calibri" panose="020F0502020204030204" pitchFamily="34" charset="0"/>
                        <a:cs typeface="Times New Roman" panose="02020603050405020304" pitchFamily="18" charset="0"/>
                      </a:endParaRPr>
                    </a:p>
                  </a:txBody>
                  <a:tcPr marL="0" marR="0" marT="0" marB="0"/>
                </a:tc>
                <a:tc>
                  <a:txBody>
                    <a:bodyPr/>
                    <a:lstStyle/>
                    <a:p>
                      <a:pPr algn="ctr" fontAlgn="base">
                        <a:lnSpc>
                          <a:spcPct val="107000"/>
                        </a:lnSpc>
                        <a:spcAft>
                          <a:spcPts val="800"/>
                        </a:spcAft>
                      </a:pPr>
                      <a:r>
                        <a:rPr lang="en-IN" sz="1300" b="0" kern="1200" dirty="0">
                          <a:effectLst/>
                          <a:latin typeface="Time Roman"/>
                        </a:rPr>
                        <a:t>Foreign key</a:t>
                      </a:r>
                      <a:endParaRPr lang="en-IN" sz="1300" b="0" dirty="0">
                        <a:effectLst/>
                        <a:latin typeface="Time Roman"/>
                        <a:ea typeface="Calibri" panose="020F0502020204030204" pitchFamily="34" charset="0"/>
                        <a:cs typeface="Times New Roman" panose="02020603050405020304" pitchFamily="18" charset="0"/>
                      </a:endParaRPr>
                    </a:p>
                  </a:txBody>
                  <a:tcPr marL="46679" marR="46679" marT="23585" marB="23585" anchor="ctr"/>
                </a:tc>
                <a:tc>
                  <a:txBody>
                    <a:bodyPr/>
                    <a:lstStyle/>
                    <a:p>
                      <a:pPr algn="ctr" fontAlgn="base">
                        <a:lnSpc>
                          <a:spcPct val="107000"/>
                        </a:lnSpc>
                        <a:spcAft>
                          <a:spcPts val="800"/>
                        </a:spcAft>
                      </a:pPr>
                      <a:r>
                        <a:rPr lang="en-IN" sz="1300" b="0" kern="1200" dirty="0">
                          <a:effectLst/>
                          <a:latin typeface="Time Roman"/>
                        </a:rPr>
                        <a:t>Identifier of the user who cast the vote</a:t>
                      </a:r>
                      <a:endParaRPr lang="en-IN" sz="1300" b="0" dirty="0">
                        <a:effectLst/>
                        <a:latin typeface="Time Roman"/>
                        <a:ea typeface="Calibri" panose="020F0502020204030204" pitchFamily="34" charset="0"/>
                        <a:cs typeface="Times New Roman" panose="02020603050405020304" pitchFamily="18" charset="0"/>
                      </a:endParaRPr>
                    </a:p>
                  </a:txBody>
                  <a:tcPr marL="46679" marR="46679" marT="23585" marB="23585" anchor="ctr"/>
                </a:tc>
                <a:extLst>
                  <a:ext uri="{0D108BD9-81ED-4DB2-BD59-A6C34878D82A}">
                    <a16:rowId xmlns="" xmlns:a16="http://schemas.microsoft.com/office/drawing/2014/main" val="715048298"/>
                  </a:ext>
                </a:extLst>
              </a:tr>
              <a:tr h="738022">
                <a:tc>
                  <a:txBody>
                    <a:bodyPr/>
                    <a:lstStyle/>
                    <a:p>
                      <a:pPr algn="ctr" fontAlgn="base">
                        <a:lnSpc>
                          <a:spcPct val="107000"/>
                        </a:lnSpc>
                        <a:spcAft>
                          <a:spcPts val="800"/>
                        </a:spcAft>
                      </a:pPr>
                      <a:r>
                        <a:rPr lang="en-IN" sz="1300" b="0" kern="1200">
                          <a:effectLst/>
                          <a:latin typeface="Time Roman"/>
                        </a:rPr>
                        <a:t> </a:t>
                      </a:r>
                      <a:endParaRPr lang="en-IN" sz="1300" b="0">
                        <a:effectLst/>
                        <a:latin typeface="Time Roman"/>
                      </a:endParaRPr>
                    </a:p>
                    <a:p>
                      <a:pPr algn="ctr" fontAlgn="base">
                        <a:lnSpc>
                          <a:spcPct val="107000"/>
                        </a:lnSpc>
                        <a:spcAft>
                          <a:spcPts val="800"/>
                        </a:spcAft>
                      </a:pPr>
                      <a:r>
                        <a:rPr lang="en-IN" sz="1300" b="0" kern="1200">
                          <a:effectLst/>
                          <a:latin typeface="Time Roman"/>
                        </a:rPr>
                        <a:t>3</a:t>
                      </a:r>
                      <a:endParaRPr lang="en-IN" sz="1300" b="0">
                        <a:effectLst/>
                        <a:latin typeface="Time Roman"/>
                        <a:ea typeface="Calibri" panose="020F0502020204030204" pitchFamily="34" charset="0"/>
                        <a:cs typeface="Times New Roman" panose="02020603050405020304" pitchFamily="18" charset="0"/>
                      </a:endParaRPr>
                    </a:p>
                  </a:txBody>
                  <a:tcPr marL="0" marR="0" marT="0" marB="0"/>
                </a:tc>
                <a:tc>
                  <a:txBody>
                    <a:bodyPr/>
                    <a:lstStyle/>
                    <a:p>
                      <a:pPr algn="ctr" fontAlgn="base">
                        <a:lnSpc>
                          <a:spcPct val="107000"/>
                        </a:lnSpc>
                        <a:spcAft>
                          <a:spcPts val="800"/>
                        </a:spcAft>
                      </a:pPr>
                      <a:r>
                        <a:rPr lang="en-IN" sz="1300" b="0" kern="1200">
                          <a:effectLst/>
                          <a:latin typeface="Time Roman"/>
                        </a:rPr>
                        <a:t>Election_id</a:t>
                      </a:r>
                      <a:endParaRPr lang="en-IN" sz="1300" b="0">
                        <a:effectLst/>
                        <a:latin typeface="Time Roman"/>
                        <a:ea typeface="Calibri" panose="020F0502020204030204" pitchFamily="34" charset="0"/>
                        <a:cs typeface="Times New Roman" panose="02020603050405020304" pitchFamily="18" charset="0"/>
                      </a:endParaRPr>
                    </a:p>
                  </a:txBody>
                  <a:tcPr marL="46679" marR="46679" marT="23585" marB="23585" anchor="ctr"/>
                </a:tc>
                <a:tc>
                  <a:txBody>
                    <a:bodyPr/>
                    <a:lstStyle/>
                    <a:p>
                      <a:pPr algn="ctr" fontAlgn="base">
                        <a:lnSpc>
                          <a:spcPct val="107000"/>
                        </a:lnSpc>
                        <a:spcAft>
                          <a:spcPts val="800"/>
                        </a:spcAft>
                      </a:pPr>
                      <a:r>
                        <a:rPr lang="en-IN" sz="1300" b="0" kern="1200">
                          <a:effectLst/>
                          <a:latin typeface="Time Roman"/>
                        </a:rPr>
                        <a:t>Int</a:t>
                      </a:r>
                      <a:endParaRPr lang="en-IN" sz="1300" b="0">
                        <a:effectLst/>
                        <a:latin typeface="Time Roman"/>
                        <a:ea typeface="Calibri" panose="020F0502020204030204" pitchFamily="34" charset="0"/>
                        <a:cs typeface="Times New Roman" panose="02020603050405020304" pitchFamily="18" charset="0"/>
                      </a:endParaRPr>
                    </a:p>
                  </a:txBody>
                  <a:tcPr marL="46679" marR="46679" marT="23585" marB="23585" anchor="ctr"/>
                </a:tc>
                <a:tc>
                  <a:txBody>
                    <a:bodyPr/>
                    <a:lstStyle/>
                    <a:p>
                      <a:pPr algn="ctr" fontAlgn="base">
                        <a:lnSpc>
                          <a:spcPct val="107000"/>
                        </a:lnSpc>
                        <a:spcAft>
                          <a:spcPts val="800"/>
                        </a:spcAft>
                      </a:pPr>
                      <a:r>
                        <a:rPr lang="en-IN" sz="1300" b="0" kern="1200" dirty="0">
                          <a:effectLst/>
                          <a:latin typeface="Time Roman"/>
                        </a:rPr>
                        <a:t> </a:t>
                      </a:r>
                      <a:endParaRPr lang="en-IN" sz="1300" b="0" dirty="0">
                        <a:effectLst/>
                        <a:latin typeface="Time Roman"/>
                      </a:endParaRPr>
                    </a:p>
                    <a:p>
                      <a:pPr algn="ctr" fontAlgn="base">
                        <a:lnSpc>
                          <a:spcPct val="107000"/>
                        </a:lnSpc>
                        <a:spcAft>
                          <a:spcPts val="800"/>
                        </a:spcAft>
                      </a:pPr>
                      <a:r>
                        <a:rPr lang="en-IN" sz="1300" b="0" kern="1200" dirty="0">
                          <a:effectLst/>
                          <a:latin typeface="Time Roman"/>
                        </a:rPr>
                        <a:t>20</a:t>
                      </a:r>
                      <a:endParaRPr lang="en-IN" sz="1300" b="0" dirty="0">
                        <a:effectLst/>
                        <a:latin typeface="Time Roman"/>
                      </a:endParaRPr>
                    </a:p>
                    <a:p>
                      <a:pPr algn="ctr" fontAlgn="base">
                        <a:lnSpc>
                          <a:spcPct val="107000"/>
                        </a:lnSpc>
                        <a:spcAft>
                          <a:spcPts val="800"/>
                        </a:spcAft>
                      </a:pPr>
                      <a:r>
                        <a:rPr lang="en-IN" sz="1300" b="0" kern="1200" dirty="0">
                          <a:effectLst/>
                          <a:latin typeface="Time Roman"/>
                        </a:rPr>
                        <a:t> </a:t>
                      </a:r>
                      <a:endParaRPr lang="en-IN" sz="1300" b="0" dirty="0">
                        <a:effectLst/>
                        <a:latin typeface="Time Roman"/>
                        <a:ea typeface="Calibri" panose="020F0502020204030204" pitchFamily="34" charset="0"/>
                        <a:cs typeface="Times New Roman" panose="02020603050405020304" pitchFamily="18" charset="0"/>
                      </a:endParaRPr>
                    </a:p>
                  </a:txBody>
                  <a:tcPr marL="0" marR="0" marT="0" marB="0"/>
                </a:tc>
                <a:tc>
                  <a:txBody>
                    <a:bodyPr/>
                    <a:lstStyle/>
                    <a:p>
                      <a:pPr algn="ctr" fontAlgn="base">
                        <a:lnSpc>
                          <a:spcPct val="107000"/>
                        </a:lnSpc>
                        <a:spcAft>
                          <a:spcPts val="800"/>
                        </a:spcAft>
                      </a:pPr>
                      <a:r>
                        <a:rPr lang="en-IN" sz="1300" b="0" kern="1200" dirty="0">
                          <a:effectLst/>
                          <a:latin typeface="Time Roman"/>
                        </a:rPr>
                        <a:t>Foreign key</a:t>
                      </a:r>
                      <a:endParaRPr lang="en-IN" sz="1300" b="0" dirty="0">
                        <a:effectLst/>
                        <a:latin typeface="Time Roman"/>
                        <a:ea typeface="Calibri" panose="020F0502020204030204" pitchFamily="34" charset="0"/>
                        <a:cs typeface="Times New Roman" panose="02020603050405020304" pitchFamily="18" charset="0"/>
                      </a:endParaRPr>
                    </a:p>
                  </a:txBody>
                  <a:tcPr marL="46679" marR="46679" marT="23585" marB="23585" anchor="ctr"/>
                </a:tc>
                <a:tc>
                  <a:txBody>
                    <a:bodyPr/>
                    <a:lstStyle/>
                    <a:p>
                      <a:pPr algn="ctr" fontAlgn="base">
                        <a:lnSpc>
                          <a:spcPct val="107000"/>
                        </a:lnSpc>
                        <a:spcAft>
                          <a:spcPts val="800"/>
                        </a:spcAft>
                      </a:pPr>
                      <a:r>
                        <a:rPr lang="en-IN" sz="1300" b="0" kern="1200" dirty="0">
                          <a:effectLst/>
                          <a:latin typeface="Time Roman"/>
                        </a:rPr>
                        <a:t>Identifier of the associated election</a:t>
                      </a:r>
                      <a:endParaRPr lang="en-IN" sz="1300" b="0" dirty="0">
                        <a:effectLst/>
                        <a:latin typeface="Time Roman"/>
                        <a:ea typeface="Calibri" panose="020F0502020204030204" pitchFamily="34" charset="0"/>
                        <a:cs typeface="Times New Roman" panose="02020603050405020304" pitchFamily="18" charset="0"/>
                      </a:endParaRPr>
                    </a:p>
                  </a:txBody>
                  <a:tcPr marL="46679" marR="46679" marT="23585" marB="23585" anchor="ctr"/>
                </a:tc>
                <a:extLst>
                  <a:ext uri="{0D108BD9-81ED-4DB2-BD59-A6C34878D82A}">
                    <a16:rowId xmlns="" xmlns:a16="http://schemas.microsoft.com/office/drawing/2014/main" val="2548775061"/>
                  </a:ext>
                </a:extLst>
              </a:tr>
              <a:tr h="726229">
                <a:tc>
                  <a:txBody>
                    <a:bodyPr/>
                    <a:lstStyle/>
                    <a:p>
                      <a:pPr algn="ctr" fontAlgn="base">
                        <a:lnSpc>
                          <a:spcPct val="107000"/>
                        </a:lnSpc>
                        <a:spcAft>
                          <a:spcPts val="800"/>
                        </a:spcAft>
                      </a:pPr>
                      <a:r>
                        <a:rPr lang="en-IN" sz="1300" b="0" kern="1200">
                          <a:effectLst/>
                          <a:latin typeface="Time Roman"/>
                        </a:rPr>
                        <a:t> </a:t>
                      </a:r>
                      <a:endParaRPr lang="en-IN" sz="1300" b="0">
                        <a:effectLst/>
                        <a:latin typeface="Time Roman"/>
                      </a:endParaRPr>
                    </a:p>
                    <a:p>
                      <a:pPr algn="ctr" fontAlgn="base">
                        <a:lnSpc>
                          <a:spcPct val="107000"/>
                        </a:lnSpc>
                        <a:spcAft>
                          <a:spcPts val="800"/>
                        </a:spcAft>
                      </a:pPr>
                      <a:r>
                        <a:rPr lang="en-IN" sz="1300" b="0" kern="1200">
                          <a:effectLst/>
                          <a:latin typeface="Time Roman"/>
                        </a:rPr>
                        <a:t>4</a:t>
                      </a:r>
                      <a:endParaRPr lang="en-IN" sz="1300" b="0">
                        <a:effectLst/>
                        <a:latin typeface="Time Roman"/>
                        <a:ea typeface="Calibri" panose="020F0502020204030204" pitchFamily="34" charset="0"/>
                        <a:cs typeface="Times New Roman" panose="02020603050405020304" pitchFamily="18" charset="0"/>
                      </a:endParaRPr>
                    </a:p>
                  </a:txBody>
                  <a:tcPr marL="0" marR="0" marT="0" marB="0"/>
                </a:tc>
                <a:tc>
                  <a:txBody>
                    <a:bodyPr/>
                    <a:lstStyle/>
                    <a:p>
                      <a:pPr algn="ctr" fontAlgn="base">
                        <a:lnSpc>
                          <a:spcPct val="107000"/>
                        </a:lnSpc>
                        <a:spcAft>
                          <a:spcPts val="800"/>
                        </a:spcAft>
                      </a:pPr>
                      <a:r>
                        <a:rPr lang="en-IN" sz="1300" b="0" kern="1200">
                          <a:effectLst/>
                          <a:latin typeface="Time Roman"/>
                        </a:rPr>
                        <a:t>Candidate_id</a:t>
                      </a:r>
                      <a:endParaRPr lang="en-IN" sz="1300" b="0">
                        <a:effectLst/>
                        <a:latin typeface="Time Roman"/>
                        <a:ea typeface="Calibri" panose="020F0502020204030204" pitchFamily="34" charset="0"/>
                        <a:cs typeface="Times New Roman" panose="02020603050405020304" pitchFamily="18" charset="0"/>
                      </a:endParaRPr>
                    </a:p>
                  </a:txBody>
                  <a:tcPr marL="46679" marR="46679" marT="23585" marB="23585" anchor="ctr"/>
                </a:tc>
                <a:tc>
                  <a:txBody>
                    <a:bodyPr/>
                    <a:lstStyle/>
                    <a:p>
                      <a:pPr algn="ctr" fontAlgn="base">
                        <a:lnSpc>
                          <a:spcPct val="107000"/>
                        </a:lnSpc>
                        <a:spcAft>
                          <a:spcPts val="800"/>
                        </a:spcAft>
                      </a:pPr>
                      <a:r>
                        <a:rPr lang="en-IN" sz="1300" b="0" kern="1200">
                          <a:effectLst/>
                          <a:latin typeface="Time Roman"/>
                        </a:rPr>
                        <a:t>Int</a:t>
                      </a:r>
                      <a:endParaRPr lang="en-IN" sz="1300" b="0">
                        <a:effectLst/>
                        <a:latin typeface="Time Roman"/>
                        <a:ea typeface="Calibri" panose="020F0502020204030204" pitchFamily="34" charset="0"/>
                        <a:cs typeface="Times New Roman" panose="02020603050405020304" pitchFamily="18" charset="0"/>
                      </a:endParaRPr>
                    </a:p>
                  </a:txBody>
                  <a:tcPr marL="46679" marR="46679" marT="23585" marB="23585" anchor="ctr"/>
                </a:tc>
                <a:tc>
                  <a:txBody>
                    <a:bodyPr/>
                    <a:lstStyle/>
                    <a:p>
                      <a:pPr algn="ctr" fontAlgn="base">
                        <a:lnSpc>
                          <a:spcPct val="107000"/>
                        </a:lnSpc>
                        <a:spcAft>
                          <a:spcPts val="800"/>
                        </a:spcAft>
                      </a:pPr>
                      <a:r>
                        <a:rPr lang="en-IN" sz="1300" b="0" kern="1200">
                          <a:effectLst/>
                          <a:latin typeface="Time Roman"/>
                        </a:rPr>
                        <a:t> </a:t>
                      </a:r>
                      <a:endParaRPr lang="en-IN" sz="1300" b="0">
                        <a:effectLst/>
                        <a:latin typeface="Time Roman"/>
                      </a:endParaRPr>
                    </a:p>
                    <a:p>
                      <a:pPr algn="ctr" fontAlgn="base">
                        <a:lnSpc>
                          <a:spcPct val="107000"/>
                        </a:lnSpc>
                        <a:spcAft>
                          <a:spcPts val="800"/>
                        </a:spcAft>
                      </a:pPr>
                      <a:r>
                        <a:rPr lang="en-IN" sz="1300" b="0" kern="1200">
                          <a:effectLst/>
                          <a:latin typeface="Time Roman"/>
                        </a:rPr>
                        <a:t>30</a:t>
                      </a:r>
                      <a:endParaRPr lang="en-IN" sz="1300" b="0">
                        <a:effectLst/>
                        <a:latin typeface="Time Roman"/>
                        <a:ea typeface="Calibri" panose="020F0502020204030204" pitchFamily="34" charset="0"/>
                        <a:cs typeface="Times New Roman" panose="02020603050405020304" pitchFamily="18" charset="0"/>
                      </a:endParaRPr>
                    </a:p>
                  </a:txBody>
                  <a:tcPr marL="0" marR="0" marT="0" marB="0"/>
                </a:tc>
                <a:tc>
                  <a:txBody>
                    <a:bodyPr/>
                    <a:lstStyle/>
                    <a:p>
                      <a:pPr algn="ctr" fontAlgn="base">
                        <a:lnSpc>
                          <a:spcPct val="107000"/>
                        </a:lnSpc>
                        <a:spcAft>
                          <a:spcPts val="800"/>
                        </a:spcAft>
                      </a:pPr>
                      <a:r>
                        <a:rPr lang="en-IN" sz="1300" b="0" kern="1200" dirty="0">
                          <a:effectLst/>
                          <a:latin typeface="Time Roman"/>
                        </a:rPr>
                        <a:t>Foreign key</a:t>
                      </a:r>
                      <a:endParaRPr lang="en-IN" sz="1300" b="0" dirty="0">
                        <a:effectLst/>
                        <a:latin typeface="Time Roman"/>
                        <a:ea typeface="Calibri" panose="020F0502020204030204" pitchFamily="34" charset="0"/>
                        <a:cs typeface="Times New Roman" panose="02020603050405020304" pitchFamily="18" charset="0"/>
                      </a:endParaRPr>
                    </a:p>
                  </a:txBody>
                  <a:tcPr marL="46679" marR="46679" marT="23585" marB="23585" anchor="ctr"/>
                </a:tc>
                <a:tc>
                  <a:txBody>
                    <a:bodyPr/>
                    <a:lstStyle/>
                    <a:p>
                      <a:pPr algn="ctr" fontAlgn="base">
                        <a:lnSpc>
                          <a:spcPct val="107000"/>
                        </a:lnSpc>
                        <a:spcAft>
                          <a:spcPts val="800"/>
                        </a:spcAft>
                      </a:pPr>
                      <a:r>
                        <a:rPr lang="en-IN" sz="1300" b="0" kern="1200" dirty="0">
                          <a:effectLst/>
                          <a:latin typeface="Time Roman"/>
                        </a:rPr>
                        <a:t>Identifier of the candidate voted for</a:t>
                      </a:r>
                      <a:endParaRPr lang="en-IN" sz="1300" b="0" dirty="0">
                        <a:effectLst/>
                        <a:latin typeface="Time Roman"/>
                        <a:ea typeface="Calibri" panose="020F0502020204030204" pitchFamily="34" charset="0"/>
                        <a:cs typeface="Times New Roman" panose="02020603050405020304" pitchFamily="18" charset="0"/>
                      </a:endParaRPr>
                    </a:p>
                  </a:txBody>
                  <a:tcPr marL="46679" marR="46679" marT="23585" marB="23585" anchor="ctr"/>
                </a:tc>
                <a:extLst>
                  <a:ext uri="{0D108BD9-81ED-4DB2-BD59-A6C34878D82A}">
                    <a16:rowId xmlns="" xmlns:a16="http://schemas.microsoft.com/office/drawing/2014/main" val="1426715463"/>
                  </a:ext>
                </a:extLst>
              </a:tr>
              <a:tr h="821553">
                <a:tc>
                  <a:txBody>
                    <a:bodyPr/>
                    <a:lstStyle/>
                    <a:p>
                      <a:pPr algn="ctr" fontAlgn="base">
                        <a:lnSpc>
                          <a:spcPct val="107000"/>
                        </a:lnSpc>
                        <a:spcAft>
                          <a:spcPts val="800"/>
                        </a:spcAft>
                      </a:pPr>
                      <a:r>
                        <a:rPr lang="en-IN" sz="1300" b="0" kern="1200">
                          <a:effectLst/>
                          <a:latin typeface="Time Roman"/>
                        </a:rPr>
                        <a:t> </a:t>
                      </a:r>
                      <a:endParaRPr lang="en-IN" sz="1300" b="0">
                        <a:effectLst/>
                        <a:latin typeface="Time Roman"/>
                      </a:endParaRPr>
                    </a:p>
                    <a:p>
                      <a:pPr algn="ctr" fontAlgn="base">
                        <a:lnSpc>
                          <a:spcPct val="107000"/>
                        </a:lnSpc>
                        <a:spcAft>
                          <a:spcPts val="800"/>
                        </a:spcAft>
                      </a:pPr>
                      <a:r>
                        <a:rPr lang="en-IN" sz="1300" b="0" kern="1200">
                          <a:effectLst/>
                          <a:latin typeface="Time Roman"/>
                        </a:rPr>
                        <a:t>5</a:t>
                      </a:r>
                      <a:endParaRPr lang="en-IN" sz="1300" b="0">
                        <a:effectLst/>
                        <a:latin typeface="Time Roman"/>
                        <a:ea typeface="Calibri" panose="020F0502020204030204" pitchFamily="34" charset="0"/>
                        <a:cs typeface="Times New Roman" panose="02020603050405020304" pitchFamily="18" charset="0"/>
                      </a:endParaRPr>
                    </a:p>
                  </a:txBody>
                  <a:tcPr marL="0" marR="0" marT="0" marB="0"/>
                </a:tc>
                <a:tc>
                  <a:txBody>
                    <a:bodyPr/>
                    <a:lstStyle/>
                    <a:p>
                      <a:pPr algn="ctr" fontAlgn="base">
                        <a:lnSpc>
                          <a:spcPct val="107000"/>
                        </a:lnSpc>
                        <a:spcAft>
                          <a:spcPts val="800"/>
                        </a:spcAft>
                      </a:pPr>
                      <a:r>
                        <a:rPr lang="en-IN" sz="1300" b="0" kern="1200">
                          <a:effectLst/>
                          <a:latin typeface="Time Roman"/>
                        </a:rPr>
                        <a:t>Timestamp</a:t>
                      </a:r>
                      <a:endParaRPr lang="en-IN" sz="1300" b="0">
                        <a:effectLst/>
                        <a:latin typeface="Time Roman"/>
                        <a:ea typeface="Calibri" panose="020F0502020204030204" pitchFamily="34" charset="0"/>
                        <a:cs typeface="Times New Roman" panose="02020603050405020304" pitchFamily="18" charset="0"/>
                      </a:endParaRPr>
                    </a:p>
                  </a:txBody>
                  <a:tcPr marL="46679" marR="46679" marT="23585" marB="23585" anchor="ctr"/>
                </a:tc>
                <a:tc>
                  <a:txBody>
                    <a:bodyPr/>
                    <a:lstStyle/>
                    <a:p>
                      <a:pPr algn="ctr" fontAlgn="base">
                        <a:lnSpc>
                          <a:spcPct val="107000"/>
                        </a:lnSpc>
                        <a:spcAft>
                          <a:spcPts val="800"/>
                        </a:spcAft>
                      </a:pPr>
                      <a:r>
                        <a:rPr lang="en-IN" sz="1300" b="0" kern="1200">
                          <a:effectLst/>
                          <a:latin typeface="Time Roman"/>
                        </a:rPr>
                        <a:t>Datetime</a:t>
                      </a:r>
                      <a:endParaRPr lang="en-IN" sz="1300" b="0">
                        <a:effectLst/>
                        <a:latin typeface="Time Roman"/>
                        <a:ea typeface="Calibri" panose="020F0502020204030204" pitchFamily="34" charset="0"/>
                        <a:cs typeface="Times New Roman" panose="02020603050405020304" pitchFamily="18" charset="0"/>
                      </a:endParaRPr>
                    </a:p>
                  </a:txBody>
                  <a:tcPr marL="46679" marR="46679" marT="23585" marB="23585" anchor="ctr"/>
                </a:tc>
                <a:tc>
                  <a:txBody>
                    <a:bodyPr/>
                    <a:lstStyle/>
                    <a:p>
                      <a:pPr algn="ctr">
                        <a:lnSpc>
                          <a:spcPct val="107000"/>
                        </a:lnSpc>
                        <a:spcAft>
                          <a:spcPts val="800"/>
                        </a:spcAft>
                      </a:pPr>
                      <a:r>
                        <a:rPr lang="en-IN" sz="1300" b="0">
                          <a:effectLst/>
                          <a:latin typeface="Time Roman"/>
                        </a:rPr>
                        <a:t> </a:t>
                      </a:r>
                    </a:p>
                    <a:p>
                      <a:pPr algn="ctr">
                        <a:lnSpc>
                          <a:spcPct val="107000"/>
                        </a:lnSpc>
                        <a:spcAft>
                          <a:spcPts val="800"/>
                        </a:spcAft>
                      </a:pPr>
                      <a:r>
                        <a:rPr lang="en-IN" sz="1300" b="0">
                          <a:effectLst/>
                          <a:latin typeface="Time Roman"/>
                        </a:rPr>
                        <a:t>30</a:t>
                      </a:r>
                      <a:endParaRPr lang="en-IN" sz="1300" b="0">
                        <a:effectLst/>
                        <a:latin typeface="Time Roman"/>
                        <a:ea typeface="Calibri" panose="020F0502020204030204" pitchFamily="34" charset="0"/>
                        <a:cs typeface="Times New Roman" panose="02020603050405020304" pitchFamily="18" charset="0"/>
                      </a:endParaRPr>
                    </a:p>
                  </a:txBody>
                  <a:tcPr marL="0" marR="0" marT="0" marB="0"/>
                </a:tc>
                <a:tc>
                  <a:txBody>
                    <a:bodyPr/>
                    <a:lstStyle/>
                    <a:p>
                      <a:pPr algn="ctr">
                        <a:lnSpc>
                          <a:spcPct val="107000"/>
                        </a:lnSpc>
                        <a:spcAft>
                          <a:spcPts val="800"/>
                        </a:spcAft>
                      </a:pPr>
                      <a:r>
                        <a:rPr lang="en-IN" sz="1300" b="0">
                          <a:effectLst/>
                          <a:latin typeface="Time Roman"/>
                        </a:rPr>
                        <a:t>Not null</a:t>
                      </a:r>
                      <a:endParaRPr lang="en-IN" sz="1300" b="0">
                        <a:effectLst/>
                        <a:latin typeface="Time Roman"/>
                        <a:ea typeface="Calibri" panose="020F0502020204030204" pitchFamily="34" charset="0"/>
                        <a:cs typeface="Times New Roman" panose="02020603050405020304" pitchFamily="18" charset="0"/>
                      </a:endParaRPr>
                    </a:p>
                  </a:txBody>
                  <a:tcPr marL="46679" marR="46679" marT="23585" marB="23585" anchor="ctr"/>
                </a:tc>
                <a:tc>
                  <a:txBody>
                    <a:bodyPr/>
                    <a:lstStyle/>
                    <a:p>
                      <a:pPr algn="ctr" fontAlgn="base">
                        <a:lnSpc>
                          <a:spcPct val="107000"/>
                        </a:lnSpc>
                        <a:spcAft>
                          <a:spcPts val="800"/>
                        </a:spcAft>
                      </a:pPr>
                      <a:r>
                        <a:rPr lang="en-IN" sz="1300" b="0" kern="1200" dirty="0">
                          <a:effectLst/>
                          <a:latin typeface="Time Roman"/>
                        </a:rPr>
                        <a:t>Timestamp of when the vote was cast</a:t>
                      </a:r>
                      <a:endParaRPr lang="en-IN" sz="1300" b="0" dirty="0">
                        <a:effectLst/>
                        <a:latin typeface="Time Roman"/>
                        <a:ea typeface="Calibri" panose="020F0502020204030204" pitchFamily="34" charset="0"/>
                        <a:cs typeface="Times New Roman" panose="02020603050405020304" pitchFamily="18" charset="0"/>
                      </a:endParaRPr>
                    </a:p>
                  </a:txBody>
                  <a:tcPr marL="46679" marR="46679" marT="23585" marB="23585" anchor="ctr"/>
                </a:tc>
                <a:extLst>
                  <a:ext uri="{0D108BD9-81ED-4DB2-BD59-A6C34878D82A}">
                    <a16:rowId xmlns="" xmlns:a16="http://schemas.microsoft.com/office/drawing/2014/main" val="2268849353"/>
                  </a:ext>
                </a:extLst>
              </a:tr>
            </a:tbl>
          </a:graphicData>
        </a:graphic>
      </p:graphicFrame>
    </p:spTree>
    <p:extLst>
      <p:ext uri="{BB962C8B-B14F-4D97-AF65-F5344CB8AC3E}">
        <p14:creationId xmlns:p14="http://schemas.microsoft.com/office/powerpoint/2010/main" val="111275888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lowchart: Delay 9"/>
          <p:cNvSpPr/>
          <p:nvPr/>
        </p:nvSpPr>
        <p:spPr>
          <a:xfrm>
            <a:off x="762000" y="6429396"/>
            <a:ext cx="8354457" cy="428604"/>
          </a:xfrm>
          <a:prstGeom prst="flowChartDelay">
            <a:avLst/>
          </a:prstGeom>
          <a:solidFill>
            <a:srgbClr val="00B0F0"/>
          </a:solidFill>
          <a:ln>
            <a:solidFill>
              <a:srgbClr val="00B0F0"/>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rPr>
              <a:t>Anna University, Chennai</a:t>
            </a:r>
            <a:endParaRPr lang="en-US"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endParaRPr>
          </a:p>
        </p:txBody>
      </p:sp>
      <p:sp>
        <p:nvSpPr>
          <p:cNvPr id="8" name="AutoShape 6" descr="Anna University - Wikipedia"/>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8" descr="Anna University - Wikipedia"/>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10" descr="Anna University - Wikipedia"/>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12" descr="Anna University - Wikipedia"/>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AutoShape 14" descr="Anna University - Wikipedia"/>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AutoShape 16" descr="Anna University - Wikipedia"/>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AutoShape 18" descr="Anna University - Wikipedia"/>
          <p:cNvSpPr>
            <a:spLocks noChangeAspect="1" noChangeArrowheads="1"/>
          </p:cNvSpPr>
          <p:nvPr/>
        </p:nvSpPr>
        <p:spPr bwMode="auto">
          <a:xfrm>
            <a:off x="1069975" y="769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AutoShape 20" descr="Anna University - Wikipedia"/>
          <p:cNvSpPr>
            <a:spLocks noChangeAspect="1" noChangeArrowheads="1"/>
          </p:cNvSpPr>
          <p:nvPr/>
        </p:nvSpPr>
        <p:spPr bwMode="auto">
          <a:xfrm>
            <a:off x="1222375" y="922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AutoShape 22" descr="Anna University - Wikipedia"/>
          <p:cNvSpPr>
            <a:spLocks noChangeAspect="1" noChangeArrowheads="1"/>
          </p:cNvSpPr>
          <p:nvPr/>
        </p:nvSpPr>
        <p:spPr bwMode="auto">
          <a:xfrm>
            <a:off x="1374775" y="1074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AutoShape 24" descr="Anna University - Wikipedia"/>
          <p:cNvSpPr>
            <a:spLocks noChangeAspect="1" noChangeArrowheads="1"/>
          </p:cNvSpPr>
          <p:nvPr/>
        </p:nvSpPr>
        <p:spPr bwMode="auto">
          <a:xfrm>
            <a:off x="1527175" y="1227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50" name="Picture 26" descr="undefine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051" y="6186522"/>
            <a:ext cx="675701" cy="67147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07975" y="276285"/>
            <a:ext cx="8683625" cy="4739759"/>
          </a:xfrm>
          <a:prstGeom prst="rect">
            <a:avLst/>
          </a:prstGeom>
        </p:spPr>
        <p:txBody>
          <a:bodyPr wrap="square">
            <a:spAutoFit/>
          </a:bodyPr>
          <a:lstStyle/>
          <a:p>
            <a:pPr algn="ctr"/>
            <a:r>
              <a:rPr lang="en-US" sz="2400" b="1" dirty="0">
                <a:latin typeface="Times New Roman" pitchFamily="18" charset="0"/>
                <a:cs typeface="Times New Roman" pitchFamily="18" charset="0"/>
              </a:rPr>
              <a:t>CONCLUSION</a:t>
            </a:r>
          </a:p>
          <a:p>
            <a:pPr algn="ctr"/>
            <a:endParaRPr lang="en-US" sz="2300" b="1" dirty="0">
              <a:latin typeface="Times New Roman" pitchFamily="18" charset="0"/>
              <a:cs typeface="Times New Roman" pitchFamily="18" charset="0"/>
            </a:endParaRPr>
          </a:p>
          <a:p>
            <a:pPr algn="ctr"/>
            <a:r>
              <a:rPr lang="en-US" sz="2400" b="1" dirty="0">
                <a:solidFill>
                  <a:srgbClr val="000000"/>
                </a:solidFill>
                <a:effectLst/>
                <a:latin typeface="Times New Roman" panose="02020603050405020304" pitchFamily="18" charset="0"/>
                <a:ea typeface="Times New Roman" panose="02020603050405020304" pitchFamily="18" charset="0"/>
              </a:rPr>
              <a:t>Online Voting System Web Application in Python</a:t>
            </a:r>
          </a:p>
          <a:p>
            <a:pPr algn="ctr"/>
            <a:endParaRPr lang="en-US" sz="2400" b="1" dirty="0">
              <a:latin typeface="Times New Roman" pitchFamily="18" charset="0"/>
              <a:cs typeface="Times New Roman" pitchFamily="18" charset="0"/>
            </a:endParaRPr>
          </a:p>
          <a:p>
            <a:pPr algn="just"/>
            <a:r>
              <a:rPr lang="en-IN" sz="2400" dirty="0">
                <a:latin typeface="Times New Roman" pitchFamily="18" charset="0"/>
                <a:cs typeface="Times New Roman" pitchFamily="18" charset="0"/>
              </a:rPr>
              <a:t>	</a:t>
            </a:r>
            <a:r>
              <a:rPr lang="en-IN" sz="2000" dirty="0">
                <a:effectLst/>
                <a:latin typeface="Times New Roman" panose="02020603050405020304" pitchFamily="18" charset="0"/>
                <a:ea typeface="Calibri" panose="020F0502020204030204" pitchFamily="34" charset="0"/>
              </a:rPr>
              <a:t> The online voting system web application developed using Python frameworks, such as Flask or Django, represents a significant advancement in modern voting technology. By providing a user-friendly interface, the application simplifies the voting process, ensuring that users can easily register, log in, and cast their votes. The robust security measures integrated into the system such as secure user authentication and data encryption safeguard against unauthorized access and ensure the integrity of the voting process. Additionally, the efficient data management capabilities of Python frameworks enable accurate and reliable handling of user information, votes, and election results.</a:t>
            </a:r>
            <a:endParaRPr lang="en-IN" sz="2000"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p:txBody>
      </p:sp>
    </p:spTree>
    <p:extLst>
      <p:ext uri="{BB962C8B-B14F-4D97-AF65-F5344CB8AC3E}">
        <p14:creationId xmlns:p14="http://schemas.microsoft.com/office/powerpoint/2010/main" val="201147163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lowchart: Delay 9"/>
          <p:cNvSpPr/>
          <p:nvPr/>
        </p:nvSpPr>
        <p:spPr>
          <a:xfrm>
            <a:off x="762000" y="6429396"/>
            <a:ext cx="8354457" cy="428604"/>
          </a:xfrm>
          <a:prstGeom prst="flowChartDelay">
            <a:avLst/>
          </a:prstGeom>
          <a:solidFill>
            <a:srgbClr val="00B0F0"/>
          </a:solidFill>
          <a:ln>
            <a:solidFill>
              <a:srgbClr val="00B0F0"/>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rPr>
              <a:t>Anna University, Chennai</a:t>
            </a:r>
            <a:endParaRPr lang="en-US"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endParaRPr>
          </a:p>
        </p:txBody>
      </p:sp>
      <p:sp>
        <p:nvSpPr>
          <p:cNvPr id="8" name="AutoShape 6" descr="Anna University - Wikipedia"/>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8" descr="Anna University - Wikipedia"/>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10" descr="Anna University - Wikipedia"/>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12" descr="Anna University - Wikipedia"/>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AutoShape 14" descr="Anna University - Wikipedia"/>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AutoShape 16" descr="Anna University - Wikipedia"/>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AutoShape 18" descr="Anna University - Wikipedia"/>
          <p:cNvSpPr>
            <a:spLocks noChangeAspect="1" noChangeArrowheads="1"/>
          </p:cNvSpPr>
          <p:nvPr/>
        </p:nvSpPr>
        <p:spPr bwMode="auto">
          <a:xfrm>
            <a:off x="1069975" y="769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AutoShape 20" descr="Anna University - Wikipedia"/>
          <p:cNvSpPr>
            <a:spLocks noChangeAspect="1" noChangeArrowheads="1"/>
          </p:cNvSpPr>
          <p:nvPr/>
        </p:nvSpPr>
        <p:spPr bwMode="auto">
          <a:xfrm>
            <a:off x="1222375" y="922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AutoShape 22" descr="Anna University - Wikipedia"/>
          <p:cNvSpPr>
            <a:spLocks noChangeAspect="1" noChangeArrowheads="1"/>
          </p:cNvSpPr>
          <p:nvPr/>
        </p:nvSpPr>
        <p:spPr bwMode="auto">
          <a:xfrm>
            <a:off x="1374775" y="1074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AutoShape 24" descr="Anna University - Wikipedia"/>
          <p:cNvSpPr>
            <a:spLocks noChangeAspect="1" noChangeArrowheads="1"/>
          </p:cNvSpPr>
          <p:nvPr/>
        </p:nvSpPr>
        <p:spPr bwMode="auto">
          <a:xfrm>
            <a:off x="1527175" y="1227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50" name="Picture 26" descr="undefine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051" y="6186522"/>
            <a:ext cx="675701" cy="67147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3051" y="276285"/>
            <a:ext cx="9083406" cy="5350183"/>
          </a:xfrm>
          <a:prstGeom prst="rect">
            <a:avLst/>
          </a:prstGeom>
        </p:spPr>
        <p:txBody>
          <a:bodyPr wrap="square">
            <a:spAutoFit/>
          </a:bodyPr>
          <a:lstStyle/>
          <a:p>
            <a:pPr algn="ctr"/>
            <a:r>
              <a:rPr lang="en-US" sz="2400" b="1" dirty="0">
                <a:latin typeface="Times New Roman" pitchFamily="18" charset="0"/>
                <a:cs typeface="Times New Roman" pitchFamily="18" charset="0"/>
              </a:rPr>
              <a:t>SCOPE FOR FUTURE ENHANCEMENT</a:t>
            </a:r>
          </a:p>
          <a:p>
            <a:pPr algn="ctr"/>
            <a:endParaRPr lang="en-US" sz="2400" b="1" dirty="0">
              <a:latin typeface="Times New Roman" pitchFamily="18" charset="0"/>
              <a:cs typeface="Times New Roman" pitchFamily="18" charset="0"/>
            </a:endParaRPr>
          </a:p>
          <a:p>
            <a:pPr algn="ctr"/>
            <a:r>
              <a:rPr lang="en-US" sz="2400" b="1" dirty="0">
                <a:solidFill>
                  <a:srgbClr val="000000"/>
                </a:solidFill>
                <a:effectLst/>
                <a:latin typeface="Times New Roman" panose="02020603050405020304" pitchFamily="18" charset="0"/>
                <a:ea typeface="Times New Roman" panose="02020603050405020304" pitchFamily="18" charset="0"/>
              </a:rPr>
              <a:t>Online Voting System Web Application in Python</a:t>
            </a:r>
          </a:p>
          <a:p>
            <a:pPr algn="ctr"/>
            <a:endParaRPr lang="en-US" sz="2400" b="1" dirty="0">
              <a:latin typeface="Times New Roman" pitchFamily="18" charset="0"/>
              <a:cs typeface="Times New Roman" pitchFamily="18" charset="0"/>
            </a:endParaRPr>
          </a:p>
          <a:p>
            <a:pPr algn="just">
              <a:lnSpc>
                <a:spcPct val="150000"/>
              </a:lnSpc>
              <a:spcAft>
                <a:spcPts val="800"/>
              </a:spcAft>
            </a:pPr>
            <a:r>
              <a:rPr lang="en-IN" sz="2400" dirty="0">
                <a:latin typeface="Times New Roman" pitchFamily="18" charset="0"/>
                <a:cs typeface="Times New Roman" pitchFamily="18" charset="0"/>
              </a:rPr>
              <a:t>	</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 Future enhancements for the online voting system web application developed with Python Django can significantly elevate its functionality and user experience. Integrating advanced identity verification mechanisms, such as  government issued ID validation, could further fortify security and ensure the authenticity of voter identities. Implementing automated voter registration processes and seamless integration with national or local databases could streamline registration and reduce administrative tasks.</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2300" b="1" dirty="0">
              <a:latin typeface="Times New Roman" pitchFamily="18" charset="0"/>
              <a:cs typeface="Times New Roman" pitchFamily="18" charset="0"/>
            </a:endParaRPr>
          </a:p>
        </p:txBody>
      </p:sp>
    </p:spTree>
    <p:extLst>
      <p:ext uri="{BB962C8B-B14F-4D97-AF65-F5344CB8AC3E}">
        <p14:creationId xmlns:p14="http://schemas.microsoft.com/office/powerpoint/2010/main" val="317698821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lowchart: Delay 9"/>
          <p:cNvSpPr/>
          <p:nvPr/>
        </p:nvSpPr>
        <p:spPr>
          <a:xfrm>
            <a:off x="762000" y="6429396"/>
            <a:ext cx="8354457" cy="428604"/>
          </a:xfrm>
          <a:prstGeom prst="flowChartDelay">
            <a:avLst/>
          </a:prstGeom>
          <a:solidFill>
            <a:srgbClr val="00B0F0"/>
          </a:solidFill>
          <a:ln>
            <a:solidFill>
              <a:srgbClr val="00B0F0"/>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rPr>
              <a:t>Anna University, Chennai</a:t>
            </a:r>
            <a:endParaRPr lang="en-US"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endParaRPr>
          </a:p>
        </p:txBody>
      </p:sp>
      <p:sp>
        <p:nvSpPr>
          <p:cNvPr id="8" name="AutoShape 6" descr="Anna University - Wikipedia"/>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8" descr="Anna University - Wikipedia"/>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10" descr="Anna University - Wikipedia"/>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12" descr="Anna University - Wikipedia"/>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AutoShape 14" descr="Anna University - Wikipedia"/>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AutoShape 16" descr="Anna University - Wikipedia"/>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AutoShape 18" descr="Anna University - Wikipedia"/>
          <p:cNvSpPr>
            <a:spLocks noChangeAspect="1" noChangeArrowheads="1"/>
          </p:cNvSpPr>
          <p:nvPr/>
        </p:nvSpPr>
        <p:spPr bwMode="auto">
          <a:xfrm>
            <a:off x="1069975" y="769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AutoShape 20" descr="Anna University - Wikipedia"/>
          <p:cNvSpPr>
            <a:spLocks noChangeAspect="1" noChangeArrowheads="1"/>
          </p:cNvSpPr>
          <p:nvPr/>
        </p:nvSpPr>
        <p:spPr bwMode="auto">
          <a:xfrm>
            <a:off x="1222375" y="922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AutoShape 22" descr="Anna University - Wikipedia"/>
          <p:cNvSpPr>
            <a:spLocks noChangeAspect="1" noChangeArrowheads="1"/>
          </p:cNvSpPr>
          <p:nvPr/>
        </p:nvSpPr>
        <p:spPr bwMode="auto">
          <a:xfrm>
            <a:off x="1374775" y="1074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AutoShape 24" descr="Anna University - Wikipedia"/>
          <p:cNvSpPr>
            <a:spLocks noChangeAspect="1" noChangeArrowheads="1"/>
          </p:cNvSpPr>
          <p:nvPr/>
        </p:nvSpPr>
        <p:spPr bwMode="auto">
          <a:xfrm>
            <a:off x="1527175" y="1227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50" name="Picture 26" descr="undefine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051" y="6186522"/>
            <a:ext cx="675701" cy="67147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3051" y="276285"/>
            <a:ext cx="9083406" cy="5737661"/>
          </a:xfrm>
          <a:prstGeom prst="rect">
            <a:avLst/>
          </a:prstGeom>
        </p:spPr>
        <p:txBody>
          <a:bodyPr wrap="square">
            <a:spAutoFit/>
          </a:bodyPr>
          <a:lstStyle/>
          <a:p>
            <a:pPr algn="ctr"/>
            <a:r>
              <a:rPr lang="en-US" sz="2400" b="1" dirty="0">
                <a:latin typeface="Times New Roman" pitchFamily="18" charset="0"/>
                <a:cs typeface="Times New Roman" pitchFamily="18" charset="0"/>
              </a:rPr>
              <a:t>SCREEN SHOTS</a:t>
            </a:r>
          </a:p>
          <a:p>
            <a:pPr algn="ctr"/>
            <a:endParaRPr lang="en-US" sz="2300" b="1" dirty="0">
              <a:latin typeface="Times New Roman" pitchFamily="18" charset="0"/>
              <a:cs typeface="Times New Roman" pitchFamily="18" charset="0"/>
            </a:endParaRPr>
          </a:p>
          <a:p>
            <a:pPr marL="0" indent="0" algn="ctr">
              <a:lnSpc>
                <a:spcPct val="107000"/>
              </a:lnSpc>
              <a:spcAft>
                <a:spcPts val="775"/>
              </a:spcAft>
              <a:buNone/>
            </a:pP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Online Voting System Web Application in Python </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algn="ctr"/>
            <a:endParaRPr lang="en-US" sz="2300" b="1" dirty="0">
              <a:latin typeface="Times New Roman" pitchFamily="18" charset="0"/>
              <a:cs typeface="Times New Roman" pitchFamily="18" charset="0"/>
            </a:endParaRPr>
          </a:p>
          <a:p>
            <a:pPr algn="ctr"/>
            <a:endParaRPr lang="en-US" sz="2300" b="1" dirty="0">
              <a:latin typeface="Times New Roman" pitchFamily="18" charset="0"/>
              <a:cs typeface="Times New Roman" pitchFamily="18" charset="0"/>
            </a:endParaRPr>
          </a:p>
          <a:p>
            <a:pPr algn="ctr"/>
            <a:endParaRPr lang="en-US" sz="2300" b="1" dirty="0">
              <a:latin typeface="Times New Roman" pitchFamily="18" charset="0"/>
              <a:cs typeface="Times New Roman" pitchFamily="18" charset="0"/>
            </a:endParaRPr>
          </a:p>
          <a:p>
            <a:pPr algn="ctr"/>
            <a:endParaRPr lang="en-US" sz="2300" b="1" dirty="0">
              <a:latin typeface="Times New Roman" pitchFamily="18" charset="0"/>
              <a:cs typeface="Times New Roman" pitchFamily="18" charset="0"/>
            </a:endParaRPr>
          </a:p>
          <a:p>
            <a:pPr algn="ctr"/>
            <a:endParaRPr lang="en-US" sz="2300" b="1" dirty="0">
              <a:latin typeface="Times New Roman" pitchFamily="18" charset="0"/>
              <a:cs typeface="Times New Roman" pitchFamily="18" charset="0"/>
            </a:endParaRPr>
          </a:p>
          <a:p>
            <a:pPr algn="ctr"/>
            <a:endParaRPr lang="en-US" sz="2300" b="1" dirty="0">
              <a:latin typeface="Times New Roman" pitchFamily="18" charset="0"/>
              <a:cs typeface="Times New Roman" pitchFamily="18" charset="0"/>
            </a:endParaRPr>
          </a:p>
          <a:p>
            <a:pPr algn="ctr"/>
            <a:endParaRPr lang="en-US" sz="2300" b="1" dirty="0">
              <a:latin typeface="Times New Roman" pitchFamily="18" charset="0"/>
              <a:cs typeface="Times New Roman" pitchFamily="18" charset="0"/>
            </a:endParaRPr>
          </a:p>
          <a:p>
            <a:pPr algn="ctr"/>
            <a:endParaRPr lang="en-US" sz="2300" b="1" dirty="0">
              <a:latin typeface="Times New Roman" pitchFamily="18" charset="0"/>
              <a:cs typeface="Times New Roman" pitchFamily="18" charset="0"/>
            </a:endParaRPr>
          </a:p>
          <a:p>
            <a:pPr algn="ctr"/>
            <a:endParaRPr lang="en-US" sz="2300" b="1" dirty="0">
              <a:latin typeface="Times New Roman" pitchFamily="18" charset="0"/>
              <a:cs typeface="Times New Roman" pitchFamily="18" charset="0"/>
            </a:endParaRPr>
          </a:p>
          <a:p>
            <a:pPr algn="ctr"/>
            <a:endParaRPr lang="en-US" sz="2300" b="1" dirty="0">
              <a:latin typeface="Times New Roman" pitchFamily="18" charset="0"/>
              <a:cs typeface="Times New Roman" pitchFamily="18" charset="0"/>
            </a:endParaRPr>
          </a:p>
          <a:p>
            <a:pPr algn="ctr"/>
            <a:endParaRPr lang="en-US" sz="2300" b="1" dirty="0">
              <a:latin typeface="Times New Roman" pitchFamily="18" charset="0"/>
              <a:cs typeface="Times New Roman" pitchFamily="18" charset="0"/>
            </a:endParaRPr>
          </a:p>
          <a:p>
            <a:pPr algn="ctr">
              <a:lnSpc>
                <a:spcPct val="150000"/>
              </a:lnSpc>
            </a:pPr>
            <a:endParaRPr lang="en-US" sz="2300" b="1" dirty="0">
              <a:latin typeface="Times New Roman" pitchFamily="18" charset="0"/>
              <a:cs typeface="Times New Roman" pitchFamily="18" charset="0"/>
            </a:endParaRPr>
          </a:p>
        </p:txBody>
      </p:sp>
      <p:pic>
        <p:nvPicPr>
          <p:cNvPr id="2" name="Picture 1">
            <a:extLst>
              <a:ext uri="{FF2B5EF4-FFF2-40B4-BE49-F238E27FC236}">
                <a16:creationId xmlns="" xmlns:a16="http://schemas.microsoft.com/office/drawing/2014/main" id="{2100F3A5-18A0-A137-75F2-DFFEA45E87D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4527" y="1787613"/>
            <a:ext cx="7543800" cy="3757673"/>
          </a:xfrm>
          <a:prstGeom prst="rect">
            <a:avLst/>
          </a:prstGeom>
          <a:noFill/>
          <a:ln>
            <a:noFill/>
          </a:ln>
        </p:spPr>
      </p:pic>
    </p:spTree>
    <p:extLst>
      <p:ext uri="{BB962C8B-B14F-4D97-AF65-F5344CB8AC3E}">
        <p14:creationId xmlns:p14="http://schemas.microsoft.com/office/powerpoint/2010/main" val="36444229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lowchart: Delay 9"/>
          <p:cNvSpPr/>
          <p:nvPr/>
        </p:nvSpPr>
        <p:spPr>
          <a:xfrm>
            <a:off x="762000" y="6429396"/>
            <a:ext cx="8354457" cy="428604"/>
          </a:xfrm>
          <a:prstGeom prst="flowChartDelay">
            <a:avLst/>
          </a:prstGeom>
          <a:solidFill>
            <a:srgbClr val="00B0F0"/>
          </a:solidFill>
          <a:ln>
            <a:solidFill>
              <a:srgbClr val="00B0F0"/>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rPr>
              <a:t>Anna University, Chennai</a:t>
            </a:r>
            <a:endParaRPr lang="en-US"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endParaRPr>
          </a:p>
        </p:txBody>
      </p:sp>
      <p:sp>
        <p:nvSpPr>
          <p:cNvPr id="8" name="AutoShape 6" descr="Anna University - Wikipedia"/>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8" descr="Anna University - Wikipedia"/>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10" descr="Anna University - Wikipedia"/>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12" descr="Anna University - Wikipedia"/>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AutoShape 14" descr="Anna University - Wikipedia"/>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AutoShape 16" descr="Anna University - Wikipedia"/>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AutoShape 18" descr="Anna University - Wikipedia"/>
          <p:cNvSpPr>
            <a:spLocks noChangeAspect="1" noChangeArrowheads="1"/>
          </p:cNvSpPr>
          <p:nvPr/>
        </p:nvSpPr>
        <p:spPr bwMode="auto">
          <a:xfrm>
            <a:off x="1069975" y="769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AutoShape 20" descr="Anna University - Wikipedia"/>
          <p:cNvSpPr>
            <a:spLocks noChangeAspect="1" noChangeArrowheads="1"/>
          </p:cNvSpPr>
          <p:nvPr/>
        </p:nvSpPr>
        <p:spPr bwMode="auto">
          <a:xfrm>
            <a:off x="1222375" y="922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AutoShape 22" descr="Anna University - Wikipedia"/>
          <p:cNvSpPr>
            <a:spLocks noChangeAspect="1" noChangeArrowheads="1"/>
          </p:cNvSpPr>
          <p:nvPr/>
        </p:nvSpPr>
        <p:spPr bwMode="auto">
          <a:xfrm>
            <a:off x="1374775" y="1074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AutoShape 24" descr="Anna University - Wikipedia"/>
          <p:cNvSpPr>
            <a:spLocks noChangeAspect="1" noChangeArrowheads="1"/>
          </p:cNvSpPr>
          <p:nvPr/>
        </p:nvSpPr>
        <p:spPr bwMode="auto">
          <a:xfrm>
            <a:off x="1527175" y="1227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50" name="Picture 26" descr="undefine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051" y="6186522"/>
            <a:ext cx="675701" cy="67147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3051" y="276285"/>
            <a:ext cx="9083406" cy="6091604"/>
          </a:xfrm>
          <a:prstGeom prst="rect">
            <a:avLst/>
          </a:prstGeom>
        </p:spPr>
        <p:txBody>
          <a:bodyPr wrap="square">
            <a:spAutoFit/>
          </a:bodyPr>
          <a:lstStyle/>
          <a:p>
            <a:pPr algn="ctr"/>
            <a:r>
              <a:rPr lang="en-US" sz="2400" b="1" dirty="0">
                <a:latin typeface="Times New Roman" pitchFamily="18" charset="0"/>
                <a:cs typeface="Times New Roman" pitchFamily="18" charset="0"/>
              </a:rPr>
              <a:t>SCREEN SHOTS</a:t>
            </a:r>
          </a:p>
          <a:p>
            <a:pPr algn="ctr"/>
            <a:endParaRPr lang="en-US" sz="2300" b="1" dirty="0">
              <a:latin typeface="Times New Roman" pitchFamily="18" charset="0"/>
              <a:cs typeface="Times New Roman" pitchFamily="18" charset="0"/>
            </a:endParaRPr>
          </a:p>
          <a:p>
            <a:pPr marL="0" indent="0" algn="ctr">
              <a:lnSpc>
                <a:spcPct val="107000"/>
              </a:lnSpc>
              <a:spcAft>
                <a:spcPts val="775"/>
              </a:spcAft>
              <a:buNone/>
            </a:pP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Online Voting System Web Application in Python </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algn="ctr"/>
            <a:endParaRPr lang="en-US" sz="2300" b="1" dirty="0">
              <a:latin typeface="Times New Roman" pitchFamily="18" charset="0"/>
              <a:cs typeface="Times New Roman" pitchFamily="18" charset="0"/>
            </a:endParaRPr>
          </a:p>
          <a:p>
            <a:pPr algn="ctr"/>
            <a:endParaRPr lang="en-US" sz="2300" b="1" dirty="0">
              <a:latin typeface="Times New Roman" pitchFamily="18" charset="0"/>
              <a:cs typeface="Times New Roman" pitchFamily="18" charset="0"/>
            </a:endParaRPr>
          </a:p>
          <a:p>
            <a:pPr algn="ctr"/>
            <a:endParaRPr lang="en-US" sz="2300" b="1" dirty="0">
              <a:latin typeface="Times New Roman" pitchFamily="18" charset="0"/>
              <a:cs typeface="Times New Roman" pitchFamily="18" charset="0"/>
            </a:endParaRPr>
          </a:p>
          <a:p>
            <a:pPr algn="ctr"/>
            <a:endParaRPr lang="en-US" sz="2300" b="1" dirty="0">
              <a:latin typeface="Times New Roman" pitchFamily="18" charset="0"/>
              <a:cs typeface="Times New Roman" pitchFamily="18" charset="0"/>
            </a:endParaRPr>
          </a:p>
          <a:p>
            <a:pPr algn="ctr"/>
            <a:endParaRPr lang="en-US" sz="2300" b="1" dirty="0">
              <a:latin typeface="Times New Roman" pitchFamily="18" charset="0"/>
              <a:cs typeface="Times New Roman" pitchFamily="18" charset="0"/>
            </a:endParaRPr>
          </a:p>
          <a:p>
            <a:pPr algn="ctr"/>
            <a:endParaRPr lang="en-US" sz="2300" b="1" dirty="0">
              <a:latin typeface="Times New Roman" pitchFamily="18" charset="0"/>
              <a:cs typeface="Times New Roman" pitchFamily="18" charset="0"/>
            </a:endParaRPr>
          </a:p>
          <a:p>
            <a:pPr algn="ctr"/>
            <a:endParaRPr lang="en-US" sz="2300" b="1" dirty="0">
              <a:latin typeface="Times New Roman" pitchFamily="18" charset="0"/>
              <a:cs typeface="Times New Roman" pitchFamily="18" charset="0"/>
            </a:endParaRPr>
          </a:p>
          <a:p>
            <a:pPr algn="ctr"/>
            <a:endParaRPr lang="en-US" sz="2300" b="1" dirty="0">
              <a:latin typeface="Times New Roman" pitchFamily="18" charset="0"/>
              <a:cs typeface="Times New Roman" pitchFamily="18" charset="0"/>
            </a:endParaRPr>
          </a:p>
          <a:p>
            <a:pPr algn="ctr"/>
            <a:endParaRPr lang="en-US" sz="2300" b="1" dirty="0">
              <a:latin typeface="Times New Roman" pitchFamily="18" charset="0"/>
              <a:cs typeface="Times New Roman" pitchFamily="18" charset="0"/>
            </a:endParaRPr>
          </a:p>
          <a:p>
            <a:pPr algn="ctr"/>
            <a:endParaRPr lang="en-US" sz="2300" b="1" dirty="0">
              <a:latin typeface="Times New Roman" pitchFamily="18" charset="0"/>
              <a:cs typeface="Times New Roman" pitchFamily="18" charset="0"/>
            </a:endParaRPr>
          </a:p>
          <a:p>
            <a:pPr algn="ctr"/>
            <a:endParaRPr lang="en-US" sz="2300" b="1" dirty="0">
              <a:latin typeface="Times New Roman" pitchFamily="18" charset="0"/>
              <a:cs typeface="Times New Roman" pitchFamily="18" charset="0"/>
            </a:endParaRPr>
          </a:p>
          <a:p>
            <a:pPr algn="ctr">
              <a:lnSpc>
                <a:spcPct val="150000"/>
              </a:lnSpc>
            </a:pPr>
            <a:endParaRPr lang="en-US" sz="2300" b="1" dirty="0">
              <a:latin typeface="Times New Roman" pitchFamily="18" charset="0"/>
              <a:cs typeface="Times New Roman" pitchFamily="18" charset="0"/>
            </a:endParaRPr>
          </a:p>
          <a:p>
            <a:pPr algn="ctr"/>
            <a:endParaRPr lang="en-US" sz="2300" b="1" dirty="0">
              <a:latin typeface="Times New Roman" pitchFamily="18" charset="0"/>
              <a:cs typeface="Times New Roman" pitchFamily="18" charset="0"/>
            </a:endParaRPr>
          </a:p>
        </p:txBody>
      </p:sp>
      <p:pic>
        <p:nvPicPr>
          <p:cNvPr id="2" name="Picture 1">
            <a:extLst>
              <a:ext uri="{FF2B5EF4-FFF2-40B4-BE49-F238E27FC236}">
                <a16:creationId xmlns="" xmlns:a16="http://schemas.microsoft.com/office/drawing/2014/main" id="{6315559E-9A42-5E3C-55C0-957B11886967}"/>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7575" y="1615152"/>
            <a:ext cx="7619999" cy="3982978"/>
          </a:xfrm>
          <a:prstGeom prst="rect">
            <a:avLst/>
          </a:prstGeom>
          <a:noFill/>
          <a:ln>
            <a:noFill/>
          </a:ln>
        </p:spPr>
      </p:pic>
    </p:spTree>
    <p:extLst>
      <p:ext uri="{BB962C8B-B14F-4D97-AF65-F5344CB8AC3E}">
        <p14:creationId xmlns:p14="http://schemas.microsoft.com/office/powerpoint/2010/main" val="36577470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lowchart: Delay 9"/>
          <p:cNvSpPr/>
          <p:nvPr/>
        </p:nvSpPr>
        <p:spPr>
          <a:xfrm>
            <a:off x="762000" y="6429396"/>
            <a:ext cx="8354457" cy="428604"/>
          </a:xfrm>
          <a:prstGeom prst="flowChartDelay">
            <a:avLst/>
          </a:prstGeom>
          <a:solidFill>
            <a:srgbClr val="00B0F0"/>
          </a:solidFill>
          <a:ln>
            <a:solidFill>
              <a:srgbClr val="00B0F0"/>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rPr>
              <a:t>Anna University, Chennai</a:t>
            </a:r>
            <a:endParaRPr lang="en-US"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endParaRPr>
          </a:p>
        </p:txBody>
      </p:sp>
      <p:sp>
        <p:nvSpPr>
          <p:cNvPr id="8" name="AutoShape 6" descr="Anna University - Wikipedia"/>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8" descr="Anna University - Wikipedia"/>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10" descr="Anna University - Wikipedia"/>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12" descr="Anna University - Wikipedia"/>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AutoShape 14" descr="Anna University - Wikipedia"/>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AutoShape 16" descr="Anna University - Wikipedia"/>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AutoShape 18" descr="Anna University - Wikipedia"/>
          <p:cNvSpPr>
            <a:spLocks noChangeAspect="1" noChangeArrowheads="1"/>
          </p:cNvSpPr>
          <p:nvPr/>
        </p:nvSpPr>
        <p:spPr bwMode="auto">
          <a:xfrm>
            <a:off x="1069975" y="769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AutoShape 20" descr="Anna University - Wikipedia"/>
          <p:cNvSpPr>
            <a:spLocks noChangeAspect="1" noChangeArrowheads="1"/>
          </p:cNvSpPr>
          <p:nvPr/>
        </p:nvSpPr>
        <p:spPr bwMode="auto">
          <a:xfrm>
            <a:off x="1222375" y="922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AutoShape 22" descr="Anna University - Wikipedia"/>
          <p:cNvSpPr>
            <a:spLocks noChangeAspect="1" noChangeArrowheads="1"/>
          </p:cNvSpPr>
          <p:nvPr/>
        </p:nvSpPr>
        <p:spPr bwMode="auto">
          <a:xfrm>
            <a:off x="1374775" y="1074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AutoShape 24" descr="Anna University - Wikipedia"/>
          <p:cNvSpPr>
            <a:spLocks noChangeAspect="1" noChangeArrowheads="1"/>
          </p:cNvSpPr>
          <p:nvPr/>
        </p:nvSpPr>
        <p:spPr bwMode="auto">
          <a:xfrm>
            <a:off x="1527175" y="1227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50" name="Picture 26" descr="undefine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051" y="6186522"/>
            <a:ext cx="675701" cy="67147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3051" y="276285"/>
            <a:ext cx="9083406" cy="6091604"/>
          </a:xfrm>
          <a:prstGeom prst="rect">
            <a:avLst/>
          </a:prstGeom>
        </p:spPr>
        <p:txBody>
          <a:bodyPr wrap="square">
            <a:spAutoFit/>
          </a:bodyPr>
          <a:lstStyle/>
          <a:p>
            <a:pPr algn="ctr"/>
            <a:r>
              <a:rPr lang="en-US" sz="2400" b="1" dirty="0">
                <a:latin typeface="Times New Roman" pitchFamily="18" charset="0"/>
                <a:cs typeface="Times New Roman" pitchFamily="18" charset="0"/>
              </a:rPr>
              <a:t>SCREEN SHOTS</a:t>
            </a:r>
          </a:p>
          <a:p>
            <a:pPr algn="ctr"/>
            <a:endParaRPr lang="en-US" sz="2300" b="1" dirty="0">
              <a:latin typeface="Times New Roman" pitchFamily="18" charset="0"/>
              <a:cs typeface="Times New Roman" pitchFamily="18" charset="0"/>
            </a:endParaRPr>
          </a:p>
          <a:p>
            <a:pPr marL="0" indent="0" algn="ctr">
              <a:lnSpc>
                <a:spcPct val="107000"/>
              </a:lnSpc>
              <a:spcAft>
                <a:spcPts val="775"/>
              </a:spcAft>
              <a:buNone/>
            </a:pP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Online Voting System Web Application in Python </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algn="ctr"/>
            <a:endParaRPr lang="en-US" sz="2300" b="1" dirty="0">
              <a:latin typeface="Times New Roman" pitchFamily="18" charset="0"/>
              <a:cs typeface="Times New Roman" pitchFamily="18" charset="0"/>
            </a:endParaRPr>
          </a:p>
          <a:p>
            <a:pPr algn="ctr"/>
            <a:endParaRPr lang="en-US" sz="2300" b="1" dirty="0">
              <a:latin typeface="Times New Roman" pitchFamily="18" charset="0"/>
              <a:cs typeface="Times New Roman" pitchFamily="18" charset="0"/>
            </a:endParaRPr>
          </a:p>
          <a:p>
            <a:pPr algn="ctr"/>
            <a:endParaRPr lang="en-US" sz="2300" b="1" dirty="0">
              <a:latin typeface="Times New Roman" pitchFamily="18" charset="0"/>
              <a:cs typeface="Times New Roman" pitchFamily="18" charset="0"/>
            </a:endParaRPr>
          </a:p>
          <a:p>
            <a:pPr algn="ctr"/>
            <a:endParaRPr lang="en-US" sz="2300" b="1" dirty="0">
              <a:latin typeface="Times New Roman" pitchFamily="18" charset="0"/>
              <a:cs typeface="Times New Roman" pitchFamily="18" charset="0"/>
            </a:endParaRPr>
          </a:p>
          <a:p>
            <a:pPr algn="ctr"/>
            <a:endParaRPr lang="en-US" sz="2300" b="1" dirty="0">
              <a:latin typeface="Times New Roman" pitchFamily="18" charset="0"/>
              <a:cs typeface="Times New Roman" pitchFamily="18" charset="0"/>
            </a:endParaRPr>
          </a:p>
          <a:p>
            <a:pPr algn="ctr"/>
            <a:endParaRPr lang="en-US" sz="2300" b="1" dirty="0">
              <a:latin typeface="Times New Roman" pitchFamily="18" charset="0"/>
              <a:cs typeface="Times New Roman" pitchFamily="18" charset="0"/>
            </a:endParaRPr>
          </a:p>
          <a:p>
            <a:pPr algn="ctr"/>
            <a:endParaRPr lang="en-US" sz="2300" b="1" dirty="0">
              <a:latin typeface="Times New Roman" pitchFamily="18" charset="0"/>
              <a:cs typeface="Times New Roman" pitchFamily="18" charset="0"/>
            </a:endParaRPr>
          </a:p>
          <a:p>
            <a:pPr algn="ctr"/>
            <a:endParaRPr lang="en-US" sz="2300" b="1" dirty="0">
              <a:latin typeface="Times New Roman" pitchFamily="18" charset="0"/>
              <a:cs typeface="Times New Roman" pitchFamily="18" charset="0"/>
            </a:endParaRPr>
          </a:p>
          <a:p>
            <a:pPr algn="ctr"/>
            <a:endParaRPr lang="en-US" sz="2300" b="1" dirty="0">
              <a:latin typeface="Times New Roman" pitchFamily="18" charset="0"/>
              <a:cs typeface="Times New Roman" pitchFamily="18" charset="0"/>
            </a:endParaRPr>
          </a:p>
          <a:p>
            <a:pPr algn="ctr"/>
            <a:endParaRPr lang="en-US" sz="2300" b="1" dirty="0">
              <a:latin typeface="Times New Roman" pitchFamily="18" charset="0"/>
              <a:cs typeface="Times New Roman" pitchFamily="18" charset="0"/>
            </a:endParaRPr>
          </a:p>
          <a:p>
            <a:pPr algn="ctr"/>
            <a:endParaRPr lang="en-US" sz="2300" b="1" dirty="0">
              <a:latin typeface="Times New Roman" pitchFamily="18" charset="0"/>
              <a:cs typeface="Times New Roman" pitchFamily="18" charset="0"/>
            </a:endParaRPr>
          </a:p>
          <a:p>
            <a:pPr algn="ctr">
              <a:lnSpc>
                <a:spcPct val="150000"/>
              </a:lnSpc>
            </a:pPr>
            <a:endParaRPr lang="en-US" sz="2300" b="1" dirty="0">
              <a:latin typeface="Times New Roman" pitchFamily="18" charset="0"/>
              <a:cs typeface="Times New Roman" pitchFamily="18" charset="0"/>
            </a:endParaRPr>
          </a:p>
          <a:p>
            <a:pPr algn="ctr"/>
            <a:endParaRPr lang="en-US" sz="2300" b="1" dirty="0">
              <a:latin typeface="Times New Roman" pitchFamily="18" charset="0"/>
              <a:cs typeface="Times New Roman" pitchFamily="18" charset="0"/>
            </a:endParaRPr>
          </a:p>
        </p:txBody>
      </p:sp>
      <p:pic>
        <p:nvPicPr>
          <p:cNvPr id="2" name="Picture 1">
            <a:extLst>
              <a:ext uri="{FF2B5EF4-FFF2-40B4-BE49-F238E27FC236}">
                <a16:creationId xmlns="" xmlns:a16="http://schemas.microsoft.com/office/drawing/2014/main" id="{B82D2D9A-9B7C-6241-E875-BB9453DBC20F}"/>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7575" y="1615152"/>
            <a:ext cx="7543800" cy="3982978"/>
          </a:xfrm>
          <a:prstGeom prst="rect">
            <a:avLst/>
          </a:prstGeom>
          <a:noFill/>
          <a:ln>
            <a:noFill/>
          </a:ln>
        </p:spPr>
      </p:pic>
    </p:spTree>
    <p:extLst>
      <p:ext uri="{BB962C8B-B14F-4D97-AF65-F5344CB8AC3E}">
        <p14:creationId xmlns:p14="http://schemas.microsoft.com/office/powerpoint/2010/main" val="74747610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lowchart: Delay 9"/>
          <p:cNvSpPr/>
          <p:nvPr/>
        </p:nvSpPr>
        <p:spPr>
          <a:xfrm>
            <a:off x="762000" y="6429396"/>
            <a:ext cx="8354457" cy="428604"/>
          </a:xfrm>
          <a:prstGeom prst="flowChartDelay">
            <a:avLst/>
          </a:prstGeom>
          <a:solidFill>
            <a:srgbClr val="00B0F0"/>
          </a:solidFill>
          <a:ln>
            <a:solidFill>
              <a:srgbClr val="00B0F0"/>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rPr>
              <a:t>Anna University, Chennai</a:t>
            </a:r>
            <a:endParaRPr lang="en-US"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endParaRPr>
          </a:p>
        </p:txBody>
      </p:sp>
      <p:sp>
        <p:nvSpPr>
          <p:cNvPr id="8" name="AutoShape 6" descr="Anna University - Wikipedia"/>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8" descr="Anna University - Wikipedia"/>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10" descr="Anna University - Wikipedia"/>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12" descr="Anna University - Wikipedia"/>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AutoShape 14" descr="Anna University - Wikipedia"/>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AutoShape 16" descr="Anna University - Wikipedia"/>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AutoShape 18" descr="Anna University - Wikipedia"/>
          <p:cNvSpPr>
            <a:spLocks noChangeAspect="1" noChangeArrowheads="1"/>
          </p:cNvSpPr>
          <p:nvPr/>
        </p:nvSpPr>
        <p:spPr bwMode="auto">
          <a:xfrm>
            <a:off x="1069975" y="769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AutoShape 20" descr="Anna University - Wikipedia"/>
          <p:cNvSpPr>
            <a:spLocks noChangeAspect="1" noChangeArrowheads="1"/>
          </p:cNvSpPr>
          <p:nvPr/>
        </p:nvSpPr>
        <p:spPr bwMode="auto">
          <a:xfrm>
            <a:off x="1222375" y="922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AutoShape 22" descr="Anna University - Wikipedia"/>
          <p:cNvSpPr>
            <a:spLocks noChangeAspect="1" noChangeArrowheads="1"/>
          </p:cNvSpPr>
          <p:nvPr/>
        </p:nvSpPr>
        <p:spPr bwMode="auto">
          <a:xfrm>
            <a:off x="1374775" y="1074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AutoShape 24" descr="Anna University - Wikipedia"/>
          <p:cNvSpPr>
            <a:spLocks noChangeAspect="1" noChangeArrowheads="1"/>
          </p:cNvSpPr>
          <p:nvPr/>
        </p:nvSpPr>
        <p:spPr bwMode="auto">
          <a:xfrm>
            <a:off x="1527175" y="1227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50" name="Picture 26" descr="undefine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051" y="6186522"/>
            <a:ext cx="675701" cy="67147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3051" y="276285"/>
            <a:ext cx="9083406" cy="5737661"/>
          </a:xfrm>
          <a:prstGeom prst="rect">
            <a:avLst/>
          </a:prstGeom>
        </p:spPr>
        <p:txBody>
          <a:bodyPr wrap="square">
            <a:spAutoFit/>
          </a:bodyPr>
          <a:lstStyle/>
          <a:p>
            <a:pPr algn="ctr"/>
            <a:r>
              <a:rPr lang="en-US" sz="2400" b="1" dirty="0">
                <a:latin typeface="Times New Roman" pitchFamily="18" charset="0"/>
                <a:cs typeface="Times New Roman" pitchFamily="18" charset="0"/>
              </a:rPr>
              <a:t>SCREEN SHOTS</a:t>
            </a:r>
          </a:p>
          <a:p>
            <a:pPr algn="ctr"/>
            <a:endParaRPr lang="en-US" sz="2300" b="1" dirty="0">
              <a:latin typeface="Times New Roman" pitchFamily="18" charset="0"/>
              <a:cs typeface="Times New Roman" pitchFamily="18" charset="0"/>
            </a:endParaRPr>
          </a:p>
          <a:p>
            <a:pPr marL="0" indent="0" algn="ctr">
              <a:lnSpc>
                <a:spcPct val="107000"/>
              </a:lnSpc>
              <a:spcAft>
                <a:spcPts val="775"/>
              </a:spcAft>
              <a:buNone/>
            </a:pP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Online Voting System Web Application in Python </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algn="ctr"/>
            <a:endParaRPr lang="en-US" sz="2300" b="1" dirty="0">
              <a:latin typeface="Times New Roman" pitchFamily="18" charset="0"/>
              <a:cs typeface="Times New Roman" pitchFamily="18" charset="0"/>
            </a:endParaRPr>
          </a:p>
          <a:p>
            <a:pPr algn="ctr"/>
            <a:endParaRPr lang="en-US" sz="2300" b="1" dirty="0">
              <a:latin typeface="Times New Roman" pitchFamily="18" charset="0"/>
              <a:cs typeface="Times New Roman" pitchFamily="18" charset="0"/>
            </a:endParaRPr>
          </a:p>
          <a:p>
            <a:pPr algn="ctr"/>
            <a:endParaRPr lang="en-US" sz="2300" b="1" dirty="0">
              <a:latin typeface="Times New Roman" pitchFamily="18" charset="0"/>
              <a:cs typeface="Times New Roman" pitchFamily="18" charset="0"/>
            </a:endParaRPr>
          </a:p>
          <a:p>
            <a:pPr algn="ctr"/>
            <a:endParaRPr lang="en-US" sz="2300" b="1" dirty="0">
              <a:latin typeface="Times New Roman" pitchFamily="18" charset="0"/>
              <a:cs typeface="Times New Roman" pitchFamily="18" charset="0"/>
            </a:endParaRPr>
          </a:p>
          <a:p>
            <a:pPr algn="ctr"/>
            <a:endParaRPr lang="en-US" sz="2300" b="1" dirty="0">
              <a:latin typeface="Times New Roman" pitchFamily="18" charset="0"/>
              <a:cs typeface="Times New Roman" pitchFamily="18" charset="0"/>
            </a:endParaRPr>
          </a:p>
          <a:p>
            <a:pPr algn="ctr"/>
            <a:endParaRPr lang="en-US" sz="2300" b="1" dirty="0">
              <a:latin typeface="Times New Roman" pitchFamily="18" charset="0"/>
              <a:cs typeface="Times New Roman" pitchFamily="18" charset="0"/>
            </a:endParaRPr>
          </a:p>
          <a:p>
            <a:pPr algn="ctr"/>
            <a:endParaRPr lang="en-US" sz="2300" b="1" dirty="0">
              <a:latin typeface="Times New Roman" pitchFamily="18" charset="0"/>
              <a:cs typeface="Times New Roman" pitchFamily="18" charset="0"/>
            </a:endParaRPr>
          </a:p>
          <a:p>
            <a:pPr algn="ctr"/>
            <a:endParaRPr lang="en-US" sz="2300" b="1" dirty="0">
              <a:latin typeface="Times New Roman" pitchFamily="18" charset="0"/>
              <a:cs typeface="Times New Roman" pitchFamily="18" charset="0"/>
            </a:endParaRPr>
          </a:p>
          <a:p>
            <a:pPr algn="ctr"/>
            <a:endParaRPr lang="en-US" sz="2300" b="1" dirty="0">
              <a:latin typeface="Times New Roman" pitchFamily="18" charset="0"/>
              <a:cs typeface="Times New Roman" pitchFamily="18" charset="0"/>
            </a:endParaRPr>
          </a:p>
          <a:p>
            <a:pPr algn="ctr"/>
            <a:endParaRPr lang="en-US" sz="2300" b="1" dirty="0">
              <a:latin typeface="Times New Roman" pitchFamily="18" charset="0"/>
              <a:cs typeface="Times New Roman" pitchFamily="18" charset="0"/>
            </a:endParaRPr>
          </a:p>
          <a:p>
            <a:pPr algn="ctr"/>
            <a:endParaRPr lang="en-US" sz="2300" b="1" dirty="0">
              <a:latin typeface="Times New Roman" pitchFamily="18" charset="0"/>
              <a:cs typeface="Times New Roman" pitchFamily="18" charset="0"/>
            </a:endParaRPr>
          </a:p>
          <a:p>
            <a:pPr algn="ctr">
              <a:lnSpc>
                <a:spcPct val="150000"/>
              </a:lnSpc>
            </a:pPr>
            <a:endParaRPr lang="en-US" sz="2300" b="1" dirty="0">
              <a:latin typeface="Times New Roman" pitchFamily="18" charset="0"/>
              <a:cs typeface="Times New Roman" pitchFamily="18" charset="0"/>
            </a:endParaRPr>
          </a:p>
        </p:txBody>
      </p:sp>
      <p:pic>
        <p:nvPicPr>
          <p:cNvPr id="2" name="Picture 1">
            <a:extLst>
              <a:ext uri="{FF2B5EF4-FFF2-40B4-BE49-F238E27FC236}">
                <a16:creationId xmlns="" xmlns:a16="http://schemas.microsoft.com/office/drawing/2014/main" id="{AECC6B5C-65A0-9FCF-5211-F35D5633E8FA}"/>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2000" y="1547178"/>
            <a:ext cx="7696199" cy="4214872"/>
          </a:xfrm>
          <a:prstGeom prst="rect">
            <a:avLst/>
          </a:prstGeom>
          <a:noFill/>
          <a:ln>
            <a:noFill/>
          </a:ln>
        </p:spPr>
      </p:pic>
    </p:spTree>
    <p:extLst>
      <p:ext uri="{BB962C8B-B14F-4D97-AF65-F5344CB8AC3E}">
        <p14:creationId xmlns:p14="http://schemas.microsoft.com/office/powerpoint/2010/main" val="212976056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lowchart: Delay 9"/>
          <p:cNvSpPr/>
          <p:nvPr/>
        </p:nvSpPr>
        <p:spPr>
          <a:xfrm>
            <a:off x="762000" y="6429396"/>
            <a:ext cx="8354457" cy="428604"/>
          </a:xfrm>
          <a:prstGeom prst="flowChartDelay">
            <a:avLst/>
          </a:prstGeom>
          <a:solidFill>
            <a:srgbClr val="00B0F0"/>
          </a:solidFill>
          <a:ln>
            <a:solidFill>
              <a:srgbClr val="00B0F0"/>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rPr>
              <a:t>Anna University, Chennai</a:t>
            </a:r>
            <a:endParaRPr lang="en-US"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endParaRPr>
          </a:p>
        </p:txBody>
      </p:sp>
      <p:sp>
        <p:nvSpPr>
          <p:cNvPr id="8" name="AutoShape 6" descr="Anna University - Wikipedia"/>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8" descr="Anna University - Wikipedia"/>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10" descr="Anna University - Wikipedia"/>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12" descr="Anna University - Wikipedia"/>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AutoShape 14" descr="Anna University - Wikipedia"/>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AutoShape 16" descr="Anna University - Wikipedia"/>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AutoShape 18" descr="Anna University - Wikipedia"/>
          <p:cNvSpPr>
            <a:spLocks noChangeAspect="1" noChangeArrowheads="1"/>
          </p:cNvSpPr>
          <p:nvPr/>
        </p:nvSpPr>
        <p:spPr bwMode="auto">
          <a:xfrm>
            <a:off x="1069975" y="769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AutoShape 20" descr="Anna University - Wikipedia"/>
          <p:cNvSpPr>
            <a:spLocks noChangeAspect="1" noChangeArrowheads="1"/>
          </p:cNvSpPr>
          <p:nvPr/>
        </p:nvSpPr>
        <p:spPr bwMode="auto">
          <a:xfrm>
            <a:off x="1222375" y="922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AutoShape 22" descr="Anna University - Wikipedia"/>
          <p:cNvSpPr>
            <a:spLocks noChangeAspect="1" noChangeArrowheads="1"/>
          </p:cNvSpPr>
          <p:nvPr/>
        </p:nvSpPr>
        <p:spPr bwMode="auto">
          <a:xfrm>
            <a:off x="1374775" y="1074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AutoShape 24" descr="Anna University - Wikipedia"/>
          <p:cNvSpPr>
            <a:spLocks noChangeAspect="1" noChangeArrowheads="1"/>
          </p:cNvSpPr>
          <p:nvPr/>
        </p:nvSpPr>
        <p:spPr bwMode="auto">
          <a:xfrm>
            <a:off x="1527175" y="1227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50" name="Picture 26" descr="undefine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051" y="6186522"/>
            <a:ext cx="675701" cy="67147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3051" y="276285"/>
            <a:ext cx="9083406" cy="6091604"/>
          </a:xfrm>
          <a:prstGeom prst="rect">
            <a:avLst/>
          </a:prstGeom>
        </p:spPr>
        <p:txBody>
          <a:bodyPr wrap="square">
            <a:spAutoFit/>
          </a:bodyPr>
          <a:lstStyle/>
          <a:p>
            <a:pPr algn="ctr"/>
            <a:r>
              <a:rPr lang="en-US" sz="2400" b="1" dirty="0">
                <a:latin typeface="Times New Roman" pitchFamily="18" charset="0"/>
                <a:cs typeface="Times New Roman" pitchFamily="18" charset="0"/>
              </a:rPr>
              <a:t>SCREEN SHOTS</a:t>
            </a:r>
          </a:p>
          <a:p>
            <a:pPr algn="ctr"/>
            <a:endParaRPr lang="en-US" sz="2300" b="1" dirty="0">
              <a:latin typeface="Times New Roman" pitchFamily="18" charset="0"/>
              <a:cs typeface="Times New Roman" pitchFamily="18" charset="0"/>
            </a:endParaRPr>
          </a:p>
          <a:p>
            <a:pPr marL="0" indent="0" algn="ctr">
              <a:lnSpc>
                <a:spcPct val="107000"/>
              </a:lnSpc>
              <a:spcAft>
                <a:spcPts val="775"/>
              </a:spcAft>
              <a:buNone/>
            </a:pP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Online Voting System Web Application in Python </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algn="ctr"/>
            <a:endParaRPr lang="en-US" sz="2300" b="1" dirty="0">
              <a:latin typeface="Times New Roman" pitchFamily="18" charset="0"/>
              <a:cs typeface="Times New Roman" pitchFamily="18" charset="0"/>
            </a:endParaRPr>
          </a:p>
          <a:p>
            <a:pPr algn="ctr"/>
            <a:endParaRPr lang="en-US" sz="2300" b="1" dirty="0">
              <a:latin typeface="Times New Roman" pitchFamily="18" charset="0"/>
              <a:cs typeface="Times New Roman" pitchFamily="18" charset="0"/>
            </a:endParaRPr>
          </a:p>
          <a:p>
            <a:pPr algn="ctr"/>
            <a:endParaRPr lang="en-US" sz="2300" b="1" dirty="0">
              <a:latin typeface="Times New Roman" pitchFamily="18" charset="0"/>
              <a:cs typeface="Times New Roman" pitchFamily="18" charset="0"/>
            </a:endParaRPr>
          </a:p>
          <a:p>
            <a:pPr algn="ctr"/>
            <a:endParaRPr lang="en-US" sz="2300" b="1" dirty="0">
              <a:latin typeface="Times New Roman" pitchFamily="18" charset="0"/>
              <a:cs typeface="Times New Roman" pitchFamily="18" charset="0"/>
            </a:endParaRPr>
          </a:p>
          <a:p>
            <a:pPr algn="ctr"/>
            <a:endParaRPr lang="en-US" sz="2300" b="1" dirty="0">
              <a:latin typeface="Times New Roman" pitchFamily="18" charset="0"/>
              <a:cs typeface="Times New Roman" pitchFamily="18" charset="0"/>
            </a:endParaRPr>
          </a:p>
          <a:p>
            <a:pPr algn="ctr"/>
            <a:endParaRPr lang="en-US" sz="2300" b="1" dirty="0">
              <a:latin typeface="Times New Roman" pitchFamily="18" charset="0"/>
              <a:cs typeface="Times New Roman" pitchFamily="18" charset="0"/>
            </a:endParaRPr>
          </a:p>
          <a:p>
            <a:pPr algn="ctr"/>
            <a:endParaRPr lang="en-US" sz="2300" b="1" dirty="0">
              <a:latin typeface="Times New Roman" pitchFamily="18" charset="0"/>
              <a:cs typeface="Times New Roman" pitchFamily="18" charset="0"/>
            </a:endParaRPr>
          </a:p>
          <a:p>
            <a:pPr algn="ctr"/>
            <a:endParaRPr lang="en-US" sz="2300" b="1" dirty="0">
              <a:latin typeface="Times New Roman" pitchFamily="18" charset="0"/>
              <a:cs typeface="Times New Roman" pitchFamily="18" charset="0"/>
            </a:endParaRPr>
          </a:p>
          <a:p>
            <a:pPr algn="ctr"/>
            <a:endParaRPr lang="en-US" sz="2300" b="1" dirty="0">
              <a:latin typeface="Times New Roman" pitchFamily="18" charset="0"/>
              <a:cs typeface="Times New Roman" pitchFamily="18" charset="0"/>
            </a:endParaRPr>
          </a:p>
          <a:p>
            <a:pPr algn="ctr"/>
            <a:endParaRPr lang="en-US" sz="2300" b="1" dirty="0">
              <a:latin typeface="Times New Roman" pitchFamily="18" charset="0"/>
              <a:cs typeface="Times New Roman" pitchFamily="18" charset="0"/>
            </a:endParaRPr>
          </a:p>
          <a:p>
            <a:pPr algn="ctr"/>
            <a:endParaRPr lang="en-US" sz="2300" b="1" dirty="0">
              <a:latin typeface="Times New Roman" pitchFamily="18" charset="0"/>
              <a:cs typeface="Times New Roman" pitchFamily="18" charset="0"/>
            </a:endParaRPr>
          </a:p>
          <a:p>
            <a:pPr algn="ctr">
              <a:lnSpc>
                <a:spcPct val="150000"/>
              </a:lnSpc>
            </a:pPr>
            <a:endParaRPr lang="en-US" sz="2300" b="1" dirty="0">
              <a:latin typeface="Times New Roman" pitchFamily="18" charset="0"/>
              <a:cs typeface="Times New Roman" pitchFamily="18" charset="0"/>
            </a:endParaRPr>
          </a:p>
          <a:p>
            <a:pPr algn="ctr"/>
            <a:endParaRPr lang="en-US" sz="2300" b="1" dirty="0">
              <a:latin typeface="Times New Roman" pitchFamily="18" charset="0"/>
              <a:cs typeface="Times New Roman" pitchFamily="18" charset="0"/>
            </a:endParaRPr>
          </a:p>
        </p:txBody>
      </p:sp>
      <p:pic>
        <p:nvPicPr>
          <p:cNvPr id="2" name="Picture 1">
            <a:extLst>
              <a:ext uri="{FF2B5EF4-FFF2-40B4-BE49-F238E27FC236}">
                <a16:creationId xmlns="" xmlns:a16="http://schemas.microsoft.com/office/drawing/2014/main" id="{C7F1E713-1B93-4B0F-52AD-42FAE2C34CA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55619" y="1575405"/>
            <a:ext cx="7464425" cy="4062472"/>
          </a:xfrm>
          <a:prstGeom prst="rect">
            <a:avLst/>
          </a:prstGeom>
          <a:noFill/>
          <a:ln>
            <a:noFill/>
          </a:ln>
        </p:spPr>
      </p:pic>
    </p:spTree>
    <p:extLst>
      <p:ext uri="{BB962C8B-B14F-4D97-AF65-F5344CB8AC3E}">
        <p14:creationId xmlns:p14="http://schemas.microsoft.com/office/powerpoint/2010/main" val="372665003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lowchart: Delay 9"/>
          <p:cNvSpPr/>
          <p:nvPr/>
        </p:nvSpPr>
        <p:spPr>
          <a:xfrm>
            <a:off x="762000" y="6429396"/>
            <a:ext cx="8354457" cy="428604"/>
          </a:xfrm>
          <a:prstGeom prst="flowChartDelay">
            <a:avLst/>
          </a:prstGeom>
          <a:solidFill>
            <a:srgbClr val="00B0F0"/>
          </a:solidFill>
          <a:ln>
            <a:solidFill>
              <a:srgbClr val="00B0F0"/>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rPr>
              <a:t>Anna University, Chennai</a:t>
            </a:r>
            <a:endParaRPr lang="en-US"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endParaRPr>
          </a:p>
        </p:txBody>
      </p:sp>
      <p:sp>
        <p:nvSpPr>
          <p:cNvPr id="8" name="AutoShape 6" descr="Anna University - Wikipedia"/>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8" descr="Anna University - Wikipedia"/>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10" descr="Anna University - Wikipedia"/>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12" descr="Anna University - Wikipedia"/>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AutoShape 14" descr="Anna University - Wikipedia"/>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AutoShape 16" descr="Anna University - Wikipedia"/>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AutoShape 18" descr="Anna University - Wikipedia"/>
          <p:cNvSpPr>
            <a:spLocks noChangeAspect="1" noChangeArrowheads="1"/>
          </p:cNvSpPr>
          <p:nvPr/>
        </p:nvSpPr>
        <p:spPr bwMode="auto">
          <a:xfrm>
            <a:off x="1069975" y="769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AutoShape 20" descr="Anna University - Wikipedia"/>
          <p:cNvSpPr>
            <a:spLocks noChangeAspect="1" noChangeArrowheads="1"/>
          </p:cNvSpPr>
          <p:nvPr/>
        </p:nvSpPr>
        <p:spPr bwMode="auto">
          <a:xfrm>
            <a:off x="1222375" y="922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AutoShape 22" descr="Anna University - Wikipedia"/>
          <p:cNvSpPr>
            <a:spLocks noChangeAspect="1" noChangeArrowheads="1"/>
          </p:cNvSpPr>
          <p:nvPr/>
        </p:nvSpPr>
        <p:spPr bwMode="auto">
          <a:xfrm>
            <a:off x="1374775" y="1074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AutoShape 24" descr="Anna University - Wikipedia"/>
          <p:cNvSpPr>
            <a:spLocks noChangeAspect="1" noChangeArrowheads="1"/>
          </p:cNvSpPr>
          <p:nvPr/>
        </p:nvSpPr>
        <p:spPr bwMode="auto">
          <a:xfrm>
            <a:off x="1527175" y="1227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50" name="Picture 26" descr="undefine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051" y="6186522"/>
            <a:ext cx="675701" cy="67147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3051" y="276285"/>
            <a:ext cx="9083406" cy="5737661"/>
          </a:xfrm>
          <a:prstGeom prst="rect">
            <a:avLst/>
          </a:prstGeom>
        </p:spPr>
        <p:txBody>
          <a:bodyPr wrap="square">
            <a:spAutoFit/>
          </a:bodyPr>
          <a:lstStyle/>
          <a:p>
            <a:pPr algn="ctr"/>
            <a:r>
              <a:rPr lang="en-US" sz="2400" b="1" dirty="0">
                <a:latin typeface="Times New Roman" pitchFamily="18" charset="0"/>
                <a:cs typeface="Times New Roman" pitchFamily="18" charset="0"/>
              </a:rPr>
              <a:t>SCREEN SHOTS</a:t>
            </a:r>
          </a:p>
          <a:p>
            <a:pPr algn="ctr"/>
            <a:endParaRPr lang="en-US" sz="2300" b="1" dirty="0">
              <a:latin typeface="Times New Roman" pitchFamily="18" charset="0"/>
              <a:cs typeface="Times New Roman" pitchFamily="18" charset="0"/>
            </a:endParaRPr>
          </a:p>
          <a:p>
            <a:pPr marL="0" indent="0" algn="ctr">
              <a:lnSpc>
                <a:spcPct val="107000"/>
              </a:lnSpc>
              <a:spcAft>
                <a:spcPts val="775"/>
              </a:spcAft>
              <a:buNone/>
            </a:pP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Online Voting System Web Application in Python </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algn="ctr"/>
            <a:endParaRPr lang="en-US" sz="2300" b="1" dirty="0">
              <a:latin typeface="Times New Roman" pitchFamily="18" charset="0"/>
              <a:cs typeface="Times New Roman" pitchFamily="18" charset="0"/>
            </a:endParaRPr>
          </a:p>
          <a:p>
            <a:pPr algn="ctr"/>
            <a:endParaRPr lang="en-US" sz="2300" b="1" dirty="0">
              <a:latin typeface="Times New Roman" pitchFamily="18" charset="0"/>
              <a:cs typeface="Times New Roman" pitchFamily="18" charset="0"/>
            </a:endParaRPr>
          </a:p>
          <a:p>
            <a:pPr algn="ctr"/>
            <a:endParaRPr lang="en-US" sz="2300" b="1" dirty="0">
              <a:latin typeface="Times New Roman" pitchFamily="18" charset="0"/>
              <a:cs typeface="Times New Roman" pitchFamily="18" charset="0"/>
            </a:endParaRPr>
          </a:p>
          <a:p>
            <a:pPr algn="ctr"/>
            <a:endParaRPr lang="en-US" sz="2300" b="1" dirty="0">
              <a:latin typeface="Times New Roman" pitchFamily="18" charset="0"/>
              <a:cs typeface="Times New Roman" pitchFamily="18" charset="0"/>
            </a:endParaRPr>
          </a:p>
          <a:p>
            <a:pPr algn="ctr"/>
            <a:endParaRPr lang="en-US" sz="2300" b="1" dirty="0">
              <a:latin typeface="Times New Roman" pitchFamily="18" charset="0"/>
              <a:cs typeface="Times New Roman" pitchFamily="18" charset="0"/>
            </a:endParaRPr>
          </a:p>
          <a:p>
            <a:pPr algn="ctr"/>
            <a:endParaRPr lang="en-US" sz="2300" b="1" dirty="0">
              <a:latin typeface="Times New Roman" pitchFamily="18" charset="0"/>
              <a:cs typeface="Times New Roman" pitchFamily="18" charset="0"/>
            </a:endParaRPr>
          </a:p>
          <a:p>
            <a:pPr algn="ctr"/>
            <a:endParaRPr lang="en-US" sz="2300" b="1" dirty="0">
              <a:latin typeface="Times New Roman" pitchFamily="18" charset="0"/>
              <a:cs typeface="Times New Roman" pitchFamily="18" charset="0"/>
            </a:endParaRPr>
          </a:p>
          <a:p>
            <a:pPr algn="ctr"/>
            <a:endParaRPr lang="en-US" sz="2300" b="1" dirty="0">
              <a:latin typeface="Times New Roman" pitchFamily="18" charset="0"/>
              <a:cs typeface="Times New Roman" pitchFamily="18" charset="0"/>
            </a:endParaRPr>
          </a:p>
          <a:p>
            <a:pPr algn="ctr"/>
            <a:endParaRPr lang="en-US" sz="2300" b="1" dirty="0">
              <a:latin typeface="Times New Roman" pitchFamily="18" charset="0"/>
              <a:cs typeface="Times New Roman" pitchFamily="18" charset="0"/>
            </a:endParaRPr>
          </a:p>
          <a:p>
            <a:pPr algn="ctr"/>
            <a:endParaRPr lang="en-US" sz="2300" b="1" dirty="0">
              <a:latin typeface="Times New Roman" pitchFamily="18" charset="0"/>
              <a:cs typeface="Times New Roman" pitchFamily="18" charset="0"/>
            </a:endParaRPr>
          </a:p>
          <a:p>
            <a:pPr algn="ctr"/>
            <a:endParaRPr lang="en-US" sz="2300" b="1" dirty="0">
              <a:latin typeface="Times New Roman" pitchFamily="18" charset="0"/>
              <a:cs typeface="Times New Roman" pitchFamily="18" charset="0"/>
            </a:endParaRPr>
          </a:p>
          <a:p>
            <a:pPr algn="ctr">
              <a:lnSpc>
                <a:spcPct val="150000"/>
              </a:lnSpc>
            </a:pPr>
            <a:endParaRPr lang="en-US" sz="2300" b="1" dirty="0">
              <a:latin typeface="Times New Roman" pitchFamily="18" charset="0"/>
              <a:cs typeface="Times New Roman" pitchFamily="18" charset="0"/>
            </a:endParaRPr>
          </a:p>
        </p:txBody>
      </p:sp>
      <p:pic>
        <p:nvPicPr>
          <p:cNvPr id="2" name="Picture 1">
            <a:extLst>
              <a:ext uri="{FF2B5EF4-FFF2-40B4-BE49-F238E27FC236}">
                <a16:creationId xmlns="" xmlns:a16="http://schemas.microsoft.com/office/drawing/2014/main" id="{AB5AFE6F-0529-9D03-07FD-A718BBD6B8EE}"/>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8200" y="1568390"/>
            <a:ext cx="7467599" cy="4062473"/>
          </a:xfrm>
          <a:prstGeom prst="rect">
            <a:avLst/>
          </a:prstGeom>
          <a:noFill/>
          <a:ln>
            <a:noFill/>
          </a:ln>
        </p:spPr>
      </p:pic>
    </p:spTree>
    <p:extLst>
      <p:ext uri="{BB962C8B-B14F-4D97-AF65-F5344CB8AC3E}">
        <p14:creationId xmlns:p14="http://schemas.microsoft.com/office/powerpoint/2010/main" val="311323241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0271CF27-7B8F-35FA-742A-6B16D42CFB9A}"/>
              </a:ext>
            </a:extLst>
          </p:cNvPr>
          <p:cNvSpPr txBox="1"/>
          <p:nvPr/>
        </p:nvSpPr>
        <p:spPr>
          <a:xfrm>
            <a:off x="1181100" y="152400"/>
            <a:ext cx="6781800" cy="1199559"/>
          </a:xfrm>
          <a:prstGeom prst="rect">
            <a:avLst/>
          </a:prstGeom>
          <a:noFill/>
        </p:spPr>
        <p:txBody>
          <a:bodyPr wrap="square">
            <a:spAutoFit/>
          </a:bodyPr>
          <a:lstStyle/>
          <a:p>
            <a:pPr algn="ctr"/>
            <a:r>
              <a:rPr lang="en-US" sz="2400" b="1" dirty="0">
                <a:latin typeface="Times New Roman" pitchFamily="18" charset="0"/>
                <a:cs typeface="Times New Roman" pitchFamily="18" charset="0"/>
              </a:rPr>
              <a:t>SCREEN SHOTS</a:t>
            </a:r>
          </a:p>
          <a:p>
            <a:pPr algn="ctr"/>
            <a:endParaRPr lang="en-US" sz="2400" b="1" dirty="0">
              <a:latin typeface="Times New Roman" pitchFamily="18" charset="0"/>
              <a:cs typeface="Times New Roman" pitchFamily="18" charset="0"/>
            </a:endParaRPr>
          </a:p>
          <a:p>
            <a:pPr marL="0" indent="0" algn="ctr">
              <a:lnSpc>
                <a:spcPct val="107000"/>
              </a:lnSpc>
              <a:spcAft>
                <a:spcPts val="775"/>
              </a:spcAft>
              <a:buNone/>
            </a:pP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Online Voting System Web Application in Python </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Flowchart: Delay 3">
            <a:extLst>
              <a:ext uri="{FF2B5EF4-FFF2-40B4-BE49-F238E27FC236}">
                <a16:creationId xmlns="" xmlns:a16="http://schemas.microsoft.com/office/drawing/2014/main" id="{77947322-DA91-37B2-57E2-81D81A97263A}"/>
              </a:ext>
            </a:extLst>
          </p:cNvPr>
          <p:cNvSpPr/>
          <p:nvPr/>
        </p:nvSpPr>
        <p:spPr>
          <a:xfrm>
            <a:off x="762000" y="6429396"/>
            <a:ext cx="8354457" cy="428604"/>
          </a:xfrm>
          <a:prstGeom prst="flowChartDelay">
            <a:avLst/>
          </a:prstGeom>
          <a:solidFill>
            <a:srgbClr val="00B0F0"/>
          </a:solidFill>
          <a:ln>
            <a:solidFill>
              <a:srgbClr val="00B0F0"/>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rPr>
              <a:t>Anna University, Chennai</a:t>
            </a:r>
            <a:endParaRPr lang="en-US"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endParaRPr>
          </a:p>
        </p:txBody>
      </p:sp>
      <p:pic>
        <p:nvPicPr>
          <p:cNvPr id="5" name="Picture 26" descr="undefined">
            <a:extLst>
              <a:ext uri="{FF2B5EF4-FFF2-40B4-BE49-F238E27FC236}">
                <a16:creationId xmlns="" xmlns:a16="http://schemas.microsoft.com/office/drawing/2014/main" id="{BE73A259-BA2A-D39E-820E-C6890385C5F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051" y="6186522"/>
            <a:ext cx="675701" cy="67147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 xmlns:a16="http://schemas.microsoft.com/office/drawing/2014/main" id="{769AE3AB-CE80-C5A0-C6CE-73CC43DA2E98}"/>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2000" y="1524000"/>
            <a:ext cx="7696199" cy="4105125"/>
          </a:xfrm>
          <a:prstGeom prst="rect">
            <a:avLst/>
          </a:prstGeom>
          <a:noFill/>
          <a:ln>
            <a:noFill/>
          </a:ln>
        </p:spPr>
      </p:pic>
    </p:spTree>
    <p:extLst>
      <p:ext uri="{BB962C8B-B14F-4D97-AF65-F5344CB8AC3E}">
        <p14:creationId xmlns:p14="http://schemas.microsoft.com/office/powerpoint/2010/main" val="307833153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FE8C8A28-6984-A42A-D2A4-D7AB4A45C7E6}"/>
              </a:ext>
            </a:extLst>
          </p:cNvPr>
          <p:cNvSpPr txBox="1"/>
          <p:nvPr/>
        </p:nvSpPr>
        <p:spPr>
          <a:xfrm>
            <a:off x="1104900" y="152400"/>
            <a:ext cx="6934200" cy="1199559"/>
          </a:xfrm>
          <a:prstGeom prst="rect">
            <a:avLst/>
          </a:prstGeom>
          <a:noFill/>
        </p:spPr>
        <p:txBody>
          <a:bodyPr wrap="square">
            <a:spAutoFit/>
          </a:bodyPr>
          <a:lstStyle/>
          <a:p>
            <a:pPr algn="ctr"/>
            <a:r>
              <a:rPr lang="en-US" sz="2400" b="1" dirty="0">
                <a:latin typeface="Times New Roman" pitchFamily="18" charset="0"/>
                <a:cs typeface="Times New Roman" pitchFamily="18" charset="0"/>
              </a:rPr>
              <a:t>SCREEN SHOTS</a:t>
            </a:r>
          </a:p>
          <a:p>
            <a:pPr algn="ctr"/>
            <a:endParaRPr lang="en-US" sz="2400" b="1" dirty="0">
              <a:latin typeface="Times New Roman" pitchFamily="18" charset="0"/>
              <a:cs typeface="Times New Roman" pitchFamily="18" charset="0"/>
            </a:endParaRPr>
          </a:p>
          <a:p>
            <a:pPr marL="0" indent="0" algn="ctr">
              <a:lnSpc>
                <a:spcPct val="107000"/>
              </a:lnSpc>
              <a:spcAft>
                <a:spcPts val="775"/>
              </a:spcAft>
              <a:buNone/>
            </a:pP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Online Voting System Web Application in Python </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Flowchart: Delay 3">
            <a:extLst>
              <a:ext uri="{FF2B5EF4-FFF2-40B4-BE49-F238E27FC236}">
                <a16:creationId xmlns="" xmlns:a16="http://schemas.microsoft.com/office/drawing/2014/main" id="{5139BB1C-0123-FDE0-E2FE-66F8E4BAB3CB}"/>
              </a:ext>
            </a:extLst>
          </p:cNvPr>
          <p:cNvSpPr/>
          <p:nvPr/>
        </p:nvSpPr>
        <p:spPr>
          <a:xfrm>
            <a:off x="762000" y="6429396"/>
            <a:ext cx="8354457" cy="428604"/>
          </a:xfrm>
          <a:prstGeom prst="flowChartDelay">
            <a:avLst/>
          </a:prstGeom>
          <a:solidFill>
            <a:srgbClr val="00B0F0"/>
          </a:solidFill>
          <a:ln>
            <a:solidFill>
              <a:srgbClr val="00B0F0"/>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rPr>
              <a:t>Anna University, Chennai</a:t>
            </a:r>
            <a:endParaRPr lang="en-US"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endParaRPr>
          </a:p>
        </p:txBody>
      </p:sp>
      <p:pic>
        <p:nvPicPr>
          <p:cNvPr id="5" name="Picture 26" descr="undefined">
            <a:extLst>
              <a:ext uri="{FF2B5EF4-FFF2-40B4-BE49-F238E27FC236}">
                <a16:creationId xmlns="" xmlns:a16="http://schemas.microsoft.com/office/drawing/2014/main" id="{78B69BDA-4CE3-ED88-2203-D50A548EA93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051" y="6186522"/>
            <a:ext cx="675701" cy="67147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 xmlns:a16="http://schemas.microsoft.com/office/drawing/2014/main" id="{9DA97E42-B46C-88D6-3D43-A4DED6267E6F}"/>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6384" y="1524000"/>
            <a:ext cx="7673247" cy="4114800"/>
          </a:xfrm>
          <a:prstGeom prst="rect">
            <a:avLst/>
          </a:prstGeom>
          <a:noFill/>
          <a:ln>
            <a:noFill/>
          </a:ln>
        </p:spPr>
      </p:pic>
    </p:spTree>
    <p:extLst>
      <p:ext uri="{BB962C8B-B14F-4D97-AF65-F5344CB8AC3E}">
        <p14:creationId xmlns:p14="http://schemas.microsoft.com/office/powerpoint/2010/main" val="287452645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A60A3D4E-1299-64EB-9C2B-1FD8E2340EEB}"/>
              </a:ext>
            </a:extLst>
          </p:cNvPr>
          <p:cNvSpPr txBox="1"/>
          <p:nvPr/>
        </p:nvSpPr>
        <p:spPr>
          <a:xfrm>
            <a:off x="990600" y="152400"/>
            <a:ext cx="7162800" cy="1199559"/>
          </a:xfrm>
          <a:prstGeom prst="rect">
            <a:avLst/>
          </a:prstGeom>
          <a:noFill/>
        </p:spPr>
        <p:txBody>
          <a:bodyPr wrap="square">
            <a:spAutoFit/>
          </a:bodyPr>
          <a:lstStyle/>
          <a:p>
            <a:pPr algn="ctr"/>
            <a:r>
              <a:rPr lang="en-US" sz="2400" b="1" dirty="0">
                <a:latin typeface="Times New Roman" pitchFamily="18" charset="0"/>
                <a:cs typeface="Times New Roman" pitchFamily="18" charset="0"/>
              </a:rPr>
              <a:t>SCREEN SHOTS</a:t>
            </a:r>
          </a:p>
          <a:p>
            <a:pPr algn="ctr"/>
            <a:endParaRPr lang="en-US" sz="2400" b="1" dirty="0">
              <a:latin typeface="Times New Roman" pitchFamily="18" charset="0"/>
              <a:cs typeface="Times New Roman" pitchFamily="18" charset="0"/>
            </a:endParaRPr>
          </a:p>
          <a:p>
            <a:pPr marL="0" indent="0" algn="ctr">
              <a:lnSpc>
                <a:spcPct val="107000"/>
              </a:lnSpc>
              <a:spcAft>
                <a:spcPts val="775"/>
              </a:spcAft>
              <a:buNone/>
            </a:pP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Online Voting System Web Application in Python </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Flowchart: Delay 3">
            <a:extLst>
              <a:ext uri="{FF2B5EF4-FFF2-40B4-BE49-F238E27FC236}">
                <a16:creationId xmlns="" xmlns:a16="http://schemas.microsoft.com/office/drawing/2014/main" id="{67F550F2-4653-D278-D226-627F91EF912D}"/>
              </a:ext>
            </a:extLst>
          </p:cNvPr>
          <p:cNvSpPr/>
          <p:nvPr/>
        </p:nvSpPr>
        <p:spPr>
          <a:xfrm>
            <a:off x="762000" y="6429396"/>
            <a:ext cx="8354457" cy="428604"/>
          </a:xfrm>
          <a:prstGeom prst="flowChartDelay">
            <a:avLst/>
          </a:prstGeom>
          <a:solidFill>
            <a:srgbClr val="00B0F0"/>
          </a:solidFill>
          <a:ln>
            <a:solidFill>
              <a:srgbClr val="00B0F0"/>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rPr>
              <a:t>Anna University, Chennai</a:t>
            </a:r>
            <a:endParaRPr lang="en-US"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endParaRPr>
          </a:p>
        </p:txBody>
      </p:sp>
      <p:pic>
        <p:nvPicPr>
          <p:cNvPr id="5" name="Picture 26" descr="undefined">
            <a:extLst>
              <a:ext uri="{FF2B5EF4-FFF2-40B4-BE49-F238E27FC236}">
                <a16:creationId xmlns="" xmlns:a16="http://schemas.microsoft.com/office/drawing/2014/main" id="{0E7079FA-BC6E-1513-B242-78C471BC996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051" y="6186522"/>
            <a:ext cx="675701" cy="67147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 xmlns:a16="http://schemas.microsoft.com/office/drawing/2014/main" id="{F07A541F-F849-B3E7-48FC-EBA0945AEDD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5800" y="1584308"/>
            <a:ext cx="7772399" cy="4114800"/>
          </a:xfrm>
          <a:prstGeom prst="rect">
            <a:avLst/>
          </a:prstGeom>
          <a:noFill/>
          <a:ln>
            <a:noFill/>
          </a:ln>
        </p:spPr>
      </p:pic>
    </p:spTree>
    <p:extLst>
      <p:ext uri="{BB962C8B-B14F-4D97-AF65-F5344CB8AC3E}">
        <p14:creationId xmlns:p14="http://schemas.microsoft.com/office/powerpoint/2010/main" val="399093598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BEA0559B-FB6C-3EA5-E4D7-519030496607}"/>
              </a:ext>
            </a:extLst>
          </p:cNvPr>
          <p:cNvSpPr txBox="1"/>
          <p:nvPr/>
        </p:nvSpPr>
        <p:spPr>
          <a:xfrm>
            <a:off x="762000" y="0"/>
            <a:ext cx="7620000" cy="1199559"/>
          </a:xfrm>
          <a:prstGeom prst="rect">
            <a:avLst/>
          </a:prstGeom>
          <a:noFill/>
        </p:spPr>
        <p:txBody>
          <a:bodyPr wrap="square">
            <a:spAutoFit/>
          </a:bodyPr>
          <a:lstStyle/>
          <a:p>
            <a:pPr algn="ctr"/>
            <a:r>
              <a:rPr lang="en-US" sz="2400" b="1" dirty="0">
                <a:latin typeface="Times New Roman" pitchFamily="18" charset="0"/>
                <a:cs typeface="Times New Roman" pitchFamily="18" charset="0"/>
              </a:rPr>
              <a:t>SCREEN SHOTS</a:t>
            </a:r>
          </a:p>
          <a:p>
            <a:pPr algn="ctr"/>
            <a:endParaRPr lang="en-US" sz="2400" b="1" dirty="0">
              <a:latin typeface="Times New Roman" pitchFamily="18" charset="0"/>
              <a:cs typeface="Times New Roman" pitchFamily="18" charset="0"/>
            </a:endParaRPr>
          </a:p>
          <a:p>
            <a:pPr marL="0" indent="0" algn="ctr">
              <a:lnSpc>
                <a:spcPct val="107000"/>
              </a:lnSpc>
              <a:spcAft>
                <a:spcPts val="775"/>
              </a:spcAft>
              <a:buNone/>
            </a:pP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Online Voting System Web Application in Python </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Flowchart: Delay 3">
            <a:extLst>
              <a:ext uri="{FF2B5EF4-FFF2-40B4-BE49-F238E27FC236}">
                <a16:creationId xmlns="" xmlns:a16="http://schemas.microsoft.com/office/drawing/2014/main" id="{D806C83F-EC54-AD7C-0FF9-C0EFFB824ACE}"/>
              </a:ext>
            </a:extLst>
          </p:cNvPr>
          <p:cNvSpPr/>
          <p:nvPr/>
        </p:nvSpPr>
        <p:spPr>
          <a:xfrm>
            <a:off x="762000" y="6429396"/>
            <a:ext cx="8354457" cy="428604"/>
          </a:xfrm>
          <a:prstGeom prst="flowChartDelay">
            <a:avLst/>
          </a:prstGeom>
          <a:solidFill>
            <a:srgbClr val="00B0F0"/>
          </a:solidFill>
          <a:ln>
            <a:solidFill>
              <a:srgbClr val="00B0F0"/>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rPr>
              <a:t>Anna University, Chennai</a:t>
            </a:r>
            <a:endParaRPr lang="en-US"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endParaRPr>
          </a:p>
        </p:txBody>
      </p:sp>
      <p:pic>
        <p:nvPicPr>
          <p:cNvPr id="5" name="Picture 26" descr="undefined">
            <a:extLst>
              <a:ext uri="{FF2B5EF4-FFF2-40B4-BE49-F238E27FC236}">
                <a16:creationId xmlns="" xmlns:a16="http://schemas.microsoft.com/office/drawing/2014/main" id="{AB9FFA59-EA12-AD67-F926-78A9798B8F3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051" y="6186522"/>
            <a:ext cx="675701" cy="67147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 xmlns:a16="http://schemas.microsoft.com/office/drawing/2014/main" id="{89EF7167-E59E-BDBC-9D4A-F43B89538320}"/>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9808" y="1311275"/>
            <a:ext cx="7619999" cy="4235450"/>
          </a:xfrm>
          <a:prstGeom prst="rect">
            <a:avLst/>
          </a:prstGeom>
          <a:noFill/>
          <a:ln>
            <a:noFill/>
          </a:ln>
        </p:spPr>
      </p:pic>
      <p:sp>
        <p:nvSpPr>
          <p:cNvPr id="8" name="TextBox 7">
            <a:extLst>
              <a:ext uri="{FF2B5EF4-FFF2-40B4-BE49-F238E27FC236}">
                <a16:creationId xmlns="" xmlns:a16="http://schemas.microsoft.com/office/drawing/2014/main" id="{A8666C52-4A72-BF70-0746-D96102F79BAD}"/>
              </a:ext>
            </a:extLst>
          </p:cNvPr>
          <p:cNvSpPr txBox="1"/>
          <p:nvPr/>
        </p:nvSpPr>
        <p:spPr>
          <a:xfrm>
            <a:off x="3276600" y="5800346"/>
            <a:ext cx="3352800" cy="646331"/>
          </a:xfrm>
          <a:prstGeom prst="rect">
            <a:avLst/>
          </a:prstGeom>
          <a:noFill/>
        </p:spPr>
        <p:txBody>
          <a:bodyPr wrap="square">
            <a:spAutoFit/>
          </a:bodyPr>
          <a:lstStyle/>
          <a:p>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54031296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BEA0559B-FB6C-3EA5-E4D7-519030496607}"/>
              </a:ext>
            </a:extLst>
          </p:cNvPr>
          <p:cNvSpPr txBox="1"/>
          <p:nvPr/>
        </p:nvSpPr>
        <p:spPr>
          <a:xfrm>
            <a:off x="609600" y="1447800"/>
            <a:ext cx="7620000" cy="2719462"/>
          </a:xfrm>
          <a:prstGeom prst="rect">
            <a:avLst/>
          </a:prstGeom>
          <a:noFill/>
        </p:spPr>
        <p:txBody>
          <a:bodyPr wrap="square">
            <a:spAutoFit/>
          </a:bodyPr>
          <a:lstStyle/>
          <a:p>
            <a:pPr algn="ctr"/>
            <a:r>
              <a:rPr lang="en-US" sz="2400" b="1" dirty="0" smtClean="0">
                <a:latin typeface="Times New Roman" pitchFamily="18" charset="0"/>
                <a:cs typeface="Times New Roman" pitchFamily="18" charset="0"/>
              </a:rPr>
              <a:t>Conference Presentation</a:t>
            </a:r>
            <a:endParaRPr lang="en-US" sz="2400" b="1" dirty="0">
              <a:latin typeface="Times New Roman" pitchFamily="18" charset="0"/>
              <a:cs typeface="Times New Roman" pitchFamily="18" charset="0"/>
            </a:endParaRPr>
          </a:p>
          <a:p>
            <a:pPr algn="ctr"/>
            <a:endParaRPr lang="en-US" sz="2400" b="1" dirty="0">
              <a:latin typeface="Times New Roman" pitchFamily="18" charset="0"/>
              <a:cs typeface="Times New Roman" pitchFamily="18" charset="0"/>
            </a:endParaRPr>
          </a:p>
          <a:p>
            <a:pPr marL="0" indent="0">
              <a:lnSpc>
                <a:spcPct val="107000"/>
              </a:lnSpc>
              <a:spcAft>
                <a:spcPts val="775"/>
              </a:spcAft>
              <a:buNone/>
            </a:pPr>
            <a:r>
              <a:rPr lang="en-US" sz="2400" b="1" dirty="0" smtClean="0">
                <a:latin typeface="Times New Roman" panose="02020603050405020304" pitchFamily="18" charset="0"/>
                <a:ea typeface="Calibri" panose="020F0502020204030204" pitchFamily="34" charset="0"/>
                <a:cs typeface="Times New Roman" panose="02020603050405020304" pitchFamily="18" charset="0"/>
              </a:rPr>
              <a:t>Name of the College:</a:t>
            </a:r>
          </a:p>
          <a:p>
            <a:pPr marL="0" indent="0">
              <a:lnSpc>
                <a:spcPct val="107000"/>
              </a:lnSpc>
              <a:spcAft>
                <a:spcPts val="775"/>
              </a:spcAft>
              <a:buNone/>
            </a:pPr>
            <a:r>
              <a:rPr lang="en-US" sz="2400" b="1" dirty="0" smtClean="0">
                <a:effectLst/>
                <a:latin typeface="Times New Roman" panose="02020603050405020304" pitchFamily="18" charset="0"/>
                <a:ea typeface="Calibri" panose="020F0502020204030204" pitchFamily="34" charset="0"/>
                <a:cs typeface="Times New Roman" panose="02020603050405020304" pitchFamily="18" charset="0"/>
              </a:rPr>
              <a:t>Title of the Presentation:</a:t>
            </a:r>
          </a:p>
          <a:p>
            <a:pPr marL="0" indent="0">
              <a:lnSpc>
                <a:spcPct val="107000"/>
              </a:lnSpc>
              <a:spcAft>
                <a:spcPts val="775"/>
              </a:spcAft>
              <a:buNone/>
            </a:pPr>
            <a:r>
              <a:rPr lang="en-US" sz="2400" b="1" dirty="0" smtClean="0">
                <a:latin typeface="Times New Roman" panose="02020603050405020304" pitchFamily="18" charset="0"/>
                <a:ea typeface="Calibri" panose="020F0502020204030204" pitchFamily="34" charset="0"/>
                <a:cs typeface="Times New Roman" panose="02020603050405020304" pitchFamily="18" charset="0"/>
              </a:rPr>
              <a:t>Date:</a:t>
            </a:r>
          </a:p>
          <a:p>
            <a:pPr marL="0" indent="0" algn="ctr">
              <a:lnSpc>
                <a:spcPct val="107000"/>
              </a:lnSpc>
              <a:spcAft>
                <a:spcPts val="775"/>
              </a:spcAft>
              <a:buNone/>
            </a:pPr>
            <a:r>
              <a:rPr lang="en-US" sz="2400" b="1" dirty="0" smtClean="0">
                <a:effectLst/>
                <a:latin typeface="Times New Roman" panose="02020603050405020304" pitchFamily="18" charset="0"/>
                <a:ea typeface="Calibri" panose="020F0502020204030204" pitchFamily="34" charset="0"/>
                <a:cs typeface="Times New Roman" panose="02020603050405020304" pitchFamily="18" charset="0"/>
              </a:rPr>
              <a:t> </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9684437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lowchart: Delay 9"/>
          <p:cNvSpPr/>
          <p:nvPr/>
        </p:nvSpPr>
        <p:spPr>
          <a:xfrm>
            <a:off x="762000" y="6429396"/>
            <a:ext cx="8354457" cy="428604"/>
          </a:xfrm>
          <a:prstGeom prst="flowChartDelay">
            <a:avLst/>
          </a:prstGeom>
          <a:solidFill>
            <a:srgbClr val="00B0F0"/>
          </a:solidFill>
          <a:ln>
            <a:solidFill>
              <a:srgbClr val="00B0F0"/>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rPr>
              <a:t>Anna University, Chennai</a:t>
            </a:r>
            <a:endParaRPr lang="en-US"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endParaRPr>
          </a:p>
        </p:txBody>
      </p:sp>
      <p:sp>
        <p:nvSpPr>
          <p:cNvPr id="8" name="AutoShape 6" descr="Anna University - Wikipedia"/>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8" descr="Anna University - Wikipedia"/>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10" descr="Anna University - Wikipedia"/>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12" descr="Anna University - Wikipedia"/>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AutoShape 14" descr="Anna University - Wikipedia"/>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AutoShape 16" descr="Anna University - Wikipedia"/>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AutoShape 18" descr="Anna University - Wikipedia"/>
          <p:cNvSpPr>
            <a:spLocks noChangeAspect="1" noChangeArrowheads="1"/>
          </p:cNvSpPr>
          <p:nvPr/>
        </p:nvSpPr>
        <p:spPr bwMode="auto">
          <a:xfrm>
            <a:off x="1069975" y="769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AutoShape 20" descr="Anna University - Wikipedia"/>
          <p:cNvSpPr>
            <a:spLocks noChangeAspect="1" noChangeArrowheads="1"/>
          </p:cNvSpPr>
          <p:nvPr/>
        </p:nvSpPr>
        <p:spPr bwMode="auto">
          <a:xfrm>
            <a:off x="1222375" y="922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AutoShape 22" descr="Anna University - Wikipedia"/>
          <p:cNvSpPr>
            <a:spLocks noChangeAspect="1" noChangeArrowheads="1"/>
          </p:cNvSpPr>
          <p:nvPr/>
        </p:nvSpPr>
        <p:spPr bwMode="auto">
          <a:xfrm>
            <a:off x="1374775" y="1074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AutoShape 24" descr="Anna University - Wikipedia"/>
          <p:cNvSpPr>
            <a:spLocks noChangeAspect="1" noChangeArrowheads="1"/>
          </p:cNvSpPr>
          <p:nvPr/>
        </p:nvSpPr>
        <p:spPr bwMode="auto">
          <a:xfrm>
            <a:off x="1527175" y="1227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50" name="Picture 26" descr="undefine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051" y="6186522"/>
            <a:ext cx="675701" cy="67147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155575" y="276285"/>
            <a:ext cx="8836025" cy="6235040"/>
          </a:xfrm>
          <a:prstGeom prst="rect">
            <a:avLst/>
          </a:prstGeom>
        </p:spPr>
        <p:txBody>
          <a:bodyPr wrap="square">
            <a:spAutoFit/>
          </a:bodyPr>
          <a:lstStyle/>
          <a:p>
            <a:pPr algn="ctr"/>
            <a:r>
              <a:rPr lang="en-US" sz="2400" b="1" dirty="0">
                <a:latin typeface="Times New Roman" pitchFamily="18" charset="0"/>
                <a:cs typeface="Times New Roman" pitchFamily="18" charset="0"/>
              </a:rPr>
              <a:t>REFERENCES</a:t>
            </a:r>
          </a:p>
          <a:p>
            <a:pPr algn="ctr"/>
            <a:endParaRPr lang="en-US" sz="2300" b="1" dirty="0">
              <a:latin typeface="Times New Roman" pitchFamily="18" charset="0"/>
              <a:cs typeface="Times New Roman" pitchFamily="18" charset="0"/>
            </a:endParaRPr>
          </a:p>
          <a:p>
            <a:pPr algn="ctr"/>
            <a:r>
              <a:rPr lang="en-US" sz="2400" b="1" dirty="0">
                <a:solidFill>
                  <a:srgbClr val="000000"/>
                </a:solidFill>
                <a:effectLst/>
                <a:latin typeface="Times New Roman" panose="02020603050405020304" pitchFamily="18" charset="0"/>
                <a:ea typeface="Times New Roman" panose="02020603050405020304" pitchFamily="18" charset="0"/>
              </a:rPr>
              <a:t>Online Voting System Web Application in Python</a:t>
            </a:r>
          </a:p>
          <a:p>
            <a:pPr algn="ctr"/>
            <a:endParaRPr lang="en-IN" sz="2400" b="1" dirty="0">
              <a:effectLst/>
              <a:latin typeface="Times New Roman" panose="02020603050405020304" pitchFamily="18" charset="0"/>
              <a:ea typeface="Calibri" panose="020F0502020204030204" pitchFamily="34" charset="0"/>
              <a:cs typeface="Times New Roman" panose="02020603050405020304" pitchFamily="18" charset="0"/>
            </a:endParaRPr>
          </a:p>
          <a:p>
            <a:r>
              <a:rPr lang="en-IN" sz="2000" b="1" dirty="0">
                <a:effectLst/>
                <a:latin typeface="Times New Roman" panose="02020603050405020304" pitchFamily="18" charset="0"/>
                <a:ea typeface="Calibri" panose="020F0502020204030204" pitchFamily="34" charset="0"/>
                <a:cs typeface="Times New Roman" panose="02020603050405020304" pitchFamily="18" charset="0"/>
              </a:rPr>
              <a:t>Web Reference</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228600" indent="-228600">
              <a:spcAft>
                <a:spcPts val="800"/>
              </a:spcAft>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[1]  </a:t>
            </a:r>
            <a:r>
              <a:rPr lang="en-IN" sz="2000" u="sng"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hlinkClick r:id="rId3"/>
              </a:rPr>
              <a:t>https://easychair.org/publications/preprint/5xGf</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228600" indent="-228600">
              <a:spcAft>
                <a:spcPts val="800"/>
              </a:spcAft>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[2]  </a:t>
            </a:r>
            <a:r>
              <a:rPr lang="en-IN" sz="2000" u="sng"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hlinkClick r:id="rId4"/>
              </a:rPr>
              <a:t>https://www.youtube.com/watch?v=XF74EqOrl-Q</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228600" indent="-228600">
              <a:spcAft>
                <a:spcPts val="800"/>
              </a:spcAft>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[3]  </a:t>
            </a:r>
            <a:r>
              <a:rPr lang="en-IN" sz="2000" u="sng"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hlinkClick r:id="rId5"/>
              </a:rPr>
              <a:t>https://www.youtube.com/watch?v=r6q_Q-u05HU</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a:spcAft>
                <a:spcPts val="800"/>
              </a:spcAft>
            </a:pPr>
            <a:r>
              <a:rPr lang="en-IN" sz="2000" b="1" dirty="0">
                <a:effectLst/>
                <a:latin typeface="Calibri" panose="020F0502020204030204" pitchFamily="34" charset="0"/>
                <a:ea typeface="Calibri" panose="020F0502020204030204" pitchFamily="34" charset="0"/>
                <a:cs typeface="Times New Roman" panose="02020603050405020304" pitchFamily="18" charset="0"/>
              </a:rPr>
              <a:t> </a:t>
            </a:r>
            <a:r>
              <a:rPr lang="en-US" sz="2000" b="1" dirty="0">
                <a:solidFill>
                  <a:srgbClr val="000000"/>
                </a:solidFill>
                <a:effectLst/>
                <a:latin typeface="Times New Roman" panose="02020603050405020304" pitchFamily="18" charset="0"/>
                <a:ea typeface="Times New Roman" panose="02020603050405020304" pitchFamily="18" charset="0"/>
              </a:rPr>
              <a:t>Book Reference</a:t>
            </a:r>
            <a:endParaRPr lang="en-IN" sz="2000" dirty="0">
              <a:solidFill>
                <a:srgbClr val="000000"/>
              </a:solidFill>
              <a:effectLst/>
              <a:latin typeface="Times New Roman" panose="02020603050405020304" pitchFamily="18" charset="0"/>
              <a:ea typeface="Times New Roman" panose="02020603050405020304" pitchFamily="18" charset="0"/>
            </a:endParaRPr>
          </a:p>
          <a:p>
            <a:pPr marL="295275" indent="-295275" algn="just">
              <a:spcBef>
                <a:spcPts val="1200"/>
              </a:spcBef>
              <a:spcAft>
                <a:spcPts val="290"/>
              </a:spcAft>
            </a:pPr>
            <a:r>
              <a:rPr lang="en-US" sz="2000" dirty="0">
                <a:solidFill>
                  <a:srgbClr val="000000"/>
                </a:solidFill>
                <a:effectLst/>
                <a:latin typeface="Times New Roman" panose="02020603050405020304" pitchFamily="18" charset="0"/>
                <a:ea typeface="Times New Roman" panose="02020603050405020304" pitchFamily="18" charset="0"/>
              </a:rPr>
              <a:t>[1]  Online Voting: Technology and Business Practice by P. Y. A. Singh Publish                            Date: 2010 .</a:t>
            </a:r>
            <a:endParaRPr lang="en-IN" sz="2000" dirty="0">
              <a:solidFill>
                <a:srgbClr val="000000"/>
              </a:solidFill>
              <a:effectLst/>
              <a:latin typeface="Times New Roman" panose="02020603050405020304" pitchFamily="18" charset="0"/>
              <a:ea typeface="Times New Roman" panose="02020603050405020304" pitchFamily="18" charset="0"/>
            </a:endParaRPr>
          </a:p>
          <a:p>
            <a:pPr marL="295275" indent="-295275" algn="just">
              <a:spcBef>
                <a:spcPts val="1200"/>
              </a:spcBef>
              <a:spcAft>
                <a:spcPts val="290"/>
              </a:spcAft>
            </a:pPr>
            <a:r>
              <a:rPr lang="en-US" sz="2000" dirty="0">
                <a:solidFill>
                  <a:srgbClr val="000000"/>
                </a:solidFill>
                <a:effectLst/>
                <a:latin typeface="Times New Roman" panose="02020603050405020304" pitchFamily="18" charset="0"/>
                <a:ea typeface="Times New Roman" panose="02020603050405020304" pitchFamily="18" charset="0"/>
              </a:rPr>
              <a:t>[2]  Online Voting: An Overview of Existing and Emerging Technologies by R. S. W. S. Wahid and D. B. </a:t>
            </a:r>
            <a:r>
              <a:rPr lang="en-US" sz="2000" dirty="0" err="1">
                <a:solidFill>
                  <a:srgbClr val="000000"/>
                </a:solidFill>
                <a:effectLst/>
                <a:latin typeface="Times New Roman" panose="02020603050405020304" pitchFamily="18" charset="0"/>
                <a:ea typeface="Times New Roman" panose="02020603050405020304" pitchFamily="18" charset="0"/>
              </a:rPr>
              <a:t>MacKenzie</a:t>
            </a:r>
            <a:r>
              <a:rPr lang="en-US" sz="2000" dirty="0">
                <a:solidFill>
                  <a:srgbClr val="000000"/>
                </a:solidFill>
                <a:effectLst/>
                <a:latin typeface="Times New Roman" panose="02020603050405020304" pitchFamily="18" charset="0"/>
                <a:ea typeface="Times New Roman" panose="02020603050405020304" pitchFamily="18" charset="0"/>
              </a:rPr>
              <a:t> Publish Date: 2007.</a:t>
            </a:r>
            <a:endParaRPr lang="en-IN" sz="2000" dirty="0">
              <a:solidFill>
                <a:srgbClr val="000000"/>
              </a:solidFill>
              <a:effectLst/>
              <a:latin typeface="Times New Roman" panose="02020603050405020304" pitchFamily="18" charset="0"/>
              <a:ea typeface="Times New Roman" panose="02020603050405020304" pitchFamily="18" charset="0"/>
            </a:endParaRPr>
          </a:p>
          <a:p>
            <a:pPr marL="295275" indent="-295275" algn="just">
              <a:spcBef>
                <a:spcPts val="1200"/>
              </a:spcBef>
              <a:spcAft>
                <a:spcPts val="290"/>
              </a:spcAft>
            </a:pPr>
            <a:r>
              <a:rPr lang="en-US" sz="2000" dirty="0">
                <a:solidFill>
                  <a:srgbClr val="000000"/>
                </a:solidFill>
                <a:effectLst/>
                <a:latin typeface="Times New Roman" panose="02020603050405020304" pitchFamily="18" charset="0"/>
                <a:ea typeface="Times New Roman" panose="02020603050405020304" pitchFamily="18" charset="0"/>
              </a:rPr>
              <a:t>[3]  Designing Secure and Resilient Online Voting Systems by Michael W. S. Ng Publish Date: 2021</a:t>
            </a:r>
            <a:endParaRPr lang="en-IN" sz="2000" dirty="0">
              <a:solidFill>
                <a:srgbClr val="000000"/>
              </a:solidFill>
              <a:effectLst/>
              <a:latin typeface="Times New Roman" panose="02020603050405020304" pitchFamily="18" charset="0"/>
              <a:ea typeface="Times New Roman" panose="02020603050405020304" pitchFamily="18" charset="0"/>
            </a:endParaRPr>
          </a:p>
          <a:p>
            <a:pPr algn="just"/>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val="144760224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348</TotalTime>
  <Words>1436</Words>
  <Application>Microsoft Office PowerPoint</Application>
  <PresentationFormat>On-screen Show (4:3)</PresentationFormat>
  <Paragraphs>605</Paragraphs>
  <Slides>38</Slides>
  <Notes>0</Notes>
  <HiddenSlides>0</HiddenSlides>
  <MMClips>0</MMClips>
  <ScaleCrop>false</ScaleCrop>
  <HeadingPairs>
    <vt:vector size="4" baseType="variant">
      <vt:variant>
        <vt:lpstr>Theme</vt:lpstr>
      </vt:variant>
      <vt:variant>
        <vt:i4>1</vt:i4>
      </vt:variant>
      <vt:variant>
        <vt:lpstr>Slide Titles</vt:lpstr>
      </vt:variant>
      <vt:variant>
        <vt:i4>38</vt:i4>
      </vt:variant>
    </vt:vector>
  </HeadingPairs>
  <TitlesOfParts>
    <vt:vector size="39" baseType="lpstr">
      <vt:lpstr>Office Theme</vt:lpstr>
      <vt:lpstr>PowerPoint Presentation</vt:lpstr>
      <vt:lpstr>Contents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MCA 25</dc:creator>
  <cp:lastModifiedBy>Staff</cp:lastModifiedBy>
  <cp:revision>70</cp:revision>
  <dcterms:created xsi:type="dcterms:W3CDTF">2024-08-09T04:10:49Z</dcterms:created>
  <dcterms:modified xsi:type="dcterms:W3CDTF">2025-07-09T10:35:49Z</dcterms:modified>
</cp:coreProperties>
</file>