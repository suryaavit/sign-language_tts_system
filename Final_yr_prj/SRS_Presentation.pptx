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(SRS)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4231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Language to Audio and Text Conversion System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0" y="3063240"/>
            <a:ext cx="5486400" cy="1600200"/>
          </a:xfrm>
          <a:prstGeom prst="rect">
            <a:avLst/>
          </a:prstGeom>
          <a:solidFill>
            <a:srgbClr val="2E6DA4">
              <a:alpha val="50000"/>
            </a:srgbClr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0" y="3108960"/>
            <a:ext cx="54864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  |  Reg No: 0000
</a:t>
            </a:r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yyyy
</a:t>
            </a:r>
            <a:pPr algn="ctr" indent="0" marL="0">
              <a:buNone/>
            </a:pPr>
            <a:r>
              <a:rPr lang="en-US" sz="1300" dirty="0">
                <a:solidFill>
                  <a:srgbClr val="BB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Dept: MCA  |  PEC  |  2025–2026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|  Machine Learning | Computer Vision | 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DOCUMENT STRUCTURE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document covers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45720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15568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1704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51790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scope, definitions &amp; document overview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075688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075688"/>
            <a:ext cx="45720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075688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21305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Description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4780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perspective, functions, users &amp; environment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035808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035808"/>
            <a:ext cx="45720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035808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30906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343814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 to FR-15: What the system must do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995928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995928"/>
            <a:ext cx="45720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995928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40507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43982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usability, security &amp; reliability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1115568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37760" y="1115568"/>
            <a:ext cx="45720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1115568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0" y="11704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Interface Requirements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0" y="151790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software &amp; communication interfaces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0" y="2075688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37760" y="2075688"/>
            <a:ext cx="45720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2075688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86400" y="21305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&amp; Assumptions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0" y="24780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limitations and operating assumptions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37760" y="3035808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937760" y="3035808"/>
            <a:ext cx="45720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3035808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86400" y="30906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86400" y="343814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summary &amp; requirement traceability matrix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 – PURPOSE, SCOPE &amp; OVERVIEW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8503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972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8988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SRS defines all functional and non-functional requirements for the Sign Language to Audio &amp; Text Conversion System. It serves as the primary reference for development, evaluation, and review by the guide and academic panel.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" y="2011680"/>
            <a:ext cx="8503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0116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– WHAT THE SYSTEM DOES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359152"/>
            <a:ext cx="2697480" cy="749808"/>
          </a:xfrm>
          <a:prstGeom prst="rect">
            <a:avLst/>
          </a:prstGeom>
          <a:solidFill>
            <a:srgbClr val="E0F2F8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359152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Captures live hand gestures via standard webcam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72968" y="2359152"/>
            <a:ext cx="2697480" cy="749808"/>
          </a:xfrm>
          <a:prstGeom prst="rect">
            <a:avLst/>
          </a:prstGeom>
          <a:solidFill>
            <a:srgbClr val="E0F2F8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64408" y="2359152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Detects 21 hand landmarks using MediaPipe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25896" y="2359152"/>
            <a:ext cx="2697480" cy="749808"/>
          </a:xfrm>
          <a:prstGeom prst="rect">
            <a:avLst/>
          </a:prstGeom>
          <a:solidFill>
            <a:srgbClr val="E0F2F8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17336" y="2359152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Classifies ASL gestures (A–Z) using TensorFlow model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227832"/>
            <a:ext cx="2697480" cy="749808"/>
          </a:xfrm>
          <a:prstGeom prst="rect">
            <a:avLst/>
          </a:prstGeom>
          <a:solidFill>
            <a:srgbClr val="E0F2F8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3227832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Displays recognized text as real-time subtitles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72968" y="3227832"/>
            <a:ext cx="2697480" cy="749808"/>
          </a:xfrm>
          <a:prstGeom prst="rect">
            <a:avLst/>
          </a:prstGeom>
          <a:solidFill>
            <a:srgbClr val="E0F2F8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64408" y="3227832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Converts text to speech using TTS engine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25896" y="3227832"/>
            <a:ext cx="2697480" cy="749808"/>
          </a:xfrm>
          <a:prstGeom prst="rect">
            <a:avLst/>
          </a:prstGeom>
          <a:solidFill>
            <a:srgbClr val="E0F2F8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17336" y="3227832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Exports session transcript as PDF or Word document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FUNCTIONAL REQUIREMENTS – GESTURE CAPTURE &amp; RECOGNITION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731520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73152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" y="101498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Initialization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069848"/>
            <a:ext cx="1188720" cy="256032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06984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" y="1344168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requests webcam permission when 'Start' is clicked. Live feed displayed in application.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801368"/>
            <a:ext cx="8503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801368"/>
            <a:ext cx="73152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80136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" y="18562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Frame Capture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1911096"/>
            <a:ext cx="1188720" cy="256032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91109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" y="2185416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video frames at ≥15 FPS. Each frame sent to backend for ML processing.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642616"/>
            <a:ext cx="8503920" cy="731520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642616"/>
            <a:ext cx="73152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64261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" y="2697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Landmark Detection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2752344"/>
            <a:ext cx="1188720" cy="256032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75234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" y="3026664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detects 21 (x,y,z) hand key points from each frame.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483864"/>
            <a:ext cx="8503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483864"/>
            <a:ext cx="73152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48386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" y="35387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Classification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0" y="3593592"/>
            <a:ext cx="1188720" cy="256032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35935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" y="3867912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TensorFlow/Keras model classifies landmarks into ASL gesture label with confidence score.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4325112"/>
            <a:ext cx="8503920" cy="731520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4325112"/>
            <a:ext cx="73152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32511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" y="43799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0800" y="4434840"/>
            <a:ext cx="1188720" cy="256032"/>
          </a:xfrm>
          <a:prstGeom prst="rect">
            <a:avLst/>
          </a:prstGeom>
          <a:solidFill>
            <a:srgbClr val="92610A"/>
          </a:solidFill>
          <a:ln w="12700">
            <a:solidFill>
              <a:srgbClr val="92610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44348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43000" y="4709160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displayed only if model confidence ≥ 80%; lower confidence frames are silently skipped.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FUNCTIONAL REQUIREMENTS – TEXT, AUDIO &amp; DOCUMENTS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206240" cy="868680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59436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594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520440" y="1005840"/>
            <a:ext cx="914400" cy="22860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0058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05840" y="96926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Subtitle Display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37160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gesture appended as text on screen in real-time.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938528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938528"/>
            <a:ext cx="59436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938528"/>
            <a:ext cx="594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FR-09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20440" y="2029968"/>
            <a:ext cx="914400" cy="228600"/>
          </a:xfrm>
          <a:prstGeom prst="rect">
            <a:avLst/>
          </a:prstGeom>
          <a:solidFill>
            <a:srgbClr val="92610A"/>
          </a:solidFill>
          <a:ln w="12700">
            <a:solidFill>
              <a:srgbClr val="9261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202996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05840" y="19933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Formation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39572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Spacebar or open-palm gesture inserts space between characters to form words.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962656"/>
            <a:ext cx="4206240" cy="868680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962656"/>
            <a:ext cx="59436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962656"/>
            <a:ext cx="594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20440" y="3054096"/>
            <a:ext cx="914400" cy="228600"/>
          </a:xfrm>
          <a:prstGeom prst="rect">
            <a:avLst/>
          </a:prstGeom>
          <a:solidFill>
            <a:srgbClr val="92610A"/>
          </a:solidFill>
          <a:ln w="12700">
            <a:solidFill>
              <a:srgbClr val="9261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305409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05840" y="30175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/ Reset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3419856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'Clear' button wipes the text area and resets the session.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986784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986784"/>
            <a:ext cx="59436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986784"/>
            <a:ext cx="594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FR-11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520440" y="4078224"/>
            <a:ext cx="914400" cy="22860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407822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05840" y="40416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 Conversion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05840" y="444398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text converted to audio using gTTS or pyttsx3 and played through speakers.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914400"/>
            <a:ext cx="4206240" cy="868680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914400"/>
            <a:ext cx="59436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914400"/>
            <a:ext cx="594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955280" y="1005840"/>
            <a:ext cx="914400" cy="228600"/>
          </a:xfrm>
          <a:prstGeom prst="rect">
            <a:avLst/>
          </a:prstGeom>
          <a:solidFill>
            <a:srgbClr val="92610A"/>
          </a:solidFill>
          <a:ln w="12700">
            <a:solidFill>
              <a:srgbClr val="92610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55280" y="10058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440680" y="96926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Playback Controls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40680" y="137160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Play, Pause, and Stop buttons control the TTS audio output.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1938528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1938528"/>
            <a:ext cx="59436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1938528"/>
            <a:ext cx="594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FR-13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955280" y="2029968"/>
            <a:ext cx="914400" cy="228600"/>
          </a:xfrm>
          <a:prstGeom prst="rect">
            <a:avLst/>
          </a:prstGeom>
          <a:solidFill>
            <a:srgbClr val="92610A"/>
          </a:solidFill>
          <a:ln w="12700">
            <a:solidFill>
              <a:srgbClr val="92610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55280" y="202996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440680" y="19933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 PDF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40680" y="239572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session transcript as a formatted PDF file.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54880" y="2962656"/>
            <a:ext cx="4206240" cy="868680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54880" y="2962656"/>
            <a:ext cx="59436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2962656"/>
            <a:ext cx="594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FR-14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955280" y="3054096"/>
            <a:ext cx="914400" cy="228600"/>
          </a:xfrm>
          <a:prstGeom prst="rect">
            <a:avLst/>
          </a:prstGeom>
          <a:solidFill>
            <a:srgbClr val="92610A"/>
          </a:solidFill>
          <a:ln w="12700">
            <a:solidFill>
              <a:srgbClr val="92610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55280" y="305409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440680" y="30175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 Word (.docx)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440680" y="3419856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session transcript as a Microsoft Word document.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NON-FUNCTIONAL REQUIREMENTS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347472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3268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Performance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316736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Response time &lt; 500ms per gesture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1783080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Minimum 15 FPS processing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2249424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TTS audio generated &lt; 2 seconds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14400"/>
            <a:ext cx="2743200" cy="34747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93268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Usability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0128" y="1316736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Simple, intuitive UI — no training needed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10128" y="1783080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Clearly labeled controls (Start, Stop, Clear)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10128" y="2249424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Visual hand bounding-box feedback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9144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914400"/>
            <a:ext cx="27432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93268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36208" y="1316736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raw video stored on server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36208" y="1783080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HTTPS for all API communications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36208" y="2249424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Passwords hashed with bcrypt (if auth used)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90779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907792"/>
            <a:ext cx="2743200" cy="347472"/>
          </a:xfrm>
          <a:prstGeom prst="rect">
            <a:avLst/>
          </a:prstGeom>
          <a:solidFill>
            <a:srgbClr val="92610A"/>
          </a:solidFill>
          <a:ln w="12700">
            <a:solidFill>
              <a:srgbClr val="9261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92608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Reliability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" y="3310128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Stable for 2+ hour sessions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4048" y="3776472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Graceful error on webcam disconnect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4048" y="4242816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Silent frame-skip on model failure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0" y="290779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2907792"/>
            <a:ext cx="274320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292608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Maintainability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10128" y="3310128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Modular: ML, API, and UI are separate layers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10128" y="3776472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 model swappable without changing API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10128" y="4242816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Inline code comments throughout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290779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2907792"/>
            <a:ext cx="274320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292608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Portability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36208" y="3310128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Works on Chrome, Firefox, Edge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36208" y="3776472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Backend runs on Windows, macOS, Linux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36208" y="4242816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exportable to TFLite for mobile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EXTERNAL INTERFACE REQUIREMENTS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02336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HARDWARE INTERFACES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023360" cy="438912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527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Webcam: USB or built-in, ≥ 640×480 @ 15 FPS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737360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5564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Speakers / Headphones: For TTS audio output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240280"/>
            <a:ext cx="4023360" cy="438912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585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Processor: Intel Core i5 or equivalent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743200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7614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RAM: Minimum 4 GB recommended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337560"/>
            <a:ext cx="402336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337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COMMUNICATION INTERFACES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657600"/>
            <a:ext cx="4023360" cy="347472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67588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HTTP/HTTPS REST API between React &amp; Flask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4041648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05993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Frames sent as base64-encoded POST requests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4425696"/>
            <a:ext cx="4023360" cy="347472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44398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Responses as JSON: { label, confidence }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4809744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8280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Future: WebSocket for lower latency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914400"/>
            <a:ext cx="420624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9144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SOFTWARE INTERFACES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1234440"/>
            <a:ext cx="4206240" cy="32918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25272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18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95160" y="125272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1600200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61848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95160" y="161848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language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1965960"/>
            <a:ext cx="4206240" cy="32918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198424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2.x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95160" y="198424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2331720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35000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2.x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95160" y="235000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inference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2697480"/>
            <a:ext cx="4206240" cy="32918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271576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0.10+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95160" y="271576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detection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3063240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308152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4.x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95160" y="308152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63440" y="3429000"/>
            <a:ext cx="4206240" cy="32918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344728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gTTS / pyttsx3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995160" y="344728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663440" y="3794760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381304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ReportLab/python-docx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995160" y="381304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export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APPENDIX – USE CASE SUMMARY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0972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4904" y="914400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ID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17320" y="914400"/>
            <a:ext cx="347472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72184" y="914400"/>
            <a:ext cx="3364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Name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92040" y="914400"/>
            <a:ext cx="23774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46904" y="914400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69480" y="914400"/>
            <a:ext cx="14630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24344" y="914400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298448"/>
            <a:ext cx="109728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" y="1298448"/>
            <a:ext cx="9875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417320" y="1298448"/>
            <a:ext cx="34747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72184" y="1298448"/>
            <a:ext cx="3364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Translation Session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92040" y="1298448"/>
            <a:ext cx="237744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46904" y="1298448"/>
            <a:ext cx="22677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Deaf/Mute User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69480" y="1298448"/>
            <a:ext cx="146304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24344" y="1298448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1783080"/>
            <a:ext cx="1097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" y="1783080"/>
            <a:ext cx="9875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417320" y="1783080"/>
            <a:ext cx="3474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72184" y="1783080"/>
            <a:ext cx="3364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Gesture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1783080"/>
            <a:ext cx="2377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46904" y="1783080"/>
            <a:ext cx="22677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(ML Model)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269480" y="1783080"/>
            <a:ext cx="1463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24344" y="1783080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2267712"/>
            <a:ext cx="109728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" y="2267712"/>
            <a:ext cx="9875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417320" y="2267712"/>
            <a:ext cx="34747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72184" y="2267712"/>
            <a:ext cx="3364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Text Output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92040" y="2267712"/>
            <a:ext cx="237744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46904" y="2267712"/>
            <a:ext cx="22677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(UI)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269480" y="2267712"/>
            <a:ext cx="146304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24344" y="2267712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2752344"/>
            <a:ext cx="1097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4904" y="2752344"/>
            <a:ext cx="9875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UC-04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417320" y="2752344"/>
            <a:ext cx="3474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72184" y="2752344"/>
            <a:ext cx="3364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Audio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92040" y="2752344"/>
            <a:ext cx="2377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46904" y="2752344"/>
            <a:ext cx="22677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(TTS)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269480" y="2752344"/>
            <a:ext cx="1463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24344" y="2752344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" y="3236976"/>
            <a:ext cx="109728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4904" y="3236976"/>
            <a:ext cx="9875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UC-05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417320" y="3236976"/>
            <a:ext cx="34747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72184" y="3236976"/>
            <a:ext cx="3364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Transcript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892040" y="3236976"/>
            <a:ext cx="237744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46904" y="3236976"/>
            <a:ext cx="22677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User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269480" y="3236976"/>
            <a:ext cx="146304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24344" y="3236976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20040" y="3721608"/>
            <a:ext cx="1097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74904" y="3721608"/>
            <a:ext cx="9875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UC-06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417320" y="3721608"/>
            <a:ext cx="3474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472184" y="3721608"/>
            <a:ext cx="3364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Session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892040" y="3721608"/>
            <a:ext cx="2377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46904" y="3721608"/>
            <a:ext cx="22677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User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269480" y="3721608"/>
            <a:ext cx="1463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24344" y="3721608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20040" y="4206240"/>
            <a:ext cx="109728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74904" y="4206240"/>
            <a:ext cx="9875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UC-07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1417320" y="4206240"/>
            <a:ext cx="347472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472184" y="4206240"/>
            <a:ext cx="3364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History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892040" y="4206240"/>
            <a:ext cx="237744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946904" y="4206240"/>
            <a:ext cx="22677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User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269480" y="4206240"/>
            <a:ext cx="1463040" cy="420624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24344" y="4206240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&amp; 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0" y="960120"/>
            <a:ext cx="54864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840480" cy="53035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9047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Initial version supports ASL alphabets (A–Z) only.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3840480" cy="53035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3055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Good lighting and a plain background improve accuracy.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840480" cy="53035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77063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 Only one hand tracked at a time in v1.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3840480" cy="53035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41071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Backend runs locally; production hosting planned for future.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54880" y="1097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1463040"/>
            <a:ext cx="4023360" cy="53035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49047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15 Functional Requirements defined (FR-01 to FR-15)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103120"/>
            <a:ext cx="4023360" cy="53035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13055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6 Non-Functional Requirement categories covered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743200"/>
            <a:ext cx="4023360" cy="53035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77063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7 Use Cases identified with priority levels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383280"/>
            <a:ext cx="4023360" cy="53035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41071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Hardware, software &amp; API interfaces specified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4023360"/>
            <a:ext cx="4023360" cy="53035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40507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Requirement Traceability Matrix included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  |  Reg No: 0000  |  MCA – PEC  |  2025–2026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SRS – Sign Language to Audio and Text Conversion System</dc:title>
  <dc:subject>PptxGenJS Presentation</dc:subject>
  <dc:creator>xxxx</dc:creator>
  <cp:lastModifiedBy>xxxx</cp:lastModifiedBy>
  <cp:revision>1</cp:revision>
  <dcterms:created xsi:type="dcterms:W3CDTF">2026-02-27T07:07:54Z</dcterms:created>
  <dcterms:modified xsi:type="dcterms:W3CDTF">2026-02-27T07:07:54Z</dcterms:modified>
</cp:coreProperties>
</file>