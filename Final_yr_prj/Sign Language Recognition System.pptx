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D5BD4E-2D25-4DB2-8C7C-A1E5E9D25950}">
  <a:tblStyle styleId="{E3D5BD4E-2D25-4DB2-8C7C-A1E5E9D259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23194"/>
            <a:ext cx="11601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Sign Language Recognition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3656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Machine Learning &amp; Computer Vision Based Translator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0620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Technical Review • Final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181100"/>
            <a:ext cx="11601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Methodology Overview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19447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step-by-step technical conversion from visual gesture to audible speech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31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45596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proposed system follows a modular pipeline designed for real-time inference: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526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28675" y="333678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335833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Continuous video stream capture.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28675" y="381482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3813869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Processing: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Spatial landmark extraction via MediaPipe.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28675" y="462801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62706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Dual-channel output (Subtitles &amp; TTS Audio).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3251"/>
            <a:ext cx="5238750" cy="32895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03251"/>
            <a:ext cx="5238750" cy="328954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62025" y="3403401"/>
            <a:ext cx="468058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Step 1: Video Capture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3887241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utilizes a standard webcam to capture real-time hand gestures. Frames are extracted at 30 FPS for smooth processing.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72275" y="3403401"/>
            <a:ext cx="468058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Frame Extraction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72275" y="3887241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Each frame is processed individually, converted to RGB, and resized to match the model's expected input dimensions.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4140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64140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1: Capture &amp; Pre-processing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31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2617440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MediaPipe Hand Detection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3040856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leverage the MediaPipe framework to identify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21 key hand landmarks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This provides several advantages: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526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28675" y="392168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3920728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precision coordinate mapping.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28675" y="425684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4255889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Low latency (optimized for mobile/desktop).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28675" y="459200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4591050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Resilience to varying lighting conditions.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2: Landmark Extraction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62000" y="5715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3: Gesture Recognition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71500" y="571500"/>
            <a:ext cx="5715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2554634"/>
            <a:ext cx="5200650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Machine Learning Model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978050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Extracted landmarks are passed to a trained deep learning model. The model classifies the spatial relationship between points into specific alphabets or words.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471874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"The engine of the system where spatial geometry becomes semantic meaning."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3251"/>
            <a:ext cx="5238750" cy="32895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03251"/>
            <a:ext cx="5238750" cy="32895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62025" y="3403401"/>
            <a:ext cx="468058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Step 4: Text Generation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62025" y="3887241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Recognized gestures are instantly displayed as subtitles on the interface, providing visual confirmation of the sign.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772275" y="3403401"/>
            <a:ext cx="468058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Step 5: Audio Output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72275" y="3887241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Generated text is passed to a Text-to-Speech (TTS) engine, allowing for audible communication in real-time.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41401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641401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Phase 3: Multi-Modal Output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571500" y="33718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21780" y="2895600"/>
            <a:ext cx="208822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Camera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4053780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Input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2786795" y="2895600"/>
            <a:ext cx="208822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Detection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2836515" y="4053780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Hand Landmarks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051810" y="2895600"/>
            <a:ext cx="208822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Recognition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101530" y="4053780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ML Classification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316825" y="2895600"/>
            <a:ext cx="208822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Text Output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366545" y="4053780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Subtitles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581841" y="2895600"/>
            <a:ext cx="208822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Audio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631560" y="4053780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TTS Conversion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Simplified System Flow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470570" y="34822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735585" y="34822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000601" y="34822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265616" y="34822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0530631" y="348228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21"/>
          <p:cNvGraphicFramePr/>
          <p:nvPr/>
        </p:nvGraphicFramePr>
        <p:xfrm>
          <a:off x="571500" y="2066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{E3D5BD4E-2D25-4DB2-8C7C-A1E5E9D25950}</a:tableStyleId>
              </a:tblPr>
              <a:tblGrid>
                <a:gridCol w="3819375"/>
                <a:gridCol w="7229625"/>
              </a:tblGrid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Minimum Requirement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Intel i5 / Equivalent or Higher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Minimum 8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Camera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Built-in or External HD Webcam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Minimum 20 GB Free Space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Laptop / Desktop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1"/>
          <p:cNvSpPr/>
          <p:nvPr/>
        </p:nvSpPr>
        <p:spPr>
          <a:xfrm>
            <a:off x="571500" y="3328987"/>
            <a:ext cx="3819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390876" y="3328987"/>
            <a:ext cx="72296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3948112"/>
            <a:ext cx="3819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390876" y="3948112"/>
            <a:ext cx="72296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4567237"/>
            <a:ext cx="3819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390876" y="4567237"/>
            <a:ext cx="72296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71500" y="5186362"/>
            <a:ext cx="3819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390876" y="5186362"/>
            <a:ext cx="72296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5805487"/>
            <a:ext cx="38193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390876" y="5805487"/>
            <a:ext cx="72296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Hardware Specifications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0832"/>
            <a:ext cx="3492549" cy="295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0832"/>
            <a:ext cx="3492549" cy="295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0832"/>
            <a:ext cx="3492549" cy="295438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62025" y="3570982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Languages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62025" y="4054822"/>
            <a:ext cx="27114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Python (ML Backend)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JavaScript (Frontend)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4740324" y="3570982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Frameworks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740324" y="4054822"/>
            <a:ext cx="27114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React.js (Frontend)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Flask / FastAPI (Backend)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518624" y="3570982"/>
            <a:ext cx="284707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ML Libraries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8518624" y="4054822"/>
            <a:ext cx="27114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MediaPipe, OpenCV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TensorFlow / Keras</a:t>
            </a:r>
            <a:endParaRPr/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80898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80898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80898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Software Ecosystem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571500" y="2990701"/>
            <a:ext cx="1981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21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3028950" y="2756445"/>
            <a:ext cx="902112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MediaPipe Landmark Accuracy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3028950" y="3179861"/>
            <a:ext cx="859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chose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MediaPipe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because it provides incredibly fast hand landmark detection for real-time applications without requiring specialized GPU hardware.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3028950" y="4059733"/>
            <a:ext cx="859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Combined with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the system benefits from a massive ecosystem of computer vision libraries and community support.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Technical Justification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295275" y="2294632"/>
            <a:ext cx="11601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330800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4382392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Sign Language Recognition System Review 2024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/>
          <p:nvPr/>
        </p:nvSpPr>
        <p:spPr>
          <a:xfrm>
            <a:off x="571500" y="218420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296897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75374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29594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29594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45289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5289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3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23270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https://cdn.processon.io/admin/knowledge/article_content_img/67ecf9cf45b96a5aedca958c.png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25727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www.processon.io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83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311184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https://mediapipe.dev/images/mobile/hand_landmarks.png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33575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mediapipe.readthedocs.io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31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389661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https://ik.imagekit.io/upgrad1/abroad-images/imageCompo/images/ChatGPT_Image_Nov_20_2025_03_47_56_PMTT18DE.png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41423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www.upgrad.com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870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68138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https://static.vecteezy.com/system/resources/previews/037/044/900/non_2x/abstract-colorful-technology-line-wave-background-modern-purple-blue-gradient-flowing-wave-lines-futuristic-technology-concept-illustration-pro-vector.jpg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51251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