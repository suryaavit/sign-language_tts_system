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01" r:id="rId3"/>
    <p:sldId id="258" r:id="rId4"/>
    <p:sldId id="259" r:id="rId5"/>
    <p:sldId id="263" r:id="rId6"/>
    <p:sldId id="262" r:id="rId7"/>
    <p:sldId id="312" r:id="rId8"/>
    <p:sldId id="314" r:id="rId9"/>
    <p:sldId id="316" r:id="rId10"/>
    <p:sldId id="318" r:id="rId11"/>
    <p:sldId id="266" r:id="rId12"/>
    <p:sldId id="267" r:id="rId13"/>
    <p:sldId id="264" r:id="rId14"/>
    <p:sldId id="265" r:id="rId15"/>
    <p:sldId id="320" r:id="rId16"/>
    <p:sldId id="289" r:id="rId17"/>
    <p:sldId id="290" r:id="rId18"/>
    <p:sldId id="293" r:id="rId19"/>
    <p:sldId id="292" r:id="rId20"/>
    <p:sldId id="294" r:id="rId21"/>
    <p:sldId id="295" r:id="rId22"/>
    <p:sldId id="297" r:id="rId23"/>
    <p:sldId id="299" r:id="rId24"/>
    <p:sldId id="284" r:id="rId25"/>
    <p:sldId id="287" r:id="rId26"/>
    <p:sldId id="298" r:id="rId27"/>
    <p:sldId id="306" r:id="rId28"/>
    <p:sldId id="308" r:id="rId29"/>
    <p:sldId id="310" r:id="rId30"/>
    <p:sldId id="296" r:id="rId31"/>
    <p:sldId id="321" r:id="rId32"/>
    <p:sldId id="322" r:id="rId33"/>
    <p:sldId id="323" r:id="rId34"/>
    <p:sldId id="324" r:id="rId35"/>
    <p:sldId id="325" r:id="rId36"/>
    <p:sldId id="326" r:id="rId37"/>
    <p:sldId id="327" r:id="rId38"/>
    <p:sldId id="328" r:id="rId39"/>
    <p:sldId id="329" r:id="rId40"/>
    <p:sldId id="330" r:id="rId41"/>
    <p:sldId id="331" r:id="rId42"/>
    <p:sldId id="332" r:id="rId43"/>
    <p:sldId id="333" r:id="rId44"/>
    <p:sldId id="334" r:id="rId45"/>
    <p:sldId id="335" r:id="rId46"/>
    <p:sldId id="336" r:id="rId47"/>
    <p:sldId id="278"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A0003"/>
    <a:srgbClr val="303274"/>
    <a:srgbClr val="43B51B"/>
    <a:srgbClr val="660066"/>
    <a:srgbClr val="2B7208"/>
    <a:srgbClr val="FF3399"/>
    <a:srgbClr val="99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62" autoAdjust="0"/>
  </p:normalViewPr>
  <p:slideViewPr>
    <p:cSldViewPr>
      <p:cViewPr varScale="1">
        <p:scale>
          <a:sx n="86" d="100"/>
          <a:sy n="86" d="100"/>
        </p:scale>
        <p:origin x="-1500" y="-78"/>
      </p:cViewPr>
      <p:guideLst>
        <p:guide orient="horz" pos="2160"/>
        <p:guide pos="2880"/>
      </p:guideLst>
    </p:cSldViewPr>
  </p:slideViewPr>
  <p:outlineViewPr>
    <p:cViewPr>
      <p:scale>
        <a:sx n="33" d="100"/>
        <a:sy n="33" d="100"/>
      </p:scale>
      <p:origin x="0" y="366"/>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slide" Target="slides/slide41.xml" /><Relationship Id="rId47" Type="http://schemas.openxmlformats.org/officeDocument/2006/relationships/slide" Target="slides/slide46.xml" /><Relationship Id="rId50" Type="http://schemas.openxmlformats.org/officeDocument/2006/relationships/viewProps" Target="view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41" Type="http://schemas.openxmlformats.org/officeDocument/2006/relationships/slide" Target="slides/slide40.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45" Type="http://schemas.openxmlformats.org/officeDocument/2006/relationships/slide" Target="slides/slide44.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presProps" Target="presProps.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tableStyles" Target="tableStyle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slide" Target="slides/slide47.xml" /><Relationship Id="rId8" Type="http://schemas.openxmlformats.org/officeDocument/2006/relationships/slide" Target="slides/slide7.xml" /><Relationship Id="rId5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5B29ADF-B65A-4314-9B9E-D64F53AACF7F}"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BD3648-A761-4D22-B431-4FE21EDD931D}" type="slidenum">
              <a:rPr lang="en-US" smtClean="0"/>
              <a:t>‹#›</a:t>
            </a:fld>
            <a:endParaRPr lang="en-US"/>
          </a:p>
        </p:txBody>
      </p:sp>
    </p:spTree>
    <p:extLst>
      <p:ext uri="{BB962C8B-B14F-4D97-AF65-F5344CB8AC3E}">
        <p14:creationId xmlns:p14="http://schemas.microsoft.com/office/powerpoint/2010/main" val="37730911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5B29ADF-B65A-4314-9B9E-D64F53AACF7F}"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BD3648-A761-4D22-B431-4FE21EDD931D}" type="slidenum">
              <a:rPr lang="en-US" smtClean="0"/>
              <a:t>‹#›</a:t>
            </a:fld>
            <a:endParaRPr lang="en-US"/>
          </a:p>
        </p:txBody>
      </p:sp>
    </p:spTree>
    <p:extLst>
      <p:ext uri="{BB962C8B-B14F-4D97-AF65-F5344CB8AC3E}">
        <p14:creationId xmlns:p14="http://schemas.microsoft.com/office/powerpoint/2010/main" val="2900338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5B29ADF-B65A-4314-9B9E-D64F53AACF7F}"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BD3648-A761-4D22-B431-4FE21EDD931D}" type="slidenum">
              <a:rPr lang="en-US" smtClean="0"/>
              <a:t>‹#›</a:t>
            </a:fld>
            <a:endParaRPr lang="en-US"/>
          </a:p>
        </p:txBody>
      </p:sp>
    </p:spTree>
    <p:extLst>
      <p:ext uri="{BB962C8B-B14F-4D97-AF65-F5344CB8AC3E}">
        <p14:creationId xmlns:p14="http://schemas.microsoft.com/office/powerpoint/2010/main" val="41627039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5B29ADF-B65A-4314-9B9E-D64F53AACF7F}" type="datetimeFigureOut">
              <a:rPr lang="en-US" smtClean="0"/>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BD3648-A761-4D22-B431-4FE21EDD931D}" type="slidenum">
              <a:rPr lang="en-US" smtClean="0"/>
              <a:t>‹#›</a:t>
            </a:fld>
            <a:endParaRPr lang="en-US"/>
          </a:p>
        </p:txBody>
      </p:sp>
    </p:spTree>
    <p:extLst>
      <p:ext uri="{BB962C8B-B14F-4D97-AF65-F5344CB8AC3E}">
        <p14:creationId xmlns:p14="http://schemas.microsoft.com/office/powerpoint/2010/main" val="26486159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5B29ADF-B65A-4314-9B9E-D64F53AACF7F}" type="datetimeFigureOut">
              <a:rPr lang="en-US" smtClean="0"/>
              <a:t>4/3/2026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CBD3648-A761-4D22-B431-4FE21EDD931D}" type="slidenum">
              <a:rPr lang="en-US" smtClean="0"/>
              <a:t>‹#›</a:t>
            </a:fld>
            <a:endParaRPr lang="en-US"/>
          </a:p>
        </p:txBody>
      </p:sp>
    </p:spTree>
    <p:extLst>
      <p:ext uri="{BB962C8B-B14F-4D97-AF65-F5344CB8AC3E}">
        <p14:creationId xmlns:p14="http://schemas.microsoft.com/office/powerpoint/2010/main" val="3095576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5B29ADF-B65A-4314-9B9E-D64F53AACF7F}" type="datetimeFigureOut">
              <a:rPr lang="en-US" smtClean="0"/>
              <a:t>4/3/2026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CBD3648-A761-4D22-B431-4FE21EDD931D}" type="slidenum">
              <a:rPr lang="en-US" smtClean="0"/>
              <a:t>‹#›</a:t>
            </a:fld>
            <a:endParaRPr lang="en-US"/>
          </a:p>
        </p:txBody>
      </p:sp>
    </p:spTree>
    <p:extLst>
      <p:ext uri="{BB962C8B-B14F-4D97-AF65-F5344CB8AC3E}">
        <p14:creationId xmlns:p14="http://schemas.microsoft.com/office/powerpoint/2010/main" val="12029137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B29ADF-B65A-4314-9B9E-D64F53AACF7F}" type="datetimeFigureOut">
              <a:rPr lang="en-US" smtClean="0"/>
              <a:t>4/3/2026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CBD3648-A761-4D22-B431-4FE21EDD931D}" type="slidenum">
              <a:rPr lang="en-US" smtClean="0"/>
              <a:t>‹#›</a:t>
            </a:fld>
            <a:endParaRPr lang="en-US"/>
          </a:p>
        </p:txBody>
      </p:sp>
    </p:spTree>
    <p:extLst>
      <p:ext uri="{BB962C8B-B14F-4D97-AF65-F5344CB8AC3E}">
        <p14:creationId xmlns:p14="http://schemas.microsoft.com/office/powerpoint/2010/main" val="34692090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5B29ADF-B65A-4314-9B9E-D64F53AACF7F}" type="datetimeFigureOut">
              <a:rPr lang="en-US" smtClean="0"/>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BD3648-A761-4D22-B431-4FE21EDD931D}" type="slidenum">
              <a:rPr lang="en-US" smtClean="0"/>
              <a:t>‹#›</a:t>
            </a:fld>
            <a:endParaRPr lang="en-US"/>
          </a:p>
        </p:txBody>
      </p:sp>
    </p:spTree>
    <p:extLst>
      <p:ext uri="{BB962C8B-B14F-4D97-AF65-F5344CB8AC3E}">
        <p14:creationId xmlns:p14="http://schemas.microsoft.com/office/powerpoint/2010/main" val="32216421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5B29ADF-B65A-4314-9B9E-D64F53AACF7F}" type="datetimeFigureOut">
              <a:rPr lang="en-US" smtClean="0"/>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BD3648-A761-4D22-B431-4FE21EDD931D}" type="slidenum">
              <a:rPr lang="en-US" smtClean="0"/>
              <a:t>‹#›</a:t>
            </a:fld>
            <a:endParaRPr lang="en-US"/>
          </a:p>
        </p:txBody>
      </p:sp>
    </p:spTree>
    <p:extLst>
      <p:ext uri="{BB962C8B-B14F-4D97-AF65-F5344CB8AC3E}">
        <p14:creationId xmlns:p14="http://schemas.microsoft.com/office/powerpoint/2010/main" val="4022975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5B29ADF-B65A-4314-9B9E-D64F53AACF7F}"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BD3648-A761-4D22-B431-4FE21EDD931D}" type="slidenum">
              <a:rPr lang="en-US" smtClean="0"/>
              <a:t>‹#›</a:t>
            </a:fld>
            <a:endParaRPr lang="en-US"/>
          </a:p>
        </p:txBody>
      </p:sp>
    </p:spTree>
    <p:extLst>
      <p:ext uri="{BB962C8B-B14F-4D97-AF65-F5344CB8AC3E}">
        <p14:creationId xmlns:p14="http://schemas.microsoft.com/office/powerpoint/2010/main" val="12278308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5B29ADF-B65A-4314-9B9E-D64F53AACF7F}"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BD3648-A761-4D22-B431-4FE21EDD931D}" type="slidenum">
              <a:rPr lang="en-US" smtClean="0"/>
              <a:t>‹#›</a:t>
            </a:fld>
            <a:endParaRPr lang="en-US"/>
          </a:p>
        </p:txBody>
      </p:sp>
    </p:spTree>
    <p:extLst>
      <p:ext uri="{BB962C8B-B14F-4D97-AF65-F5344CB8AC3E}">
        <p14:creationId xmlns:p14="http://schemas.microsoft.com/office/powerpoint/2010/main" val="21657568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B29ADF-B65A-4314-9B9E-D64F53AACF7F}" type="datetimeFigureOut">
              <a:rPr lang="en-US" smtClean="0"/>
              <a:t>4/3/2026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BD3648-A761-4D22-B431-4FE21EDD931D}" type="slidenum">
              <a:rPr lang="en-US" smtClean="0"/>
              <a:t>‹#›</a:t>
            </a:fld>
            <a:endParaRPr lang="en-US"/>
          </a:p>
        </p:txBody>
      </p:sp>
    </p:spTree>
    <p:extLst>
      <p:ext uri="{BB962C8B-B14F-4D97-AF65-F5344CB8AC3E}">
        <p14:creationId xmlns:p14="http://schemas.microsoft.com/office/powerpoint/2010/main" val="28937558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1.xml" /></Relationships>
</file>

<file path=ppt/slides/_rels/slide18.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1.xml" /></Relationships>
</file>

<file path=ppt/slides/_rels/slide19.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1.xml" /></Relationships>
</file>

<file path=ppt/slides/_rels/slide20.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1.xml" /></Relationships>
</file>

<file path=ppt/slides/_rels/slide2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1.xml" /></Relationships>
</file>

<file path=ppt/slides/_rels/slide22.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1.xml" /></Relationships>
</file>

<file path=ppt/slides/_rels/slide23.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1.xml" /></Relationships>
</file>

<file path=ppt/slides/_rels/slide24.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2" Type="http://schemas.openxmlformats.org/officeDocument/2006/relationships/image" Target="../media/image6.jpeg" /><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2" Type="http://schemas.openxmlformats.org/officeDocument/2006/relationships/image" Target="../media/image7.jpeg" /><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2" Type="http://schemas.openxmlformats.org/officeDocument/2006/relationships/image" Target="../media/image8.jpeg" /><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2" Type="http://schemas.openxmlformats.org/officeDocument/2006/relationships/image" Target="../media/image9.jpeg" /><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2" Type="http://schemas.openxmlformats.org/officeDocument/2006/relationships/image" Target="../media/image10.jpeg" /><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3" Type="http://schemas.openxmlformats.org/officeDocument/2006/relationships/image" Target="../media/image12.jpeg" /><Relationship Id="rId2" Type="http://schemas.openxmlformats.org/officeDocument/2006/relationships/image" Target="../media/image11.jpeg" /><Relationship Id="rId1" Type="http://schemas.openxmlformats.org/officeDocument/2006/relationships/slideLayout" Target="../slideLayouts/slideLayout2.xml" /><Relationship Id="rId5" Type="http://schemas.openxmlformats.org/officeDocument/2006/relationships/image" Target="../media/image14.jpeg" /><Relationship Id="rId4" Type="http://schemas.openxmlformats.org/officeDocument/2006/relationships/image" Target="../media/image13.jpeg" /></Relationships>
</file>

<file path=ppt/slides/_rels/slide33.xml.rels><?xml version="1.0" encoding="UTF-8" standalone="yes"?>
<Relationships xmlns="http://schemas.openxmlformats.org/package/2006/relationships"><Relationship Id="rId2" Type="http://schemas.openxmlformats.org/officeDocument/2006/relationships/image" Target="../media/image15.jpeg" /><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3" Type="http://schemas.openxmlformats.org/officeDocument/2006/relationships/image" Target="../media/image17.jpeg" /><Relationship Id="rId2" Type="http://schemas.openxmlformats.org/officeDocument/2006/relationships/image" Target="../media/image16.jpeg" /><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2" Type="http://schemas.openxmlformats.org/officeDocument/2006/relationships/image" Target="../media/image18.jpeg" /><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2" Type="http://schemas.openxmlformats.org/officeDocument/2006/relationships/image" Target="../media/image19.jpeg" /><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2" Type="http://schemas.openxmlformats.org/officeDocument/2006/relationships/image" Target="../media/image20.jpeg" /><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2" Type="http://schemas.openxmlformats.org/officeDocument/2006/relationships/image" Target="../media/image21.jpeg" /><Relationship Id="rId1" Type="http://schemas.openxmlformats.org/officeDocument/2006/relationships/slideLayout" Target="../slideLayouts/slideLayout2.xml" /></Relationships>
</file>

<file path=ppt/slides/_rels/slide39.xml.rels><?xml version="1.0" encoding="UTF-8" standalone="yes"?>
<Relationships xmlns="http://schemas.openxmlformats.org/package/2006/relationships"><Relationship Id="rId3" Type="http://schemas.openxmlformats.org/officeDocument/2006/relationships/image" Target="../media/image23.jpeg" /><Relationship Id="rId2" Type="http://schemas.openxmlformats.org/officeDocument/2006/relationships/image" Target="../media/image22.jpeg" /><Relationship Id="rId1" Type="http://schemas.openxmlformats.org/officeDocument/2006/relationships/slideLayout" Target="../slideLayouts/slideLayout2.xml" /></Relationships>
</file>

<file path=ppt/slides/_rels/slide40.xml.rels><?xml version="1.0" encoding="UTF-8" standalone="yes"?>
<Relationships xmlns="http://schemas.openxmlformats.org/package/2006/relationships"><Relationship Id="rId3" Type="http://schemas.openxmlformats.org/officeDocument/2006/relationships/image" Target="../media/image25.jpeg" /><Relationship Id="rId2" Type="http://schemas.openxmlformats.org/officeDocument/2006/relationships/image" Target="../media/image24.jpeg" /><Relationship Id="rId1" Type="http://schemas.openxmlformats.org/officeDocument/2006/relationships/slideLayout" Target="../slideLayouts/slideLayout2.xml" /><Relationship Id="rId4" Type="http://schemas.openxmlformats.org/officeDocument/2006/relationships/image" Target="../media/image26.jpeg" /></Relationships>
</file>

<file path=ppt/slides/_rels/slide41.xml.rels><?xml version="1.0" encoding="UTF-8" standalone="yes"?>
<Relationships xmlns="http://schemas.openxmlformats.org/package/2006/relationships"><Relationship Id="rId2" Type="http://schemas.openxmlformats.org/officeDocument/2006/relationships/image" Target="../media/image27.jpeg" /><Relationship Id="rId1" Type="http://schemas.openxmlformats.org/officeDocument/2006/relationships/slideLayout" Target="../slideLayouts/slideLayout2.xml" /></Relationships>
</file>

<file path=ppt/slides/_rels/slide42.xml.rels><?xml version="1.0" encoding="UTF-8" standalone="yes"?>
<Relationships xmlns="http://schemas.openxmlformats.org/package/2006/relationships"><Relationship Id="rId3" Type="http://schemas.openxmlformats.org/officeDocument/2006/relationships/image" Target="../media/image29.jpeg" /><Relationship Id="rId2" Type="http://schemas.openxmlformats.org/officeDocument/2006/relationships/image" Target="../media/image28.jpeg" /><Relationship Id="rId1" Type="http://schemas.openxmlformats.org/officeDocument/2006/relationships/slideLayout" Target="../slideLayouts/slideLayout2.xml" /></Relationships>
</file>

<file path=ppt/slides/_rels/slide43.xml.rels><?xml version="1.0" encoding="UTF-8" standalone="yes"?>
<Relationships xmlns="http://schemas.openxmlformats.org/package/2006/relationships"><Relationship Id="rId3" Type="http://schemas.openxmlformats.org/officeDocument/2006/relationships/image" Target="../media/image31.jpeg" /><Relationship Id="rId2" Type="http://schemas.openxmlformats.org/officeDocument/2006/relationships/image" Target="../media/image30.jpeg" /><Relationship Id="rId1" Type="http://schemas.openxmlformats.org/officeDocument/2006/relationships/slideLayout" Target="../slideLayouts/slideLayout2.xml" /></Relationships>
</file>

<file path=ppt/slides/_rels/slide44.xml.rels><?xml version="1.0" encoding="UTF-8" standalone="yes"?>
<Relationships xmlns="http://schemas.openxmlformats.org/package/2006/relationships"><Relationship Id="rId3" Type="http://schemas.openxmlformats.org/officeDocument/2006/relationships/image" Target="../media/image33.jpeg" /><Relationship Id="rId2" Type="http://schemas.openxmlformats.org/officeDocument/2006/relationships/image" Target="../media/image32.jpeg" /><Relationship Id="rId1" Type="http://schemas.openxmlformats.org/officeDocument/2006/relationships/slideLayout" Target="../slideLayouts/slideLayout2.xml" /></Relationships>
</file>

<file path=ppt/slides/_rels/slide45.xml.rels><?xml version="1.0" encoding="UTF-8" standalone="yes"?>
<Relationships xmlns="http://schemas.openxmlformats.org/package/2006/relationships"><Relationship Id="rId3" Type="http://schemas.openxmlformats.org/officeDocument/2006/relationships/image" Target="../media/image35.jpeg" /><Relationship Id="rId2" Type="http://schemas.openxmlformats.org/officeDocument/2006/relationships/image" Target="../media/image34.jpeg" /><Relationship Id="rId1" Type="http://schemas.openxmlformats.org/officeDocument/2006/relationships/slideLayout" Target="../slideLayouts/slideLayout2.xml" /></Relationships>
</file>

<file path=ppt/slides/_rels/slide46.xml.rels><?xml version="1.0" encoding="UTF-8" standalone="yes"?>
<Relationships xmlns="http://schemas.openxmlformats.org/package/2006/relationships"><Relationship Id="rId3" Type="http://schemas.openxmlformats.org/officeDocument/2006/relationships/image" Target="../media/image37.jpeg" /><Relationship Id="rId2" Type="http://schemas.openxmlformats.org/officeDocument/2006/relationships/image" Target="../media/image36.jpeg" /><Relationship Id="rId1" Type="http://schemas.openxmlformats.org/officeDocument/2006/relationships/slideLayout" Target="../slideLayouts/slideLayout2.xml" /></Relationships>
</file>

<file path=ppt/slides/_rels/slide47.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96747" y="152400"/>
            <a:ext cx="8013853" cy="5032147"/>
          </a:xfrm>
          <a:prstGeom prst="rect">
            <a:avLst/>
          </a:prstGeom>
        </p:spPr>
        <p:txBody>
          <a:bodyPr wrap="square">
            <a:spAutoFit/>
          </a:bodyPr>
          <a:lstStyle/>
          <a:p>
            <a:pPr algn="ctr">
              <a:lnSpc>
                <a:spcPct val="150000"/>
              </a:lnSpc>
            </a:pPr>
            <a:r>
              <a:rPr lang="en-US" sz="3500" b="1" dirty="0" err="1">
                <a:solidFill>
                  <a:srgbClr val="002060"/>
                </a:solidFill>
                <a:latin typeface="Times New Roman" pitchFamily="18" charset="0"/>
                <a:cs typeface="Times New Roman" pitchFamily="18" charset="0"/>
              </a:rPr>
              <a:t>Priyadarshini</a:t>
            </a:r>
            <a:r>
              <a:rPr lang="en-US" sz="3500" b="1" dirty="0">
                <a:solidFill>
                  <a:srgbClr val="002060"/>
                </a:solidFill>
                <a:latin typeface="Times New Roman" pitchFamily="18" charset="0"/>
                <a:cs typeface="Times New Roman" pitchFamily="18" charset="0"/>
              </a:rPr>
              <a:t> Engineering College </a:t>
            </a:r>
          </a:p>
          <a:p>
            <a:pPr algn="ctr"/>
            <a:r>
              <a:rPr lang="en-US" sz="2700" b="1" dirty="0">
                <a:solidFill>
                  <a:srgbClr val="002060"/>
                </a:solidFill>
                <a:latin typeface="Times New Roman" pitchFamily="18" charset="0"/>
                <a:cs typeface="Times New Roman" pitchFamily="18" charset="0"/>
              </a:rPr>
              <a:t>Department of Master of Computer Applications </a:t>
            </a:r>
          </a:p>
          <a:p>
            <a:pPr algn="ctr">
              <a:lnSpc>
                <a:spcPct val="150000"/>
              </a:lnSpc>
            </a:pPr>
            <a:r>
              <a:rPr lang="en-US" sz="2200" dirty="0">
                <a:solidFill>
                  <a:srgbClr val="FF0000"/>
                </a:solidFill>
                <a:latin typeface="Times New Roman" pitchFamily="18" charset="0"/>
                <a:cs typeface="Times New Roman" pitchFamily="18" charset="0"/>
              </a:rPr>
              <a:t>Name : </a:t>
            </a:r>
            <a:r>
              <a:rPr lang="en-US" sz="2400" b="1" dirty="0">
                <a:solidFill>
                  <a:srgbClr val="FF0000"/>
                </a:solidFill>
                <a:latin typeface="Times New Roman" pitchFamily="18" charset="0"/>
                <a:cs typeface="Times New Roman" pitchFamily="18" charset="0"/>
              </a:rPr>
              <a:t>SRINIVASAN.S </a:t>
            </a:r>
          </a:p>
          <a:p>
            <a:pPr algn="ctr"/>
            <a:r>
              <a:rPr lang="en-IN" sz="2200" dirty="0">
                <a:solidFill>
                  <a:srgbClr val="FF0000"/>
                </a:solidFill>
                <a:latin typeface="Times New Roman" pitchFamily="18" charset="0"/>
                <a:cs typeface="Times New Roman" pitchFamily="18" charset="0"/>
              </a:rPr>
              <a:t>Reg. No: </a:t>
            </a:r>
            <a:r>
              <a:rPr lang="en-IN" sz="2400" b="1" dirty="0">
                <a:solidFill>
                  <a:srgbClr val="FF0000"/>
                </a:solidFill>
                <a:latin typeface="Times New Roman" pitchFamily="18" charset="0"/>
                <a:cs typeface="Times New Roman" pitchFamily="18" charset="0"/>
              </a:rPr>
              <a:t>51192</a:t>
            </a:r>
            <a:r>
              <a:rPr lang="en-US" sz="2400" b="1" dirty="0">
                <a:solidFill>
                  <a:srgbClr val="FF0000"/>
                </a:solidFill>
                <a:latin typeface="Times New Roman" pitchFamily="18" charset="0"/>
                <a:cs typeface="Times New Roman" pitchFamily="18" charset="0"/>
              </a:rPr>
              <a:t>4</a:t>
            </a:r>
            <a:r>
              <a:rPr lang="en-IN" sz="2400" b="1" dirty="0">
                <a:solidFill>
                  <a:srgbClr val="FF0000"/>
                </a:solidFill>
                <a:latin typeface="Times New Roman" pitchFamily="18" charset="0"/>
                <a:cs typeface="Times New Roman" pitchFamily="18" charset="0"/>
              </a:rPr>
              <a:t>622035</a:t>
            </a:r>
            <a:r>
              <a:rPr lang="en-IN" sz="2400" dirty="0">
                <a:solidFill>
                  <a:srgbClr val="FF0000"/>
                </a:solidFill>
                <a:latin typeface="Times New Roman" pitchFamily="18" charset="0"/>
                <a:cs typeface="Times New Roman" pitchFamily="18" charset="0"/>
              </a:rPr>
              <a:t> </a:t>
            </a:r>
          </a:p>
          <a:p>
            <a:pPr algn="ctr">
              <a:lnSpc>
                <a:spcPct val="150000"/>
              </a:lnSpc>
            </a:pPr>
            <a:r>
              <a:rPr lang="en-US" sz="2500" b="1" dirty="0">
                <a:solidFill>
                  <a:srgbClr val="0070C0"/>
                </a:solidFill>
                <a:latin typeface="Times New Roman" pitchFamily="18" charset="0"/>
                <a:cs typeface="Times New Roman" pitchFamily="18" charset="0"/>
              </a:rPr>
              <a:t>MC4411 PROJECT WORK</a:t>
            </a:r>
          </a:p>
          <a:p>
            <a:pPr algn="ctr"/>
            <a:r>
              <a:rPr lang="en-US" sz="3600" b="1" dirty="0">
                <a:solidFill>
                  <a:srgbClr val="7A0003"/>
                </a:solidFill>
                <a:latin typeface="Times New Roman" pitchFamily="18" charset="0"/>
                <a:cs typeface="Times New Roman" pitchFamily="18" charset="0"/>
              </a:rPr>
              <a:t>Symptoms-Based Doctor Recommendation and Appointment System</a:t>
            </a:r>
          </a:p>
          <a:p>
            <a:pPr algn="ctr"/>
            <a:endParaRPr lang="en-US" sz="3600" dirty="0">
              <a:latin typeface="Times New Roman" pitchFamily="18" charset="0"/>
              <a:cs typeface="Times New Roman" pitchFamily="18" charset="0"/>
            </a:endParaRPr>
          </a:p>
        </p:txBody>
      </p:sp>
      <p:pic>
        <p:nvPicPr>
          <p:cNvPr id="7" name="Picture 6"/>
          <p:cNvPicPr/>
          <p:nvPr/>
        </p:nvPicPr>
        <p:blipFill>
          <a:blip r:embed="rId2"/>
          <a:srcRect/>
          <a:stretch>
            <a:fillRect/>
          </a:stretch>
        </p:blipFill>
        <p:spPr bwMode="auto">
          <a:xfrm>
            <a:off x="228600" y="381000"/>
            <a:ext cx="768350" cy="846137"/>
          </a:xfrm>
          <a:prstGeom prst="rect">
            <a:avLst/>
          </a:prstGeom>
          <a:noFill/>
          <a:ln w="9525">
            <a:noFill/>
            <a:miter lim="800000"/>
            <a:headEnd/>
            <a:tailEnd/>
          </a:ln>
        </p:spPr>
      </p:pic>
      <p:sp>
        <p:nvSpPr>
          <p:cNvPr id="6" name="Rectangle 5"/>
          <p:cNvSpPr/>
          <p:nvPr/>
        </p:nvSpPr>
        <p:spPr>
          <a:xfrm>
            <a:off x="-76200" y="4419362"/>
            <a:ext cx="4678496" cy="1738938"/>
          </a:xfrm>
          <a:prstGeom prst="rect">
            <a:avLst/>
          </a:prstGeom>
        </p:spPr>
        <p:txBody>
          <a:bodyPr wrap="square">
            <a:spAutoFit/>
          </a:bodyPr>
          <a:lstStyle/>
          <a:p>
            <a:pPr algn="ctr">
              <a:lnSpc>
                <a:spcPct val="150000"/>
              </a:lnSpc>
            </a:pPr>
            <a:r>
              <a:rPr lang="en-US" b="1" dirty="0">
                <a:solidFill>
                  <a:srgbClr val="FF0000"/>
                </a:solidFill>
                <a:latin typeface="Times New Roman" pitchFamily="18" charset="0"/>
                <a:cs typeface="Times New Roman" pitchFamily="18" charset="0"/>
              </a:rPr>
              <a:t>SUPERVISOR</a:t>
            </a:r>
          </a:p>
          <a:p>
            <a:pPr algn="ctr"/>
            <a:r>
              <a:rPr lang="en-US" sz="1600" b="1" dirty="0" err="1">
                <a:solidFill>
                  <a:srgbClr val="660066"/>
                </a:solidFill>
                <a:latin typeface="Times New Roman" pitchFamily="18" charset="0"/>
                <a:cs typeface="Times New Roman" pitchFamily="18" charset="0"/>
              </a:rPr>
              <a:t>Ms.Jeevalakshmi.G</a:t>
            </a:r>
            <a:r>
              <a:rPr lang="en-US" sz="1600" b="1" dirty="0">
                <a:solidFill>
                  <a:srgbClr val="660066"/>
                </a:solidFill>
                <a:latin typeface="Times New Roman" pitchFamily="18" charset="0"/>
                <a:cs typeface="Times New Roman" pitchFamily="18" charset="0"/>
              </a:rPr>
              <a:t>
Assistant Professor,</a:t>
            </a:r>
            <a:endParaRPr lang="en-IN" sz="1600" b="1" dirty="0">
              <a:solidFill>
                <a:srgbClr val="660066"/>
              </a:solidFill>
              <a:latin typeface="Times New Roman" pitchFamily="18" charset="0"/>
              <a:cs typeface="Times New Roman" pitchFamily="18" charset="0"/>
            </a:endParaRPr>
          </a:p>
          <a:p>
            <a:pPr algn="ctr"/>
            <a:r>
              <a:rPr lang="en-IN" sz="1600" b="1" dirty="0">
                <a:solidFill>
                  <a:srgbClr val="660066"/>
                </a:solidFill>
                <a:latin typeface="Times New Roman" pitchFamily="18" charset="0"/>
                <a:cs typeface="Times New Roman" pitchFamily="18" charset="0"/>
              </a:rPr>
              <a:t>Department of  Master of Computer Applications, </a:t>
            </a:r>
            <a:endParaRPr lang="en-US" sz="1600" b="1" dirty="0">
              <a:solidFill>
                <a:srgbClr val="660066"/>
              </a:solidFill>
              <a:latin typeface="Times New Roman" pitchFamily="18" charset="0"/>
              <a:cs typeface="Times New Roman" pitchFamily="18" charset="0"/>
            </a:endParaRPr>
          </a:p>
          <a:p>
            <a:pPr algn="ctr"/>
            <a:r>
              <a:rPr lang="en-US" sz="1600" b="1" dirty="0">
                <a:solidFill>
                  <a:srgbClr val="660066"/>
                </a:solidFill>
                <a:latin typeface="Times New Roman" pitchFamily="18" charset="0"/>
                <a:cs typeface="Times New Roman" pitchFamily="18" charset="0"/>
              </a:rPr>
              <a:t>Priyadarshini Engineering College. </a:t>
            </a:r>
          </a:p>
          <a:p>
            <a:pPr algn="ctr"/>
            <a:r>
              <a:rPr lang="en-US" sz="1600" b="1" dirty="0" err="1">
                <a:solidFill>
                  <a:srgbClr val="660066"/>
                </a:solidFill>
                <a:latin typeface="Times New Roman" pitchFamily="18" charset="0"/>
                <a:cs typeface="Times New Roman" pitchFamily="18" charset="0"/>
              </a:rPr>
              <a:t>Vaniyambadi</a:t>
            </a:r>
            <a:r>
              <a:rPr lang="en-US" sz="1600" b="1" dirty="0">
                <a:solidFill>
                  <a:srgbClr val="660066"/>
                </a:solidFill>
                <a:latin typeface="Times New Roman" pitchFamily="18" charset="0"/>
                <a:cs typeface="Times New Roman" pitchFamily="18" charset="0"/>
              </a:rPr>
              <a:t>. </a:t>
            </a:r>
          </a:p>
        </p:txBody>
      </p:sp>
      <p:sp>
        <p:nvSpPr>
          <p:cNvPr id="9" name="TextBox 8"/>
          <p:cNvSpPr txBox="1"/>
          <p:nvPr/>
        </p:nvSpPr>
        <p:spPr>
          <a:xfrm>
            <a:off x="4572000" y="4419600"/>
            <a:ext cx="4572000" cy="1769715"/>
          </a:xfrm>
          <a:prstGeom prst="rect">
            <a:avLst/>
          </a:prstGeom>
          <a:noFill/>
        </p:spPr>
        <p:txBody>
          <a:bodyPr wrap="square" rtlCol="0">
            <a:spAutoFit/>
          </a:bodyPr>
          <a:lstStyle/>
          <a:p>
            <a:pPr algn="ctr">
              <a:lnSpc>
                <a:spcPct val="150000"/>
              </a:lnSpc>
            </a:pPr>
            <a:r>
              <a:rPr lang="en-US" b="1" dirty="0">
                <a:solidFill>
                  <a:srgbClr val="FF0000"/>
                </a:solidFill>
                <a:latin typeface="Times New Roman" pitchFamily="18" charset="0"/>
                <a:cs typeface="Times New Roman" pitchFamily="18" charset="0"/>
              </a:rPr>
              <a:t>HEAD OF THE DEPARTMENT</a:t>
            </a:r>
          </a:p>
          <a:p>
            <a:pPr algn="ctr"/>
            <a:r>
              <a:rPr lang="en-IN" sz="1600" b="1" dirty="0" err="1">
                <a:solidFill>
                  <a:srgbClr val="660066"/>
                </a:solidFill>
                <a:latin typeface="Times New Roman" pitchFamily="18" charset="0"/>
                <a:cs typeface="Times New Roman" pitchFamily="18" charset="0"/>
              </a:rPr>
              <a:t>Dr.Manikandan</a:t>
            </a:r>
            <a:r>
              <a:rPr lang="en-IN" sz="1600" b="1" dirty="0">
                <a:solidFill>
                  <a:srgbClr val="660066"/>
                </a:solidFill>
                <a:latin typeface="Times New Roman" pitchFamily="18" charset="0"/>
                <a:cs typeface="Times New Roman" pitchFamily="18" charset="0"/>
              </a:rPr>
              <a:t> G, M.</a:t>
            </a:r>
            <a:r>
              <a:rPr lang="en-IN" sz="1600" b="1" dirty="0" err="1">
                <a:solidFill>
                  <a:srgbClr val="660066"/>
                </a:solidFill>
                <a:latin typeface="Times New Roman" pitchFamily="18" charset="0"/>
                <a:cs typeface="Times New Roman" pitchFamily="18" charset="0"/>
              </a:rPr>
              <a:t>Sc</a:t>
            </a:r>
            <a:r>
              <a:rPr lang="en-IN" sz="1600" b="1" dirty="0">
                <a:solidFill>
                  <a:srgbClr val="660066"/>
                </a:solidFill>
                <a:latin typeface="Times New Roman" pitchFamily="18" charset="0"/>
                <a:cs typeface="Times New Roman" pitchFamily="18" charset="0"/>
              </a:rPr>
              <a:t>.,B.Ed.,M.Phil.,</a:t>
            </a:r>
            <a:r>
              <a:rPr lang="en-IN" sz="1600" b="1" dirty="0" err="1">
                <a:solidFill>
                  <a:srgbClr val="660066"/>
                </a:solidFill>
                <a:latin typeface="Times New Roman" pitchFamily="18" charset="0"/>
                <a:cs typeface="Times New Roman" pitchFamily="18" charset="0"/>
              </a:rPr>
              <a:t>Ph.D</a:t>
            </a:r>
            <a:r>
              <a:rPr lang="en-IN" sz="1600" b="1" dirty="0">
                <a:solidFill>
                  <a:srgbClr val="660066"/>
                </a:solidFill>
                <a:latin typeface="Times New Roman" pitchFamily="18" charset="0"/>
                <a:cs typeface="Times New Roman" pitchFamily="18" charset="0"/>
              </a:rPr>
              <a:t>., </a:t>
            </a:r>
            <a:endParaRPr lang="en-US" sz="1600" b="1" dirty="0">
              <a:solidFill>
                <a:srgbClr val="660066"/>
              </a:solidFill>
              <a:latin typeface="Times New Roman" pitchFamily="18" charset="0"/>
              <a:cs typeface="Times New Roman" pitchFamily="18" charset="0"/>
            </a:endParaRPr>
          </a:p>
          <a:p>
            <a:pPr algn="ctr"/>
            <a:r>
              <a:rPr lang="en-IN" sz="1600" b="1" dirty="0">
                <a:solidFill>
                  <a:srgbClr val="660066"/>
                </a:solidFill>
                <a:latin typeface="Times New Roman" pitchFamily="18" charset="0"/>
                <a:cs typeface="Times New Roman" pitchFamily="18" charset="0"/>
              </a:rPr>
              <a:t>Head of the Department,</a:t>
            </a:r>
          </a:p>
          <a:p>
            <a:pPr algn="ctr"/>
            <a:r>
              <a:rPr lang="en-IN" sz="1600" b="1" dirty="0">
                <a:solidFill>
                  <a:srgbClr val="660066"/>
                </a:solidFill>
                <a:latin typeface="Times New Roman" pitchFamily="18" charset="0"/>
                <a:cs typeface="Times New Roman" pitchFamily="18" charset="0"/>
              </a:rPr>
              <a:t>Department of  Master of Computer Applications, </a:t>
            </a:r>
            <a:endParaRPr lang="en-US" sz="1600" b="1" dirty="0">
              <a:solidFill>
                <a:srgbClr val="660066"/>
              </a:solidFill>
              <a:latin typeface="Times New Roman" pitchFamily="18" charset="0"/>
              <a:cs typeface="Times New Roman" pitchFamily="18" charset="0"/>
            </a:endParaRPr>
          </a:p>
          <a:p>
            <a:pPr algn="ctr"/>
            <a:r>
              <a:rPr lang="en-US" sz="1600" b="1" dirty="0" err="1">
                <a:solidFill>
                  <a:srgbClr val="660066"/>
                </a:solidFill>
                <a:latin typeface="Times New Roman" pitchFamily="18" charset="0"/>
                <a:cs typeface="Times New Roman" pitchFamily="18" charset="0"/>
              </a:rPr>
              <a:t>Priyadarshini</a:t>
            </a:r>
            <a:r>
              <a:rPr lang="en-US" sz="1600" b="1" dirty="0">
                <a:solidFill>
                  <a:srgbClr val="660066"/>
                </a:solidFill>
                <a:latin typeface="Times New Roman" pitchFamily="18" charset="0"/>
                <a:cs typeface="Times New Roman" pitchFamily="18" charset="0"/>
              </a:rPr>
              <a:t> Engineering College. </a:t>
            </a:r>
          </a:p>
          <a:p>
            <a:pPr algn="ctr"/>
            <a:r>
              <a:rPr lang="en-US" sz="1600" b="1" dirty="0" err="1">
                <a:solidFill>
                  <a:srgbClr val="660066"/>
                </a:solidFill>
                <a:latin typeface="Times New Roman" pitchFamily="18" charset="0"/>
                <a:cs typeface="Times New Roman" pitchFamily="18" charset="0"/>
              </a:rPr>
              <a:t>Vaniyambadi</a:t>
            </a:r>
            <a:r>
              <a:rPr lang="en-US" b="1" dirty="0">
                <a:solidFill>
                  <a:srgbClr val="660066"/>
                </a:solidFill>
                <a:latin typeface="Times New Roman" pitchFamily="18" charset="0"/>
                <a:cs typeface="Times New Roman" pitchFamily="18" charset="0"/>
              </a:rPr>
              <a:t>. </a:t>
            </a:r>
          </a:p>
        </p:txBody>
      </p:sp>
      <p:sp>
        <p:nvSpPr>
          <p:cNvPr id="10" name="Flowchart: Delay 9"/>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87617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Delay 9"/>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20" name="Title 1"/>
          <p:cNvSpPr txBox="1">
            <a:spLocks/>
          </p:cNvSpPr>
          <p:nvPr/>
        </p:nvSpPr>
        <p:spPr>
          <a:xfrm>
            <a:off x="370901" y="738475"/>
            <a:ext cx="8378826" cy="5283221"/>
          </a:xfrm>
          <a:prstGeom prst="rect">
            <a:avLst/>
          </a:prstGeom>
        </p:spPr>
        <p:txBody>
          <a:bodyPr vert="horz" lIns="91440" tIns="45720" rIns="91440" bIns="45720" rtlCol="0" anchor="ctr">
            <a:noAutofit/>
          </a:bodyPr>
          <a:lstStyle/>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pPr>
              <a:buFont typeface="Wingdings" pitchFamily="2" charset="2"/>
              <a:buChar char="v"/>
            </a:pPr>
            <a:endParaRPr lang="en-US" altLang="ko-KR" sz="2000" b="1" dirty="0">
              <a:solidFill>
                <a:srgbClr val="0070C0"/>
              </a:solidFill>
              <a:latin typeface="Times New Roman" pitchFamily="18" charset="0"/>
              <a:cs typeface="Times New Roman" pitchFamily="18" charset="0"/>
            </a:endParaRPr>
          </a:p>
          <a:p>
            <a:pPr>
              <a:buFont typeface="Wingdings" pitchFamily="2" charset="2"/>
              <a:buChar char="v"/>
            </a:pPr>
            <a:endParaRPr lang="en-US" altLang="ko-KR" sz="2000" b="1" dirty="0">
              <a:solidFill>
                <a:srgbClr val="0070C0"/>
              </a:solidFill>
              <a:latin typeface="Times New Roman" pitchFamily="18" charset="0"/>
              <a:cs typeface="Times New Roman" pitchFamily="18" charset="0"/>
            </a:endParaRPr>
          </a:p>
          <a:p>
            <a:pPr marL="342900" indent="-342900">
              <a:buFont typeface="Wingdings" pitchFamily="2" charset="2"/>
              <a:buChar char="v"/>
            </a:pPr>
            <a:r>
              <a:rPr lang="en-US" altLang="ko-KR" b="1" dirty="0">
                <a:solidFill>
                  <a:srgbClr val="0070C0"/>
                </a:solidFill>
                <a:latin typeface="Times New Roman" pitchFamily="18" charset="0"/>
                <a:cs typeface="Times New Roman" pitchFamily="18" charset="0"/>
              </a:rPr>
              <a:t> Abstract
Project Outline
Project Objectives
Problem Definition
Methodology
Hardware and Software Specification
Existing System and Proposed System
SRS Submission
Module Description
Database Description
System Diagram
Data Flow Diagram
ER Diagram
UML Diagram
Execution of 50% Modules (Screenshots)</a:t>
            </a:r>
            <a:br>
              <a:rPr lang="en-US" altLang="ko-KR" sz="2000" b="1" dirty="0">
                <a:solidFill>
                  <a:srgbClr val="FFFF00"/>
                </a:solidFill>
                <a:latin typeface="Times New Roman" pitchFamily="18" charset="0"/>
                <a:cs typeface="Times New Roman" pitchFamily="18" charset="0"/>
              </a:rPr>
            </a:br>
            <a:endParaRPr lang="en-US" sz="2000" dirty="0"/>
          </a:p>
          <a:p>
            <a:pPr algn="just"/>
            <a:r>
              <a:rPr lang="en-US" sz="1600" dirty="0">
                <a:latin typeface="Times New Roman" pitchFamily="18" charset="0"/>
                <a:cs typeface="Times New Roman" pitchFamily="18" charset="0"/>
              </a:rPr>
              <a:t>	</a:t>
            </a:r>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pPr marL="0" marR="0" lvl="0" indent="0" algn="ctr" defTabSz="914400" rtl="0" eaLnBrk="1" fontAlgn="auto" latinLnBrk="0" hangingPunct="1">
              <a:lnSpc>
                <a:spcPct val="100000"/>
              </a:lnSpc>
              <a:spcBef>
                <a:spcPct val="0"/>
              </a:spcBef>
              <a:spcAft>
                <a:spcPts val="0"/>
              </a:spcAft>
              <a:buClrTx/>
              <a:buSzTx/>
              <a:buFontTx/>
              <a:buNone/>
              <a:tabLst/>
              <a:defRPr/>
            </a:pPr>
            <a:br>
              <a:rPr kumimoji="0" lang="en-US" altLang="ko-KR" sz="1600" b="1" i="0" u="none" strike="noStrike" kern="1200" cap="none" spc="0" normalizeH="0" baseline="0" noProof="0" dirty="0">
                <a:ln>
                  <a:noFill/>
                </a:ln>
                <a:solidFill>
                  <a:srgbClr val="FFFF00"/>
                </a:solidFill>
                <a:effectLst/>
                <a:uLnTx/>
                <a:uFillTx/>
                <a:latin typeface="Times New Roman" pitchFamily="18" charset="0"/>
                <a:ea typeface="+mj-ea"/>
                <a:cs typeface="Times New Roman" pitchFamily="18" charset="0"/>
              </a:rPr>
            </a:br>
            <a:endParaRPr kumimoji="0" lang="en-US" sz="1600" b="0" i="0" u="none" strike="noStrike" kern="1200" cap="none" spc="0" normalizeH="0" baseline="0" noProof="0" dirty="0">
              <a:ln>
                <a:noFill/>
              </a:ln>
              <a:solidFill>
                <a:schemeClr val="tx1"/>
              </a:solidFill>
              <a:effectLst/>
              <a:uLnTx/>
              <a:uFillTx/>
              <a:latin typeface="+mj-lt"/>
              <a:ea typeface="+mj-ea"/>
              <a:cs typeface="+mj-cs"/>
            </a:endParaRPr>
          </a:p>
        </p:txBody>
      </p:sp>
      <p:sp>
        <p:nvSpPr>
          <p:cNvPr id="21" name="Title 1"/>
          <p:cNvSpPr>
            <a:spLocks noGrp="1"/>
          </p:cNvSpPr>
          <p:nvPr>
            <p:ph type="ctrTitle"/>
          </p:nvPr>
        </p:nvSpPr>
        <p:spPr>
          <a:xfrm>
            <a:off x="370901" y="279395"/>
            <a:ext cx="8572560" cy="642942"/>
          </a:xfrm>
        </p:spPr>
        <p:txBody>
          <a:bodyPr>
            <a:normAutofit fontScale="90000"/>
          </a:bodyPr>
          <a:lstStyle/>
          <a:p>
            <a:r>
              <a:rPr kumimoji="0" lang="en-US" altLang="ko-KR" b="1" dirty="0">
                <a:solidFill>
                  <a:srgbClr val="0070C0"/>
                </a:solidFill>
                <a:latin typeface="Times New Roman" pitchFamily="18" charset="0"/>
                <a:cs typeface="Times New Roman" pitchFamily="18" charset="0"/>
              </a:rPr>
              <a:t>Contents </a:t>
            </a:r>
            <a:br>
              <a:rPr kumimoji="0" lang="en-US" altLang="ko-KR" b="1" dirty="0">
                <a:solidFill>
                  <a:srgbClr val="FFFF00"/>
                </a:solidFill>
                <a:latin typeface="Times New Roman" pitchFamily="18" charset="0"/>
                <a:cs typeface="Times New Roman" pitchFamily="18" charset="0"/>
              </a:rPr>
            </a:br>
            <a:endParaRPr lang="en-US" dirty="0"/>
          </a:p>
        </p:txBody>
      </p:sp>
    </p:spTree>
    <p:extLst>
      <p:ext uri="{BB962C8B-B14F-4D97-AF65-F5344CB8AC3E}">
        <p14:creationId xmlns:p14="http://schemas.microsoft.com/office/powerpoint/2010/main" val="13559973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Delay 9"/>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4" y="465137"/>
            <a:ext cx="1216025" cy="121602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20750"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 y="7937"/>
            <a:ext cx="9116456" cy="617858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522804" y="1414627"/>
            <a:ext cx="8070850" cy="2893100"/>
          </a:xfrm>
          <a:prstGeom prst="rect">
            <a:avLst/>
          </a:prstGeom>
        </p:spPr>
        <p:txBody>
          <a:bodyPr wrap="square">
            <a:spAutoFit/>
          </a:bodyPr>
          <a:lstStyle/>
          <a:p>
            <a:pPr algn="ctr"/>
            <a:r>
              <a:rPr lang="en-US" altLang="ko-KR" sz="2400" b="1" dirty="0">
                <a:latin typeface="Times New Roman" pitchFamily="18" charset="0"/>
                <a:cs typeface="Times New Roman" pitchFamily="18" charset="0"/>
              </a:rPr>
              <a:t>Abstract</a:t>
            </a:r>
            <a:endParaRPr lang="en-US" sz="2300" b="1" dirty="0">
              <a:latin typeface="Times New Roman" pitchFamily="18" charset="0"/>
              <a:cs typeface="Times New Roman" pitchFamily="18" charset="0"/>
            </a:endParaRPr>
          </a:p>
          <a:p>
            <a:pPr algn="ctr"/>
            <a:r>
              <a:rPr lang="en-US" sz="1800" b="1" dirty="0">
                <a:solidFill>
                  <a:srgbClr val="7A0003"/>
                </a:solidFill>
                <a:latin typeface="Times New Roman" pitchFamily="18" charset="0"/>
                <a:cs typeface="Times New Roman" pitchFamily="18" charset="0"/>
              </a:rPr>
              <a:t>Symptoms-Based Doctor Recommendation and Appointment System</a:t>
            </a:r>
          </a:p>
          <a:p>
            <a:pPr algn="ctr"/>
            <a:endParaRPr lang="en-US" dirty="0"/>
          </a:p>
          <a:p>
            <a:pPr algn="just"/>
            <a:r>
              <a:rPr lang="en-US" sz="2200" dirty="0">
                <a:latin typeface="Times New Roman" pitchFamily="18" charset="0"/>
                <a:cs typeface="Times New Roman"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Symptoms based Doctor Recommendation and Appointment System is a Centralized platform for Symptoms-Driven Doctor Recommendation with Appointment Scheduling. The system analyzes user-provided symptoms using</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machine learning techniques to recommend suitable specialist categories and relevant highly rated doctors and enable smooth appointments.</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4063769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Delay 9"/>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76200" y="160336"/>
            <a:ext cx="8912226" cy="6804427"/>
          </a:xfrm>
          <a:prstGeom prst="rect">
            <a:avLst/>
          </a:prstGeom>
        </p:spPr>
        <p:txBody>
          <a:bodyPr wrap="square">
            <a:spAutoFit/>
          </a:bodyPr>
          <a:lstStyle/>
          <a:p>
            <a:pPr algn="ctr"/>
            <a:r>
              <a:rPr lang="en-US" sz="2400" b="1" dirty="0">
                <a:latin typeface="Times New Roman" pitchFamily="18" charset="0"/>
                <a:cs typeface="Times New Roman" pitchFamily="18" charset="0"/>
              </a:rPr>
              <a:t>Project Outline</a:t>
            </a:r>
          </a:p>
          <a:p>
            <a:pPr algn="ctr"/>
            <a:endParaRPr lang="en-US" sz="3200" b="1" dirty="0">
              <a:latin typeface="Times New Roman" pitchFamily="18" charset="0"/>
              <a:cs typeface="Times New Roman" pitchFamily="18" charset="0"/>
            </a:endParaRPr>
          </a:p>
          <a:p>
            <a:pPr algn="ctr"/>
            <a:r>
              <a:rPr lang="en-US" sz="2400" b="1" dirty="0">
                <a:solidFill>
                  <a:srgbClr val="7A0003"/>
                </a:solidFill>
                <a:latin typeface="Times New Roman" pitchFamily="18" charset="0"/>
                <a:cs typeface="Times New Roman" pitchFamily="18" charset="0"/>
              </a:rPr>
              <a:t>Symptoms-Based Doctor Recommendation and Appointment System</a:t>
            </a: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 </a:t>
            </a:r>
          </a:p>
          <a:p>
            <a:pPr marL="0" indent="0" algn="ctr">
              <a:spcAft>
                <a:spcPts val="775"/>
              </a:spcAft>
              <a:buNone/>
            </a:pPr>
            <a:endParaRPr lang="en-US" sz="800" b="1" dirty="0">
              <a:latin typeface="Times New Roman" pitchFamily="18" charset="0"/>
              <a:cs typeface="Times New Roman" pitchFamily="18" charset="0"/>
            </a:endParaRPr>
          </a:p>
          <a:p>
            <a:pPr marL="457200" indent="-186055" algn="just">
              <a:lnSpc>
                <a:spcPct val="150000"/>
              </a:lnSpc>
              <a:spcAft>
                <a:spcPts val="290"/>
              </a:spcAft>
            </a:pPr>
            <a:r>
              <a:rPr lang="en-IN" sz="2400" dirty="0">
                <a:latin typeface="Times New Roman" pitchFamily="18" charset="0"/>
                <a:cs typeface="Times New Roman" pitchFamily="18" charset="0"/>
              </a:rPr>
              <a:t>	</a:t>
            </a:r>
            <a:r>
              <a:rPr lang="en-US" dirty="0">
                <a:solidFill>
                  <a:srgbClr val="000000"/>
                </a:solidFill>
                <a:latin typeface="Times New Roman" panose="02020603050405020304" pitchFamily="18" charset="0"/>
                <a:cs typeface="Times New Roman" pitchFamily="18" charset="0"/>
              </a:rPr>
              <a:t>	</a:t>
            </a:r>
            <a:r>
              <a:rPr lang="en-US" sz="2000" dirty="0">
                <a:solidFill>
                  <a:srgbClr val="000000"/>
                </a:solidFill>
                <a:effectLst/>
                <a:latin typeface="Times New Roman" panose="02020603050405020304" pitchFamily="18" charset="0"/>
                <a:ea typeface="Times New Roman" panose="02020603050405020304" pitchFamily="18" charset="0"/>
              </a:rPr>
              <a:t>Choosing the right medical specialist based on symptoms is often difficult for patients, leading to inefficient healthcare consultations. Most existing systems focus only on appointment booking and lack intelligent guidance and recommendations for </a:t>
            </a:r>
            <a:r>
              <a:rPr lang="en-US" sz="2000" dirty="0" err="1">
                <a:solidFill>
                  <a:srgbClr val="000000"/>
                </a:solidFill>
                <a:effectLst/>
                <a:latin typeface="Times New Roman" panose="02020603050405020304" pitchFamily="18" charset="0"/>
                <a:ea typeface="Times New Roman" panose="02020603050405020304" pitchFamily="18" charset="0"/>
              </a:rPr>
              <a:t>users.This</a:t>
            </a:r>
            <a:r>
              <a:rPr lang="en-US" sz="2000" dirty="0">
                <a:solidFill>
                  <a:srgbClr val="000000"/>
                </a:solidFill>
                <a:effectLst/>
                <a:latin typeface="Times New Roman" panose="02020603050405020304" pitchFamily="18" charset="0"/>
                <a:ea typeface="Times New Roman" panose="02020603050405020304" pitchFamily="18" charset="0"/>
              </a:rPr>
              <a:t> project presents a centralized platform for Symptoms-Driven Doctor Recommendation with Appointment Scheduling. The system analyzes user-provided symptoms using machine learning techniques to recommend suitable specialist categories and relevant highly rated doctors and enable smooth appointments.</a:t>
            </a: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a:p>
            <a:pPr algn="ctr"/>
            <a:endParaRPr lang="en-US" sz="2300" b="1" dirty="0">
              <a:latin typeface="Times New Roman" pitchFamily="18" charset="0"/>
              <a:cs typeface="Times New Roman" pitchFamily="18" charset="0"/>
            </a:endParaRPr>
          </a:p>
        </p:txBody>
      </p:sp>
    </p:spTree>
    <p:extLst>
      <p:ext uri="{BB962C8B-B14F-4D97-AF65-F5344CB8AC3E}">
        <p14:creationId xmlns:p14="http://schemas.microsoft.com/office/powerpoint/2010/main" val="4063769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Delay 9"/>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81000" y="7937"/>
            <a:ext cx="9491949" cy="5301451"/>
          </a:xfrm>
          <a:prstGeom prst="rect">
            <a:avLst/>
          </a:prstGeom>
        </p:spPr>
        <p:txBody>
          <a:bodyPr wrap="square">
            <a:spAutoFit/>
          </a:bodyPr>
          <a:lstStyle/>
          <a:p>
            <a:pPr algn="ctr"/>
            <a:r>
              <a:rPr lang="en-US" sz="2400" b="1" dirty="0">
                <a:latin typeface="Times New Roman" pitchFamily="18" charset="0"/>
                <a:cs typeface="Times New Roman" pitchFamily="18" charset="0"/>
              </a:rPr>
              <a:t>Project Objectives</a:t>
            </a:r>
            <a:endParaRPr lang="en-US" sz="2300" b="1" dirty="0">
              <a:latin typeface="Times New Roman" pitchFamily="18" charset="0"/>
              <a:cs typeface="Times New Roman" pitchFamily="18" charset="0"/>
            </a:endParaRPr>
          </a:p>
          <a:p>
            <a:pPr algn="ct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Symptoms-Based Doctor Recommendation and Appointment System  </a:t>
            </a: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 </a:t>
            </a:r>
          </a:p>
          <a:p>
            <a:pPr algn="ctr"/>
            <a:endParaRPr lang="en-US" sz="2400" b="1" dirty="0">
              <a:latin typeface="Times New Roman" pitchFamily="18" charset="0"/>
              <a:cs typeface="Times New Roman" pitchFamily="18" charset="0"/>
            </a:endParaRPr>
          </a:p>
          <a:p>
            <a:pPr marL="342900" lvl="0" indent="-342900" algn="just">
              <a:lnSpc>
                <a:spcPct val="150000"/>
              </a:lnSpc>
              <a:spcAft>
                <a:spcPts val="290"/>
              </a:spcAft>
              <a:buFont typeface="Symbol" panose="05050102010706020507" pitchFamily="18" charset="2"/>
              <a:buChar char=""/>
            </a:pPr>
            <a:r>
              <a:rPr lang="en-IN" sz="2000" dirty="0">
                <a:latin typeface="Times New Roman" pitchFamily="18" charset="0"/>
                <a:cs typeface="Times New Roman" pitchFamily="18" charset="0"/>
              </a:rPr>
              <a:t>	</a:t>
            </a:r>
            <a:r>
              <a:rPr lang="en-US" sz="2000" dirty="0">
                <a:solidFill>
                  <a:srgbClr val="000000"/>
                </a:solidFill>
                <a:effectLst/>
                <a:latin typeface="Times New Roman" panose="02020603050405020304" pitchFamily="18" charset="0"/>
                <a:ea typeface="Times New Roman" panose="02020603050405020304" pitchFamily="18" charset="0"/>
              </a:rPr>
              <a:t>To predict the medical specialist based on patient symptoms using a machine learning </a:t>
            </a:r>
            <a:r>
              <a:rPr lang="en-US" sz="2000" dirty="0" err="1">
                <a:solidFill>
                  <a:srgbClr val="000000"/>
                </a:solidFill>
                <a:effectLst/>
                <a:latin typeface="Times New Roman" panose="02020603050405020304" pitchFamily="18" charset="0"/>
                <a:ea typeface="Times New Roman" panose="02020603050405020304" pitchFamily="18" charset="0"/>
              </a:rPr>
              <a:t>model.To</a:t>
            </a:r>
            <a:r>
              <a:rPr lang="en-US" sz="2000" dirty="0">
                <a:solidFill>
                  <a:srgbClr val="000000"/>
                </a:solidFill>
                <a:effectLst/>
                <a:latin typeface="Times New Roman" panose="02020603050405020304" pitchFamily="18" charset="0"/>
                <a:ea typeface="Times New Roman" panose="02020603050405020304" pitchFamily="18" charset="0"/>
              </a:rPr>
              <a:t> recommend high-rated and relevant doctors based on the predicted </a:t>
            </a:r>
            <a:r>
              <a:rPr lang="en-US" sz="2000" dirty="0" err="1">
                <a:solidFill>
                  <a:srgbClr val="000000"/>
                </a:solidFill>
                <a:effectLst/>
                <a:latin typeface="Times New Roman" panose="02020603050405020304" pitchFamily="18" charset="0"/>
                <a:ea typeface="Times New Roman" panose="02020603050405020304" pitchFamily="18" charset="0"/>
              </a:rPr>
              <a:t>specialist.To</a:t>
            </a:r>
            <a:r>
              <a:rPr lang="en-US" sz="2000" dirty="0">
                <a:solidFill>
                  <a:srgbClr val="000000"/>
                </a:solidFill>
                <a:effectLst/>
                <a:latin typeface="Times New Roman" panose="02020603050405020304" pitchFamily="18" charset="0"/>
                <a:ea typeface="Times New Roman" panose="02020603050405020304" pitchFamily="18" charset="0"/>
              </a:rPr>
              <a:t> provide a centralized platform for symptom input, specialist prediction, doctor recommendation, and appointment </a:t>
            </a:r>
            <a:r>
              <a:rPr lang="en-US" sz="2000" dirty="0" err="1">
                <a:solidFill>
                  <a:srgbClr val="000000"/>
                </a:solidFill>
                <a:effectLst/>
                <a:latin typeface="Times New Roman" panose="02020603050405020304" pitchFamily="18" charset="0"/>
                <a:ea typeface="Times New Roman" panose="02020603050405020304" pitchFamily="18" charset="0"/>
              </a:rPr>
              <a:t>booking.To</a:t>
            </a:r>
            <a:r>
              <a:rPr lang="en-US" sz="2000" dirty="0">
                <a:solidFill>
                  <a:srgbClr val="000000"/>
                </a:solidFill>
                <a:effectLst/>
                <a:latin typeface="Times New Roman" panose="02020603050405020304" pitchFamily="18" charset="0"/>
                <a:ea typeface="Times New Roman" panose="02020603050405020304" pitchFamily="18" charset="0"/>
              </a:rPr>
              <a:t> implement role-based access control to ensure secure and authorized access for patients, doctors, and </a:t>
            </a:r>
            <a:r>
              <a:rPr lang="en-US" sz="2000" dirty="0" err="1">
                <a:solidFill>
                  <a:srgbClr val="000000"/>
                </a:solidFill>
                <a:effectLst/>
                <a:latin typeface="Times New Roman" panose="02020603050405020304" pitchFamily="18" charset="0"/>
                <a:ea typeface="Times New Roman" panose="02020603050405020304" pitchFamily="18" charset="0"/>
              </a:rPr>
              <a:t>administrators.To</a:t>
            </a:r>
            <a:r>
              <a:rPr lang="en-US" sz="2000" dirty="0">
                <a:solidFill>
                  <a:srgbClr val="000000"/>
                </a:solidFill>
                <a:effectLst/>
                <a:latin typeface="Times New Roman" panose="02020603050405020304" pitchFamily="18" charset="0"/>
                <a:ea typeface="Times New Roman" panose="02020603050405020304" pitchFamily="18" charset="0"/>
              </a:rPr>
              <a:t> enable different system functionalities based on user roles, such as appointment management for doctors and system monitoring for administrators</a:t>
            </a:r>
            <a:endParaRPr lang="en-IN" sz="2000" dirty="0">
              <a:solidFill>
                <a:srgbClr val="000000"/>
              </a:solidFill>
              <a:effectLst/>
              <a:latin typeface="Times New Roman" panose="02020603050405020304" pitchFamily="18" charset="0"/>
              <a:ea typeface="Times New Roman" panose="02020603050405020304" pitchFamily="18" charset="0"/>
            </a:endParaRPr>
          </a:p>
          <a:p>
            <a:pPr algn="ctr"/>
            <a:endParaRPr lang="en-US" b="1" dirty="0">
              <a:latin typeface="Times New Roman" pitchFamily="18" charset="0"/>
              <a:cs typeface="Times New Roman" pitchFamily="18" charset="0"/>
            </a:endParaRPr>
          </a:p>
          <a:p>
            <a:pPr algn="ctr"/>
            <a:endParaRPr lang="en-US" b="1" dirty="0">
              <a:latin typeface="Times New Roman" pitchFamily="18" charset="0"/>
              <a:cs typeface="Times New Roman" pitchFamily="18" charset="0"/>
            </a:endParaRPr>
          </a:p>
          <a:p>
            <a:pPr algn="ctr"/>
            <a:endParaRPr lang="en-US" b="1" dirty="0">
              <a:latin typeface="Times New Roman" pitchFamily="18" charset="0"/>
              <a:cs typeface="Times New Roman" pitchFamily="18" charset="0"/>
            </a:endParaRPr>
          </a:p>
        </p:txBody>
      </p:sp>
    </p:spTree>
    <p:extLst>
      <p:ext uri="{BB962C8B-B14F-4D97-AF65-F5344CB8AC3E}">
        <p14:creationId xmlns:p14="http://schemas.microsoft.com/office/powerpoint/2010/main" val="8421556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Delay 9"/>
          <p:cNvSpPr/>
          <p:nvPr/>
        </p:nvSpPr>
        <p:spPr>
          <a:xfrm>
            <a:off x="756492" y="6396760"/>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3051" y="276285"/>
            <a:ext cx="9083406" cy="6027035"/>
          </a:xfrm>
          <a:prstGeom prst="rect">
            <a:avLst/>
          </a:prstGeom>
        </p:spPr>
        <p:txBody>
          <a:bodyPr wrap="square">
            <a:spAutoFit/>
          </a:bodyPr>
          <a:lstStyle/>
          <a:p>
            <a:pPr algn="ctr"/>
            <a:r>
              <a:rPr lang="en-US" sz="2400" b="1" dirty="0">
                <a:latin typeface="Times New Roman" pitchFamily="18" charset="0"/>
                <a:cs typeface="Times New Roman" pitchFamily="18" charset="0"/>
              </a:rPr>
              <a:t>Problem Definition</a:t>
            </a:r>
          </a:p>
          <a:p>
            <a:pPr algn="ctr"/>
            <a:endParaRPr lang="en-US" sz="2300" b="1" dirty="0">
              <a:latin typeface="Times New Roman" pitchFamily="18" charset="0"/>
              <a:cs typeface="Times New Roman" pitchFamily="18" charset="0"/>
            </a:endParaRPr>
          </a:p>
          <a:p>
            <a:pPr marL="0" indent="0" algn="ctr">
              <a:lnSpc>
                <a:spcPct val="107000"/>
              </a:lnSpc>
              <a:spcAft>
                <a:spcPts val="775"/>
              </a:spcAf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Symptoms-Based Doctor Recommendation and Appointment System  </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775"/>
              </a:spcAft>
              <a:buNone/>
            </a:pPr>
            <a:endParaRPr lang="en-US" b="1" dirty="0">
              <a:latin typeface="Times New Roman" pitchFamily="18" charset="0"/>
              <a:cs typeface="Times New Roman" pitchFamily="18" charset="0"/>
            </a:endParaRPr>
          </a:p>
          <a:p>
            <a:pPr algn="just">
              <a:lnSpc>
                <a:spcPct val="107000"/>
              </a:lnSpc>
              <a:spcAft>
                <a:spcPts val="1855"/>
              </a:spcAft>
            </a:pPr>
            <a:r>
              <a:rPr lang="en-IN" dirty="0">
                <a:latin typeface="Times New Roman" pitchFamily="18" charset="0"/>
                <a:cs typeface="Times New Roman"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In the healthcare domain, patients often face difficulty in identifying the correct medical specialist based on their symptoms. Many people consult the wrong doctor initially, which leads to delayed treatment, increased cost, and inconvenience.
Additionally, even after identifying the correct specialist, finding a trusted, highly rated doctor and booking an appointment efficiently remains a challenge.
There is a lack of an integrated intelligent system that can: Analyze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symptoms,Predict</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medical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specialist,Recommend</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suitable doctors, And allow seamless appointment booking in one platform.</a:t>
            </a:r>
            <a:endParaRPr lang="en-US" b="1" dirty="0">
              <a:latin typeface="Times New Roman" pitchFamily="18" charset="0"/>
              <a:cs typeface="Times New Roman" pitchFamily="18" charset="0"/>
            </a:endParaRPr>
          </a:p>
          <a:p>
            <a:pPr algn="ctr"/>
            <a:endParaRPr lang="en-US" b="1" dirty="0">
              <a:latin typeface="Times New Roman" pitchFamily="18" charset="0"/>
              <a:cs typeface="Times New Roman" pitchFamily="18" charset="0"/>
            </a:endParaRPr>
          </a:p>
          <a:p>
            <a:pPr algn="ctr"/>
            <a:endParaRPr lang="en-US" b="1" dirty="0">
              <a:latin typeface="Times New Roman" pitchFamily="18" charset="0"/>
              <a:cs typeface="Times New Roman" pitchFamily="18" charset="0"/>
            </a:endParaRPr>
          </a:p>
        </p:txBody>
      </p:sp>
    </p:spTree>
    <p:extLst>
      <p:ext uri="{BB962C8B-B14F-4D97-AF65-F5344CB8AC3E}">
        <p14:creationId xmlns:p14="http://schemas.microsoft.com/office/powerpoint/2010/main" val="3313907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4732F03-C74A-2538-187D-ED8C4C1BA8DF}"/>
              </a:ext>
            </a:extLst>
          </p:cNvPr>
          <p:cNvSpPr>
            <a:spLocks noGrp="1"/>
          </p:cNvSpPr>
          <p:nvPr>
            <p:ph idx="1"/>
          </p:nvPr>
        </p:nvSpPr>
        <p:spPr>
          <a:xfrm>
            <a:off x="457200" y="1280375"/>
            <a:ext cx="8229600" cy="4774246"/>
          </a:xfrm>
        </p:spPr>
        <p:txBody>
          <a:bodyPr>
            <a:normAutofit fontScale="47500" lnSpcReduction="20000"/>
          </a:bodyPr>
          <a:lstStyle/>
          <a:p>
            <a:pPr marL="0" indent="0" algn="ctr">
              <a:buFont typeface="Arial" pitchFamily="34" charset="0"/>
              <a:buNone/>
            </a:pPr>
            <a:r>
              <a:rPr lang="en-US" sz="5100" b="1" kern="100" dirty="0">
                <a:latin typeface="Times New Roman" panose="02020603050405020304" pitchFamily="18" charset="0"/>
                <a:ea typeface="Times New Roman" panose="02020603050405020304" pitchFamily="18" charset="0"/>
                <a:cs typeface="Times New Roman" panose="02020603050405020304" pitchFamily="18" charset="0"/>
              </a:rPr>
              <a:t>Symptoms-Based Doctor Recommendation and Appointment</a:t>
            </a:r>
          </a:p>
          <a:p>
            <a:pPr marL="0" indent="0" algn="ctr">
              <a:buFont typeface="Arial" pitchFamily="34" charset="0"/>
              <a:buNone/>
            </a:pPr>
            <a:r>
              <a:rPr lang="en-US" sz="5100" b="1" kern="100" dirty="0">
                <a:latin typeface="Times New Roman" panose="02020603050405020304" pitchFamily="18" charset="0"/>
                <a:ea typeface="Times New Roman" panose="02020603050405020304" pitchFamily="18" charset="0"/>
                <a:cs typeface="Times New Roman" panose="02020603050405020304" pitchFamily="18" charset="0"/>
              </a:rPr>
              <a:t> System</a:t>
            </a:r>
            <a:r>
              <a:rPr lang="en-GB" sz="5100" kern="1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5100" kern="1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ctr">
              <a:buFont typeface="Arial" pitchFamily="34" charset="0"/>
              <a:buNone/>
            </a:pPr>
            <a:endParaRPr lang="en-US" sz="2400" kern="1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ctr">
              <a:buFont typeface="Arial" pitchFamily="34" charset="0"/>
              <a:buNone/>
            </a:pPr>
            <a:endParaRPr lang="en-GB" sz="2400" kern="1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Agile Methodology</a:t>
            </a:r>
          </a:p>
          <a:p>
            <a:pPr marL="0" indent="0">
              <a:buNone/>
            </a:pPr>
            <a:r>
              <a:rPr lang="en-GB" kern="100" dirty="0">
                <a:effectLst/>
                <a:latin typeface="Times New Roman" panose="02020603050405020304" pitchFamily="18" charset="0"/>
                <a:ea typeface="Times New Roman" panose="02020603050405020304" pitchFamily="18" charset="0"/>
                <a:cs typeface="Times New Roman" panose="02020603050405020304" pitchFamily="18" charset="0"/>
              </a:rPr>
              <a:t>Why Agile?  </a:t>
            </a:r>
          </a:p>
          <a:p>
            <a:pPr marL="0" indent="0">
              <a:buNone/>
            </a:pPr>
            <a:r>
              <a:rPr lang="en-GB" kern="100" dirty="0">
                <a:effectLst/>
                <a:latin typeface="Times New Roman" panose="02020603050405020304" pitchFamily="18" charset="0"/>
                <a:ea typeface="Times New Roman" panose="02020603050405020304" pitchFamily="18" charset="0"/>
                <a:cs typeface="Times New Roman" panose="02020603050405020304" pitchFamily="18" charset="0"/>
              </a:rPr>
              <a:t>Your project requires frequent dataset updates (symptoms added/removed), iterative ML model improvements, and step‑by‑step module development. Agile allows flexibility and continuous refinement, which matches your workflow.</a:t>
            </a:r>
          </a:p>
          <a:p>
            <a:pPr marL="0" indent="0">
              <a:buNone/>
            </a:pPr>
            <a:r>
              <a:rPr lang="en-GB" kern="100" dirty="0">
                <a:effectLst/>
                <a:latin typeface="Times New Roman" panose="02020603050405020304" pitchFamily="18" charset="0"/>
                <a:ea typeface="Times New Roman" panose="02020603050405020304" pitchFamily="18" charset="0"/>
                <a:cs typeface="Times New Roman" panose="02020603050405020304" pitchFamily="18" charset="0"/>
              </a:rPr>
              <a:t>Agile Steps Applied to Your Project:</a:t>
            </a:r>
          </a:p>
          <a:p>
            <a:pPr marL="0" indent="0">
              <a:buNone/>
            </a:pPr>
            <a:r>
              <a:rPr lang="en-GB" kern="100" dirty="0">
                <a:effectLst/>
                <a:latin typeface="Times New Roman" panose="02020603050405020304" pitchFamily="18" charset="0"/>
                <a:ea typeface="Times New Roman" panose="02020603050405020304" pitchFamily="18" charset="0"/>
                <a:cs typeface="Times New Roman" panose="02020603050405020304" pitchFamily="18" charset="0"/>
              </a:rPr>
              <a:t>Requirement Gathering</a:t>
            </a:r>
          </a:p>
          <a:p>
            <a:pPr marL="0" indent="0">
              <a:buNone/>
            </a:pPr>
            <a:r>
              <a:rPr lang="en-GB" kern="100" dirty="0">
                <a:effectLst/>
                <a:latin typeface="Times New Roman" panose="02020603050405020304" pitchFamily="18" charset="0"/>
                <a:ea typeface="Times New Roman" panose="02020603050405020304" pitchFamily="18" charset="0"/>
                <a:cs typeface="Times New Roman" panose="02020603050405020304" pitchFamily="18" charset="0"/>
              </a:rPr>
              <a:t>Identify patient symptom inputs, doctor modules, appointment flow, admin dashboard needs.</a:t>
            </a:r>
          </a:p>
          <a:p>
            <a:pPr marL="0" indent="0">
              <a:buNone/>
            </a:pPr>
            <a:r>
              <a:rPr lang="en-GB" kern="100" dirty="0">
                <a:effectLst/>
                <a:latin typeface="Times New Roman" panose="02020603050405020304" pitchFamily="18" charset="0"/>
                <a:ea typeface="Times New Roman" panose="02020603050405020304" pitchFamily="18" charset="0"/>
                <a:cs typeface="Times New Roman" panose="02020603050405020304" pitchFamily="18" charset="0"/>
              </a:rPr>
              <a:t>Define ML requirement: disease prediction from symptoms.</a:t>
            </a:r>
          </a:p>
          <a:p>
            <a:pPr marL="0" indent="0">
              <a:buNone/>
            </a:pPr>
            <a:r>
              <a:rPr lang="en-GB" kern="100" dirty="0">
                <a:effectLst/>
                <a:latin typeface="Times New Roman" panose="02020603050405020304" pitchFamily="18" charset="0"/>
                <a:ea typeface="Times New Roman" panose="02020603050405020304" pitchFamily="18" charset="0"/>
                <a:cs typeface="Times New Roman" panose="02020603050405020304" pitchFamily="18" charset="0"/>
              </a:rPr>
              <a:t>Sprint Planning</a:t>
            </a:r>
          </a:p>
          <a:p>
            <a:pPr marL="0" indent="0">
              <a:buNone/>
            </a:pPr>
            <a:r>
              <a:rPr lang="en-GB" kern="100" dirty="0">
                <a:effectLst/>
                <a:latin typeface="Times New Roman" panose="02020603050405020304" pitchFamily="18" charset="0"/>
                <a:ea typeface="Times New Roman" panose="02020603050405020304" pitchFamily="18" charset="0"/>
                <a:cs typeface="Times New Roman" panose="02020603050405020304" pitchFamily="18" charset="0"/>
              </a:rPr>
              <a:t>Break project into small deliverables: </a:t>
            </a:r>
          </a:p>
          <a:p>
            <a:pPr marL="0" indent="0">
              <a:buNone/>
            </a:pPr>
            <a:r>
              <a:rPr lang="en-GB" kern="100" dirty="0">
                <a:effectLst/>
                <a:latin typeface="Times New Roman" panose="02020603050405020304" pitchFamily="18" charset="0"/>
                <a:ea typeface="Times New Roman" panose="02020603050405020304" pitchFamily="18" charset="0"/>
                <a:cs typeface="Times New Roman" panose="02020603050405020304" pitchFamily="18" charset="0"/>
              </a:rPr>
              <a:t>Sprint 1 → Doctor database &amp; login.</a:t>
            </a:r>
          </a:p>
          <a:p>
            <a:pPr marL="0" indent="0">
              <a:buNone/>
            </a:pPr>
            <a:r>
              <a:rPr lang="en-GB" kern="100" dirty="0">
                <a:effectLst/>
                <a:latin typeface="Times New Roman" panose="02020603050405020304" pitchFamily="18" charset="0"/>
                <a:ea typeface="Times New Roman" panose="02020603050405020304" pitchFamily="18" charset="0"/>
                <a:cs typeface="Times New Roman" panose="02020603050405020304" pitchFamily="18" charset="0"/>
              </a:rPr>
              <a:t>Sprint 2 → ML model integration (symptom → disease prediction). </a:t>
            </a:r>
          </a:p>
          <a:p>
            <a:pPr marL="0" indent="0">
              <a:buNone/>
            </a:pPr>
            <a:r>
              <a:rPr lang="en-GB" kern="100" dirty="0">
                <a:effectLst/>
                <a:latin typeface="Times New Roman" panose="02020603050405020304" pitchFamily="18" charset="0"/>
                <a:ea typeface="Times New Roman" panose="02020603050405020304" pitchFamily="18" charset="0"/>
                <a:cs typeface="Times New Roman" panose="02020603050405020304" pitchFamily="18" charset="0"/>
              </a:rPr>
              <a:t>Sprint 3 → Appointment booking flow.</a:t>
            </a:r>
          </a:p>
          <a:p>
            <a:pPr marL="0" indent="0">
              <a:buNone/>
            </a:pPr>
            <a:r>
              <a:rPr lang="en-GB" kern="100" dirty="0">
                <a:effectLst/>
                <a:latin typeface="Times New Roman" panose="02020603050405020304" pitchFamily="18" charset="0"/>
                <a:ea typeface="Times New Roman" panose="02020603050405020304" pitchFamily="18" charset="0"/>
                <a:cs typeface="Times New Roman" panose="02020603050405020304" pitchFamily="18" charset="0"/>
              </a:rPr>
              <a:t>Sprint 4 → Billing &amp; prescription modules. </a:t>
            </a:r>
          </a:p>
          <a:p>
            <a:pPr marL="0" indent="0">
              <a:buNone/>
            </a:pPr>
            <a:r>
              <a:rPr lang="en-GB" kern="100" dirty="0">
                <a:effectLst/>
                <a:latin typeface="Times New Roman" panose="02020603050405020304" pitchFamily="18" charset="0"/>
                <a:ea typeface="Times New Roman" panose="02020603050405020304" pitchFamily="18" charset="0"/>
                <a:cs typeface="Times New Roman" panose="02020603050405020304" pitchFamily="18" charset="0"/>
              </a:rPr>
              <a:t>Sprint 5 → Admin dashboard + feedback analytics.</a:t>
            </a:r>
          </a:p>
        </p:txBody>
      </p:sp>
      <p:sp>
        <p:nvSpPr>
          <p:cNvPr id="7" name="Title 6">
            <a:extLst>
              <a:ext uri="{FF2B5EF4-FFF2-40B4-BE49-F238E27FC236}">
                <a16:creationId xmlns:a16="http://schemas.microsoft.com/office/drawing/2014/main" id="{8403B924-929B-2E4B-66BD-26CF5EC7511D}"/>
              </a:ext>
            </a:extLst>
          </p:cNvPr>
          <p:cNvSpPr>
            <a:spLocks noGrp="1"/>
          </p:cNvSpPr>
          <p:nvPr>
            <p:ph type="title"/>
          </p:nvPr>
        </p:nvSpPr>
        <p:spPr>
          <a:xfrm>
            <a:off x="457200" y="274638"/>
            <a:ext cx="8229600" cy="337795"/>
          </a:xfrm>
        </p:spPr>
        <p:txBody>
          <a:bodyPr>
            <a:normAutofit fontScale="90000"/>
          </a:bodyPr>
          <a:lstStyle/>
          <a:p>
            <a:r>
              <a:rPr lang="en-US" altLang="ko-KR" b="1">
                <a:latin typeface="Times New Roman" pitchFamily="18" charset="0"/>
                <a:cs typeface="Times New Roman" pitchFamily="18" charset="0"/>
              </a:rPr>
              <a:t>Methodology</a:t>
            </a:r>
            <a:r>
              <a:rPr lang="en-US"/>
              <a:t> </a:t>
            </a:r>
            <a:endParaRPr lang="en-US" dirty="0"/>
          </a:p>
        </p:txBody>
      </p:sp>
      <p:pic>
        <p:nvPicPr>
          <p:cNvPr id="14" name="Picture 26" descr="undefined">
            <a:extLst>
              <a:ext uri="{FF2B5EF4-FFF2-40B4-BE49-F238E27FC236}">
                <a16:creationId xmlns:a16="http://schemas.microsoft.com/office/drawing/2014/main" id="{B259C7A5-3117-F90E-CF32-6DB6623DC20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16" name="Flowchart: Delay 15">
            <a:extLst>
              <a:ext uri="{FF2B5EF4-FFF2-40B4-BE49-F238E27FC236}">
                <a16:creationId xmlns:a16="http://schemas.microsoft.com/office/drawing/2014/main" id="{B4256053-76BD-168D-B8AA-F5B80893B037}"/>
              </a:ext>
            </a:extLst>
          </p:cNvPr>
          <p:cNvSpPr/>
          <p:nvPr/>
        </p:nvSpPr>
        <p:spPr>
          <a:xfrm>
            <a:off x="756492" y="6396760"/>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Tree>
    <p:extLst>
      <p:ext uri="{BB962C8B-B14F-4D97-AF65-F5344CB8AC3E}">
        <p14:creationId xmlns:p14="http://schemas.microsoft.com/office/powerpoint/2010/main" val="4266779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DBA9E-128C-2C2D-5D42-795AFA9E7F0E}"/>
              </a:ext>
            </a:extLst>
          </p:cNvPr>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Symptoms-Based Doctor Recommendation and Appointment
 System.</a:t>
            </a:r>
          </a:p>
        </p:txBody>
      </p:sp>
      <p:sp>
        <p:nvSpPr>
          <p:cNvPr id="3" name="Content Placeholder 2">
            <a:extLst>
              <a:ext uri="{FF2B5EF4-FFF2-40B4-BE49-F238E27FC236}">
                <a16:creationId xmlns:a16="http://schemas.microsoft.com/office/drawing/2014/main" id="{F3468AE3-4EF8-6225-D190-9C9664E3B0EF}"/>
              </a:ext>
            </a:extLst>
          </p:cNvPr>
          <p:cNvSpPr>
            <a:spLocks noGrp="1"/>
          </p:cNvSpPr>
          <p:nvPr>
            <p:ph idx="1"/>
          </p:nvPr>
        </p:nvSpPr>
        <p:spPr/>
        <p:txBody>
          <a:bodyPr>
            <a:noAutofit/>
          </a:bodyPr>
          <a:lstStyle/>
          <a:p>
            <a:pPr marL="0" indent="0">
              <a:buNone/>
            </a:pPr>
            <a:r>
              <a:rPr lang="en-US" sz="2000" dirty="0">
                <a:latin typeface="Times New Roman" panose="02020603050405020304" pitchFamily="18" charset="0"/>
                <a:cs typeface="Times New Roman" panose="02020603050405020304" pitchFamily="18" charset="0"/>
              </a:rPr>
              <a:t>Development : Implement features incrementally in each sprint.</a:t>
            </a:r>
          </a:p>
          <a:p>
            <a:pPr marL="0" indent="0">
              <a:buNone/>
            </a:pPr>
            <a:r>
              <a:rPr lang="en-US" sz="2000" dirty="0">
                <a:latin typeface="Times New Roman" panose="02020603050405020304" pitchFamily="18" charset="0"/>
                <a:cs typeface="Times New Roman" panose="02020603050405020304" pitchFamily="18" charset="0"/>
              </a:rPr>
              <a:t>Backend: </a:t>
            </a:r>
            <a:r>
              <a:rPr lang="en-US" sz="2000" dirty="0" err="1">
                <a:latin typeface="Times New Roman" panose="02020603050405020304" pitchFamily="18" charset="0"/>
                <a:cs typeface="Times New Roman" panose="02020603050405020304" pitchFamily="18" charset="0"/>
              </a:rPr>
              <a:t>Node.js</a:t>
            </a:r>
            <a:r>
              <a:rPr lang="en-US" sz="2000" dirty="0">
                <a:latin typeface="Times New Roman" panose="02020603050405020304" pitchFamily="18" charset="0"/>
                <a:cs typeface="Times New Roman" panose="02020603050405020304" pitchFamily="18" charset="0"/>
              </a:rPr>
              <a:t>  + Express + MySQL.</a:t>
            </a:r>
          </a:p>
          <a:p>
            <a:pPr marL="0" indent="0">
              <a:buNone/>
            </a:pPr>
            <a:r>
              <a:rPr lang="en-US" sz="2000" dirty="0">
                <a:latin typeface="Times New Roman" panose="02020603050405020304" pitchFamily="18" charset="0"/>
                <a:cs typeface="Times New Roman" panose="02020603050405020304" pitchFamily="18" charset="0"/>
              </a:rPr>
              <a:t>Frontend: </a:t>
            </a:r>
            <a:r>
              <a:rPr lang="en-US" sz="2000" dirty="0" err="1">
                <a:latin typeface="Times New Roman" panose="02020603050405020304" pitchFamily="18" charset="0"/>
                <a:cs typeface="Times New Roman" panose="02020603050405020304" pitchFamily="18" charset="0"/>
              </a:rPr>
              <a:t>React.js</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ML: Python (</a:t>
            </a:r>
            <a:r>
              <a:rPr lang="en-US" sz="2000" dirty="0" err="1">
                <a:latin typeface="Times New Roman" panose="02020603050405020304" pitchFamily="18" charset="0"/>
                <a:cs typeface="Times New Roman" panose="02020603050405020304" pitchFamily="18" charset="0"/>
              </a:rPr>
              <a:t>Scikit</a:t>
            </a:r>
            <a:r>
              <a:rPr lang="en-US" sz="2000" dirty="0">
                <a:latin typeface="Times New Roman" panose="02020603050405020304" pitchFamily="18" charset="0"/>
                <a:cs typeface="Times New Roman" panose="02020603050405020304" pitchFamily="18" charset="0"/>
              </a:rPr>
              <a:t>‑learn).</a:t>
            </a:r>
          </a:p>
          <a:p>
            <a:pPr marL="0" indent="0">
              <a:buNone/>
            </a:pPr>
            <a:r>
              <a:rPr lang="en-US" sz="2000" dirty="0">
                <a:latin typeface="Times New Roman" panose="02020603050405020304" pitchFamily="18" charset="0"/>
                <a:cs typeface="Times New Roman" panose="02020603050405020304" pitchFamily="18" charset="0"/>
              </a:rPr>
              <a:t>Testing : Validate ML predictions with test dataset.</a:t>
            </a:r>
          </a:p>
          <a:p>
            <a:pPr marL="0" indent="0">
              <a:buNone/>
            </a:pPr>
            <a:r>
              <a:rPr lang="en-US" sz="2000" dirty="0">
                <a:latin typeface="Times New Roman" panose="02020603050405020304" pitchFamily="18" charset="0"/>
                <a:cs typeface="Times New Roman" panose="02020603050405020304" pitchFamily="18" charset="0"/>
              </a:rPr>
              <a:t>Test doctor recommendation accuracy.</a:t>
            </a:r>
          </a:p>
          <a:p>
            <a:pPr marL="0" indent="0">
              <a:buNone/>
            </a:pPr>
            <a:r>
              <a:rPr lang="en-US" sz="2000" dirty="0">
                <a:latin typeface="Times New Roman" panose="02020603050405020304" pitchFamily="18" charset="0"/>
                <a:cs typeface="Times New Roman" panose="02020603050405020304" pitchFamily="18" charset="0"/>
              </a:rPr>
              <a:t>Test appointment booking and HMS integration.</a:t>
            </a:r>
          </a:p>
          <a:p>
            <a:pPr marL="0" indent="0">
              <a:buNone/>
            </a:pPr>
            <a:r>
              <a:rPr lang="en-US" sz="2000" dirty="0">
                <a:latin typeface="Times New Roman" panose="02020603050405020304" pitchFamily="18" charset="0"/>
                <a:cs typeface="Times New Roman" panose="02020603050405020304" pitchFamily="18" charset="0"/>
              </a:rPr>
              <a:t>Review : Each college review acts like a sprint review.</a:t>
            </a:r>
          </a:p>
          <a:p>
            <a:pPr marL="0" indent="0">
              <a:buNone/>
            </a:pPr>
            <a:r>
              <a:rPr lang="en-US" sz="2000" dirty="0">
                <a:latin typeface="Times New Roman" panose="02020603050405020304" pitchFamily="18" charset="0"/>
                <a:cs typeface="Times New Roman" panose="02020603050405020304" pitchFamily="18" charset="0"/>
              </a:rPr>
              <a:t>Demonstrate completed modules, gather feedback, refine</a:t>
            </a:r>
          </a:p>
          <a:p>
            <a:pPr marL="0" indent="0">
              <a:buNone/>
            </a:pPr>
            <a:r>
              <a:rPr lang="en-US" sz="2000" dirty="0">
                <a:latin typeface="Times New Roman" panose="02020603050405020304" pitchFamily="18" charset="0"/>
                <a:cs typeface="Times New Roman" panose="02020603050405020304" pitchFamily="18" charset="0"/>
              </a:rPr>
              <a:t>Iteration : Update symptoms dataset</a:t>
            </a:r>
          </a:p>
          <a:p>
            <a:pPr marL="0" indent="0">
              <a:buNone/>
            </a:pPr>
            <a:r>
              <a:rPr lang="en-US" sz="2000" dirty="0">
                <a:latin typeface="Times New Roman" panose="02020603050405020304" pitchFamily="18" charset="0"/>
                <a:cs typeface="Times New Roman" panose="02020603050405020304" pitchFamily="18" charset="0"/>
              </a:rPr>
              <a:t>Retrain ML model.</a:t>
            </a:r>
          </a:p>
          <a:p>
            <a:pPr marL="0" indent="0">
              <a:buNone/>
            </a:pPr>
            <a:r>
              <a:rPr lang="en-US" sz="2000" dirty="0">
                <a:latin typeface="Times New Roman" panose="02020603050405020304" pitchFamily="18" charset="0"/>
                <a:cs typeface="Times New Roman" panose="02020603050405020304" pitchFamily="18" charset="0"/>
              </a:rPr>
              <a:t>Add new features (protected routes, visualization dashboard, notifications) </a:t>
            </a:r>
          </a:p>
        </p:txBody>
      </p:sp>
      <p:sp>
        <p:nvSpPr>
          <p:cNvPr id="5" name="Flowchart: Delay 4">
            <a:extLst>
              <a:ext uri="{FF2B5EF4-FFF2-40B4-BE49-F238E27FC236}">
                <a16:creationId xmlns:a16="http://schemas.microsoft.com/office/drawing/2014/main" id="{18B24BFD-24CA-A404-7A3C-37A6659842EF}"/>
              </a:ext>
            </a:extLst>
          </p:cNvPr>
          <p:cNvSpPr/>
          <p:nvPr/>
        </p:nvSpPr>
        <p:spPr>
          <a:xfrm>
            <a:off x="756492" y="6396760"/>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pic>
        <p:nvPicPr>
          <p:cNvPr id="7" name="Picture 26" descr="undefined">
            <a:extLst>
              <a:ext uri="{FF2B5EF4-FFF2-40B4-BE49-F238E27FC236}">
                <a16:creationId xmlns:a16="http://schemas.microsoft.com/office/drawing/2014/main" id="{D0A507B3-14D4-7A58-9FD7-F8549A69E5F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88328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F6E15-AC44-0EFE-3423-DA04DB36B94C}"/>
              </a:ext>
            </a:extLst>
          </p:cNvPr>
          <p:cNvSpPr>
            <a:spLocks noGrp="1"/>
          </p:cNvSpPr>
          <p:nvPr>
            <p:ph type="title"/>
          </p:nvPr>
        </p:nvSpPr>
        <p:spPr>
          <a:xfrm>
            <a:off x="457200" y="274638"/>
            <a:ext cx="8229600" cy="186602"/>
          </a:xfrm>
        </p:spPr>
        <p:txBody>
          <a:bodyPr>
            <a:normAutofit fontScale="90000"/>
          </a:bodyPr>
          <a:lstStyle/>
          <a:p>
            <a:r>
              <a:rPr lang="en-US" dirty="0">
                <a:latin typeface="Times New Roman" panose="02020603050405020304" pitchFamily="18" charset="0"/>
                <a:cs typeface="Times New Roman" panose="02020603050405020304" pitchFamily="18" charset="0"/>
              </a:rPr>
              <a:t>General methodology</a:t>
            </a:r>
            <a:r>
              <a:rPr lang="en-US" dirty="0"/>
              <a:t> </a:t>
            </a:r>
          </a:p>
        </p:txBody>
      </p:sp>
      <p:sp>
        <p:nvSpPr>
          <p:cNvPr id="3" name="Content Placeholder 2">
            <a:extLst>
              <a:ext uri="{FF2B5EF4-FFF2-40B4-BE49-F238E27FC236}">
                <a16:creationId xmlns:a16="http://schemas.microsoft.com/office/drawing/2014/main" id="{CBFE64B8-0835-6649-21BC-2A1DA96D8894}"/>
              </a:ext>
            </a:extLst>
          </p:cNvPr>
          <p:cNvSpPr>
            <a:spLocks noGrp="1"/>
          </p:cNvSpPr>
          <p:nvPr>
            <p:ph idx="1"/>
          </p:nvPr>
        </p:nvSpPr>
        <p:spPr>
          <a:xfrm>
            <a:off x="246682" y="677607"/>
            <a:ext cx="8650635" cy="4467104"/>
          </a:xfrm>
        </p:spPr>
        <p:txBody>
          <a:bodyPr>
            <a:noAutofit/>
          </a:bodyPr>
          <a:lstStyle/>
          <a:p>
            <a:pPr marL="0" indent="0">
              <a:buNone/>
            </a:pPr>
            <a:r>
              <a:rPr lang="en-GB" sz="1800" kern="100" dirty="0">
                <a:effectLst/>
                <a:latin typeface="Times New Roman" panose="02020603050405020304" pitchFamily="18" charset="0"/>
                <a:ea typeface="Times New Roman" panose="02020603050405020304" pitchFamily="18" charset="0"/>
                <a:cs typeface="Times New Roman" panose="02020603050405020304" pitchFamily="18" charset="0"/>
              </a:rPr>
              <a:t>1. Data Collection &amp; </a:t>
            </a:r>
            <a:r>
              <a:rPr lang="en-GB" sz="1800" kern="100" dirty="0" err="1">
                <a:effectLst/>
                <a:latin typeface="Times New Roman" panose="02020603050405020304" pitchFamily="18" charset="0"/>
                <a:ea typeface="Times New Roman" panose="02020603050405020304" pitchFamily="18" charset="0"/>
                <a:cs typeface="Times New Roman" panose="02020603050405020304" pitchFamily="18" charset="0"/>
              </a:rPr>
              <a:t>Preprocessing</a:t>
            </a:r>
            <a:endParaRPr lang="en-GB"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r>
              <a:rPr lang="en-GB" sz="1800" kern="100" dirty="0">
                <a:effectLst/>
                <a:latin typeface="Times New Roman" panose="02020603050405020304" pitchFamily="18" charset="0"/>
                <a:ea typeface="Times New Roman" panose="02020603050405020304" pitchFamily="18" charset="0"/>
                <a:cs typeface="Times New Roman" panose="02020603050405020304" pitchFamily="18" charset="0"/>
              </a:rPr>
              <a:t>Patient symptoms dataset gathered from medical sources.</a:t>
            </a:r>
          </a:p>
          <a:p>
            <a:pPr marL="0" indent="0">
              <a:buNone/>
            </a:pPr>
            <a:r>
              <a:rPr lang="en-GB" sz="1800" kern="100" dirty="0">
                <a:effectLst/>
                <a:latin typeface="Times New Roman" panose="02020603050405020304" pitchFamily="18" charset="0"/>
                <a:ea typeface="Times New Roman" panose="02020603050405020304" pitchFamily="18" charset="0"/>
                <a:cs typeface="Times New Roman" panose="02020603050405020304" pitchFamily="18" charset="0"/>
              </a:rPr>
              <a:t>Cleaned and standardized symptom entries</a:t>
            </a:r>
            <a:r>
              <a:rPr lang="en-US" sz="1800" kern="100" dirty="0">
                <a:latin typeface="Times New Roman" panose="02020603050405020304" pitchFamily="18" charset="0"/>
                <a:ea typeface="Times New Roman" panose="02020603050405020304" pitchFamily="18" charset="0"/>
                <a:cs typeface="Times New Roman" panose="02020603050405020304" pitchFamily="18" charset="0"/>
              </a:rPr>
              <a:t>, </a:t>
            </a:r>
            <a:r>
              <a:rPr lang="en-GB" sz="1800" kern="100" dirty="0">
                <a:effectLst/>
                <a:latin typeface="Times New Roman" panose="02020603050405020304" pitchFamily="18" charset="0"/>
                <a:ea typeface="Times New Roman" panose="02020603050405020304" pitchFamily="18" charset="0"/>
                <a:cs typeface="Times New Roman" panose="02020603050405020304" pitchFamily="18" charset="0"/>
              </a:rPr>
              <a:t>ML model training.</a:t>
            </a:r>
          </a:p>
          <a:p>
            <a:pPr marL="0" indent="0">
              <a:buNone/>
            </a:pPr>
            <a:r>
              <a:rPr lang="en-GB" sz="1800" kern="100" dirty="0">
                <a:effectLst/>
                <a:latin typeface="Times New Roman" panose="02020603050405020304" pitchFamily="18" charset="0"/>
                <a:ea typeface="Times New Roman" panose="02020603050405020304" pitchFamily="18" charset="0"/>
                <a:cs typeface="Times New Roman" panose="02020603050405020304" pitchFamily="18" charset="0"/>
              </a:rPr>
              <a:t>2. Machine Learning Model</a:t>
            </a:r>
          </a:p>
          <a:p>
            <a:pPr marL="0" indent="0">
              <a:buNone/>
            </a:pPr>
            <a:r>
              <a:rPr lang="en-GB" sz="1800" kern="100" dirty="0">
                <a:effectLst/>
                <a:latin typeface="Times New Roman" panose="02020603050405020304" pitchFamily="18" charset="0"/>
                <a:ea typeface="Times New Roman" panose="02020603050405020304" pitchFamily="18" charset="0"/>
                <a:cs typeface="Times New Roman" panose="02020603050405020304" pitchFamily="18" charset="0"/>
              </a:rPr>
              <a:t>Trained classification model to predict disease based on</a:t>
            </a: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800" kern="100" dirty="0">
                <a:effectLst/>
                <a:latin typeface="Times New Roman" panose="02020603050405020304" pitchFamily="18" charset="0"/>
                <a:ea typeface="Times New Roman" panose="02020603050405020304" pitchFamily="18" charset="0"/>
                <a:cs typeface="Times New Roman" panose="02020603050405020304" pitchFamily="18" charset="0"/>
              </a:rPr>
              <a:t>symptoms</a:t>
            </a: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100" dirty="0">
                <a:latin typeface="Times New Roman" panose="02020603050405020304" pitchFamily="18" charset="0"/>
                <a:ea typeface="Times New Roman" panose="02020603050405020304" pitchFamily="18" charset="0"/>
                <a:cs typeface="Times New Roman" panose="02020603050405020304" pitchFamily="18" charset="0"/>
              </a:rPr>
              <a:t>E</a:t>
            </a:r>
            <a:r>
              <a:rPr lang="en-GB" sz="1800" kern="100" dirty="0">
                <a:effectLst/>
                <a:latin typeface="Times New Roman" panose="02020603050405020304" pitchFamily="18" charset="0"/>
                <a:ea typeface="Times New Roman" panose="02020603050405020304" pitchFamily="18" charset="0"/>
                <a:cs typeface="Times New Roman" panose="02020603050405020304" pitchFamily="18" charset="0"/>
              </a:rPr>
              <a:t>valuated accuracy using test dataset.</a:t>
            </a:r>
          </a:p>
          <a:p>
            <a:pPr marL="0" indent="0">
              <a:buNone/>
            </a:pPr>
            <a:r>
              <a:rPr lang="en-US" sz="1800" kern="100" dirty="0">
                <a:latin typeface="Times New Roman" panose="02020603050405020304" pitchFamily="18" charset="0"/>
                <a:ea typeface="Times New Roman" panose="02020603050405020304" pitchFamily="18" charset="0"/>
                <a:cs typeface="Times New Roman" panose="02020603050405020304" pitchFamily="18" charset="0"/>
              </a:rPr>
              <a:t>S</a:t>
            </a:r>
            <a:r>
              <a:rPr lang="en-GB" sz="1800" kern="100" dirty="0">
                <a:effectLst/>
                <a:latin typeface="Times New Roman" panose="02020603050405020304" pitchFamily="18" charset="0"/>
                <a:ea typeface="Times New Roman" panose="02020603050405020304" pitchFamily="18" charset="0"/>
                <a:cs typeface="Times New Roman" panose="02020603050405020304" pitchFamily="18" charset="0"/>
              </a:rPr>
              <a:t>elected best performing algorithm (Random Forest).</a:t>
            </a:r>
          </a:p>
          <a:p>
            <a:pPr marL="0" indent="0">
              <a:buNone/>
            </a:pPr>
            <a:r>
              <a:rPr lang="en-GB" sz="1800" kern="100" dirty="0">
                <a:effectLst/>
                <a:latin typeface="Times New Roman" panose="02020603050405020304" pitchFamily="18" charset="0"/>
                <a:ea typeface="Times New Roman" panose="02020603050405020304" pitchFamily="18" charset="0"/>
                <a:cs typeface="Times New Roman" panose="02020603050405020304" pitchFamily="18" charset="0"/>
              </a:rPr>
              <a:t>3. Disease–Specialist Mapping</a:t>
            </a:r>
          </a:p>
          <a:p>
            <a:pPr marL="0" indent="0">
              <a:buNone/>
            </a:pPr>
            <a:r>
              <a:rPr lang="en-GB" sz="1800" kern="100" dirty="0">
                <a:effectLst/>
                <a:latin typeface="Times New Roman" panose="02020603050405020304" pitchFamily="18" charset="0"/>
                <a:ea typeface="Times New Roman" panose="02020603050405020304" pitchFamily="18" charset="0"/>
                <a:cs typeface="Times New Roman" panose="02020603050405020304" pitchFamily="18" charset="0"/>
              </a:rPr>
              <a:t>Each predicted disease mapped to the correct </a:t>
            </a: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specialists</a:t>
            </a:r>
            <a:r>
              <a:rPr lang="en-GB" sz="1800" kern="100" dirty="0">
                <a:effectLst/>
                <a:latin typeface="Times New Roman" panose="02020603050405020304" pitchFamily="18" charset="0"/>
                <a:ea typeface="Times New Roman" panose="02020603050405020304" pitchFamily="18" charset="0"/>
                <a:cs typeface="Times New Roman" panose="02020603050405020304" pitchFamily="18" charset="0"/>
              </a:rPr>
              <a:t>.</a:t>
            </a:r>
          </a:p>
          <a:p>
            <a:pPr marL="0" indent="0">
              <a:buNone/>
            </a:pPr>
            <a:r>
              <a:rPr lang="en-GB" sz="1800" kern="100" dirty="0">
                <a:effectLst/>
                <a:latin typeface="Times New Roman" panose="02020603050405020304" pitchFamily="18" charset="0"/>
                <a:ea typeface="Times New Roman" panose="02020603050405020304" pitchFamily="18" charset="0"/>
                <a:cs typeface="Times New Roman" panose="02020603050405020304" pitchFamily="18" charset="0"/>
              </a:rPr>
              <a:t>Automated routing logic ensures patients are directed to the right doctor.</a:t>
            </a:r>
          </a:p>
          <a:p>
            <a:pPr marL="0" indent="0">
              <a:buNone/>
            </a:pPr>
            <a:r>
              <a:rPr lang="en-GB" sz="1800" kern="100" dirty="0">
                <a:effectLst/>
                <a:latin typeface="Times New Roman" panose="02020603050405020304" pitchFamily="18" charset="0"/>
                <a:ea typeface="Times New Roman" panose="02020603050405020304" pitchFamily="18" charset="0"/>
                <a:cs typeface="Times New Roman" panose="02020603050405020304" pitchFamily="18" charset="0"/>
              </a:rPr>
              <a:t>4. Doctor Recommendation</a:t>
            </a:r>
            <a:r>
              <a:rPr lang="en-US" sz="1800" kern="100" dirty="0">
                <a:latin typeface="Times New Roman" panose="02020603050405020304" pitchFamily="18" charset="0"/>
                <a:ea typeface="Times New Roman" panose="02020603050405020304" pitchFamily="18" charset="0"/>
                <a:cs typeface="Times New Roman" panose="02020603050405020304" pitchFamily="18" charset="0"/>
              </a:rPr>
              <a:t> : </a:t>
            </a:r>
            <a:r>
              <a:rPr lang="en-GB" sz="1800" kern="100" dirty="0">
                <a:effectLst/>
                <a:latin typeface="Times New Roman" panose="02020603050405020304" pitchFamily="18" charset="0"/>
                <a:ea typeface="Times New Roman" panose="02020603050405020304" pitchFamily="18" charset="0"/>
                <a:cs typeface="Times New Roman" panose="02020603050405020304" pitchFamily="18" charset="0"/>
              </a:rPr>
              <a:t>Query doctor database by specialization.</a:t>
            </a:r>
            <a:r>
              <a:rPr lang="en-US" sz="1800" kern="100" dirty="0">
                <a:latin typeface="Times New Roman" panose="02020603050405020304" pitchFamily="18" charset="0"/>
                <a:ea typeface="Times New Roman" panose="02020603050405020304" pitchFamily="18" charset="0"/>
                <a:cs typeface="Times New Roman" panose="02020603050405020304" pitchFamily="18" charset="0"/>
              </a:rPr>
              <a:t> </a:t>
            </a:r>
            <a:r>
              <a:rPr lang="en-GB" sz="1800" kern="100" dirty="0">
                <a:effectLst/>
                <a:latin typeface="Times New Roman" panose="02020603050405020304" pitchFamily="18" charset="0"/>
                <a:ea typeface="Times New Roman" panose="02020603050405020304" pitchFamily="18" charset="0"/>
                <a:cs typeface="Times New Roman" panose="02020603050405020304" pitchFamily="18" charset="0"/>
              </a:rPr>
              <a:t>Filter by availability, ratings. </a:t>
            </a:r>
          </a:p>
          <a:p>
            <a:pPr marL="0" indent="0">
              <a:buNone/>
            </a:pPr>
            <a:r>
              <a:rPr lang="en-GB" sz="1800" kern="100" dirty="0">
                <a:effectLst/>
                <a:latin typeface="Times New Roman" panose="02020603050405020304" pitchFamily="18" charset="0"/>
                <a:ea typeface="Times New Roman" panose="02020603050405020304" pitchFamily="18" charset="0"/>
                <a:cs typeface="Times New Roman" panose="02020603050405020304" pitchFamily="18" charset="0"/>
              </a:rPr>
              <a:t>Return recommended doctor list to patient.</a:t>
            </a:r>
          </a:p>
          <a:p>
            <a:pPr marL="0" indent="0">
              <a:buNone/>
            </a:pPr>
            <a:r>
              <a:rPr lang="en-GB" sz="1800" kern="100" dirty="0">
                <a:effectLst/>
                <a:latin typeface="Times New Roman" panose="02020603050405020304" pitchFamily="18" charset="0"/>
                <a:ea typeface="Times New Roman" panose="02020603050405020304" pitchFamily="18" charset="0"/>
                <a:cs typeface="Times New Roman" panose="02020603050405020304" pitchFamily="18" charset="0"/>
              </a:rPr>
              <a:t>5. Appointment</a:t>
            </a:r>
            <a:r>
              <a:rPr lang="en-US" sz="1800" kern="100" dirty="0">
                <a:latin typeface="Times New Roman" panose="02020603050405020304" pitchFamily="18" charset="0"/>
                <a:ea typeface="Times New Roman" panose="02020603050405020304" pitchFamily="18" charset="0"/>
                <a:cs typeface="Times New Roman" panose="02020603050405020304" pitchFamily="18" charset="0"/>
              </a:rPr>
              <a:t> : </a:t>
            </a:r>
            <a:r>
              <a:rPr lang="en-GB" sz="1800" kern="100" dirty="0">
                <a:effectLst/>
                <a:latin typeface="Times New Roman" panose="02020603050405020304" pitchFamily="18" charset="0"/>
                <a:ea typeface="Times New Roman" panose="02020603050405020304" pitchFamily="18" charset="0"/>
                <a:cs typeface="Times New Roman" panose="02020603050405020304" pitchFamily="18" charset="0"/>
              </a:rPr>
              <a:t>Patients book appointments with recommended doctors</a:t>
            </a: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 and write reviews after</a:t>
            </a:r>
            <a:r>
              <a:rPr lang="en-US" sz="1800" kern="100" dirty="0">
                <a:latin typeface="Times New Roman" panose="02020603050405020304" pitchFamily="18" charset="0"/>
                <a:ea typeface="Times New Roman" panose="02020603050405020304" pitchFamily="18" charset="0"/>
                <a:cs typeface="Times New Roman" panose="02020603050405020304" pitchFamily="18" charset="0"/>
              </a:rPr>
              <a:t> completion.</a:t>
            </a:r>
            <a:endPar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r>
              <a:rPr lang="en-US" sz="1800" kern="100" dirty="0">
                <a:latin typeface="Times New Roman" panose="02020603050405020304" pitchFamily="18" charset="0"/>
                <a:ea typeface="Times New Roman" panose="02020603050405020304" pitchFamily="18" charset="0"/>
                <a:cs typeface="Times New Roman" panose="02020603050405020304" pitchFamily="18" charset="0"/>
              </a:rPr>
              <a:t>Doctors manages appointments</a:t>
            </a:r>
            <a:endParaRPr lang="en-GB"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r>
              <a:rPr lang="en-GB" sz="1800" kern="100" dirty="0">
                <a:effectLst/>
                <a:latin typeface="Times New Roman" panose="02020603050405020304" pitchFamily="18" charset="0"/>
                <a:ea typeface="Times New Roman" panose="02020603050405020304" pitchFamily="18" charset="0"/>
                <a:cs typeface="Times New Roman" panose="02020603050405020304" pitchFamily="18" charset="0"/>
              </a:rPr>
              <a:t>Admin dashboard manages doctors, patients.</a:t>
            </a:r>
          </a:p>
        </p:txBody>
      </p:sp>
      <p:sp>
        <p:nvSpPr>
          <p:cNvPr id="5" name="Flowchart: Delay 4">
            <a:extLst>
              <a:ext uri="{FF2B5EF4-FFF2-40B4-BE49-F238E27FC236}">
                <a16:creationId xmlns:a16="http://schemas.microsoft.com/office/drawing/2014/main" id="{1D217EEF-EF0F-F0F2-44FF-51802FFB1812}"/>
              </a:ext>
            </a:extLst>
          </p:cNvPr>
          <p:cNvSpPr/>
          <p:nvPr/>
        </p:nvSpPr>
        <p:spPr>
          <a:xfrm>
            <a:off x="756492" y="6396760"/>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pic>
        <p:nvPicPr>
          <p:cNvPr id="7" name="Picture 26" descr="undefined">
            <a:extLst>
              <a:ext uri="{FF2B5EF4-FFF2-40B4-BE49-F238E27FC236}">
                <a16:creationId xmlns:a16="http://schemas.microsoft.com/office/drawing/2014/main" id="{AC802358-EBDE-DE80-2EFA-0024FAB2989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0304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F11A7-9A1F-4025-7DFD-D39FE07CD15B}"/>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E903A0FF-C26F-813D-3509-68F887419615}"/>
              </a:ext>
            </a:extLst>
          </p:cNvPr>
          <p:cNvSpPr>
            <a:spLocks noGrp="1"/>
          </p:cNvSpPr>
          <p:nvPr>
            <p:ph idx="1"/>
          </p:nvPr>
        </p:nvSpPr>
        <p:spPr>
          <a:xfrm>
            <a:off x="457200" y="1166018"/>
            <a:ext cx="8229600" cy="4525963"/>
          </a:xfrm>
        </p:spPr>
        <p:txBody>
          <a:bodyPr>
            <a:normAutofit/>
          </a:bodyPr>
          <a:lstStyle/>
          <a:p>
            <a:pPr marL="0" indent="0">
              <a:buNone/>
            </a:pPr>
            <a:endParaRPr lang="en-GB"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r>
              <a:rPr lang="en-GB" sz="2000" kern="100" dirty="0">
                <a:effectLst/>
                <a:latin typeface="Times New Roman" panose="02020603050405020304" pitchFamily="18" charset="0"/>
                <a:ea typeface="Times New Roman" panose="02020603050405020304" pitchFamily="18" charset="0"/>
                <a:cs typeface="Times New Roman" panose="02020603050405020304" pitchFamily="18" charset="0"/>
              </a:rPr>
              <a:t>Problem Identification → Patients struggle to find the right specialist.</a:t>
            </a:r>
          </a:p>
          <a:p>
            <a:pPr marL="0" indent="0">
              <a:buNone/>
            </a:pPr>
            <a:r>
              <a:rPr lang="en-GB" sz="2000" kern="100" dirty="0">
                <a:effectLst/>
                <a:latin typeface="Times New Roman" panose="02020603050405020304" pitchFamily="18" charset="0"/>
                <a:ea typeface="Times New Roman" panose="02020603050405020304" pitchFamily="18" charset="0"/>
                <a:cs typeface="Times New Roman" panose="02020603050405020304" pitchFamily="18" charset="0"/>
              </a:rPr>
              <a:t>Requirement Analysis → Functional (ML prediction, doctor recommendation, appointment booking) &amp; Non‑functional (usability, scalability).</a:t>
            </a:r>
          </a:p>
          <a:p>
            <a:pPr marL="0" indent="0">
              <a:buNone/>
            </a:pPr>
            <a:r>
              <a:rPr lang="en-GB" sz="2000" kern="100" dirty="0">
                <a:effectLst/>
                <a:latin typeface="Times New Roman" panose="02020603050405020304" pitchFamily="18" charset="0"/>
                <a:ea typeface="Times New Roman" panose="02020603050405020304" pitchFamily="18" charset="0"/>
                <a:cs typeface="Times New Roman" panose="02020603050405020304" pitchFamily="18" charset="0"/>
              </a:rPr>
              <a:t>System Design → Database schema, ML model design, frontend/backend architecture.</a:t>
            </a:r>
          </a:p>
          <a:p>
            <a:pPr marL="0" indent="0">
              <a:buNone/>
            </a:pPr>
            <a:r>
              <a:rPr lang="en-GB" sz="2000" kern="100" dirty="0">
                <a:effectLst/>
                <a:latin typeface="Times New Roman" panose="02020603050405020304" pitchFamily="18" charset="0"/>
                <a:ea typeface="Times New Roman" panose="02020603050405020304" pitchFamily="18" charset="0"/>
                <a:cs typeface="Times New Roman" panose="02020603050405020304" pitchFamily="18" charset="0"/>
              </a:rPr>
              <a:t>Implementation → </a:t>
            </a:r>
            <a:r>
              <a:rPr lang="en-GB" sz="2000" kern="100" dirty="0" err="1">
                <a:effectLst/>
                <a:latin typeface="Times New Roman" panose="02020603050405020304" pitchFamily="18" charset="0"/>
                <a:ea typeface="Times New Roman" panose="02020603050405020304" pitchFamily="18" charset="0"/>
                <a:cs typeface="Times New Roman" panose="02020603050405020304" pitchFamily="18" charset="0"/>
              </a:rPr>
              <a:t>Node.js</a:t>
            </a:r>
            <a:r>
              <a:rPr lang="en-GB" sz="2000" kern="100" dirty="0">
                <a:effectLst/>
                <a:latin typeface="Times New Roman" panose="02020603050405020304" pitchFamily="18" charset="0"/>
                <a:ea typeface="Times New Roman" panose="02020603050405020304" pitchFamily="18" charset="0"/>
                <a:cs typeface="Times New Roman" panose="02020603050405020304" pitchFamily="18" charset="0"/>
              </a:rPr>
              <a:t>, Express, React, MySQL, Python ML.</a:t>
            </a:r>
          </a:p>
          <a:p>
            <a:pPr marL="0" indent="0">
              <a:buNone/>
            </a:pPr>
            <a:r>
              <a:rPr lang="en-GB" sz="2000" kern="100" dirty="0">
                <a:effectLst/>
                <a:latin typeface="Times New Roman" panose="02020603050405020304" pitchFamily="18" charset="0"/>
                <a:ea typeface="Times New Roman" panose="02020603050405020304" pitchFamily="18" charset="0"/>
                <a:cs typeface="Times New Roman" panose="02020603050405020304" pitchFamily="18" charset="0"/>
              </a:rPr>
              <a:t>Testing → Unit, integration, and end‑to‑end testing.</a:t>
            </a:r>
          </a:p>
          <a:p>
            <a:pPr marL="0" indent="0">
              <a:buNone/>
            </a:pPr>
            <a:r>
              <a:rPr lang="en-GB" sz="2000" kern="100" dirty="0">
                <a:effectLst/>
                <a:latin typeface="Times New Roman" panose="02020603050405020304" pitchFamily="18" charset="0"/>
                <a:ea typeface="Times New Roman" panose="02020603050405020304" pitchFamily="18" charset="0"/>
                <a:cs typeface="Times New Roman" panose="02020603050405020304" pitchFamily="18" charset="0"/>
              </a:rPr>
              <a:t>Deployment → Local deployment on 4GB laptop for demo.</a:t>
            </a:r>
          </a:p>
          <a:p>
            <a:pPr marL="0" indent="0">
              <a:buNone/>
            </a:pPr>
            <a:r>
              <a:rPr lang="en-GB" sz="2000" kern="100" dirty="0">
                <a:effectLst/>
                <a:latin typeface="Times New Roman" panose="02020603050405020304" pitchFamily="18" charset="0"/>
                <a:ea typeface="Times New Roman" panose="02020603050405020304" pitchFamily="18" charset="0"/>
                <a:cs typeface="Times New Roman" panose="02020603050405020304" pitchFamily="18" charset="0"/>
              </a:rPr>
              <a:t>Maintenance &amp; Future Scope → Dataset updates, ML retraining, password hashing, cloud deployment, dashboards</a:t>
            </a:r>
            <a:r>
              <a:rPr lang="en-GB" sz="1800" kern="100" dirty="0">
                <a:effectLst/>
                <a:latin typeface="Courier New" panose="02070309020205020404" pitchFamily="49" charset="0"/>
                <a:ea typeface="Times New Roman" panose="02020603050405020304" pitchFamily="18" charset="0"/>
                <a:cs typeface="Times New Roman" panose="02020603050405020304" pitchFamily="18" charset="0"/>
              </a:rPr>
              <a:t>.</a:t>
            </a:r>
            <a:endParaRPr lang="en-GB" sz="1800" kern="100" dirty="0">
              <a:effectLst/>
              <a:latin typeface="Consolas" panose="020B0609020204030204" pitchFamily="49" charset="0"/>
              <a:ea typeface="Times New Roman" panose="02020603050405020304" pitchFamily="18" charset="0"/>
              <a:cs typeface="Times New Roman" panose="02020603050405020304" pitchFamily="18" charset="0"/>
            </a:endParaRPr>
          </a:p>
          <a:p>
            <a:endParaRPr lang="en-US" dirty="0"/>
          </a:p>
        </p:txBody>
      </p:sp>
      <p:sp>
        <p:nvSpPr>
          <p:cNvPr id="5" name="Flowchart: Delay 4">
            <a:extLst>
              <a:ext uri="{FF2B5EF4-FFF2-40B4-BE49-F238E27FC236}">
                <a16:creationId xmlns:a16="http://schemas.microsoft.com/office/drawing/2014/main" id="{A1A84D11-1BEE-9F64-A2DF-51641DD144EA}"/>
              </a:ext>
            </a:extLst>
          </p:cNvPr>
          <p:cNvSpPr/>
          <p:nvPr/>
        </p:nvSpPr>
        <p:spPr>
          <a:xfrm>
            <a:off x="756492" y="6396760"/>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pic>
        <p:nvPicPr>
          <p:cNvPr id="7" name="Picture 26" descr="undefined">
            <a:extLst>
              <a:ext uri="{FF2B5EF4-FFF2-40B4-BE49-F238E27FC236}">
                <a16:creationId xmlns:a16="http://schemas.microsoft.com/office/drawing/2014/main" id="{F26E34C9-5997-E94C-C0F2-A698DE11836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5849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Delay 9"/>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3051" y="276285"/>
            <a:ext cx="9083406" cy="4781502"/>
          </a:xfrm>
          <a:prstGeom prst="rect">
            <a:avLst/>
          </a:prstGeom>
        </p:spPr>
        <p:txBody>
          <a:bodyPr wrap="square">
            <a:spAutoFit/>
          </a:bodyPr>
          <a:lstStyle/>
          <a:p>
            <a:pPr algn="ctr"/>
            <a:r>
              <a:rPr lang="en-US" sz="2400" b="1" dirty="0">
                <a:latin typeface="Times New Roman" pitchFamily="18" charset="0"/>
                <a:cs typeface="Times New Roman" pitchFamily="18" charset="0"/>
              </a:rPr>
              <a:t>HARDWARE REQUIREMENTS</a:t>
            </a:r>
          </a:p>
          <a:p>
            <a:pPr algn="ctr"/>
            <a:endParaRPr lang="en-US" sz="2300" b="1" dirty="0">
              <a:latin typeface="Times New Roman" pitchFamily="18" charset="0"/>
              <a:cs typeface="Times New Roman" pitchFamily="18" charset="0"/>
            </a:endParaRPr>
          </a:p>
          <a:p>
            <a:pPr marL="0" indent="0" algn="ctr">
              <a:lnSpc>
                <a:spcPct val="107000"/>
              </a:lnSpc>
              <a:spcAft>
                <a:spcPts val="775"/>
              </a:spcAf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Symptoms-Based Doctor Recommendation and Appointment System </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50000"/>
              </a:lnSpc>
            </a:pPr>
            <a:endParaRPr lang="en-US" b="1" dirty="0">
              <a:latin typeface="Times New Roman" pitchFamily="18" charset="0"/>
              <a:cs typeface="Times New Roman" pitchFamily="18" charset="0"/>
            </a:endParaRPr>
          </a:p>
          <a:p>
            <a:pPr marL="342900" indent="-342900" algn="just">
              <a:lnSpc>
                <a:spcPct val="150000"/>
              </a:lnSpc>
              <a:buFont typeface="Wingdings" pitchFamily="2" charset="2"/>
              <a:buChar char="§"/>
            </a:pPr>
            <a:r>
              <a:rPr lang="en-US" sz="2400" dirty="0">
                <a:latin typeface="Times New Roman" pitchFamily="18" charset="0"/>
                <a:cs typeface="Times New Roman" pitchFamily="18" charset="0"/>
              </a:rPr>
              <a:t>Processor		:AMD PRO A4-3350B APU Radeon R4 Graphics</a:t>
            </a:r>
          </a:p>
          <a:p>
            <a:pPr marL="342900" indent="-342900" algn="just">
              <a:lnSpc>
                <a:spcPct val="200000"/>
              </a:lnSpc>
              <a:buFont typeface="Wingdings" pitchFamily="2" charset="2"/>
              <a:buChar char="§"/>
            </a:pPr>
            <a:r>
              <a:rPr lang="en-US" sz="2400" dirty="0">
                <a:latin typeface="Times New Roman" pitchFamily="18" charset="0"/>
                <a:cs typeface="Times New Roman" pitchFamily="18" charset="0"/>
              </a:rPr>
              <a:t>Memory(RAM)	:   4 GB RAM </a:t>
            </a:r>
          </a:p>
          <a:p>
            <a:pPr marL="342900" indent="-342900" algn="just">
              <a:lnSpc>
                <a:spcPct val="200000"/>
              </a:lnSpc>
              <a:buFont typeface="Wingdings" pitchFamily="2" charset="2"/>
              <a:buChar char="§"/>
            </a:pPr>
            <a:r>
              <a:rPr lang="en-US" sz="2400" dirty="0">
                <a:latin typeface="Times New Roman" pitchFamily="18" charset="0"/>
                <a:cs typeface="Times New Roman" pitchFamily="18" charset="0"/>
              </a:rPr>
              <a:t>Storage                   :   20GB free space</a:t>
            </a:r>
          </a:p>
          <a:p>
            <a:pPr marL="342900" indent="-342900" algn="just">
              <a:lnSpc>
                <a:spcPct val="200000"/>
              </a:lnSpc>
              <a:buFont typeface="Wingdings" pitchFamily="2" charset="2"/>
              <a:buChar char="§"/>
            </a:pPr>
            <a:r>
              <a:rPr lang="en-US" sz="2400" dirty="0">
                <a:latin typeface="Times New Roman" pitchFamily="18" charset="0"/>
                <a:cs typeface="Times New Roman" pitchFamily="18" charset="0"/>
              </a:rPr>
              <a:t>System Type	:   x64-based processor</a:t>
            </a:r>
            <a:endParaRPr lang="en-US" b="1" dirty="0">
              <a:latin typeface="Times New Roman" pitchFamily="18" charset="0"/>
              <a:cs typeface="Times New Roman" pitchFamily="18" charset="0"/>
            </a:endParaRPr>
          </a:p>
        </p:txBody>
      </p:sp>
    </p:spTree>
    <p:extLst>
      <p:ext uri="{BB962C8B-B14F-4D97-AF65-F5344CB8AC3E}">
        <p14:creationId xmlns:p14="http://schemas.microsoft.com/office/powerpoint/2010/main" val="32803942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Delay 9"/>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3051" y="276285"/>
            <a:ext cx="9083406" cy="5289333"/>
          </a:xfrm>
          <a:prstGeom prst="rect">
            <a:avLst/>
          </a:prstGeom>
        </p:spPr>
        <p:txBody>
          <a:bodyPr wrap="square">
            <a:spAutoFit/>
          </a:bodyPr>
          <a:lstStyle/>
          <a:p>
            <a:pPr algn="ctr"/>
            <a:r>
              <a:rPr lang="en-US" sz="2400" b="1" dirty="0">
                <a:latin typeface="Times New Roman" pitchFamily="18" charset="0"/>
                <a:cs typeface="Times New Roman" pitchFamily="18" charset="0"/>
              </a:rPr>
              <a:t>SOFTWARE REQUIREMENTS</a:t>
            </a:r>
          </a:p>
          <a:p>
            <a:pPr algn="ctr"/>
            <a:endParaRPr lang="en-US" sz="2300" b="1" dirty="0">
              <a:latin typeface="Times New Roman" pitchFamily="18" charset="0"/>
              <a:cs typeface="Times New Roman" pitchFamily="18" charset="0"/>
            </a:endParaRPr>
          </a:p>
          <a:p>
            <a:pPr marL="0" indent="0" algn="ctr">
              <a:lnSpc>
                <a:spcPct val="107000"/>
              </a:lnSpc>
              <a:spcAft>
                <a:spcPts val="775"/>
              </a:spcAf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Symptoms-Based Doctor Recommendation and Appointment System</a:t>
            </a:r>
            <a:endParaRPr lang="en-US" b="1" dirty="0">
              <a:latin typeface="Times New Roman" pitchFamily="18" charset="0"/>
              <a:cs typeface="Times New Roman" pitchFamily="18" charset="0"/>
            </a:endParaRPr>
          </a:p>
          <a:p>
            <a:pPr marL="342900" indent="-342900" algn="just">
              <a:lnSpc>
                <a:spcPct val="200000"/>
              </a:lnSpc>
              <a:buFont typeface="Wingdings" pitchFamily="2" charset="2"/>
              <a:buChar char="§"/>
            </a:pPr>
            <a:r>
              <a:rPr lang="en-IN" sz="2400" dirty="0">
                <a:latin typeface="Times New Roman" pitchFamily="18" charset="0"/>
                <a:cs typeface="Times New Roman" pitchFamily="18" charset="0"/>
              </a:rPr>
              <a:t>Operating System Edition	  : Windows 10 Pro </a:t>
            </a:r>
          </a:p>
          <a:p>
            <a:pPr marL="342900" indent="-342900" algn="just">
              <a:lnSpc>
                <a:spcPct val="200000"/>
              </a:lnSpc>
              <a:buFont typeface="Wingdings" pitchFamily="2" charset="2"/>
              <a:buChar char="§"/>
            </a:pPr>
            <a:r>
              <a:rPr lang="en-IN" sz="2400" dirty="0">
                <a:latin typeface="Times New Roman" pitchFamily="18" charset="0"/>
                <a:cs typeface="Times New Roman" pitchFamily="18" charset="0"/>
              </a:rPr>
              <a:t>Front End 			  : HTML, CSS,</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React.js</a:t>
            </a:r>
            <a:r>
              <a:rPr lang="en-US" sz="2400" dirty="0">
                <a:latin typeface="Times New Roman" pitchFamily="18" charset="0"/>
                <a:cs typeface="Times New Roman" pitchFamily="18" charset="0"/>
              </a:rPr>
              <a:t> </a:t>
            </a:r>
            <a:endParaRPr lang="en-IN" sz="2400" dirty="0">
              <a:latin typeface="Times New Roman" pitchFamily="18" charset="0"/>
              <a:cs typeface="Times New Roman" pitchFamily="18" charset="0"/>
            </a:endParaRPr>
          </a:p>
          <a:p>
            <a:pPr marL="342900" indent="-342900" algn="just">
              <a:lnSpc>
                <a:spcPct val="200000"/>
              </a:lnSpc>
              <a:buFont typeface="Wingdings" pitchFamily="2" charset="2"/>
              <a:buChar char="§"/>
            </a:pPr>
            <a:r>
              <a:rPr lang="en-IN" sz="2400" dirty="0">
                <a:latin typeface="Times New Roman" pitchFamily="18" charset="0"/>
                <a:cs typeface="Times New Roman" pitchFamily="18" charset="0"/>
              </a:rPr>
              <a:t>Back End 			  : </a:t>
            </a:r>
            <a:r>
              <a:rPr lang="en-US" sz="2400" dirty="0" err="1">
                <a:latin typeface="Times New Roman" pitchFamily="18" charset="0"/>
                <a:cs typeface="Times New Roman" pitchFamily="18" charset="0"/>
              </a:rPr>
              <a:t>Node.js</a:t>
            </a:r>
            <a:r>
              <a:rPr lang="en-US" sz="2400" dirty="0">
                <a:latin typeface="Times New Roman" pitchFamily="18" charset="0"/>
                <a:cs typeface="Times New Roman" pitchFamily="18" charset="0"/>
              </a:rPr>
              <a:t>, </a:t>
            </a:r>
            <a:r>
              <a:rPr lang="en-IN" sz="2400" dirty="0">
                <a:latin typeface="Times New Roman" pitchFamily="18" charset="0"/>
                <a:cs typeface="Times New Roman" pitchFamily="18" charset="0"/>
              </a:rPr>
              <a:t>Python</a:t>
            </a:r>
            <a:endParaRPr lang="en-IN" sz="2000" dirty="0">
              <a:latin typeface="Times New Roman" pitchFamily="18" charset="0"/>
              <a:cs typeface="Times New Roman" pitchFamily="18" charset="0"/>
            </a:endParaRPr>
          </a:p>
          <a:p>
            <a:pPr marL="342900" indent="-342900" algn="just">
              <a:lnSpc>
                <a:spcPct val="200000"/>
              </a:lnSpc>
              <a:buFont typeface="Wingdings" pitchFamily="2" charset="2"/>
              <a:buChar char="§"/>
            </a:pPr>
            <a:r>
              <a:rPr lang="en-US" sz="2400" dirty="0">
                <a:latin typeface="Times New Roman" pitchFamily="18" charset="0"/>
                <a:cs typeface="Times New Roman" pitchFamily="18" charset="0"/>
              </a:rPr>
              <a:t>Database </a:t>
            </a:r>
            <a:r>
              <a:rPr lang="en-IN" sz="2400" dirty="0">
                <a:latin typeface="Times New Roman" pitchFamily="18" charset="0"/>
                <a:cs typeface="Times New Roman" pitchFamily="18" charset="0"/>
              </a:rPr>
              <a:t>			  : </a:t>
            </a:r>
            <a:r>
              <a:rPr lang="en-US" sz="2000" dirty="0">
                <a:solidFill>
                  <a:srgbClr val="000000"/>
                </a:solidFill>
                <a:effectLst/>
                <a:latin typeface="Times New Roman" panose="02020603050405020304" pitchFamily="18" charset="0"/>
                <a:ea typeface="Times New Roman" panose="02020603050405020304" pitchFamily="18" charset="0"/>
              </a:rPr>
              <a:t>MySQL</a:t>
            </a:r>
          </a:p>
          <a:p>
            <a:pPr marL="342900" indent="-342900" algn="just">
              <a:lnSpc>
                <a:spcPct val="200000"/>
              </a:lnSpc>
              <a:buFont typeface="Wingdings" pitchFamily="2" charset="2"/>
              <a:buChar char="§"/>
            </a:pPr>
            <a:r>
              <a:rPr lang="en-US" sz="2400" dirty="0">
                <a:latin typeface="Times New Roman" pitchFamily="18" charset="0"/>
                <a:cs typeface="Times New Roman" pitchFamily="18" charset="0"/>
              </a:rPr>
              <a:t>Tools</a:t>
            </a:r>
            <a:r>
              <a:rPr lang="en-US" sz="2000" dirty="0">
                <a:latin typeface="Times New Roman" pitchFamily="18" charset="0"/>
                <a:cs typeface="Times New Roman" pitchFamily="18" charset="0"/>
              </a:rPr>
              <a:t>                                              : Vs code, Browser.</a:t>
            </a:r>
          </a:p>
        </p:txBody>
      </p:sp>
    </p:spTree>
    <p:extLst>
      <p:ext uri="{BB962C8B-B14F-4D97-AF65-F5344CB8AC3E}">
        <p14:creationId xmlns:p14="http://schemas.microsoft.com/office/powerpoint/2010/main" val="40771855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Delay 9"/>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55575" y="276285"/>
            <a:ext cx="8836025" cy="4970591"/>
          </a:xfrm>
          <a:prstGeom prst="rect">
            <a:avLst/>
          </a:prstGeom>
        </p:spPr>
        <p:txBody>
          <a:bodyPr wrap="square">
            <a:spAutoFit/>
          </a:bodyPr>
          <a:lstStyle/>
          <a:p>
            <a:pPr algn="ctr"/>
            <a:r>
              <a:rPr lang="en-US" sz="2400" b="1" dirty="0">
                <a:latin typeface="Times New Roman" pitchFamily="18" charset="0"/>
                <a:cs typeface="Times New Roman" pitchFamily="18" charset="0"/>
              </a:rPr>
              <a:t>EXISTING SYSTEM</a:t>
            </a:r>
          </a:p>
          <a:p>
            <a:pPr algn="ctr"/>
            <a:endParaRPr lang="en-US" sz="2300" b="1" dirty="0">
              <a:latin typeface="Times New Roman" pitchFamily="18" charset="0"/>
              <a:cs typeface="Times New Roman" pitchFamily="18" charset="0"/>
            </a:endParaRPr>
          </a:p>
          <a:p>
            <a:pPr algn="ct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Symptoms-Based Doctor Recommendation and Appointment System  </a:t>
            </a: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 </a:t>
            </a:r>
          </a:p>
          <a:p>
            <a:pPr algn="just"/>
            <a:r>
              <a:rPr lang="en-US" sz="2000" dirty="0">
                <a:latin typeface="Times New Roman" pitchFamily="18" charset="0"/>
                <a:cs typeface="Times New Roman" pitchFamily="18" charset="0"/>
              </a:rPr>
              <a:t>The existing healthcare system largely depends on manual consultation processes </a:t>
            </a:r>
          </a:p>
          <a:p>
            <a:pPr algn="just"/>
            <a:r>
              <a:rPr lang="en-US" sz="2000" dirty="0">
                <a:latin typeface="Times New Roman" pitchFamily="18" charset="0"/>
                <a:cs typeface="Times New Roman" pitchFamily="18" charset="0"/>
              </a:rPr>
              <a:t>and basic hospital management software. Patients usually visit hospitals physically, </a:t>
            </a:r>
          </a:p>
          <a:p>
            <a:pPr algn="just"/>
            <a:r>
              <a:rPr lang="en-US" sz="2000" dirty="0">
                <a:latin typeface="Times New Roman" pitchFamily="18" charset="0"/>
                <a:cs typeface="Times New Roman" pitchFamily="18" charset="0"/>
              </a:rPr>
              <a:t>explain symptoms, and wait for doctors’ availability. Doctor selection is mostly </a:t>
            </a:r>
          </a:p>
          <a:p>
            <a:pPr algn="just"/>
            <a:r>
              <a:rPr lang="en-US" sz="2000" dirty="0">
                <a:latin typeface="Times New Roman" pitchFamily="18" charset="0"/>
                <a:cs typeface="Times New Roman" pitchFamily="18" charset="0"/>
              </a:rPr>
              <a:t>based on referrals or availability rather than data-driven recommendations.</a:t>
            </a:r>
          </a:p>
          <a:p>
            <a:pPr algn="just"/>
            <a:endParaRPr lang="en-US" sz="2000" dirty="0">
              <a:latin typeface="Times New Roman" pitchFamily="18" charset="0"/>
              <a:cs typeface="Times New Roman" pitchFamily="18" charset="0"/>
            </a:endParaRPr>
          </a:p>
          <a:p>
            <a:pPr algn="just"/>
            <a:r>
              <a:rPr lang="en-US" sz="2000" b="1" dirty="0">
                <a:latin typeface="Times New Roman" pitchFamily="18" charset="0"/>
                <a:cs typeface="Times New Roman" pitchFamily="18" charset="0"/>
              </a:rPr>
              <a:t>Drawbacks of Existing System
</a:t>
            </a:r>
            <a:r>
              <a:rPr lang="en-US" sz="2000" dirty="0">
                <a:latin typeface="Times New Roman" pitchFamily="18" charset="0"/>
                <a:cs typeface="Times New Roman" pitchFamily="18" charset="0"/>
              </a:rPr>
              <a:t>No intelligent doctor recommendation based on symptoms
Higher waiting time for patients
Manual appointment booking leads to time consumption
Review system per Specialists.</a:t>
            </a:r>
          </a:p>
          <a:p>
            <a:pPr algn="just"/>
            <a:endParaRPr lang="en-US" b="1" dirty="0">
              <a:latin typeface="Times New Roman" pitchFamily="18" charset="0"/>
              <a:cs typeface="Times New Roman" pitchFamily="18" charset="0"/>
            </a:endParaRPr>
          </a:p>
        </p:txBody>
      </p:sp>
    </p:spTree>
    <p:extLst>
      <p:ext uri="{BB962C8B-B14F-4D97-AF65-F5344CB8AC3E}">
        <p14:creationId xmlns:p14="http://schemas.microsoft.com/office/powerpoint/2010/main" val="31052915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Delay 9"/>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55575" y="152613"/>
            <a:ext cx="8832850" cy="5016758"/>
          </a:xfrm>
          <a:prstGeom prst="rect">
            <a:avLst/>
          </a:prstGeom>
        </p:spPr>
        <p:txBody>
          <a:bodyPr wrap="square">
            <a:spAutoFit/>
          </a:bodyPr>
          <a:lstStyle/>
          <a:p>
            <a:pPr algn="ctr"/>
            <a:r>
              <a:rPr lang="en-US" sz="2400" b="1" dirty="0">
                <a:latin typeface="Times New Roman" pitchFamily="18" charset="0"/>
                <a:cs typeface="Times New Roman" pitchFamily="18" charset="0"/>
              </a:rPr>
              <a:t>PROPOSED SYSTEM</a:t>
            </a:r>
          </a:p>
          <a:p>
            <a:pPr algn="ctr"/>
            <a:endParaRPr lang="en-US" sz="2400" b="1" dirty="0">
              <a:latin typeface="Times New Roman" pitchFamily="18" charset="0"/>
              <a:cs typeface="Times New Roman" pitchFamily="18" charset="0"/>
            </a:endParaRPr>
          </a:p>
          <a:p>
            <a:pPr algn="ct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Symptoms-Based Doctor Recommendation and Appointment System</a:t>
            </a:r>
            <a:endParaRPr lang="en-US" sz="2400" b="1" dirty="0">
              <a:solidFill>
                <a:srgbClr val="000000"/>
              </a:solidFill>
              <a:effectLst/>
              <a:latin typeface="Times New Roman" panose="02020603050405020304" pitchFamily="18" charset="0"/>
              <a:ea typeface="Times New Roman" panose="02020603050405020304" pitchFamily="18" charset="0"/>
            </a:endParaRPr>
          </a:p>
          <a:p>
            <a:pPr algn="ctr"/>
            <a:endParaRPr lang="en-US" sz="2400" b="1"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The proposed system gives doctor recommendation and enable time efficient </a:t>
            </a:r>
          </a:p>
          <a:p>
            <a:pPr algn="just"/>
            <a:r>
              <a:rPr lang="en-US" sz="2000" dirty="0">
                <a:latin typeface="Times New Roman" pitchFamily="18" charset="0"/>
                <a:cs typeface="Times New Roman" pitchFamily="18" charset="0"/>
              </a:rPr>
              <a:t>appointment booking. Machine learning is used to analyze symptoms and </a:t>
            </a:r>
          </a:p>
          <a:p>
            <a:pPr algn="just"/>
            <a:r>
              <a:rPr lang="en-US" sz="2000" dirty="0">
                <a:latin typeface="Times New Roman" pitchFamily="18" charset="0"/>
                <a:cs typeface="Times New Roman" pitchFamily="18" charset="0"/>
              </a:rPr>
              <a:t>recommends suitable doctors and allows patients to book appointments</a:t>
            </a:r>
          </a:p>
          <a:p>
            <a:pPr algn="just"/>
            <a:endParaRPr lang="en-US" sz="2000" dirty="0">
              <a:latin typeface="Times New Roman" pitchFamily="18" charset="0"/>
              <a:cs typeface="Times New Roman" pitchFamily="18" charset="0"/>
            </a:endParaRPr>
          </a:p>
          <a:p>
            <a:pPr algn="just"/>
            <a:r>
              <a:rPr lang="en-US" sz="2000" b="1" dirty="0">
                <a:latin typeface="Times New Roman" pitchFamily="18" charset="0"/>
                <a:cs typeface="Times New Roman" pitchFamily="18" charset="0"/>
              </a:rPr>
              <a:t>Advantages of Proposed System</a:t>
            </a:r>
          </a:p>
          <a:p>
            <a:pPr algn="just"/>
            <a:r>
              <a:rPr lang="en-US" sz="2000" dirty="0">
                <a:latin typeface="Times New Roman" pitchFamily="18" charset="0"/>
                <a:cs typeface="Times New Roman" pitchFamily="18" charset="0"/>
              </a:rPr>
              <a:t>
Intelligent doctor recommendation</a:t>
            </a:r>
          </a:p>
          <a:p>
            <a:pPr algn="just"/>
            <a:r>
              <a:rPr lang="en-US" sz="2000" dirty="0">
                <a:latin typeface="Times New Roman" pitchFamily="18" charset="0"/>
                <a:cs typeface="Times New Roman" pitchFamily="18" charset="0"/>
              </a:rPr>
              <a:t>Reduced waiting time</a:t>
            </a:r>
          </a:p>
          <a:p>
            <a:pPr algn="just"/>
            <a:r>
              <a:rPr lang="en-US" sz="2000" dirty="0">
                <a:latin typeface="Times New Roman" pitchFamily="18" charset="0"/>
                <a:cs typeface="Times New Roman" pitchFamily="18" charset="0"/>
              </a:rPr>
              <a:t>Online appointment booking</a:t>
            </a:r>
          </a:p>
          <a:p>
            <a:pPr algn="just"/>
            <a:r>
              <a:rPr lang="en-US" sz="2000" dirty="0">
                <a:latin typeface="Times New Roman" pitchFamily="18" charset="0"/>
                <a:cs typeface="Times New Roman" pitchFamily="18" charset="0"/>
              </a:rPr>
              <a:t>Better patient experience</a:t>
            </a:r>
          </a:p>
        </p:txBody>
      </p:sp>
    </p:spTree>
    <p:extLst>
      <p:ext uri="{BB962C8B-B14F-4D97-AF65-F5344CB8AC3E}">
        <p14:creationId xmlns:p14="http://schemas.microsoft.com/office/powerpoint/2010/main" val="27763953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Delay 9"/>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E1AEAD7E-6C4B-F2A8-E51F-CD8DA0C21F60}"/>
              </a:ext>
            </a:extLst>
          </p:cNvPr>
          <p:cNvSpPr txBox="1">
            <a:spLocks/>
          </p:cNvSpPr>
          <p:nvPr/>
        </p:nvSpPr>
        <p:spPr>
          <a:xfrm>
            <a:off x="457200" y="274638"/>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latin typeface="Times New Roman" panose="02020603050405020304" pitchFamily="18" charset="0"/>
                <a:cs typeface="Times New Roman" panose="02020603050405020304" pitchFamily="18" charset="0"/>
              </a:rPr>
              <a:t>Module Description</a:t>
            </a:r>
          </a:p>
        </p:txBody>
      </p:sp>
      <p:sp>
        <p:nvSpPr>
          <p:cNvPr id="6" name="Rectangle 5">
            <a:extLst>
              <a:ext uri="{FF2B5EF4-FFF2-40B4-BE49-F238E27FC236}">
                <a16:creationId xmlns:a16="http://schemas.microsoft.com/office/drawing/2014/main" id="{AB060074-B0E8-6FBF-E152-F5C5638269B4}"/>
              </a:ext>
            </a:extLst>
          </p:cNvPr>
          <p:cNvSpPr/>
          <p:nvPr/>
        </p:nvSpPr>
        <p:spPr>
          <a:xfrm>
            <a:off x="457200" y="1020460"/>
            <a:ext cx="8354457" cy="5262979"/>
          </a:xfrm>
          <a:prstGeom prst="rect">
            <a:avLst/>
          </a:prstGeom>
        </p:spPr>
        <p:txBody>
          <a:bodyPr wrap="square">
            <a:spAutoFit/>
          </a:bodyPr>
          <a:lstStyle/>
          <a:p>
            <a:pPr algn="ctr"/>
            <a:endParaRPr lang="en-US" sz="2400" b="1" dirty="0">
              <a:solidFill>
                <a:srgbClr val="000000"/>
              </a:solidFill>
              <a:effectLst/>
              <a:latin typeface="Times New Roman" panose="02020603050405020304" pitchFamily="18" charset="0"/>
              <a:ea typeface="Times New Roman" panose="02020603050405020304" pitchFamily="18" charset="0"/>
            </a:endParaRPr>
          </a:p>
          <a:p>
            <a:r>
              <a:rPr lang="en-US" sz="2400" b="1" dirty="0">
                <a:latin typeface="Times New Roman" pitchFamily="18" charset="0"/>
                <a:cs typeface="Times New Roman" pitchFamily="18" charset="0"/>
              </a:rPr>
              <a:t>Patient Module: </a:t>
            </a:r>
          </a:p>
          <a:p>
            <a:r>
              <a:rPr lang="en-US" sz="2400" dirty="0">
                <a:latin typeface="Times New Roman" pitchFamily="18" charset="0"/>
                <a:cs typeface="Times New Roman" pitchFamily="18" charset="0"/>
              </a:rPr>
              <a:t>Enter symptoms ,</a:t>
            </a:r>
          </a:p>
          <a:p>
            <a:r>
              <a:rPr lang="en-US" sz="2400" dirty="0">
                <a:latin typeface="Times New Roman" pitchFamily="18" charset="0"/>
                <a:cs typeface="Times New Roman" pitchFamily="18" charset="0"/>
              </a:rPr>
              <a:t>view Recommendations ,</a:t>
            </a:r>
          </a:p>
          <a:p>
            <a:r>
              <a:rPr lang="en-US" sz="2400" dirty="0">
                <a:latin typeface="Times New Roman" pitchFamily="18" charset="0"/>
                <a:cs typeface="Times New Roman" pitchFamily="18" charset="0"/>
              </a:rPr>
              <a:t>Book appointment, </a:t>
            </a:r>
          </a:p>
          <a:p>
            <a:r>
              <a:rPr lang="en-US" sz="2400" dirty="0">
                <a:latin typeface="Times New Roman" pitchFamily="18" charset="0"/>
                <a:cs typeface="Times New Roman" pitchFamily="18" charset="0"/>
              </a:rPr>
              <a:t>After </a:t>
            </a:r>
            <a:r>
              <a:rPr lang="en-US" sz="2400" dirty="0" err="1">
                <a:latin typeface="Times New Roman" pitchFamily="18" charset="0"/>
                <a:cs typeface="Times New Roman" pitchFamily="18" charset="0"/>
              </a:rPr>
              <a:t>Appintment</a:t>
            </a:r>
            <a:r>
              <a:rPr lang="en-US" sz="2400" dirty="0">
                <a:latin typeface="Times New Roman" pitchFamily="18" charset="0"/>
                <a:cs typeface="Times New Roman" pitchFamily="18" charset="0"/>
              </a:rPr>
              <a:t> completion review Doctor.</a:t>
            </a:r>
          </a:p>
          <a:p>
            <a:r>
              <a:rPr lang="en-US" sz="2400" b="1" dirty="0">
                <a:latin typeface="Times New Roman" pitchFamily="18" charset="0"/>
                <a:cs typeface="Times New Roman" pitchFamily="18" charset="0"/>
              </a:rPr>
              <a:t>Doctor Module:</a:t>
            </a:r>
            <a:r>
              <a:rPr lang="en-US" sz="2400" dirty="0">
                <a:latin typeface="Times New Roman" pitchFamily="18" charset="0"/>
                <a:cs typeface="Times New Roman" pitchFamily="18" charset="0"/>
              </a:rPr>
              <a:t> </a:t>
            </a:r>
          </a:p>
          <a:p>
            <a:r>
              <a:rPr lang="en-US" sz="2400" dirty="0">
                <a:latin typeface="Times New Roman" pitchFamily="18" charset="0"/>
                <a:cs typeface="Times New Roman" pitchFamily="18" charset="0"/>
              </a:rPr>
              <a:t>View appointments ,</a:t>
            </a:r>
          </a:p>
          <a:p>
            <a:r>
              <a:rPr lang="en-US" sz="2400" dirty="0">
                <a:latin typeface="Times New Roman" pitchFamily="18" charset="0"/>
                <a:cs typeface="Times New Roman" pitchFamily="18" charset="0"/>
              </a:rPr>
              <a:t>Handles appointments ,</a:t>
            </a:r>
          </a:p>
          <a:p>
            <a:r>
              <a:rPr lang="en-US" sz="2400" dirty="0">
                <a:latin typeface="Times New Roman" pitchFamily="18" charset="0"/>
                <a:cs typeface="Times New Roman" pitchFamily="18" charset="0"/>
              </a:rPr>
              <a:t>Update profile.</a:t>
            </a:r>
          </a:p>
          <a:p>
            <a:r>
              <a:rPr lang="en-US" sz="2400" b="1" dirty="0">
                <a:latin typeface="Times New Roman" pitchFamily="18" charset="0"/>
                <a:cs typeface="Times New Roman" pitchFamily="18" charset="0"/>
              </a:rPr>
              <a:t>ML Module</a:t>
            </a:r>
            <a:r>
              <a:rPr lang="en-US" sz="2400" dirty="0">
                <a:latin typeface="Times New Roman" pitchFamily="18" charset="0"/>
                <a:cs typeface="Times New Roman" pitchFamily="18" charset="0"/>
              </a:rPr>
              <a:t>: </a:t>
            </a:r>
          </a:p>
          <a:p>
            <a:r>
              <a:rPr lang="en-US" sz="2400" dirty="0">
                <a:latin typeface="Times New Roman" pitchFamily="18" charset="0"/>
                <a:cs typeface="Times New Roman" pitchFamily="18" charset="0"/>
              </a:rPr>
              <a:t>Predict disease and maps specialization(specialists).</a:t>
            </a:r>
          </a:p>
          <a:p>
            <a:r>
              <a:rPr lang="en-US" sz="2400" b="1" dirty="0">
                <a:latin typeface="Times New Roman" pitchFamily="18" charset="0"/>
                <a:cs typeface="Times New Roman" pitchFamily="18" charset="0"/>
              </a:rPr>
              <a:t>Admin Module:</a:t>
            </a:r>
            <a:r>
              <a:rPr lang="en-US" sz="2400" dirty="0">
                <a:latin typeface="Times New Roman" pitchFamily="18" charset="0"/>
                <a:cs typeface="Times New Roman" pitchFamily="18" charset="0"/>
              </a:rPr>
              <a:t> </a:t>
            </a:r>
          </a:p>
          <a:p>
            <a:r>
              <a:rPr lang="en-US" sz="2400" dirty="0">
                <a:latin typeface="Times New Roman" pitchFamily="18" charset="0"/>
                <a:cs typeface="Times New Roman" pitchFamily="18" charset="0"/>
              </a:rPr>
              <a:t>Manage Patients and doctors.</a:t>
            </a: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19418646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Delay 9"/>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3051" y="276285"/>
            <a:ext cx="9083406" cy="5986254"/>
          </a:xfrm>
          <a:prstGeom prst="rect">
            <a:avLst/>
          </a:prstGeom>
        </p:spPr>
        <p:txBody>
          <a:bodyPr wrap="square">
            <a:spAutoFit/>
          </a:bodyPr>
          <a:lstStyle/>
          <a:p>
            <a:pPr algn="ctr"/>
            <a:r>
              <a:rPr lang="en-US" sz="2400" b="1" dirty="0">
                <a:latin typeface="Times New Roman" pitchFamily="18" charset="0"/>
                <a:cs typeface="Times New Roman" pitchFamily="18" charset="0"/>
              </a:rPr>
              <a:t>DATABASE DESCRIPTION</a:t>
            </a:r>
            <a:endParaRPr lang="en-US" sz="2300" b="1" dirty="0">
              <a:latin typeface="Times New Roman" pitchFamily="18" charset="0"/>
              <a:cs typeface="Times New Roman" pitchFamily="18" charset="0"/>
            </a:endParaRPr>
          </a:p>
          <a:p>
            <a:pPr algn="ct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Symptoms-Based Doctor Recommendation and Appointment System</a:t>
            </a:r>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pPr algn="ctr"/>
            <a:endParaRPr lang="en-US" dirty="0">
              <a:latin typeface="Times New Roman" pitchFamily="18" charset="0"/>
              <a:cs typeface="Times New Roman" pitchFamily="18" charset="0"/>
            </a:endParaRPr>
          </a:p>
          <a:p>
            <a:pPr algn="ctr"/>
            <a:r>
              <a:rPr lang="en-US" dirty="0">
                <a:latin typeface="Times New Roman" pitchFamily="18" charset="0"/>
                <a:cs typeface="Times New Roman" pitchFamily="18" charset="0"/>
              </a:rPr>
              <a:t>Table : patient</a:t>
            </a:r>
          </a:p>
          <a:p>
            <a:endParaRPr lang="en-US" sz="2300" b="1" dirty="0">
              <a:latin typeface="Times New Roman" pitchFamily="18" charset="0"/>
              <a:cs typeface="Times New Roman" pitchFamily="18" charset="0"/>
            </a:endParaRPr>
          </a:p>
        </p:txBody>
      </p:sp>
      <p:graphicFrame>
        <p:nvGraphicFramePr>
          <p:cNvPr id="2" name="Table 1">
            <a:extLst>
              <a:ext uri="{FF2B5EF4-FFF2-40B4-BE49-F238E27FC236}">
                <a16:creationId xmlns:a16="http://schemas.microsoft.com/office/drawing/2014/main" id="{4882D16C-0904-C32B-5C8C-6D726895A0C5}"/>
              </a:ext>
            </a:extLst>
          </p:cNvPr>
          <p:cNvGraphicFramePr>
            <a:graphicFrameLocks noGrp="1"/>
          </p:cNvGraphicFramePr>
          <p:nvPr>
            <p:extLst>
              <p:ext uri="{D42A27DB-BD31-4B8C-83A1-F6EECF244321}">
                <p14:modId xmlns:p14="http://schemas.microsoft.com/office/powerpoint/2010/main" val="1003976402"/>
              </p:ext>
            </p:extLst>
          </p:nvPr>
        </p:nvGraphicFramePr>
        <p:xfrm>
          <a:off x="307973" y="1591454"/>
          <a:ext cx="8324056" cy="3888665"/>
        </p:xfrm>
        <a:graphic>
          <a:graphicData uri="http://schemas.openxmlformats.org/drawingml/2006/table">
            <a:tbl>
              <a:tblPr>
                <a:tableStyleId>{5940675A-B579-460E-94D1-54222C63F5DA}</a:tableStyleId>
              </a:tblPr>
              <a:tblGrid>
                <a:gridCol w="2042464">
                  <a:extLst>
                    <a:ext uri="{9D8B030D-6E8A-4147-A177-3AD203B41FA5}">
                      <a16:colId xmlns:a16="http://schemas.microsoft.com/office/drawing/2014/main" val="985052098"/>
                    </a:ext>
                  </a:extLst>
                </a:gridCol>
                <a:gridCol w="2249788">
                  <a:extLst>
                    <a:ext uri="{9D8B030D-6E8A-4147-A177-3AD203B41FA5}">
                      <a16:colId xmlns:a16="http://schemas.microsoft.com/office/drawing/2014/main" val="1504112142"/>
                    </a:ext>
                  </a:extLst>
                </a:gridCol>
                <a:gridCol w="1675776">
                  <a:extLst>
                    <a:ext uri="{9D8B030D-6E8A-4147-A177-3AD203B41FA5}">
                      <a16:colId xmlns:a16="http://schemas.microsoft.com/office/drawing/2014/main" val="2857215045"/>
                    </a:ext>
                  </a:extLst>
                </a:gridCol>
                <a:gridCol w="2356028">
                  <a:extLst>
                    <a:ext uri="{9D8B030D-6E8A-4147-A177-3AD203B41FA5}">
                      <a16:colId xmlns:a16="http://schemas.microsoft.com/office/drawing/2014/main" val="2904469819"/>
                    </a:ext>
                  </a:extLst>
                </a:gridCol>
              </a:tblGrid>
              <a:tr h="756098">
                <a:tc>
                  <a:txBody>
                    <a:bodyPr/>
                    <a:lstStyle/>
                    <a:p>
                      <a:pPr algn="ctr" fontAlgn="b">
                        <a:lnSpc>
                          <a:spcPct val="107000"/>
                        </a:lnSpc>
                        <a:spcAft>
                          <a:spcPts val="800"/>
                        </a:spcAft>
                      </a:pPr>
                      <a:r>
                        <a:rPr lang="en-IN" sz="1300" b="1" kern="1200" dirty="0">
                          <a:solidFill>
                            <a:schemeClr val="tx1"/>
                          </a:solidFill>
                          <a:effectLst/>
                          <a:latin typeface="Time Roman" pitchFamily="2" charset="0"/>
                        </a:rPr>
                        <a:t>FILED NAME</a:t>
                      </a:r>
                      <a:endParaRPr lang="en-IN" sz="1100" b="1" dirty="0">
                        <a:solidFill>
                          <a:schemeClr val="tx1"/>
                        </a:solidFill>
                        <a:effectLst/>
                        <a:latin typeface="Time Roman" pitchFamily="2" charset="0"/>
                      </a:endParaRPr>
                    </a:p>
                    <a:p>
                      <a:pPr algn="ctr" fontAlgn="b">
                        <a:lnSpc>
                          <a:spcPct val="107000"/>
                        </a:lnSpc>
                        <a:spcAft>
                          <a:spcPts val="800"/>
                        </a:spcAft>
                      </a:pPr>
                      <a:r>
                        <a:rPr lang="en-IN" sz="1300" b="1" kern="1200" dirty="0">
                          <a:solidFill>
                            <a:schemeClr val="tx1"/>
                          </a:solidFill>
                          <a:effectLst/>
                          <a:latin typeface="Time Roman" pitchFamily="2" charset="0"/>
                        </a:rPr>
                        <a:t> </a:t>
                      </a:r>
                      <a:endParaRPr lang="en-IN" sz="1100" b="1"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b"/>
                </a:tc>
                <a:tc>
                  <a:txBody>
                    <a:bodyPr/>
                    <a:lstStyle/>
                    <a:p>
                      <a:pPr algn="ctr" fontAlgn="b">
                        <a:lnSpc>
                          <a:spcPct val="107000"/>
                        </a:lnSpc>
                        <a:spcAft>
                          <a:spcPts val="800"/>
                        </a:spcAft>
                      </a:pPr>
                      <a:r>
                        <a:rPr lang="en-IN" sz="1300" b="1" kern="1200" dirty="0">
                          <a:solidFill>
                            <a:schemeClr val="tx1"/>
                          </a:solidFill>
                          <a:effectLst/>
                          <a:latin typeface="Time Roman" pitchFamily="2" charset="0"/>
                        </a:rPr>
                        <a:t>DATA TYPE</a:t>
                      </a:r>
                      <a:endParaRPr lang="en-IN" sz="1100" b="1" dirty="0">
                        <a:solidFill>
                          <a:schemeClr val="tx1"/>
                        </a:solidFill>
                        <a:effectLst/>
                        <a:latin typeface="Time Roman" pitchFamily="2" charset="0"/>
                      </a:endParaRPr>
                    </a:p>
                    <a:p>
                      <a:pPr fontAlgn="b">
                        <a:lnSpc>
                          <a:spcPct val="107000"/>
                        </a:lnSpc>
                        <a:spcAft>
                          <a:spcPts val="800"/>
                        </a:spcAft>
                      </a:pPr>
                      <a:r>
                        <a:rPr lang="en-IN" sz="1300" b="1" kern="1200" dirty="0">
                          <a:solidFill>
                            <a:schemeClr val="tx1"/>
                          </a:solidFill>
                          <a:effectLst/>
                          <a:latin typeface="Time Roman" pitchFamily="2" charset="0"/>
                        </a:rPr>
                        <a:t> </a:t>
                      </a:r>
                      <a:endParaRPr lang="en-IN" sz="1100" b="1"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b"/>
                </a:tc>
                <a:tc>
                  <a:txBody>
                    <a:bodyPr/>
                    <a:lstStyle/>
                    <a:p>
                      <a:pPr algn="ctr" fontAlgn="b">
                        <a:lnSpc>
                          <a:spcPct val="107000"/>
                        </a:lnSpc>
                        <a:spcAft>
                          <a:spcPts val="800"/>
                        </a:spcAft>
                      </a:pPr>
                      <a:r>
                        <a:rPr lang="en-IN" sz="1300" b="1" kern="1200" dirty="0">
                          <a:solidFill>
                            <a:schemeClr val="tx1"/>
                          </a:solidFill>
                          <a:effectLst/>
                          <a:latin typeface="Time Roman" pitchFamily="2" charset="0"/>
                        </a:rPr>
                        <a:t> </a:t>
                      </a:r>
                      <a:endParaRPr lang="en-IN" sz="1100" b="1" dirty="0">
                        <a:solidFill>
                          <a:schemeClr val="tx1"/>
                        </a:solidFill>
                        <a:effectLst/>
                        <a:latin typeface="Time Roman" pitchFamily="2" charset="0"/>
                      </a:endParaRPr>
                    </a:p>
                    <a:p>
                      <a:pPr algn="ctr" fontAlgn="b">
                        <a:lnSpc>
                          <a:spcPct val="107000"/>
                        </a:lnSpc>
                        <a:spcAft>
                          <a:spcPts val="800"/>
                        </a:spcAft>
                      </a:pPr>
                      <a:r>
                        <a:rPr lang="en-IN" sz="1300" b="1" kern="1200" dirty="0">
                          <a:solidFill>
                            <a:schemeClr val="tx1"/>
                          </a:solidFill>
                          <a:effectLst/>
                          <a:latin typeface="Time Roman" pitchFamily="2" charset="0"/>
                        </a:rPr>
                        <a:t>SIZE</a:t>
                      </a:r>
                      <a:endParaRPr lang="en-IN" sz="1100" b="1"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
                        <a:lnSpc>
                          <a:spcPct val="107000"/>
                        </a:lnSpc>
                        <a:spcAft>
                          <a:spcPts val="800"/>
                        </a:spcAft>
                      </a:pPr>
                      <a:r>
                        <a:rPr lang="en-IN" sz="1300" b="1" kern="1200">
                          <a:solidFill>
                            <a:schemeClr val="tx1"/>
                          </a:solidFill>
                          <a:effectLst/>
                          <a:latin typeface="Time Roman" pitchFamily="2" charset="0"/>
                        </a:rPr>
                        <a:t> </a:t>
                      </a:r>
                      <a:endParaRPr lang="en-IN" sz="1100" b="1">
                        <a:solidFill>
                          <a:schemeClr val="tx1"/>
                        </a:solidFill>
                        <a:effectLst/>
                        <a:latin typeface="Time Roman" pitchFamily="2" charset="0"/>
                      </a:endParaRPr>
                    </a:p>
                    <a:p>
                      <a:pPr algn="ctr" fontAlgn="b">
                        <a:lnSpc>
                          <a:spcPct val="107000"/>
                        </a:lnSpc>
                        <a:spcAft>
                          <a:spcPts val="800"/>
                        </a:spcAft>
                      </a:pPr>
                      <a:r>
                        <a:rPr lang="en-IN" sz="1300" b="1" kern="1200">
                          <a:solidFill>
                            <a:schemeClr val="tx1"/>
                          </a:solidFill>
                          <a:effectLst/>
                          <a:latin typeface="Time Roman" pitchFamily="2" charset="0"/>
                        </a:rPr>
                        <a:t>CONSTRAINTS</a:t>
                      </a:r>
                      <a:endParaRPr lang="en-IN" sz="1100" b="1">
                        <a:solidFill>
                          <a:schemeClr val="tx1"/>
                        </a:solidFill>
                        <a:effectLst/>
                        <a:latin typeface="Time Roman" pitchFamily="2" charset="0"/>
                      </a:endParaRPr>
                    </a:p>
                    <a:p>
                      <a:pPr algn="ctr" fontAlgn="b">
                        <a:lnSpc>
                          <a:spcPct val="107000"/>
                        </a:lnSpc>
                        <a:spcAft>
                          <a:spcPts val="800"/>
                        </a:spcAft>
                      </a:pPr>
                      <a:r>
                        <a:rPr lang="en-IN" sz="1300" b="1" kern="1200">
                          <a:solidFill>
                            <a:schemeClr val="tx1"/>
                          </a:solidFill>
                          <a:effectLst/>
                          <a:latin typeface="Time Roman" pitchFamily="2" charset="0"/>
                        </a:rPr>
                        <a:t> </a:t>
                      </a:r>
                      <a:endParaRPr lang="en-IN" sz="1100" b="1">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b"/>
                </a:tc>
                <a:extLst>
                  <a:ext uri="{0D108BD9-81ED-4DB2-BD59-A6C34878D82A}">
                    <a16:rowId xmlns:a16="http://schemas.microsoft.com/office/drawing/2014/main" val="3394013785"/>
                  </a:ext>
                </a:extLst>
              </a:tr>
              <a:tr h="448968">
                <a:tc>
                  <a:txBody>
                    <a:bodyPr/>
                    <a:lstStyle/>
                    <a:p>
                      <a:pPr algn="ctr" fontAlgn="base">
                        <a:lnSpc>
                          <a:spcPct val="107000"/>
                        </a:lnSpc>
                        <a:spcAft>
                          <a:spcPts val="800"/>
                        </a:spcAft>
                      </a:pPr>
                      <a:r>
                        <a:rPr lang="en-US" sz="1300" kern="1200" dirty="0" err="1">
                          <a:solidFill>
                            <a:schemeClr val="tx1"/>
                          </a:solidFill>
                          <a:effectLst/>
                          <a:latin typeface="Time Roman" pitchFamily="2" charset="0"/>
                        </a:rPr>
                        <a:t>Patient_id</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dirty="0">
                          <a:solidFill>
                            <a:schemeClr val="tx1"/>
                          </a:solidFill>
                          <a:effectLst/>
                          <a:latin typeface="Time Roman" pitchFamily="2" charset="0"/>
                        </a:rPr>
                        <a:t>Int</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a:solidFill>
                            <a:schemeClr val="tx1"/>
                          </a:solidFill>
                          <a:effectLst/>
                          <a:latin typeface="Time Roman" pitchFamily="2" charset="0"/>
                        </a:rPr>
                        <a:t> </a:t>
                      </a:r>
                      <a:endParaRPr lang="en-IN" sz="1100">
                        <a:solidFill>
                          <a:schemeClr val="tx1"/>
                        </a:solidFill>
                        <a:effectLst/>
                        <a:latin typeface="Time Roman" pitchFamily="2" charset="0"/>
                      </a:endParaRPr>
                    </a:p>
                    <a:p>
                      <a:pPr algn="ctr" fontAlgn="base">
                        <a:lnSpc>
                          <a:spcPct val="107000"/>
                        </a:lnSpc>
                        <a:spcAft>
                          <a:spcPts val="800"/>
                        </a:spcAft>
                      </a:pPr>
                      <a:r>
                        <a:rPr lang="en-IN" sz="1300" kern="1200">
                          <a:solidFill>
                            <a:schemeClr val="tx1"/>
                          </a:solidFill>
                          <a:effectLst/>
                          <a:latin typeface="Time Roman" pitchFamily="2" charset="0"/>
                        </a:rPr>
                        <a:t>10</a:t>
                      </a:r>
                      <a:endParaRPr lang="en-IN" sz="110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IN" sz="1300" kern="1200">
                          <a:solidFill>
                            <a:schemeClr val="tx1"/>
                          </a:solidFill>
                          <a:effectLst/>
                          <a:latin typeface="Time Roman" pitchFamily="2" charset="0"/>
                        </a:rPr>
                        <a:t>Primary key</a:t>
                      </a:r>
                      <a:endParaRPr lang="en-IN" sz="110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2538554340"/>
                  </a:ext>
                </a:extLst>
              </a:tr>
              <a:tr h="453990">
                <a:tc>
                  <a:txBody>
                    <a:bodyPr/>
                    <a:lstStyle/>
                    <a:p>
                      <a:pPr algn="ctr" fontAlgn="base">
                        <a:lnSpc>
                          <a:spcPct val="107000"/>
                        </a:lnSpc>
                        <a:spcAft>
                          <a:spcPts val="800"/>
                        </a:spcAft>
                      </a:pPr>
                      <a:r>
                        <a:rPr lang="en-US" sz="1300" kern="1200" dirty="0" err="1">
                          <a:solidFill>
                            <a:schemeClr val="tx1"/>
                          </a:solidFill>
                          <a:effectLst/>
                          <a:latin typeface="Time Roman" pitchFamily="2" charset="0"/>
                          <a:ea typeface="Calibri" panose="020F0502020204030204" pitchFamily="34" charset="0"/>
                          <a:cs typeface="Times New Roman" panose="02020603050405020304" pitchFamily="18" charset="0"/>
                        </a:rPr>
                        <a:t>first_name</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dirty="0">
                          <a:solidFill>
                            <a:schemeClr val="tx1"/>
                          </a:solidFill>
                          <a:effectLst/>
                          <a:latin typeface="Time Roman" pitchFamily="2" charset="0"/>
                        </a:rPr>
                        <a:t>Varchar</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dirty="0">
                          <a:solidFill>
                            <a:schemeClr val="tx1"/>
                          </a:solidFill>
                          <a:effectLst/>
                          <a:latin typeface="Time Roman" pitchFamily="2" charset="0"/>
                        </a:rPr>
                        <a:t> </a:t>
                      </a:r>
                      <a:endParaRPr lang="en-IN" sz="1100" dirty="0">
                        <a:solidFill>
                          <a:schemeClr val="tx1"/>
                        </a:solidFill>
                        <a:effectLst/>
                        <a:latin typeface="Time Roman" pitchFamily="2" charset="0"/>
                      </a:endParaRPr>
                    </a:p>
                    <a:p>
                      <a:pPr algn="ctr" fontAlgn="base">
                        <a:lnSpc>
                          <a:spcPct val="107000"/>
                        </a:lnSpc>
                        <a:spcAft>
                          <a:spcPts val="800"/>
                        </a:spcAft>
                      </a:pPr>
                      <a:r>
                        <a:rPr lang="en-IN" sz="1300" kern="1200" dirty="0">
                          <a:solidFill>
                            <a:schemeClr val="tx1"/>
                          </a:solidFill>
                          <a:effectLst/>
                          <a:latin typeface="Time Roman" pitchFamily="2" charset="0"/>
                        </a:rPr>
                        <a:t>2</a:t>
                      </a:r>
                      <a:r>
                        <a:rPr lang="en-US" sz="1300" kern="1200" dirty="0">
                          <a:solidFill>
                            <a:schemeClr val="tx1"/>
                          </a:solidFill>
                          <a:effectLst/>
                          <a:latin typeface="Time Roman" pitchFamily="2" charset="0"/>
                        </a:rPr>
                        <a:t>56</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IN" sz="1300" kern="1200" dirty="0">
                          <a:solidFill>
                            <a:schemeClr val="tx1"/>
                          </a:solidFill>
                          <a:effectLst/>
                          <a:latin typeface="Time Roman" pitchFamily="2" charset="0"/>
                        </a:rPr>
                        <a:t>UNIQUE</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707759503"/>
                  </a:ext>
                </a:extLst>
              </a:tr>
              <a:tr h="449711">
                <a:tc>
                  <a:txBody>
                    <a:bodyPr/>
                    <a:lstStyle/>
                    <a:p>
                      <a:pPr algn="ctr" fontAlgn="base">
                        <a:lnSpc>
                          <a:spcPct val="107000"/>
                        </a:lnSpc>
                        <a:spcAft>
                          <a:spcPts val="800"/>
                        </a:spcAft>
                      </a:pPr>
                      <a:r>
                        <a:rPr lang="en-US" sz="1300" kern="1200" dirty="0" err="1">
                          <a:solidFill>
                            <a:schemeClr val="tx1"/>
                          </a:solidFill>
                          <a:effectLst/>
                          <a:latin typeface="Time Roman" pitchFamily="2" charset="0"/>
                        </a:rPr>
                        <a:t>last_name</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a:solidFill>
                            <a:schemeClr val="tx1"/>
                          </a:solidFill>
                          <a:effectLst/>
                          <a:latin typeface="Time Roman" pitchFamily="2" charset="0"/>
                        </a:rPr>
                        <a:t>Varchar</a:t>
                      </a:r>
                      <a:endParaRPr lang="en-IN" sz="110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a:lnSpc>
                          <a:spcPct val="107000"/>
                        </a:lnSpc>
                        <a:spcAft>
                          <a:spcPts val="800"/>
                        </a:spcAft>
                      </a:pPr>
                      <a:r>
                        <a:rPr lang="en-IN" sz="1300" dirty="0">
                          <a:solidFill>
                            <a:schemeClr val="tx1"/>
                          </a:solidFill>
                          <a:effectLst/>
                          <a:latin typeface="Time Roman" pitchFamily="2" charset="0"/>
                        </a:rPr>
                        <a:t> </a:t>
                      </a:r>
                      <a:endParaRPr lang="en-IN" sz="1100" dirty="0">
                        <a:solidFill>
                          <a:schemeClr val="tx1"/>
                        </a:solidFill>
                        <a:effectLst/>
                        <a:latin typeface="Time Roman" pitchFamily="2" charset="0"/>
                      </a:endParaRPr>
                    </a:p>
                    <a:p>
                      <a:pPr algn="ctr">
                        <a:lnSpc>
                          <a:spcPct val="107000"/>
                        </a:lnSpc>
                        <a:spcAft>
                          <a:spcPts val="800"/>
                        </a:spcAft>
                      </a:pPr>
                      <a:r>
                        <a:rPr lang="en-US" sz="1300" dirty="0">
                          <a:solidFill>
                            <a:schemeClr val="tx1"/>
                          </a:solidFill>
                          <a:effectLst/>
                          <a:latin typeface="Time Roman" pitchFamily="2" charset="0"/>
                        </a:rPr>
                        <a:t>256</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a:lnSpc>
                          <a:spcPct val="107000"/>
                        </a:lnSpc>
                        <a:spcAft>
                          <a:spcPts val="800"/>
                        </a:spcAft>
                      </a:pPr>
                      <a:r>
                        <a:rPr lang="en-IN" sz="1300">
                          <a:solidFill>
                            <a:schemeClr val="tx1"/>
                          </a:solidFill>
                          <a:effectLst/>
                          <a:latin typeface="Time Roman" pitchFamily="2" charset="0"/>
                        </a:rPr>
                        <a:t>Not null</a:t>
                      </a:r>
                      <a:endParaRPr lang="en-IN" sz="110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2857421491"/>
                  </a:ext>
                </a:extLst>
              </a:tr>
              <a:tr h="448968">
                <a:tc>
                  <a:txBody>
                    <a:bodyPr/>
                    <a:lstStyle/>
                    <a:p>
                      <a:pPr algn="ctr" fontAlgn="base">
                        <a:lnSpc>
                          <a:spcPct val="107000"/>
                        </a:lnSpc>
                        <a:spcAft>
                          <a:spcPts val="800"/>
                        </a:spcAft>
                      </a:pPr>
                      <a:r>
                        <a:rPr lang="en-US" sz="1300" kern="1200" dirty="0" err="1">
                          <a:solidFill>
                            <a:schemeClr val="tx1"/>
                          </a:solidFill>
                          <a:effectLst/>
                          <a:latin typeface="Time Roman" pitchFamily="2" charset="0"/>
                        </a:rPr>
                        <a:t>date_of_birth</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US" sz="1300" kern="1200" dirty="0">
                          <a:solidFill>
                            <a:schemeClr val="tx1"/>
                          </a:solidFill>
                          <a:effectLst/>
                          <a:latin typeface="Time Roman" pitchFamily="2" charset="0"/>
                        </a:rPr>
                        <a:t>date</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dirty="0">
                          <a:solidFill>
                            <a:schemeClr val="tx1"/>
                          </a:solidFill>
                          <a:effectLst/>
                          <a:latin typeface="Time Roman" pitchFamily="2" charset="0"/>
                        </a:rPr>
                        <a:t> </a:t>
                      </a:r>
                      <a:endParaRPr lang="en-IN" sz="1100" dirty="0">
                        <a:solidFill>
                          <a:schemeClr val="tx1"/>
                        </a:solidFill>
                        <a:effectLst/>
                        <a:latin typeface="Time Roman" pitchFamily="2" charset="0"/>
                      </a:endParaRPr>
                    </a:p>
                    <a:p>
                      <a:pPr algn="ctr" fontAlgn="base">
                        <a:lnSpc>
                          <a:spcPct val="107000"/>
                        </a:lnSpc>
                        <a:spcAft>
                          <a:spcPts val="800"/>
                        </a:spcAft>
                      </a:pPr>
                      <a:r>
                        <a:rPr lang="en-US" sz="1100" dirty="0">
                          <a:solidFill>
                            <a:schemeClr val="tx1"/>
                          </a:solidFill>
                          <a:effectLst/>
                          <a:latin typeface="Time Roman" pitchFamily="2" charset="0"/>
                          <a:ea typeface="Calibri" panose="020F0502020204030204" pitchFamily="34" charset="0"/>
                          <a:cs typeface="Times New Roman" panose="02020603050405020304" pitchFamily="18" charset="0"/>
                        </a:rPr>
                        <a:t>-</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IN" sz="1300" kern="1200" dirty="0">
                          <a:solidFill>
                            <a:schemeClr val="tx1"/>
                          </a:solidFill>
                          <a:effectLst/>
                          <a:latin typeface="Time Roman" pitchFamily="2" charset="0"/>
                        </a:rPr>
                        <a:t>Unique</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1360029502"/>
                  </a:ext>
                </a:extLst>
              </a:tr>
              <a:tr h="469940">
                <a:tc>
                  <a:txBody>
                    <a:bodyPr/>
                    <a:lstStyle/>
                    <a:p>
                      <a:pPr algn="ctr" fontAlgn="base">
                        <a:lnSpc>
                          <a:spcPct val="107000"/>
                        </a:lnSpc>
                        <a:spcAft>
                          <a:spcPts val="800"/>
                        </a:spcAft>
                      </a:pPr>
                      <a:r>
                        <a:rPr lang="en-US" sz="1100" dirty="0">
                          <a:solidFill>
                            <a:schemeClr val="tx1"/>
                          </a:solidFill>
                          <a:effectLst/>
                          <a:latin typeface="Time Roman" pitchFamily="2" charset="0"/>
                          <a:ea typeface="Calibri" panose="020F0502020204030204" pitchFamily="34" charset="0"/>
                          <a:cs typeface="Times New Roman" panose="02020603050405020304" pitchFamily="18" charset="0"/>
                        </a:rPr>
                        <a:t>gender</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US" sz="1300" kern="1200" dirty="0" err="1">
                          <a:solidFill>
                            <a:schemeClr val="tx1"/>
                          </a:solidFill>
                          <a:effectLst/>
                          <a:latin typeface="Time Roman" pitchFamily="2" charset="0"/>
                        </a:rPr>
                        <a:t>Enum</a:t>
                      </a:r>
                      <a:r>
                        <a:rPr lang="en-US" sz="1300" kern="1200" dirty="0">
                          <a:solidFill>
                            <a:schemeClr val="tx1"/>
                          </a:solidFill>
                          <a:effectLst/>
                          <a:latin typeface="Time Roman" pitchFamily="2" charset="0"/>
                        </a:rPr>
                        <a:t>(</a:t>
                      </a:r>
                      <a:r>
                        <a:rPr lang="en-US" sz="1300" kern="1200" dirty="0" err="1">
                          <a:solidFill>
                            <a:schemeClr val="tx1"/>
                          </a:solidFill>
                          <a:effectLst/>
                          <a:latin typeface="Time Roman" pitchFamily="2" charset="0"/>
                        </a:rPr>
                        <a:t>male,female,other</a:t>
                      </a:r>
                      <a:r>
                        <a:rPr lang="en-US" sz="1300" kern="1200" dirty="0">
                          <a:solidFill>
                            <a:schemeClr val="tx1"/>
                          </a:solidFill>
                          <a:effectLst/>
                          <a:latin typeface="Time Roman" pitchFamily="2" charset="0"/>
                        </a:rPr>
                        <a:t>)</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a:lnSpc>
                          <a:spcPct val="107000"/>
                        </a:lnSpc>
                        <a:spcAft>
                          <a:spcPts val="800"/>
                        </a:spcAft>
                      </a:pPr>
                      <a:r>
                        <a:rPr lang="en-IN" sz="1300" dirty="0">
                          <a:solidFill>
                            <a:schemeClr val="tx1"/>
                          </a:solidFill>
                          <a:effectLst/>
                          <a:latin typeface="Time Roman" pitchFamily="2" charset="0"/>
                        </a:rPr>
                        <a:t> </a:t>
                      </a:r>
                      <a:endParaRPr lang="en-IN" sz="1100" dirty="0">
                        <a:solidFill>
                          <a:schemeClr val="tx1"/>
                        </a:solidFill>
                        <a:effectLst/>
                        <a:latin typeface="Time Roman" pitchFamily="2" charset="0"/>
                      </a:endParaRPr>
                    </a:p>
                    <a:p>
                      <a:pPr algn="ctr">
                        <a:lnSpc>
                          <a:spcPct val="107000"/>
                        </a:lnSpc>
                        <a:spcAft>
                          <a:spcPts val="800"/>
                        </a:spcAft>
                      </a:pPr>
                      <a:r>
                        <a:rPr lang="en-IN" sz="1300" dirty="0">
                          <a:solidFill>
                            <a:schemeClr val="tx1"/>
                          </a:solidFill>
                          <a:effectLst/>
                          <a:latin typeface="Time Roman" pitchFamily="2" charset="0"/>
                        </a:rPr>
                        <a:t>30</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a:lnSpc>
                          <a:spcPct val="107000"/>
                        </a:lnSpc>
                        <a:spcAft>
                          <a:spcPts val="800"/>
                        </a:spcAft>
                      </a:pPr>
                      <a:r>
                        <a:rPr lang="en-IN" sz="1300" dirty="0">
                          <a:solidFill>
                            <a:schemeClr val="tx1"/>
                          </a:solidFill>
                          <a:effectLst/>
                          <a:latin typeface="Time Roman" pitchFamily="2" charset="0"/>
                        </a:rPr>
                        <a:t>Not null</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2949048478"/>
                  </a:ext>
                </a:extLst>
              </a:tr>
              <a:tr h="469940">
                <a:tc>
                  <a:txBody>
                    <a:bodyPr/>
                    <a:lstStyle/>
                    <a:p>
                      <a:pPr algn="ctr" fontAlgn="base">
                        <a:lnSpc>
                          <a:spcPct val="107000"/>
                        </a:lnSpc>
                        <a:spcAft>
                          <a:spcPts val="800"/>
                        </a:spcAft>
                      </a:pPr>
                      <a:r>
                        <a:rPr lang="en-US" sz="1100" dirty="0">
                          <a:solidFill>
                            <a:schemeClr val="tx1"/>
                          </a:solidFill>
                          <a:effectLst/>
                          <a:latin typeface="Time Roman" pitchFamily="2" charset="0"/>
                          <a:ea typeface="Calibri" panose="020F0502020204030204" pitchFamily="34" charset="0"/>
                          <a:cs typeface="Times New Roman" panose="02020603050405020304" pitchFamily="18" charset="0"/>
                        </a:rPr>
                        <a:t>address</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US" sz="1100" dirty="0" err="1">
                          <a:solidFill>
                            <a:schemeClr val="tx1"/>
                          </a:solidFill>
                          <a:effectLst/>
                          <a:latin typeface="Time Roman" pitchFamily="2" charset="0"/>
                          <a:ea typeface="Calibri" panose="020F0502020204030204" pitchFamily="34" charset="0"/>
                          <a:cs typeface="Times New Roman" panose="02020603050405020304" pitchFamily="18" charset="0"/>
                        </a:rPr>
                        <a:t>Varchar</a:t>
                      </a:r>
                      <a:r>
                        <a:rPr lang="en-US" sz="1100" dirty="0">
                          <a:solidFill>
                            <a:schemeClr val="tx1"/>
                          </a:solidFill>
                          <a:effectLst/>
                          <a:latin typeface="Time Roman" pitchFamily="2" charset="0"/>
                          <a:ea typeface="Calibri" panose="020F0502020204030204" pitchFamily="34" charset="0"/>
                          <a:cs typeface="Times New Roman" panose="02020603050405020304" pitchFamily="18" charset="0"/>
                        </a:rPr>
                        <a:t> </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a:lnSpc>
                          <a:spcPct val="107000"/>
                        </a:lnSpc>
                        <a:spcAft>
                          <a:spcPts val="800"/>
                        </a:spcAft>
                      </a:pPr>
                      <a:endParaRPr lang="en-US" sz="1100" dirty="0">
                        <a:solidFill>
                          <a:schemeClr val="tx1"/>
                        </a:solidFill>
                        <a:effectLst/>
                        <a:latin typeface="Time Roman" pitchFamily="2" charset="0"/>
                        <a:ea typeface="Calibri" panose="020F0502020204030204" pitchFamily="34" charset="0"/>
                        <a:cs typeface="Times New Roman" panose="02020603050405020304" pitchFamily="18" charset="0"/>
                      </a:endParaRPr>
                    </a:p>
                    <a:p>
                      <a:pPr algn="ctr">
                        <a:lnSpc>
                          <a:spcPct val="107000"/>
                        </a:lnSpc>
                        <a:spcAft>
                          <a:spcPts val="800"/>
                        </a:spcAft>
                      </a:pPr>
                      <a:r>
                        <a:rPr lang="en-US" sz="1100" dirty="0">
                          <a:solidFill>
                            <a:schemeClr val="tx1"/>
                          </a:solidFill>
                          <a:effectLst/>
                          <a:latin typeface="Time Roman" pitchFamily="2" charset="0"/>
                          <a:ea typeface="Calibri" panose="020F0502020204030204" pitchFamily="34" charset="0"/>
                          <a:cs typeface="Times New Roman" panose="02020603050405020304" pitchFamily="18" charset="0"/>
                        </a:rPr>
                        <a:t>512</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a:lnSpc>
                          <a:spcPct val="107000"/>
                        </a:lnSpc>
                        <a:spcAft>
                          <a:spcPts val="800"/>
                        </a:spcAft>
                      </a:pPr>
                      <a:r>
                        <a:rPr lang="en-US" sz="1100" dirty="0">
                          <a:solidFill>
                            <a:schemeClr val="tx1"/>
                          </a:solidFill>
                          <a:effectLst/>
                          <a:latin typeface="Time Roman" pitchFamily="2" charset="0"/>
                          <a:ea typeface="Calibri" panose="020F0502020204030204" pitchFamily="34" charset="0"/>
                          <a:cs typeface="Times New Roman" panose="02020603050405020304" pitchFamily="18" charset="0"/>
                        </a:rPr>
                        <a:t>Not null</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2781811617"/>
                  </a:ext>
                </a:extLst>
              </a:tr>
            </a:tbl>
          </a:graphicData>
        </a:graphic>
      </p:graphicFrame>
    </p:spTree>
    <p:extLst>
      <p:ext uri="{BB962C8B-B14F-4D97-AF65-F5344CB8AC3E}">
        <p14:creationId xmlns:p14="http://schemas.microsoft.com/office/powerpoint/2010/main" val="3467437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Delay 9"/>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3051" y="276285"/>
            <a:ext cx="9083406" cy="5986254"/>
          </a:xfrm>
          <a:prstGeom prst="rect">
            <a:avLst/>
          </a:prstGeom>
        </p:spPr>
        <p:txBody>
          <a:bodyPr wrap="square">
            <a:spAutoFit/>
          </a:bodyPr>
          <a:lstStyle/>
          <a:p>
            <a:pPr algn="ctr"/>
            <a:r>
              <a:rPr lang="en-US" sz="2400" b="1" dirty="0">
                <a:latin typeface="Times New Roman" pitchFamily="18" charset="0"/>
                <a:cs typeface="Times New Roman" pitchFamily="18" charset="0"/>
              </a:rPr>
              <a:t>DATABASE DESCRIPTION</a:t>
            </a:r>
            <a:endParaRPr lang="en-US" sz="2300" b="1" dirty="0">
              <a:latin typeface="Times New Roman" pitchFamily="18" charset="0"/>
              <a:cs typeface="Times New Roman" pitchFamily="18" charset="0"/>
            </a:endParaRPr>
          </a:p>
          <a:p>
            <a:pPr algn="ct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Symptoms-Based Doctor Recommendation and Appointment System</a:t>
            </a:r>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pPr algn="ctr"/>
            <a:endParaRPr lang="en-US" dirty="0">
              <a:latin typeface="Times New Roman" pitchFamily="18" charset="0"/>
              <a:cs typeface="Times New Roman" pitchFamily="18" charset="0"/>
            </a:endParaRPr>
          </a:p>
          <a:p>
            <a:pPr algn="ctr"/>
            <a:r>
              <a:rPr lang="en-US" dirty="0">
                <a:latin typeface="Times New Roman" pitchFamily="18" charset="0"/>
                <a:cs typeface="Times New Roman" pitchFamily="18" charset="0"/>
              </a:rPr>
              <a:t>Table : patient</a:t>
            </a:r>
          </a:p>
          <a:p>
            <a:endParaRPr lang="en-US" sz="2300" b="1" dirty="0">
              <a:latin typeface="Times New Roman" pitchFamily="18" charset="0"/>
              <a:cs typeface="Times New Roman" pitchFamily="18" charset="0"/>
            </a:endParaRPr>
          </a:p>
        </p:txBody>
      </p:sp>
      <p:graphicFrame>
        <p:nvGraphicFramePr>
          <p:cNvPr id="2" name="Table 1">
            <a:extLst>
              <a:ext uri="{FF2B5EF4-FFF2-40B4-BE49-F238E27FC236}">
                <a16:creationId xmlns:a16="http://schemas.microsoft.com/office/drawing/2014/main" id="{4882D16C-0904-C32B-5C8C-6D726895A0C5}"/>
              </a:ext>
            </a:extLst>
          </p:cNvPr>
          <p:cNvGraphicFramePr>
            <a:graphicFrameLocks noGrp="1"/>
          </p:cNvGraphicFramePr>
          <p:nvPr>
            <p:extLst>
              <p:ext uri="{D42A27DB-BD31-4B8C-83A1-F6EECF244321}">
                <p14:modId xmlns:p14="http://schemas.microsoft.com/office/powerpoint/2010/main" val="1201871532"/>
              </p:ext>
            </p:extLst>
          </p:nvPr>
        </p:nvGraphicFramePr>
        <p:xfrm>
          <a:off x="307973" y="1591455"/>
          <a:ext cx="8324056" cy="3978684"/>
        </p:xfrm>
        <a:graphic>
          <a:graphicData uri="http://schemas.openxmlformats.org/drawingml/2006/table">
            <a:tbl>
              <a:tblPr>
                <a:tableStyleId>{5940675A-B579-460E-94D1-54222C63F5DA}</a:tableStyleId>
              </a:tblPr>
              <a:tblGrid>
                <a:gridCol w="2042464">
                  <a:extLst>
                    <a:ext uri="{9D8B030D-6E8A-4147-A177-3AD203B41FA5}">
                      <a16:colId xmlns:a16="http://schemas.microsoft.com/office/drawing/2014/main" val="985052098"/>
                    </a:ext>
                  </a:extLst>
                </a:gridCol>
                <a:gridCol w="2249788">
                  <a:extLst>
                    <a:ext uri="{9D8B030D-6E8A-4147-A177-3AD203B41FA5}">
                      <a16:colId xmlns:a16="http://schemas.microsoft.com/office/drawing/2014/main" val="1504112142"/>
                    </a:ext>
                  </a:extLst>
                </a:gridCol>
                <a:gridCol w="1675776">
                  <a:extLst>
                    <a:ext uri="{9D8B030D-6E8A-4147-A177-3AD203B41FA5}">
                      <a16:colId xmlns:a16="http://schemas.microsoft.com/office/drawing/2014/main" val="2857215045"/>
                    </a:ext>
                  </a:extLst>
                </a:gridCol>
                <a:gridCol w="2356028">
                  <a:extLst>
                    <a:ext uri="{9D8B030D-6E8A-4147-A177-3AD203B41FA5}">
                      <a16:colId xmlns:a16="http://schemas.microsoft.com/office/drawing/2014/main" val="2904469819"/>
                    </a:ext>
                  </a:extLst>
                </a:gridCol>
              </a:tblGrid>
              <a:tr h="694570">
                <a:tc>
                  <a:txBody>
                    <a:bodyPr/>
                    <a:lstStyle/>
                    <a:p>
                      <a:pPr algn="ctr" fontAlgn="b">
                        <a:lnSpc>
                          <a:spcPct val="107000"/>
                        </a:lnSpc>
                        <a:spcAft>
                          <a:spcPts val="800"/>
                        </a:spcAft>
                      </a:pPr>
                      <a:r>
                        <a:rPr lang="en-IN" sz="1300" b="1" kern="1200" dirty="0">
                          <a:solidFill>
                            <a:schemeClr val="tx1"/>
                          </a:solidFill>
                          <a:effectLst/>
                          <a:latin typeface="Time Roman" pitchFamily="2" charset="0"/>
                        </a:rPr>
                        <a:t>FILED NAME</a:t>
                      </a:r>
                      <a:endParaRPr lang="en-IN" sz="1100" b="1" dirty="0">
                        <a:solidFill>
                          <a:schemeClr val="tx1"/>
                        </a:solidFill>
                        <a:effectLst/>
                        <a:latin typeface="Time Roman" pitchFamily="2" charset="0"/>
                      </a:endParaRPr>
                    </a:p>
                    <a:p>
                      <a:pPr algn="ctr" fontAlgn="b">
                        <a:lnSpc>
                          <a:spcPct val="107000"/>
                        </a:lnSpc>
                        <a:spcAft>
                          <a:spcPts val="800"/>
                        </a:spcAft>
                      </a:pPr>
                      <a:r>
                        <a:rPr lang="en-IN" sz="1300" b="1" kern="1200" dirty="0">
                          <a:solidFill>
                            <a:schemeClr val="tx1"/>
                          </a:solidFill>
                          <a:effectLst/>
                          <a:latin typeface="Time Roman" pitchFamily="2" charset="0"/>
                        </a:rPr>
                        <a:t> </a:t>
                      </a:r>
                      <a:endParaRPr lang="en-IN" sz="1100" b="1"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b"/>
                </a:tc>
                <a:tc>
                  <a:txBody>
                    <a:bodyPr/>
                    <a:lstStyle/>
                    <a:p>
                      <a:pPr algn="ctr" fontAlgn="b">
                        <a:lnSpc>
                          <a:spcPct val="107000"/>
                        </a:lnSpc>
                        <a:spcAft>
                          <a:spcPts val="800"/>
                        </a:spcAft>
                      </a:pPr>
                      <a:r>
                        <a:rPr lang="en-IN" sz="1300" b="1" kern="1200" dirty="0">
                          <a:solidFill>
                            <a:schemeClr val="tx1"/>
                          </a:solidFill>
                          <a:effectLst/>
                          <a:latin typeface="Time Roman" pitchFamily="2" charset="0"/>
                        </a:rPr>
                        <a:t>DATA TYPE</a:t>
                      </a:r>
                      <a:endParaRPr lang="en-IN" sz="1100" b="1" dirty="0">
                        <a:solidFill>
                          <a:schemeClr val="tx1"/>
                        </a:solidFill>
                        <a:effectLst/>
                        <a:latin typeface="Time Roman" pitchFamily="2" charset="0"/>
                      </a:endParaRPr>
                    </a:p>
                    <a:p>
                      <a:pPr fontAlgn="b">
                        <a:lnSpc>
                          <a:spcPct val="107000"/>
                        </a:lnSpc>
                        <a:spcAft>
                          <a:spcPts val="800"/>
                        </a:spcAft>
                      </a:pPr>
                      <a:r>
                        <a:rPr lang="en-IN" sz="1300" b="1" kern="1200" dirty="0">
                          <a:solidFill>
                            <a:schemeClr val="tx1"/>
                          </a:solidFill>
                          <a:effectLst/>
                          <a:latin typeface="Time Roman" pitchFamily="2" charset="0"/>
                        </a:rPr>
                        <a:t> </a:t>
                      </a:r>
                      <a:endParaRPr lang="en-IN" sz="1100" b="1"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b"/>
                </a:tc>
                <a:tc>
                  <a:txBody>
                    <a:bodyPr/>
                    <a:lstStyle/>
                    <a:p>
                      <a:pPr algn="ctr" fontAlgn="b">
                        <a:lnSpc>
                          <a:spcPct val="107000"/>
                        </a:lnSpc>
                        <a:spcAft>
                          <a:spcPts val="800"/>
                        </a:spcAft>
                      </a:pPr>
                      <a:r>
                        <a:rPr lang="en-IN" sz="1300" b="1" kern="1200" dirty="0">
                          <a:solidFill>
                            <a:schemeClr val="tx1"/>
                          </a:solidFill>
                          <a:effectLst/>
                          <a:latin typeface="Time Roman" pitchFamily="2" charset="0"/>
                        </a:rPr>
                        <a:t> </a:t>
                      </a:r>
                      <a:endParaRPr lang="en-IN" sz="1100" b="1" dirty="0">
                        <a:solidFill>
                          <a:schemeClr val="tx1"/>
                        </a:solidFill>
                        <a:effectLst/>
                        <a:latin typeface="Time Roman" pitchFamily="2" charset="0"/>
                      </a:endParaRPr>
                    </a:p>
                    <a:p>
                      <a:pPr algn="ctr" fontAlgn="b">
                        <a:lnSpc>
                          <a:spcPct val="107000"/>
                        </a:lnSpc>
                        <a:spcAft>
                          <a:spcPts val="800"/>
                        </a:spcAft>
                      </a:pPr>
                      <a:r>
                        <a:rPr lang="en-IN" sz="1300" b="1" kern="1200" dirty="0">
                          <a:solidFill>
                            <a:schemeClr val="tx1"/>
                          </a:solidFill>
                          <a:effectLst/>
                          <a:latin typeface="Time Roman" pitchFamily="2" charset="0"/>
                        </a:rPr>
                        <a:t>SIZE</a:t>
                      </a:r>
                      <a:endParaRPr lang="en-IN" sz="1100" b="1"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
                        <a:lnSpc>
                          <a:spcPct val="107000"/>
                        </a:lnSpc>
                        <a:spcAft>
                          <a:spcPts val="800"/>
                        </a:spcAft>
                      </a:pPr>
                      <a:r>
                        <a:rPr lang="en-IN" sz="1300" b="1" kern="1200">
                          <a:solidFill>
                            <a:schemeClr val="tx1"/>
                          </a:solidFill>
                          <a:effectLst/>
                          <a:latin typeface="Time Roman" pitchFamily="2" charset="0"/>
                        </a:rPr>
                        <a:t> </a:t>
                      </a:r>
                      <a:endParaRPr lang="en-IN" sz="1100" b="1">
                        <a:solidFill>
                          <a:schemeClr val="tx1"/>
                        </a:solidFill>
                        <a:effectLst/>
                        <a:latin typeface="Time Roman" pitchFamily="2" charset="0"/>
                      </a:endParaRPr>
                    </a:p>
                    <a:p>
                      <a:pPr algn="ctr" fontAlgn="b">
                        <a:lnSpc>
                          <a:spcPct val="107000"/>
                        </a:lnSpc>
                        <a:spcAft>
                          <a:spcPts val="800"/>
                        </a:spcAft>
                      </a:pPr>
                      <a:r>
                        <a:rPr lang="en-IN" sz="1300" b="1" kern="1200">
                          <a:solidFill>
                            <a:schemeClr val="tx1"/>
                          </a:solidFill>
                          <a:effectLst/>
                          <a:latin typeface="Time Roman" pitchFamily="2" charset="0"/>
                        </a:rPr>
                        <a:t>CONSTRAINTS</a:t>
                      </a:r>
                      <a:endParaRPr lang="en-IN" sz="1100" b="1">
                        <a:solidFill>
                          <a:schemeClr val="tx1"/>
                        </a:solidFill>
                        <a:effectLst/>
                        <a:latin typeface="Time Roman" pitchFamily="2" charset="0"/>
                      </a:endParaRPr>
                    </a:p>
                    <a:p>
                      <a:pPr algn="ctr" fontAlgn="b">
                        <a:lnSpc>
                          <a:spcPct val="107000"/>
                        </a:lnSpc>
                        <a:spcAft>
                          <a:spcPts val="800"/>
                        </a:spcAft>
                      </a:pPr>
                      <a:r>
                        <a:rPr lang="en-IN" sz="1300" b="1" kern="1200">
                          <a:solidFill>
                            <a:schemeClr val="tx1"/>
                          </a:solidFill>
                          <a:effectLst/>
                          <a:latin typeface="Time Roman" pitchFamily="2" charset="0"/>
                        </a:rPr>
                        <a:t> </a:t>
                      </a:r>
                      <a:endParaRPr lang="en-IN" sz="1100" b="1">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b"/>
                </a:tc>
                <a:extLst>
                  <a:ext uri="{0D108BD9-81ED-4DB2-BD59-A6C34878D82A}">
                    <a16:rowId xmlns:a16="http://schemas.microsoft.com/office/drawing/2014/main" val="3394013785"/>
                  </a:ext>
                </a:extLst>
              </a:tr>
              <a:tr h="412434">
                <a:tc>
                  <a:txBody>
                    <a:bodyPr/>
                    <a:lstStyle/>
                    <a:p>
                      <a:pPr algn="ctr" fontAlgn="base">
                        <a:lnSpc>
                          <a:spcPct val="107000"/>
                        </a:lnSpc>
                        <a:spcAft>
                          <a:spcPts val="800"/>
                        </a:spcAft>
                      </a:pPr>
                      <a:r>
                        <a:rPr lang="en-US" sz="1300" kern="1200" dirty="0" err="1">
                          <a:solidFill>
                            <a:schemeClr val="tx1"/>
                          </a:solidFill>
                          <a:effectLst/>
                          <a:latin typeface="Time Roman" pitchFamily="2" charset="0"/>
                        </a:rPr>
                        <a:t>phone_number</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US" sz="1300" kern="1200" dirty="0" err="1">
                          <a:solidFill>
                            <a:schemeClr val="tx1"/>
                          </a:solidFill>
                          <a:effectLst/>
                          <a:latin typeface="Time Roman" pitchFamily="2" charset="0"/>
                        </a:rPr>
                        <a:t>bigint</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a:solidFill>
                            <a:schemeClr val="tx1"/>
                          </a:solidFill>
                          <a:effectLst/>
                          <a:latin typeface="Time Roman" pitchFamily="2" charset="0"/>
                        </a:rPr>
                        <a:t> </a:t>
                      </a:r>
                      <a:endParaRPr lang="en-IN" sz="1100">
                        <a:solidFill>
                          <a:schemeClr val="tx1"/>
                        </a:solidFill>
                        <a:effectLst/>
                        <a:latin typeface="Time Roman" pitchFamily="2" charset="0"/>
                      </a:endParaRPr>
                    </a:p>
                    <a:p>
                      <a:pPr algn="ctr" fontAlgn="base">
                        <a:lnSpc>
                          <a:spcPct val="107000"/>
                        </a:lnSpc>
                        <a:spcAft>
                          <a:spcPts val="800"/>
                        </a:spcAft>
                      </a:pPr>
                      <a:r>
                        <a:rPr lang="en-IN" sz="1300" kern="1200">
                          <a:solidFill>
                            <a:schemeClr val="tx1"/>
                          </a:solidFill>
                          <a:effectLst/>
                          <a:latin typeface="Time Roman" pitchFamily="2" charset="0"/>
                        </a:rPr>
                        <a:t>10</a:t>
                      </a:r>
                      <a:endParaRPr lang="en-IN" sz="110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US" sz="1300" kern="1200" dirty="0">
                          <a:solidFill>
                            <a:schemeClr val="tx1"/>
                          </a:solidFill>
                          <a:effectLst/>
                          <a:latin typeface="Time Roman" pitchFamily="2" charset="0"/>
                        </a:rPr>
                        <a:t>Not null</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2538554340"/>
                  </a:ext>
                </a:extLst>
              </a:tr>
              <a:tr h="412434">
                <a:tc>
                  <a:txBody>
                    <a:bodyPr/>
                    <a:lstStyle/>
                    <a:p>
                      <a:pPr algn="ctr" fontAlgn="base">
                        <a:lnSpc>
                          <a:spcPct val="107000"/>
                        </a:lnSpc>
                        <a:spcAft>
                          <a:spcPts val="800"/>
                        </a:spcAft>
                      </a:pPr>
                      <a:r>
                        <a:rPr lang="en-US" sz="1300" kern="1200" dirty="0">
                          <a:solidFill>
                            <a:schemeClr val="tx1"/>
                          </a:solidFill>
                          <a:effectLst/>
                          <a:latin typeface="Time Roman" pitchFamily="2" charset="0"/>
                          <a:ea typeface="Calibri" panose="020F0502020204030204" pitchFamily="34" charset="0"/>
                          <a:cs typeface="Times New Roman" panose="02020603050405020304" pitchFamily="18" charset="0"/>
                        </a:rPr>
                        <a:t>email</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dirty="0">
                          <a:solidFill>
                            <a:schemeClr val="tx1"/>
                          </a:solidFill>
                          <a:effectLst/>
                          <a:latin typeface="Time Roman" pitchFamily="2" charset="0"/>
                        </a:rPr>
                        <a:t>Varchar</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dirty="0">
                          <a:solidFill>
                            <a:schemeClr val="tx1"/>
                          </a:solidFill>
                          <a:effectLst/>
                          <a:latin typeface="Time Roman" pitchFamily="2" charset="0"/>
                        </a:rPr>
                        <a:t> </a:t>
                      </a:r>
                      <a:endParaRPr lang="en-IN" sz="1100" dirty="0">
                        <a:solidFill>
                          <a:schemeClr val="tx1"/>
                        </a:solidFill>
                        <a:effectLst/>
                        <a:latin typeface="Time Roman" pitchFamily="2" charset="0"/>
                      </a:endParaRPr>
                    </a:p>
                    <a:p>
                      <a:pPr algn="ctr" fontAlgn="base">
                        <a:lnSpc>
                          <a:spcPct val="107000"/>
                        </a:lnSpc>
                        <a:spcAft>
                          <a:spcPts val="800"/>
                        </a:spcAft>
                      </a:pPr>
                      <a:r>
                        <a:rPr lang="en-US" sz="1300" kern="1200" dirty="0">
                          <a:solidFill>
                            <a:schemeClr val="tx1"/>
                          </a:solidFill>
                          <a:effectLst/>
                          <a:latin typeface="Time Roman" pitchFamily="2" charset="0"/>
                        </a:rPr>
                        <a:t>1</a:t>
                      </a:r>
                      <a:r>
                        <a:rPr lang="en-IN" sz="1300" kern="1200" dirty="0">
                          <a:solidFill>
                            <a:schemeClr val="tx1"/>
                          </a:solidFill>
                          <a:effectLst/>
                          <a:latin typeface="Time Roman" pitchFamily="2" charset="0"/>
                        </a:rPr>
                        <a:t>2</a:t>
                      </a:r>
                      <a:r>
                        <a:rPr lang="en-US" sz="1300" kern="1200" dirty="0">
                          <a:solidFill>
                            <a:schemeClr val="tx1"/>
                          </a:solidFill>
                          <a:effectLst/>
                          <a:latin typeface="Time Roman" pitchFamily="2" charset="0"/>
                        </a:rPr>
                        <a:t>8</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US" sz="1300" kern="1200" dirty="0">
                          <a:solidFill>
                            <a:schemeClr val="tx1"/>
                          </a:solidFill>
                          <a:effectLst/>
                          <a:latin typeface="Time Roman" pitchFamily="2" charset="0"/>
                        </a:rPr>
                        <a:t>Not null</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707759503"/>
                  </a:ext>
                </a:extLst>
              </a:tr>
              <a:tr h="412434">
                <a:tc>
                  <a:txBody>
                    <a:bodyPr/>
                    <a:lstStyle/>
                    <a:p>
                      <a:pPr algn="ctr" fontAlgn="base">
                        <a:lnSpc>
                          <a:spcPct val="107000"/>
                        </a:lnSpc>
                        <a:spcAft>
                          <a:spcPts val="800"/>
                        </a:spcAft>
                      </a:pPr>
                      <a:r>
                        <a:rPr lang="en-US" sz="1300" kern="1200" dirty="0" err="1">
                          <a:solidFill>
                            <a:schemeClr val="tx1"/>
                          </a:solidFill>
                          <a:effectLst/>
                          <a:latin typeface="Time Roman" pitchFamily="2" charset="0"/>
                        </a:rPr>
                        <a:t>blood_type</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US" sz="1300" kern="1200" dirty="0" err="1">
                          <a:solidFill>
                            <a:schemeClr val="tx1"/>
                          </a:solidFill>
                          <a:effectLst/>
                          <a:latin typeface="Time Roman" pitchFamily="2" charset="0"/>
                        </a:rPr>
                        <a:t>Enum</a:t>
                      </a:r>
                      <a:r>
                        <a:rPr lang="en-US" sz="1300" kern="1200" dirty="0">
                          <a:solidFill>
                            <a:schemeClr val="tx1"/>
                          </a:solidFill>
                          <a:effectLst/>
                          <a:latin typeface="Time Roman" pitchFamily="2" charset="0"/>
                        </a:rPr>
                        <a:t>(a+,b+,</a:t>
                      </a:r>
                      <a:r>
                        <a:rPr lang="en-US" sz="1300" kern="1200" dirty="0" err="1">
                          <a:solidFill>
                            <a:schemeClr val="tx1"/>
                          </a:solidFill>
                          <a:effectLst/>
                          <a:latin typeface="Time Roman" pitchFamily="2" charset="0"/>
                        </a:rPr>
                        <a:t>etc</a:t>
                      </a:r>
                      <a:r>
                        <a:rPr lang="en-US" sz="1300" kern="1200" dirty="0">
                          <a:solidFill>
                            <a:schemeClr val="tx1"/>
                          </a:solidFill>
                          <a:effectLst/>
                          <a:latin typeface="Time Roman" pitchFamily="2" charset="0"/>
                        </a:rPr>
                        <a:t>)</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a:lnSpc>
                          <a:spcPct val="107000"/>
                        </a:lnSpc>
                        <a:spcAft>
                          <a:spcPts val="800"/>
                        </a:spcAft>
                      </a:pPr>
                      <a:r>
                        <a:rPr lang="en-IN" sz="1300" dirty="0">
                          <a:solidFill>
                            <a:schemeClr val="tx1"/>
                          </a:solidFill>
                          <a:effectLst/>
                          <a:latin typeface="Time Roman" pitchFamily="2" charset="0"/>
                        </a:rPr>
                        <a:t> </a:t>
                      </a:r>
                      <a:endParaRPr lang="en-IN" sz="1100" dirty="0">
                        <a:solidFill>
                          <a:schemeClr val="tx1"/>
                        </a:solidFill>
                        <a:effectLst/>
                        <a:latin typeface="Time Roman" pitchFamily="2" charset="0"/>
                      </a:endParaRPr>
                    </a:p>
                    <a:p>
                      <a:pPr algn="ctr">
                        <a:lnSpc>
                          <a:spcPct val="107000"/>
                        </a:lnSpc>
                        <a:spcAft>
                          <a:spcPts val="800"/>
                        </a:spcAft>
                      </a:pPr>
                      <a:r>
                        <a:rPr lang="en-US" sz="1300" dirty="0">
                          <a:solidFill>
                            <a:schemeClr val="tx1"/>
                          </a:solidFill>
                          <a:effectLst/>
                          <a:latin typeface="Time Roman" pitchFamily="2" charset="0"/>
                          <a:ea typeface="Calibri" panose="020F0502020204030204" pitchFamily="34" charset="0"/>
                          <a:cs typeface="Times New Roman" panose="02020603050405020304" pitchFamily="18" charset="0"/>
                        </a:rPr>
                        <a:t>-</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a:lnSpc>
                          <a:spcPct val="107000"/>
                        </a:lnSpc>
                        <a:spcAft>
                          <a:spcPts val="800"/>
                        </a:spcAft>
                      </a:pPr>
                      <a:r>
                        <a:rPr lang="en-IN" sz="1300">
                          <a:solidFill>
                            <a:schemeClr val="tx1"/>
                          </a:solidFill>
                          <a:effectLst/>
                          <a:latin typeface="Time Roman" pitchFamily="2" charset="0"/>
                        </a:rPr>
                        <a:t>Not null</a:t>
                      </a:r>
                      <a:endParaRPr lang="en-IN" sz="110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2857421491"/>
                  </a:ext>
                </a:extLst>
              </a:tr>
              <a:tr h="412434">
                <a:tc>
                  <a:txBody>
                    <a:bodyPr/>
                    <a:lstStyle/>
                    <a:p>
                      <a:pPr algn="ctr" fontAlgn="base">
                        <a:lnSpc>
                          <a:spcPct val="107000"/>
                        </a:lnSpc>
                        <a:spcAft>
                          <a:spcPts val="800"/>
                        </a:spcAft>
                      </a:pPr>
                      <a:r>
                        <a:rPr lang="en-US" sz="1300" kern="1200" dirty="0" err="1">
                          <a:solidFill>
                            <a:schemeClr val="tx1"/>
                          </a:solidFill>
                          <a:effectLst/>
                          <a:latin typeface="Time Roman" pitchFamily="2" charset="0"/>
                        </a:rPr>
                        <a:t>emergency_contact</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US" sz="1300" kern="1200" dirty="0" err="1">
                          <a:solidFill>
                            <a:schemeClr val="tx1"/>
                          </a:solidFill>
                          <a:effectLst/>
                          <a:latin typeface="Time Roman" pitchFamily="2" charset="0"/>
                        </a:rPr>
                        <a:t>bigint</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dirty="0">
                          <a:solidFill>
                            <a:schemeClr val="tx1"/>
                          </a:solidFill>
                          <a:effectLst/>
                          <a:latin typeface="Time Roman" pitchFamily="2" charset="0"/>
                        </a:rPr>
                        <a:t> </a:t>
                      </a:r>
                      <a:endParaRPr lang="en-IN" sz="1100" dirty="0">
                        <a:solidFill>
                          <a:schemeClr val="tx1"/>
                        </a:solidFill>
                        <a:effectLst/>
                        <a:latin typeface="Time Roman" pitchFamily="2" charset="0"/>
                      </a:endParaRPr>
                    </a:p>
                    <a:p>
                      <a:pPr algn="ctr" fontAlgn="base">
                        <a:lnSpc>
                          <a:spcPct val="107000"/>
                        </a:lnSpc>
                        <a:spcAft>
                          <a:spcPts val="800"/>
                        </a:spcAft>
                      </a:pPr>
                      <a:r>
                        <a:rPr lang="en-US" sz="1300" kern="1200" dirty="0">
                          <a:solidFill>
                            <a:schemeClr val="tx1"/>
                          </a:solidFill>
                          <a:effectLst/>
                          <a:latin typeface="Time Roman" pitchFamily="2" charset="0"/>
                        </a:rPr>
                        <a:t>1</a:t>
                      </a:r>
                      <a:r>
                        <a:rPr lang="en-IN" sz="1300" kern="1200" dirty="0">
                          <a:solidFill>
                            <a:schemeClr val="tx1"/>
                          </a:solidFill>
                          <a:effectLst/>
                          <a:latin typeface="Time Roman" pitchFamily="2" charset="0"/>
                        </a:rPr>
                        <a:t>0</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US" sz="1300" kern="1200" dirty="0">
                          <a:solidFill>
                            <a:schemeClr val="tx1"/>
                          </a:solidFill>
                          <a:effectLst/>
                          <a:latin typeface="Time Roman" pitchFamily="2" charset="0"/>
                        </a:rPr>
                        <a:t>Not null</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1360029502"/>
                  </a:ext>
                </a:extLst>
              </a:tr>
              <a:tr h="412434">
                <a:tc>
                  <a:txBody>
                    <a:bodyPr/>
                    <a:lstStyle/>
                    <a:p>
                      <a:pPr algn="ctr" fontAlgn="base">
                        <a:lnSpc>
                          <a:spcPct val="107000"/>
                        </a:lnSpc>
                        <a:spcAft>
                          <a:spcPts val="800"/>
                        </a:spcAft>
                      </a:pPr>
                      <a:r>
                        <a:rPr lang="en-US" sz="1100" dirty="0">
                          <a:solidFill>
                            <a:schemeClr val="tx1"/>
                          </a:solidFill>
                          <a:effectLst/>
                          <a:latin typeface="Time Roman" pitchFamily="2" charset="0"/>
                          <a:ea typeface="Calibri" panose="020F0502020204030204" pitchFamily="34" charset="0"/>
                          <a:cs typeface="Times New Roman" panose="02020603050405020304" pitchFamily="18" charset="0"/>
                        </a:rPr>
                        <a:t>allergies</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US" sz="1300" kern="1200" dirty="0">
                          <a:solidFill>
                            <a:schemeClr val="tx1"/>
                          </a:solidFill>
                          <a:effectLst/>
                          <a:latin typeface="Time Roman" pitchFamily="2" charset="0"/>
                        </a:rPr>
                        <a:t>Text</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a:lnSpc>
                          <a:spcPct val="107000"/>
                        </a:lnSpc>
                        <a:spcAft>
                          <a:spcPts val="800"/>
                        </a:spcAft>
                      </a:pPr>
                      <a:r>
                        <a:rPr lang="en-IN" sz="1300" dirty="0">
                          <a:solidFill>
                            <a:schemeClr val="tx1"/>
                          </a:solidFill>
                          <a:effectLst/>
                          <a:latin typeface="Time Roman" pitchFamily="2" charset="0"/>
                        </a:rPr>
                        <a:t> </a:t>
                      </a:r>
                      <a:endParaRPr lang="en-IN" sz="1100" dirty="0">
                        <a:solidFill>
                          <a:schemeClr val="tx1"/>
                        </a:solidFill>
                        <a:effectLst/>
                        <a:latin typeface="Time Roman" pitchFamily="2" charset="0"/>
                      </a:endParaRPr>
                    </a:p>
                    <a:p>
                      <a:pPr algn="ctr">
                        <a:lnSpc>
                          <a:spcPct val="107000"/>
                        </a:lnSpc>
                        <a:spcAft>
                          <a:spcPts val="800"/>
                        </a:spcAft>
                      </a:pPr>
                      <a:r>
                        <a:rPr lang="en-IN" sz="1300" dirty="0">
                          <a:solidFill>
                            <a:schemeClr val="tx1"/>
                          </a:solidFill>
                          <a:effectLst/>
                          <a:latin typeface="Time Roman" pitchFamily="2" charset="0"/>
                        </a:rPr>
                        <a:t>30</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a:lnSpc>
                          <a:spcPct val="107000"/>
                        </a:lnSpc>
                        <a:spcAft>
                          <a:spcPts val="800"/>
                        </a:spcAft>
                      </a:pPr>
                      <a:r>
                        <a:rPr lang="en-IN" sz="1300" dirty="0">
                          <a:solidFill>
                            <a:schemeClr val="tx1"/>
                          </a:solidFill>
                          <a:effectLst/>
                          <a:latin typeface="Time Roman" pitchFamily="2" charset="0"/>
                        </a:rPr>
                        <a:t>Not null</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2949048478"/>
                  </a:ext>
                </a:extLst>
              </a:tr>
              <a:tr h="264422">
                <a:tc>
                  <a:txBody>
                    <a:bodyPr/>
                    <a:lstStyle/>
                    <a:p>
                      <a:pPr algn="ctr" fontAlgn="base">
                        <a:lnSpc>
                          <a:spcPct val="107000"/>
                        </a:lnSpc>
                        <a:spcAft>
                          <a:spcPts val="800"/>
                        </a:spcAft>
                      </a:pPr>
                      <a:r>
                        <a:rPr lang="en-US" sz="1100" dirty="0" err="1">
                          <a:solidFill>
                            <a:schemeClr val="tx1"/>
                          </a:solidFill>
                          <a:effectLst/>
                          <a:latin typeface="Time Roman" pitchFamily="2" charset="0"/>
                          <a:ea typeface="Calibri" panose="020F0502020204030204" pitchFamily="34" charset="0"/>
                          <a:cs typeface="Times New Roman" panose="02020603050405020304" pitchFamily="18" charset="0"/>
                        </a:rPr>
                        <a:t>existing_conditions</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US" sz="1100" dirty="0">
                          <a:solidFill>
                            <a:schemeClr val="tx1"/>
                          </a:solidFill>
                          <a:effectLst/>
                          <a:latin typeface="Time Roman" pitchFamily="2" charset="0"/>
                          <a:ea typeface="Calibri" panose="020F0502020204030204" pitchFamily="34" charset="0"/>
                          <a:cs typeface="Times New Roman" panose="02020603050405020304" pitchFamily="18" charset="0"/>
                        </a:rPr>
                        <a:t>Text</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a:lnSpc>
                          <a:spcPct val="107000"/>
                        </a:lnSpc>
                        <a:spcAft>
                          <a:spcPts val="800"/>
                        </a:spcAft>
                      </a:pPr>
                      <a:r>
                        <a:rPr lang="en-US" sz="1100" dirty="0">
                          <a:solidFill>
                            <a:schemeClr val="tx1"/>
                          </a:solidFill>
                          <a:effectLst/>
                          <a:latin typeface="Time Roman" pitchFamily="2" charset="0"/>
                          <a:ea typeface="Calibri" panose="020F0502020204030204" pitchFamily="34" charset="0"/>
                          <a:cs typeface="Times New Roman" panose="02020603050405020304" pitchFamily="18" charset="0"/>
                        </a:rPr>
                        <a:t>30</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a:lnSpc>
                          <a:spcPct val="107000"/>
                        </a:lnSpc>
                        <a:spcAft>
                          <a:spcPts val="800"/>
                        </a:spcAft>
                      </a:pPr>
                      <a:r>
                        <a:rPr lang="en-US" sz="1100" dirty="0">
                          <a:solidFill>
                            <a:schemeClr val="tx1"/>
                          </a:solidFill>
                          <a:effectLst/>
                          <a:latin typeface="Time Roman" pitchFamily="2" charset="0"/>
                          <a:ea typeface="Calibri" panose="020F0502020204030204" pitchFamily="34" charset="0"/>
                          <a:cs typeface="Times New Roman" panose="02020603050405020304" pitchFamily="18" charset="0"/>
                        </a:rPr>
                        <a:t>Not null</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2781811617"/>
                  </a:ext>
                </a:extLst>
              </a:tr>
              <a:tr h="264422">
                <a:tc>
                  <a:txBody>
                    <a:bodyPr/>
                    <a:lstStyle/>
                    <a:p>
                      <a:pPr algn="ctr" fontAlgn="base">
                        <a:lnSpc>
                          <a:spcPct val="107000"/>
                        </a:lnSpc>
                        <a:spcAft>
                          <a:spcPts val="800"/>
                        </a:spcAft>
                      </a:pPr>
                      <a:r>
                        <a:rPr lang="en-US" sz="1100" dirty="0" err="1">
                          <a:solidFill>
                            <a:schemeClr val="tx1"/>
                          </a:solidFill>
                          <a:effectLst/>
                          <a:latin typeface="Time Roman" pitchFamily="2" charset="0"/>
                          <a:ea typeface="Calibri" panose="020F0502020204030204" pitchFamily="34" charset="0"/>
                          <a:cs typeface="Times New Roman" panose="02020603050405020304" pitchFamily="18" charset="0"/>
                        </a:rPr>
                        <a:t>Profile_photo</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US" sz="1100" dirty="0" err="1">
                          <a:solidFill>
                            <a:schemeClr val="tx1"/>
                          </a:solidFill>
                          <a:effectLst/>
                          <a:latin typeface="Time Roman" pitchFamily="2" charset="0"/>
                          <a:ea typeface="Calibri" panose="020F0502020204030204" pitchFamily="34" charset="0"/>
                          <a:cs typeface="Times New Roman" panose="02020603050405020304" pitchFamily="18" charset="0"/>
                        </a:rPr>
                        <a:t>Varchar</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a:lnSpc>
                          <a:spcPct val="107000"/>
                        </a:lnSpc>
                        <a:spcAft>
                          <a:spcPts val="800"/>
                        </a:spcAft>
                      </a:pPr>
                      <a:r>
                        <a:rPr lang="en-US" sz="1100" dirty="0">
                          <a:solidFill>
                            <a:schemeClr val="tx1"/>
                          </a:solidFill>
                          <a:effectLst/>
                          <a:latin typeface="Time Roman" pitchFamily="2" charset="0"/>
                          <a:ea typeface="Calibri" panose="020F0502020204030204" pitchFamily="34" charset="0"/>
                          <a:cs typeface="Times New Roman" panose="02020603050405020304" pitchFamily="18" charset="0"/>
                        </a:rPr>
                        <a:t>255</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a:lnSpc>
                          <a:spcPct val="107000"/>
                        </a:lnSpc>
                        <a:spcAft>
                          <a:spcPts val="800"/>
                        </a:spcAft>
                      </a:pPr>
                      <a:r>
                        <a:rPr lang="en-US" sz="1100" dirty="0">
                          <a:solidFill>
                            <a:schemeClr val="tx1"/>
                          </a:solidFill>
                          <a:effectLst/>
                          <a:latin typeface="Time Roman" pitchFamily="2" charset="0"/>
                          <a:ea typeface="Calibri" panose="020F0502020204030204" pitchFamily="34" charset="0"/>
                          <a:cs typeface="Times New Roman" panose="02020603050405020304" pitchFamily="18" charset="0"/>
                        </a:rPr>
                        <a:t>Not null</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2600980578"/>
                  </a:ext>
                </a:extLst>
              </a:tr>
            </a:tbl>
          </a:graphicData>
        </a:graphic>
      </p:graphicFrame>
    </p:spTree>
    <p:extLst>
      <p:ext uri="{BB962C8B-B14F-4D97-AF65-F5344CB8AC3E}">
        <p14:creationId xmlns:p14="http://schemas.microsoft.com/office/powerpoint/2010/main" val="821554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Delay 9"/>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55575" y="276285"/>
            <a:ext cx="8680450" cy="4231928"/>
          </a:xfrm>
          <a:prstGeom prst="rect">
            <a:avLst/>
          </a:prstGeom>
        </p:spPr>
        <p:txBody>
          <a:bodyPr wrap="square">
            <a:spAutoFit/>
          </a:bodyPr>
          <a:lstStyle/>
          <a:p>
            <a:pPr algn="ctr"/>
            <a:r>
              <a:rPr lang="en-US" sz="2400" b="1" dirty="0">
                <a:latin typeface="Times New Roman" pitchFamily="18" charset="0"/>
                <a:cs typeface="Times New Roman" pitchFamily="18" charset="0"/>
              </a:rPr>
              <a:t>DATABASE DESCRIPTION</a:t>
            </a:r>
            <a:endParaRPr lang="en-US" sz="2300" b="1" dirty="0">
              <a:latin typeface="Times New Roman" pitchFamily="18" charset="0"/>
              <a:cs typeface="Times New Roman" pitchFamily="18" charset="0"/>
            </a:endParaRPr>
          </a:p>
          <a:p>
            <a:pPr algn="ct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Symptoms-Based Doctor Recommendation and Appointment System</a:t>
            </a:r>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pPr algn="ctr"/>
            <a:endParaRPr lang="en-US" dirty="0">
              <a:latin typeface="Times New Roman" pitchFamily="18" charset="0"/>
              <a:cs typeface="Times New Roman" pitchFamily="18" charset="0"/>
            </a:endParaRPr>
          </a:p>
          <a:p>
            <a:pPr algn="ctr"/>
            <a:r>
              <a:rPr lang="en-US" dirty="0">
                <a:latin typeface="Times New Roman" pitchFamily="18" charset="0"/>
                <a:cs typeface="Times New Roman" pitchFamily="18" charset="0"/>
              </a:rPr>
              <a:t>Table : login</a:t>
            </a:r>
          </a:p>
          <a:p>
            <a:endParaRPr lang="en-US" sz="2300" b="1" dirty="0">
              <a:latin typeface="Times New Roman" pitchFamily="18" charset="0"/>
              <a:cs typeface="Times New Roman" pitchFamily="18" charset="0"/>
            </a:endParaRPr>
          </a:p>
        </p:txBody>
      </p:sp>
      <p:graphicFrame>
        <p:nvGraphicFramePr>
          <p:cNvPr id="2" name="Table 1">
            <a:extLst>
              <a:ext uri="{FF2B5EF4-FFF2-40B4-BE49-F238E27FC236}">
                <a16:creationId xmlns:a16="http://schemas.microsoft.com/office/drawing/2014/main" id="{4882D16C-0904-C32B-5C8C-6D726895A0C5}"/>
              </a:ext>
            </a:extLst>
          </p:cNvPr>
          <p:cNvGraphicFramePr>
            <a:graphicFrameLocks noGrp="1"/>
          </p:cNvGraphicFramePr>
          <p:nvPr>
            <p:extLst>
              <p:ext uri="{D42A27DB-BD31-4B8C-83A1-F6EECF244321}">
                <p14:modId xmlns:p14="http://schemas.microsoft.com/office/powerpoint/2010/main" val="877912690"/>
              </p:ext>
            </p:extLst>
          </p:nvPr>
        </p:nvGraphicFramePr>
        <p:xfrm>
          <a:off x="307975" y="1568390"/>
          <a:ext cx="8324056" cy="1901456"/>
        </p:xfrm>
        <a:graphic>
          <a:graphicData uri="http://schemas.openxmlformats.org/drawingml/2006/table">
            <a:tbl>
              <a:tblPr>
                <a:tableStyleId>{5940675A-B579-460E-94D1-54222C63F5DA}</a:tableStyleId>
              </a:tblPr>
              <a:tblGrid>
                <a:gridCol w="2042464">
                  <a:extLst>
                    <a:ext uri="{9D8B030D-6E8A-4147-A177-3AD203B41FA5}">
                      <a16:colId xmlns:a16="http://schemas.microsoft.com/office/drawing/2014/main" val="985052098"/>
                    </a:ext>
                  </a:extLst>
                </a:gridCol>
                <a:gridCol w="2249788">
                  <a:extLst>
                    <a:ext uri="{9D8B030D-6E8A-4147-A177-3AD203B41FA5}">
                      <a16:colId xmlns:a16="http://schemas.microsoft.com/office/drawing/2014/main" val="1504112142"/>
                    </a:ext>
                  </a:extLst>
                </a:gridCol>
                <a:gridCol w="1675776">
                  <a:extLst>
                    <a:ext uri="{9D8B030D-6E8A-4147-A177-3AD203B41FA5}">
                      <a16:colId xmlns:a16="http://schemas.microsoft.com/office/drawing/2014/main" val="2857215045"/>
                    </a:ext>
                  </a:extLst>
                </a:gridCol>
                <a:gridCol w="2356028">
                  <a:extLst>
                    <a:ext uri="{9D8B030D-6E8A-4147-A177-3AD203B41FA5}">
                      <a16:colId xmlns:a16="http://schemas.microsoft.com/office/drawing/2014/main" val="2904469819"/>
                    </a:ext>
                  </a:extLst>
                </a:gridCol>
              </a:tblGrid>
              <a:tr h="756098">
                <a:tc>
                  <a:txBody>
                    <a:bodyPr/>
                    <a:lstStyle/>
                    <a:p>
                      <a:pPr algn="ctr" fontAlgn="b">
                        <a:lnSpc>
                          <a:spcPct val="107000"/>
                        </a:lnSpc>
                        <a:spcAft>
                          <a:spcPts val="800"/>
                        </a:spcAft>
                      </a:pPr>
                      <a:r>
                        <a:rPr lang="en-IN" sz="1300" b="1" kern="1200" dirty="0">
                          <a:solidFill>
                            <a:schemeClr val="tx1"/>
                          </a:solidFill>
                          <a:effectLst/>
                          <a:latin typeface="Time Roman" pitchFamily="2" charset="0"/>
                        </a:rPr>
                        <a:t>FILED NAME</a:t>
                      </a:r>
                      <a:endParaRPr lang="en-IN" sz="1100" b="1" dirty="0">
                        <a:solidFill>
                          <a:schemeClr val="tx1"/>
                        </a:solidFill>
                        <a:effectLst/>
                        <a:latin typeface="Time Roman" pitchFamily="2" charset="0"/>
                      </a:endParaRPr>
                    </a:p>
                    <a:p>
                      <a:pPr algn="ctr" fontAlgn="b">
                        <a:lnSpc>
                          <a:spcPct val="107000"/>
                        </a:lnSpc>
                        <a:spcAft>
                          <a:spcPts val="800"/>
                        </a:spcAft>
                      </a:pPr>
                      <a:r>
                        <a:rPr lang="en-IN" sz="1300" b="1" kern="1200" dirty="0">
                          <a:solidFill>
                            <a:schemeClr val="tx1"/>
                          </a:solidFill>
                          <a:effectLst/>
                          <a:latin typeface="Time Roman" pitchFamily="2" charset="0"/>
                        </a:rPr>
                        <a:t> </a:t>
                      </a:r>
                      <a:endParaRPr lang="en-IN" sz="1100" b="1"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b"/>
                </a:tc>
                <a:tc>
                  <a:txBody>
                    <a:bodyPr/>
                    <a:lstStyle/>
                    <a:p>
                      <a:pPr algn="ctr" fontAlgn="b">
                        <a:lnSpc>
                          <a:spcPct val="107000"/>
                        </a:lnSpc>
                        <a:spcAft>
                          <a:spcPts val="800"/>
                        </a:spcAft>
                      </a:pPr>
                      <a:r>
                        <a:rPr lang="en-IN" sz="1300" b="1" kern="1200" dirty="0">
                          <a:solidFill>
                            <a:schemeClr val="tx1"/>
                          </a:solidFill>
                          <a:effectLst/>
                          <a:latin typeface="Time Roman" pitchFamily="2" charset="0"/>
                        </a:rPr>
                        <a:t>DATA TYPE</a:t>
                      </a:r>
                      <a:endParaRPr lang="en-IN" sz="1100" b="1" dirty="0">
                        <a:solidFill>
                          <a:schemeClr val="tx1"/>
                        </a:solidFill>
                        <a:effectLst/>
                        <a:latin typeface="Time Roman" pitchFamily="2" charset="0"/>
                      </a:endParaRPr>
                    </a:p>
                    <a:p>
                      <a:pPr fontAlgn="b">
                        <a:lnSpc>
                          <a:spcPct val="107000"/>
                        </a:lnSpc>
                        <a:spcAft>
                          <a:spcPts val="800"/>
                        </a:spcAft>
                      </a:pPr>
                      <a:r>
                        <a:rPr lang="en-IN" sz="1300" b="1" kern="1200" dirty="0">
                          <a:solidFill>
                            <a:schemeClr val="tx1"/>
                          </a:solidFill>
                          <a:effectLst/>
                          <a:latin typeface="Time Roman" pitchFamily="2" charset="0"/>
                        </a:rPr>
                        <a:t> </a:t>
                      </a:r>
                      <a:endParaRPr lang="en-IN" sz="1100" b="1"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b"/>
                </a:tc>
                <a:tc>
                  <a:txBody>
                    <a:bodyPr/>
                    <a:lstStyle/>
                    <a:p>
                      <a:pPr algn="ctr" fontAlgn="b">
                        <a:lnSpc>
                          <a:spcPct val="107000"/>
                        </a:lnSpc>
                        <a:spcAft>
                          <a:spcPts val="800"/>
                        </a:spcAft>
                      </a:pPr>
                      <a:r>
                        <a:rPr lang="en-IN" sz="1300" b="1" kern="1200" dirty="0">
                          <a:solidFill>
                            <a:schemeClr val="tx1"/>
                          </a:solidFill>
                          <a:effectLst/>
                          <a:latin typeface="Time Roman" pitchFamily="2" charset="0"/>
                        </a:rPr>
                        <a:t> </a:t>
                      </a:r>
                      <a:endParaRPr lang="en-IN" sz="1100" b="1" dirty="0">
                        <a:solidFill>
                          <a:schemeClr val="tx1"/>
                        </a:solidFill>
                        <a:effectLst/>
                        <a:latin typeface="Time Roman" pitchFamily="2" charset="0"/>
                      </a:endParaRPr>
                    </a:p>
                    <a:p>
                      <a:pPr algn="ctr" fontAlgn="b">
                        <a:lnSpc>
                          <a:spcPct val="107000"/>
                        </a:lnSpc>
                        <a:spcAft>
                          <a:spcPts val="800"/>
                        </a:spcAft>
                      </a:pPr>
                      <a:r>
                        <a:rPr lang="en-IN" sz="1300" b="1" kern="1200" dirty="0">
                          <a:solidFill>
                            <a:schemeClr val="tx1"/>
                          </a:solidFill>
                          <a:effectLst/>
                          <a:latin typeface="Time Roman" pitchFamily="2" charset="0"/>
                        </a:rPr>
                        <a:t>SIZE</a:t>
                      </a:r>
                      <a:endParaRPr lang="en-IN" sz="1100" b="1"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
                        <a:lnSpc>
                          <a:spcPct val="107000"/>
                        </a:lnSpc>
                        <a:spcAft>
                          <a:spcPts val="800"/>
                        </a:spcAft>
                      </a:pPr>
                      <a:r>
                        <a:rPr lang="en-IN" sz="1300" b="1" kern="1200">
                          <a:solidFill>
                            <a:schemeClr val="tx1"/>
                          </a:solidFill>
                          <a:effectLst/>
                          <a:latin typeface="Time Roman" pitchFamily="2" charset="0"/>
                        </a:rPr>
                        <a:t> </a:t>
                      </a:r>
                      <a:endParaRPr lang="en-IN" sz="1100" b="1">
                        <a:solidFill>
                          <a:schemeClr val="tx1"/>
                        </a:solidFill>
                        <a:effectLst/>
                        <a:latin typeface="Time Roman" pitchFamily="2" charset="0"/>
                      </a:endParaRPr>
                    </a:p>
                    <a:p>
                      <a:pPr algn="ctr" fontAlgn="b">
                        <a:lnSpc>
                          <a:spcPct val="107000"/>
                        </a:lnSpc>
                        <a:spcAft>
                          <a:spcPts val="800"/>
                        </a:spcAft>
                      </a:pPr>
                      <a:r>
                        <a:rPr lang="en-IN" sz="1300" b="1" kern="1200">
                          <a:solidFill>
                            <a:schemeClr val="tx1"/>
                          </a:solidFill>
                          <a:effectLst/>
                          <a:latin typeface="Time Roman" pitchFamily="2" charset="0"/>
                        </a:rPr>
                        <a:t>CONSTRAINTS</a:t>
                      </a:r>
                      <a:endParaRPr lang="en-IN" sz="1100" b="1">
                        <a:solidFill>
                          <a:schemeClr val="tx1"/>
                        </a:solidFill>
                        <a:effectLst/>
                        <a:latin typeface="Time Roman" pitchFamily="2" charset="0"/>
                      </a:endParaRPr>
                    </a:p>
                    <a:p>
                      <a:pPr algn="ctr" fontAlgn="b">
                        <a:lnSpc>
                          <a:spcPct val="107000"/>
                        </a:lnSpc>
                        <a:spcAft>
                          <a:spcPts val="800"/>
                        </a:spcAft>
                      </a:pPr>
                      <a:r>
                        <a:rPr lang="en-IN" sz="1300" b="1" kern="1200">
                          <a:solidFill>
                            <a:schemeClr val="tx1"/>
                          </a:solidFill>
                          <a:effectLst/>
                          <a:latin typeface="Time Roman" pitchFamily="2" charset="0"/>
                        </a:rPr>
                        <a:t> </a:t>
                      </a:r>
                      <a:endParaRPr lang="en-IN" sz="1100" b="1">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b"/>
                </a:tc>
                <a:extLst>
                  <a:ext uri="{0D108BD9-81ED-4DB2-BD59-A6C34878D82A}">
                    <a16:rowId xmlns:a16="http://schemas.microsoft.com/office/drawing/2014/main" val="3394013785"/>
                  </a:ext>
                </a:extLst>
              </a:tr>
              <a:tr h="448968">
                <a:tc>
                  <a:txBody>
                    <a:bodyPr/>
                    <a:lstStyle/>
                    <a:p>
                      <a:pPr algn="ctr" fontAlgn="base">
                        <a:lnSpc>
                          <a:spcPct val="107000"/>
                        </a:lnSpc>
                        <a:spcAft>
                          <a:spcPts val="800"/>
                        </a:spcAft>
                      </a:pPr>
                      <a:r>
                        <a:rPr lang="en-US" sz="1300" kern="1200" dirty="0" err="1">
                          <a:solidFill>
                            <a:schemeClr val="tx1"/>
                          </a:solidFill>
                          <a:effectLst/>
                          <a:latin typeface="Time Roman" pitchFamily="2" charset="0"/>
                        </a:rPr>
                        <a:t>Patient_id</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dirty="0">
                          <a:solidFill>
                            <a:schemeClr val="tx1"/>
                          </a:solidFill>
                          <a:effectLst/>
                          <a:latin typeface="Time Roman" pitchFamily="2" charset="0"/>
                        </a:rPr>
                        <a:t>Int</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dirty="0">
                          <a:solidFill>
                            <a:schemeClr val="tx1"/>
                          </a:solidFill>
                          <a:effectLst/>
                          <a:latin typeface="Time Roman" pitchFamily="2" charset="0"/>
                        </a:rPr>
                        <a:t> </a:t>
                      </a:r>
                      <a:endParaRPr lang="en-IN" sz="1100" dirty="0">
                        <a:solidFill>
                          <a:schemeClr val="tx1"/>
                        </a:solidFill>
                        <a:effectLst/>
                        <a:latin typeface="Time Roman" pitchFamily="2" charset="0"/>
                      </a:endParaRPr>
                    </a:p>
                    <a:p>
                      <a:pPr algn="ctr" fontAlgn="base">
                        <a:lnSpc>
                          <a:spcPct val="107000"/>
                        </a:lnSpc>
                        <a:spcAft>
                          <a:spcPts val="800"/>
                        </a:spcAft>
                      </a:pPr>
                      <a:r>
                        <a:rPr lang="en-IN" sz="1300" kern="1200" dirty="0">
                          <a:solidFill>
                            <a:schemeClr val="tx1"/>
                          </a:solidFill>
                          <a:effectLst/>
                          <a:latin typeface="Time Roman" pitchFamily="2" charset="0"/>
                        </a:rPr>
                        <a:t>10</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IN" sz="1300" kern="1200">
                          <a:solidFill>
                            <a:schemeClr val="tx1"/>
                          </a:solidFill>
                          <a:effectLst/>
                          <a:latin typeface="Time Roman" pitchFamily="2" charset="0"/>
                        </a:rPr>
                        <a:t>Primary key</a:t>
                      </a:r>
                      <a:endParaRPr lang="en-IN" sz="110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2538554340"/>
                  </a:ext>
                </a:extLst>
              </a:tr>
              <a:tr h="453990">
                <a:tc>
                  <a:txBody>
                    <a:bodyPr/>
                    <a:lstStyle/>
                    <a:p>
                      <a:pPr algn="ctr" fontAlgn="base">
                        <a:lnSpc>
                          <a:spcPct val="107000"/>
                        </a:lnSpc>
                        <a:spcAft>
                          <a:spcPts val="800"/>
                        </a:spcAft>
                      </a:pPr>
                      <a:r>
                        <a:rPr lang="en-US" sz="1100" dirty="0">
                          <a:solidFill>
                            <a:schemeClr val="tx1"/>
                          </a:solidFill>
                          <a:effectLst/>
                          <a:latin typeface="Time Roman" pitchFamily="2" charset="0"/>
                          <a:ea typeface="Calibri" panose="020F0502020204030204" pitchFamily="34" charset="0"/>
                          <a:cs typeface="Times New Roman" panose="02020603050405020304" pitchFamily="18" charset="0"/>
                        </a:rPr>
                        <a:t>password</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dirty="0">
                          <a:solidFill>
                            <a:schemeClr val="tx1"/>
                          </a:solidFill>
                          <a:effectLst/>
                          <a:latin typeface="Time Roman" pitchFamily="2" charset="0"/>
                        </a:rPr>
                        <a:t>Varchar</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dirty="0">
                          <a:solidFill>
                            <a:schemeClr val="tx1"/>
                          </a:solidFill>
                          <a:effectLst/>
                          <a:latin typeface="Time Roman" pitchFamily="2" charset="0"/>
                        </a:rPr>
                        <a:t> </a:t>
                      </a:r>
                      <a:endParaRPr lang="en-IN" sz="1100" dirty="0">
                        <a:solidFill>
                          <a:schemeClr val="tx1"/>
                        </a:solidFill>
                        <a:effectLst/>
                        <a:latin typeface="Time Roman" pitchFamily="2" charset="0"/>
                      </a:endParaRPr>
                    </a:p>
                    <a:p>
                      <a:pPr algn="ctr" fontAlgn="base">
                        <a:lnSpc>
                          <a:spcPct val="107000"/>
                        </a:lnSpc>
                        <a:spcAft>
                          <a:spcPts val="800"/>
                        </a:spcAft>
                      </a:pPr>
                      <a:r>
                        <a:rPr lang="en-US" sz="1300" kern="1200" dirty="0">
                          <a:solidFill>
                            <a:schemeClr val="tx1"/>
                          </a:solidFill>
                          <a:effectLst/>
                          <a:latin typeface="Time Roman" pitchFamily="2" charset="0"/>
                        </a:rPr>
                        <a:t>128</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US" sz="1300" kern="1200" dirty="0">
                          <a:solidFill>
                            <a:schemeClr val="tx1"/>
                          </a:solidFill>
                          <a:effectLst/>
                          <a:latin typeface="Time Roman" pitchFamily="2" charset="0"/>
                        </a:rPr>
                        <a:t>Not null</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707759503"/>
                  </a:ext>
                </a:extLst>
              </a:tr>
            </a:tbl>
          </a:graphicData>
        </a:graphic>
      </p:graphicFrame>
    </p:spTree>
    <p:extLst>
      <p:ext uri="{BB962C8B-B14F-4D97-AF65-F5344CB8AC3E}">
        <p14:creationId xmlns:p14="http://schemas.microsoft.com/office/powerpoint/2010/main" val="5281701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Delay 9"/>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3051" y="276285"/>
            <a:ext cx="9083406" cy="5986254"/>
          </a:xfrm>
          <a:prstGeom prst="rect">
            <a:avLst/>
          </a:prstGeom>
        </p:spPr>
        <p:txBody>
          <a:bodyPr wrap="square">
            <a:spAutoFit/>
          </a:bodyPr>
          <a:lstStyle/>
          <a:p>
            <a:pPr algn="ctr"/>
            <a:r>
              <a:rPr lang="en-US" sz="2400" b="1" dirty="0">
                <a:latin typeface="Times New Roman" pitchFamily="18" charset="0"/>
                <a:cs typeface="Times New Roman" pitchFamily="18" charset="0"/>
              </a:rPr>
              <a:t>DATABASE DESCRIPTION</a:t>
            </a:r>
            <a:endParaRPr lang="en-US" sz="2300" b="1" dirty="0">
              <a:latin typeface="Times New Roman" pitchFamily="18" charset="0"/>
              <a:cs typeface="Times New Roman" pitchFamily="18" charset="0"/>
            </a:endParaRPr>
          </a:p>
          <a:p>
            <a:pPr algn="ct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Symptoms-Based Doctor Recommendation and Appointment System</a:t>
            </a:r>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pPr algn="ctr"/>
            <a:endParaRPr lang="en-US" dirty="0">
              <a:latin typeface="Times New Roman" pitchFamily="18" charset="0"/>
              <a:cs typeface="Times New Roman" pitchFamily="18" charset="0"/>
            </a:endParaRPr>
          </a:p>
          <a:p>
            <a:pPr algn="ctr"/>
            <a:r>
              <a:rPr lang="en-US" dirty="0">
                <a:latin typeface="Times New Roman" pitchFamily="18" charset="0"/>
                <a:cs typeface="Times New Roman" pitchFamily="18" charset="0"/>
              </a:rPr>
              <a:t>Table : doctor</a:t>
            </a:r>
          </a:p>
          <a:p>
            <a:endParaRPr lang="en-US" sz="2300" b="1" dirty="0">
              <a:latin typeface="Times New Roman" pitchFamily="18" charset="0"/>
              <a:cs typeface="Times New Roman" pitchFamily="18" charset="0"/>
            </a:endParaRPr>
          </a:p>
        </p:txBody>
      </p:sp>
      <p:graphicFrame>
        <p:nvGraphicFramePr>
          <p:cNvPr id="2" name="Table 1">
            <a:extLst>
              <a:ext uri="{FF2B5EF4-FFF2-40B4-BE49-F238E27FC236}">
                <a16:creationId xmlns:a16="http://schemas.microsoft.com/office/drawing/2014/main" id="{4882D16C-0904-C32B-5C8C-6D726895A0C5}"/>
              </a:ext>
            </a:extLst>
          </p:cNvPr>
          <p:cNvGraphicFramePr>
            <a:graphicFrameLocks noGrp="1"/>
          </p:cNvGraphicFramePr>
          <p:nvPr>
            <p:extLst>
              <p:ext uri="{D42A27DB-BD31-4B8C-83A1-F6EECF244321}">
                <p14:modId xmlns:p14="http://schemas.microsoft.com/office/powerpoint/2010/main" val="3614723602"/>
              </p:ext>
            </p:extLst>
          </p:nvPr>
        </p:nvGraphicFramePr>
        <p:xfrm>
          <a:off x="307973" y="1591454"/>
          <a:ext cx="8324056" cy="3919780"/>
        </p:xfrm>
        <a:graphic>
          <a:graphicData uri="http://schemas.openxmlformats.org/drawingml/2006/table">
            <a:tbl>
              <a:tblPr>
                <a:tableStyleId>{5940675A-B579-460E-94D1-54222C63F5DA}</a:tableStyleId>
              </a:tblPr>
              <a:tblGrid>
                <a:gridCol w="2042464">
                  <a:extLst>
                    <a:ext uri="{9D8B030D-6E8A-4147-A177-3AD203B41FA5}">
                      <a16:colId xmlns:a16="http://schemas.microsoft.com/office/drawing/2014/main" val="985052098"/>
                    </a:ext>
                  </a:extLst>
                </a:gridCol>
                <a:gridCol w="2249788">
                  <a:extLst>
                    <a:ext uri="{9D8B030D-6E8A-4147-A177-3AD203B41FA5}">
                      <a16:colId xmlns:a16="http://schemas.microsoft.com/office/drawing/2014/main" val="1504112142"/>
                    </a:ext>
                  </a:extLst>
                </a:gridCol>
                <a:gridCol w="1675776">
                  <a:extLst>
                    <a:ext uri="{9D8B030D-6E8A-4147-A177-3AD203B41FA5}">
                      <a16:colId xmlns:a16="http://schemas.microsoft.com/office/drawing/2014/main" val="2857215045"/>
                    </a:ext>
                  </a:extLst>
                </a:gridCol>
                <a:gridCol w="2356028">
                  <a:extLst>
                    <a:ext uri="{9D8B030D-6E8A-4147-A177-3AD203B41FA5}">
                      <a16:colId xmlns:a16="http://schemas.microsoft.com/office/drawing/2014/main" val="2904469819"/>
                    </a:ext>
                  </a:extLst>
                </a:gridCol>
              </a:tblGrid>
              <a:tr h="756098">
                <a:tc>
                  <a:txBody>
                    <a:bodyPr/>
                    <a:lstStyle/>
                    <a:p>
                      <a:pPr algn="ctr" fontAlgn="b">
                        <a:lnSpc>
                          <a:spcPct val="107000"/>
                        </a:lnSpc>
                        <a:spcAft>
                          <a:spcPts val="800"/>
                        </a:spcAft>
                      </a:pPr>
                      <a:r>
                        <a:rPr lang="en-IN" sz="1300" b="1" kern="1200" dirty="0">
                          <a:solidFill>
                            <a:schemeClr val="tx1"/>
                          </a:solidFill>
                          <a:effectLst/>
                          <a:latin typeface="Time Roman" pitchFamily="2" charset="0"/>
                        </a:rPr>
                        <a:t>FILED NAME</a:t>
                      </a:r>
                      <a:endParaRPr lang="en-IN" sz="1100" b="1" dirty="0">
                        <a:solidFill>
                          <a:schemeClr val="tx1"/>
                        </a:solidFill>
                        <a:effectLst/>
                        <a:latin typeface="Time Roman" pitchFamily="2" charset="0"/>
                      </a:endParaRPr>
                    </a:p>
                    <a:p>
                      <a:pPr algn="ctr" fontAlgn="b">
                        <a:lnSpc>
                          <a:spcPct val="107000"/>
                        </a:lnSpc>
                        <a:spcAft>
                          <a:spcPts val="800"/>
                        </a:spcAft>
                      </a:pPr>
                      <a:r>
                        <a:rPr lang="en-IN" sz="1300" b="1" kern="1200" dirty="0">
                          <a:solidFill>
                            <a:schemeClr val="tx1"/>
                          </a:solidFill>
                          <a:effectLst/>
                          <a:latin typeface="Time Roman" pitchFamily="2" charset="0"/>
                        </a:rPr>
                        <a:t> </a:t>
                      </a:r>
                      <a:endParaRPr lang="en-IN" sz="1100" b="1"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b"/>
                </a:tc>
                <a:tc>
                  <a:txBody>
                    <a:bodyPr/>
                    <a:lstStyle/>
                    <a:p>
                      <a:pPr algn="ctr" fontAlgn="b">
                        <a:lnSpc>
                          <a:spcPct val="107000"/>
                        </a:lnSpc>
                        <a:spcAft>
                          <a:spcPts val="800"/>
                        </a:spcAft>
                      </a:pPr>
                      <a:r>
                        <a:rPr lang="en-IN" sz="1300" b="1" kern="1200" dirty="0">
                          <a:solidFill>
                            <a:schemeClr val="tx1"/>
                          </a:solidFill>
                          <a:effectLst/>
                          <a:latin typeface="Time Roman" pitchFamily="2" charset="0"/>
                        </a:rPr>
                        <a:t>DATA TYPE</a:t>
                      </a:r>
                      <a:endParaRPr lang="en-IN" sz="1100" b="1" dirty="0">
                        <a:solidFill>
                          <a:schemeClr val="tx1"/>
                        </a:solidFill>
                        <a:effectLst/>
                        <a:latin typeface="Time Roman" pitchFamily="2" charset="0"/>
                      </a:endParaRPr>
                    </a:p>
                    <a:p>
                      <a:pPr fontAlgn="b">
                        <a:lnSpc>
                          <a:spcPct val="107000"/>
                        </a:lnSpc>
                        <a:spcAft>
                          <a:spcPts val="800"/>
                        </a:spcAft>
                      </a:pPr>
                      <a:r>
                        <a:rPr lang="en-IN" sz="1300" b="1" kern="1200" dirty="0">
                          <a:solidFill>
                            <a:schemeClr val="tx1"/>
                          </a:solidFill>
                          <a:effectLst/>
                          <a:latin typeface="Time Roman" pitchFamily="2" charset="0"/>
                        </a:rPr>
                        <a:t> </a:t>
                      </a:r>
                      <a:endParaRPr lang="en-IN" sz="1100" b="1"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b"/>
                </a:tc>
                <a:tc>
                  <a:txBody>
                    <a:bodyPr/>
                    <a:lstStyle/>
                    <a:p>
                      <a:pPr algn="ctr" fontAlgn="b">
                        <a:lnSpc>
                          <a:spcPct val="107000"/>
                        </a:lnSpc>
                        <a:spcAft>
                          <a:spcPts val="800"/>
                        </a:spcAft>
                      </a:pPr>
                      <a:r>
                        <a:rPr lang="en-IN" sz="1300" b="1" kern="1200" dirty="0">
                          <a:solidFill>
                            <a:schemeClr val="tx1"/>
                          </a:solidFill>
                          <a:effectLst/>
                          <a:latin typeface="Time Roman" pitchFamily="2" charset="0"/>
                        </a:rPr>
                        <a:t> </a:t>
                      </a:r>
                      <a:endParaRPr lang="en-IN" sz="1100" b="1" dirty="0">
                        <a:solidFill>
                          <a:schemeClr val="tx1"/>
                        </a:solidFill>
                        <a:effectLst/>
                        <a:latin typeface="Time Roman" pitchFamily="2" charset="0"/>
                      </a:endParaRPr>
                    </a:p>
                    <a:p>
                      <a:pPr algn="ctr" fontAlgn="b">
                        <a:lnSpc>
                          <a:spcPct val="107000"/>
                        </a:lnSpc>
                        <a:spcAft>
                          <a:spcPts val="800"/>
                        </a:spcAft>
                      </a:pPr>
                      <a:r>
                        <a:rPr lang="en-IN" sz="1300" b="1" kern="1200" dirty="0">
                          <a:solidFill>
                            <a:schemeClr val="tx1"/>
                          </a:solidFill>
                          <a:effectLst/>
                          <a:latin typeface="Time Roman" pitchFamily="2" charset="0"/>
                        </a:rPr>
                        <a:t>SIZE</a:t>
                      </a:r>
                      <a:endParaRPr lang="en-IN" sz="1100" b="1"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
                        <a:lnSpc>
                          <a:spcPct val="107000"/>
                        </a:lnSpc>
                        <a:spcAft>
                          <a:spcPts val="800"/>
                        </a:spcAft>
                      </a:pPr>
                      <a:r>
                        <a:rPr lang="en-IN" sz="1300" b="1" kern="1200">
                          <a:solidFill>
                            <a:schemeClr val="tx1"/>
                          </a:solidFill>
                          <a:effectLst/>
                          <a:latin typeface="Time Roman" pitchFamily="2" charset="0"/>
                        </a:rPr>
                        <a:t> </a:t>
                      </a:r>
                      <a:endParaRPr lang="en-IN" sz="1100" b="1">
                        <a:solidFill>
                          <a:schemeClr val="tx1"/>
                        </a:solidFill>
                        <a:effectLst/>
                        <a:latin typeface="Time Roman" pitchFamily="2" charset="0"/>
                      </a:endParaRPr>
                    </a:p>
                    <a:p>
                      <a:pPr algn="ctr" fontAlgn="b">
                        <a:lnSpc>
                          <a:spcPct val="107000"/>
                        </a:lnSpc>
                        <a:spcAft>
                          <a:spcPts val="800"/>
                        </a:spcAft>
                      </a:pPr>
                      <a:r>
                        <a:rPr lang="en-IN" sz="1300" b="1" kern="1200">
                          <a:solidFill>
                            <a:schemeClr val="tx1"/>
                          </a:solidFill>
                          <a:effectLst/>
                          <a:latin typeface="Time Roman" pitchFamily="2" charset="0"/>
                        </a:rPr>
                        <a:t>CONSTRAINTS</a:t>
                      </a:r>
                      <a:endParaRPr lang="en-IN" sz="1100" b="1">
                        <a:solidFill>
                          <a:schemeClr val="tx1"/>
                        </a:solidFill>
                        <a:effectLst/>
                        <a:latin typeface="Time Roman" pitchFamily="2" charset="0"/>
                      </a:endParaRPr>
                    </a:p>
                    <a:p>
                      <a:pPr algn="ctr" fontAlgn="b">
                        <a:lnSpc>
                          <a:spcPct val="107000"/>
                        </a:lnSpc>
                        <a:spcAft>
                          <a:spcPts val="800"/>
                        </a:spcAft>
                      </a:pPr>
                      <a:r>
                        <a:rPr lang="en-IN" sz="1300" b="1" kern="1200">
                          <a:solidFill>
                            <a:schemeClr val="tx1"/>
                          </a:solidFill>
                          <a:effectLst/>
                          <a:latin typeface="Time Roman" pitchFamily="2" charset="0"/>
                        </a:rPr>
                        <a:t> </a:t>
                      </a:r>
                      <a:endParaRPr lang="en-IN" sz="1100" b="1">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b"/>
                </a:tc>
                <a:extLst>
                  <a:ext uri="{0D108BD9-81ED-4DB2-BD59-A6C34878D82A}">
                    <a16:rowId xmlns:a16="http://schemas.microsoft.com/office/drawing/2014/main" val="3394013785"/>
                  </a:ext>
                </a:extLst>
              </a:tr>
              <a:tr h="448968">
                <a:tc>
                  <a:txBody>
                    <a:bodyPr/>
                    <a:lstStyle/>
                    <a:p>
                      <a:pPr algn="ctr" fontAlgn="base">
                        <a:lnSpc>
                          <a:spcPct val="107000"/>
                        </a:lnSpc>
                        <a:spcAft>
                          <a:spcPts val="800"/>
                        </a:spcAft>
                      </a:pPr>
                      <a:r>
                        <a:rPr lang="en-US" sz="1300" kern="1200" dirty="0" err="1">
                          <a:solidFill>
                            <a:schemeClr val="tx1"/>
                          </a:solidFill>
                          <a:effectLst/>
                          <a:latin typeface="Time Roman" pitchFamily="2" charset="0"/>
                        </a:rPr>
                        <a:t>doctor_id</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dirty="0">
                          <a:solidFill>
                            <a:schemeClr val="tx1"/>
                          </a:solidFill>
                          <a:effectLst/>
                          <a:latin typeface="Time Roman" pitchFamily="2" charset="0"/>
                        </a:rPr>
                        <a:t>Int</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a:solidFill>
                            <a:schemeClr val="tx1"/>
                          </a:solidFill>
                          <a:effectLst/>
                          <a:latin typeface="Time Roman" pitchFamily="2" charset="0"/>
                        </a:rPr>
                        <a:t> </a:t>
                      </a:r>
                      <a:endParaRPr lang="en-IN" sz="1100">
                        <a:solidFill>
                          <a:schemeClr val="tx1"/>
                        </a:solidFill>
                        <a:effectLst/>
                        <a:latin typeface="Time Roman" pitchFamily="2" charset="0"/>
                      </a:endParaRPr>
                    </a:p>
                    <a:p>
                      <a:pPr algn="ctr" fontAlgn="base">
                        <a:lnSpc>
                          <a:spcPct val="107000"/>
                        </a:lnSpc>
                        <a:spcAft>
                          <a:spcPts val="800"/>
                        </a:spcAft>
                      </a:pPr>
                      <a:r>
                        <a:rPr lang="en-IN" sz="1300" kern="1200">
                          <a:solidFill>
                            <a:schemeClr val="tx1"/>
                          </a:solidFill>
                          <a:effectLst/>
                          <a:latin typeface="Time Roman" pitchFamily="2" charset="0"/>
                        </a:rPr>
                        <a:t>10</a:t>
                      </a:r>
                      <a:endParaRPr lang="en-IN" sz="110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IN" sz="1300" kern="1200">
                          <a:solidFill>
                            <a:schemeClr val="tx1"/>
                          </a:solidFill>
                          <a:effectLst/>
                          <a:latin typeface="Time Roman" pitchFamily="2" charset="0"/>
                        </a:rPr>
                        <a:t>Primary key</a:t>
                      </a:r>
                      <a:endParaRPr lang="en-IN" sz="110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2538554340"/>
                  </a:ext>
                </a:extLst>
              </a:tr>
              <a:tr h="453990">
                <a:tc>
                  <a:txBody>
                    <a:bodyPr/>
                    <a:lstStyle/>
                    <a:p>
                      <a:pPr algn="ctr" fontAlgn="base">
                        <a:lnSpc>
                          <a:spcPct val="107000"/>
                        </a:lnSpc>
                        <a:spcAft>
                          <a:spcPts val="800"/>
                        </a:spcAft>
                      </a:pPr>
                      <a:r>
                        <a:rPr lang="en-US" sz="1300" kern="1200" dirty="0" err="1">
                          <a:solidFill>
                            <a:schemeClr val="tx1"/>
                          </a:solidFill>
                          <a:effectLst/>
                          <a:latin typeface="Time Roman" pitchFamily="2" charset="0"/>
                          <a:ea typeface="Calibri" panose="020F0502020204030204" pitchFamily="34" charset="0"/>
                          <a:cs typeface="Times New Roman" panose="02020603050405020304" pitchFamily="18" charset="0"/>
                        </a:rPr>
                        <a:t>first_name</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dirty="0">
                          <a:solidFill>
                            <a:schemeClr val="tx1"/>
                          </a:solidFill>
                          <a:effectLst/>
                          <a:latin typeface="Time Roman" pitchFamily="2" charset="0"/>
                        </a:rPr>
                        <a:t>Varchar</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dirty="0">
                          <a:solidFill>
                            <a:schemeClr val="tx1"/>
                          </a:solidFill>
                          <a:effectLst/>
                          <a:latin typeface="Time Roman" pitchFamily="2" charset="0"/>
                        </a:rPr>
                        <a:t> </a:t>
                      </a:r>
                      <a:endParaRPr lang="en-IN" sz="1100" dirty="0">
                        <a:solidFill>
                          <a:schemeClr val="tx1"/>
                        </a:solidFill>
                        <a:effectLst/>
                        <a:latin typeface="Time Roman" pitchFamily="2" charset="0"/>
                      </a:endParaRPr>
                    </a:p>
                    <a:p>
                      <a:pPr algn="ctr" fontAlgn="base">
                        <a:lnSpc>
                          <a:spcPct val="107000"/>
                        </a:lnSpc>
                        <a:spcAft>
                          <a:spcPts val="800"/>
                        </a:spcAft>
                      </a:pPr>
                      <a:r>
                        <a:rPr lang="en-IN" sz="1300" kern="1200" dirty="0">
                          <a:solidFill>
                            <a:schemeClr val="tx1"/>
                          </a:solidFill>
                          <a:effectLst/>
                          <a:latin typeface="Time Roman" pitchFamily="2" charset="0"/>
                        </a:rPr>
                        <a:t>20</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US" sz="1300" kern="1200" dirty="0">
                          <a:solidFill>
                            <a:schemeClr val="tx1"/>
                          </a:solidFill>
                          <a:effectLst/>
                          <a:latin typeface="Time Roman" pitchFamily="2" charset="0"/>
                        </a:rPr>
                        <a:t>Not null</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707759503"/>
                  </a:ext>
                </a:extLst>
              </a:tr>
              <a:tr h="449711">
                <a:tc>
                  <a:txBody>
                    <a:bodyPr/>
                    <a:lstStyle/>
                    <a:p>
                      <a:pPr algn="ctr" fontAlgn="base">
                        <a:lnSpc>
                          <a:spcPct val="107000"/>
                        </a:lnSpc>
                        <a:spcAft>
                          <a:spcPts val="800"/>
                        </a:spcAft>
                      </a:pPr>
                      <a:r>
                        <a:rPr lang="en-US" sz="1300" kern="1200" dirty="0" err="1">
                          <a:solidFill>
                            <a:schemeClr val="tx1"/>
                          </a:solidFill>
                          <a:effectLst/>
                          <a:latin typeface="Time Roman" pitchFamily="2" charset="0"/>
                        </a:rPr>
                        <a:t>last_name</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a:solidFill>
                            <a:schemeClr val="tx1"/>
                          </a:solidFill>
                          <a:effectLst/>
                          <a:latin typeface="Time Roman" pitchFamily="2" charset="0"/>
                        </a:rPr>
                        <a:t>Varchar</a:t>
                      </a:r>
                      <a:endParaRPr lang="en-IN" sz="110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a:lnSpc>
                          <a:spcPct val="107000"/>
                        </a:lnSpc>
                        <a:spcAft>
                          <a:spcPts val="800"/>
                        </a:spcAft>
                      </a:pPr>
                      <a:r>
                        <a:rPr lang="en-IN" sz="1300" dirty="0">
                          <a:solidFill>
                            <a:schemeClr val="tx1"/>
                          </a:solidFill>
                          <a:effectLst/>
                          <a:latin typeface="Time Roman" pitchFamily="2" charset="0"/>
                        </a:rPr>
                        <a:t> </a:t>
                      </a:r>
                      <a:endParaRPr lang="en-IN" sz="1100" dirty="0">
                        <a:solidFill>
                          <a:schemeClr val="tx1"/>
                        </a:solidFill>
                        <a:effectLst/>
                        <a:latin typeface="Time Roman" pitchFamily="2" charset="0"/>
                      </a:endParaRPr>
                    </a:p>
                    <a:p>
                      <a:pPr algn="ctr">
                        <a:lnSpc>
                          <a:spcPct val="107000"/>
                        </a:lnSpc>
                        <a:spcAft>
                          <a:spcPts val="800"/>
                        </a:spcAft>
                      </a:pPr>
                      <a:r>
                        <a:rPr lang="en-IN" sz="1300" dirty="0">
                          <a:solidFill>
                            <a:schemeClr val="tx1"/>
                          </a:solidFill>
                          <a:effectLst/>
                          <a:latin typeface="Time Roman" pitchFamily="2" charset="0"/>
                        </a:rPr>
                        <a:t>20</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a:lnSpc>
                          <a:spcPct val="107000"/>
                        </a:lnSpc>
                        <a:spcAft>
                          <a:spcPts val="800"/>
                        </a:spcAft>
                      </a:pPr>
                      <a:r>
                        <a:rPr lang="en-IN" sz="1300">
                          <a:solidFill>
                            <a:schemeClr val="tx1"/>
                          </a:solidFill>
                          <a:effectLst/>
                          <a:latin typeface="Time Roman" pitchFamily="2" charset="0"/>
                        </a:rPr>
                        <a:t>Not null</a:t>
                      </a:r>
                      <a:endParaRPr lang="en-IN" sz="110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2857421491"/>
                  </a:ext>
                </a:extLst>
              </a:tr>
              <a:tr h="448968">
                <a:tc>
                  <a:txBody>
                    <a:bodyPr/>
                    <a:lstStyle/>
                    <a:p>
                      <a:pPr algn="ctr" fontAlgn="base">
                        <a:lnSpc>
                          <a:spcPct val="107000"/>
                        </a:lnSpc>
                        <a:spcAft>
                          <a:spcPts val="800"/>
                        </a:spcAft>
                      </a:pPr>
                      <a:r>
                        <a:rPr lang="en-US" sz="1300" kern="1200" dirty="0">
                          <a:solidFill>
                            <a:schemeClr val="tx1"/>
                          </a:solidFill>
                          <a:effectLst/>
                          <a:latin typeface="Time Roman" pitchFamily="2" charset="0"/>
                        </a:rPr>
                        <a:t>Specialization</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US" sz="1100" dirty="0">
                          <a:solidFill>
                            <a:schemeClr val="tx1"/>
                          </a:solidFill>
                          <a:effectLst/>
                          <a:latin typeface="Time Roman" pitchFamily="2" charset="0"/>
                          <a:ea typeface="Calibri" panose="020F0502020204030204" pitchFamily="34" charset="0"/>
                          <a:cs typeface="Times New Roman" panose="02020603050405020304" pitchFamily="18" charset="0"/>
                        </a:rPr>
                        <a:t>-</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a:solidFill>
                            <a:schemeClr val="tx1"/>
                          </a:solidFill>
                          <a:effectLst/>
                          <a:latin typeface="Time Roman" pitchFamily="2" charset="0"/>
                        </a:rPr>
                        <a:t> </a:t>
                      </a:r>
                      <a:endParaRPr lang="en-IN" sz="1100">
                        <a:solidFill>
                          <a:schemeClr val="tx1"/>
                        </a:solidFill>
                        <a:effectLst/>
                        <a:latin typeface="Time Roman" pitchFamily="2" charset="0"/>
                      </a:endParaRPr>
                    </a:p>
                    <a:p>
                      <a:pPr algn="ctr" fontAlgn="base">
                        <a:lnSpc>
                          <a:spcPct val="107000"/>
                        </a:lnSpc>
                        <a:spcAft>
                          <a:spcPts val="800"/>
                        </a:spcAft>
                      </a:pPr>
                      <a:r>
                        <a:rPr lang="en-IN" sz="1300" kern="1200">
                          <a:solidFill>
                            <a:schemeClr val="tx1"/>
                          </a:solidFill>
                          <a:effectLst/>
                          <a:latin typeface="Time Roman" pitchFamily="2" charset="0"/>
                        </a:rPr>
                        <a:t>30</a:t>
                      </a:r>
                      <a:endParaRPr lang="en-IN" sz="110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US" sz="1300" kern="1200" dirty="0">
                          <a:solidFill>
                            <a:schemeClr val="tx1"/>
                          </a:solidFill>
                          <a:effectLst/>
                          <a:latin typeface="Time Roman" pitchFamily="2" charset="0"/>
                        </a:rPr>
                        <a:t>Not null</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1360029502"/>
                  </a:ext>
                </a:extLst>
              </a:tr>
              <a:tr h="469940">
                <a:tc>
                  <a:txBody>
                    <a:bodyPr/>
                    <a:lstStyle/>
                    <a:p>
                      <a:pPr algn="ctr" fontAlgn="base">
                        <a:lnSpc>
                          <a:spcPct val="107000"/>
                        </a:lnSpc>
                        <a:spcAft>
                          <a:spcPts val="800"/>
                        </a:spcAft>
                      </a:pPr>
                      <a:r>
                        <a:rPr lang="en-US" sz="1100" dirty="0" err="1">
                          <a:solidFill>
                            <a:schemeClr val="tx1"/>
                          </a:solidFill>
                          <a:effectLst/>
                          <a:latin typeface="Time Roman" pitchFamily="2" charset="0"/>
                          <a:ea typeface="Calibri" panose="020F0502020204030204" pitchFamily="34" charset="0"/>
                          <a:cs typeface="Times New Roman" panose="02020603050405020304" pitchFamily="18" charset="0"/>
                        </a:rPr>
                        <a:t>Phone_number</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US" sz="1300" kern="1200" dirty="0" err="1">
                          <a:solidFill>
                            <a:schemeClr val="tx1"/>
                          </a:solidFill>
                          <a:effectLst/>
                          <a:latin typeface="Time Roman" pitchFamily="2" charset="0"/>
                        </a:rPr>
                        <a:t>bigint</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a:lnSpc>
                          <a:spcPct val="107000"/>
                        </a:lnSpc>
                        <a:spcAft>
                          <a:spcPts val="800"/>
                        </a:spcAft>
                      </a:pPr>
                      <a:r>
                        <a:rPr lang="en-IN" sz="1300" dirty="0">
                          <a:solidFill>
                            <a:schemeClr val="tx1"/>
                          </a:solidFill>
                          <a:effectLst/>
                          <a:latin typeface="Time Roman" pitchFamily="2" charset="0"/>
                        </a:rPr>
                        <a:t> </a:t>
                      </a:r>
                      <a:endParaRPr lang="en-IN" sz="1100" dirty="0">
                        <a:solidFill>
                          <a:schemeClr val="tx1"/>
                        </a:solidFill>
                        <a:effectLst/>
                        <a:latin typeface="Time Roman" pitchFamily="2" charset="0"/>
                      </a:endParaRPr>
                    </a:p>
                    <a:p>
                      <a:pPr algn="ctr">
                        <a:lnSpc>
                          <a:spcPct val="107000"/>
                        </a:lnSpc>
                        <a:spcAft>
                          <a:spcPts val="800"/>
                        </a:spcAft>
                      </a:pPr>
                      <a:r>
                        <a:rPr lang="en-US" sz="1300" dirty="0">
                          <a:solidFill>
                            <a:schemeClr val="tx1"/>
                          </a:solidFill>
                          <a:effectLst/>
                          <a:latin typeface="Time Roman" pitchFamily="2" charset="0"/>
                        </a:rPr>
                        <a:t>1</a:t>
                      </a:r>
                      <a:r>
                        <a:rPr lang="en-IN" sz="1300" dirty="0">
                          <a:solidFill>
                            <a:schemeClr val="tx1"/>
                          </a:solidFill>
                          <a:effectLst/>
                          <a:latin typeface="Time Roman" pitchFamily="2" charset="0"/>
                        </a:rPr>
                        <a:t>0</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a:lnSpc>
                          <a:spcPct val="107000"/>
                        </a:lnSpc>
                        <a:spcAft>
                          <a:spcPts val="800"/>
                        </a:spcAft>
                      </a:pPr>
                      <a:r>
                        <a:rPr lang="en-IN" sz="1300" dirty="0">
                          <a:solidFill>
                            <a:schemeClr val="tx1"/>
                          </a:solidFill>
                          <a:effectLst/>
                          <a:latin typeface="Time Roman" pitchFamily="2" charset="0"/>
                        </a:rPr>
                        <a:t>Not null</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2949048478"/>
                  </a:ext>
                </a:extLst>
              </a:tr>
              <a:tr h="469940">
                <a:tc>
                  <a:txBody>
                    <a:bodyPr/>
                    <a:lstStyle/>
                    <a:p>
                      <a:pPr algn="ctr" fontAlgn="base">
                        <a:lnSpc>
                          <a:spcPct val="107000"/>
                        </a:lnSpc>
                        <a:spcAft>
                          <a:spcPts val="800"/>
                        </a:spcAft>
                      </a:pPr>
                      <a:r>
                        <a:rPr lang="en-US" sz="1100" dirty="0">
                          <a:solidFill>
                            <a:schemeClr val="tx1"/>
                          </a:solidFill>
                          <a:effectLst/>
                          <a:latin typeface="Time Roman" pitchFamily="2" charset="0"/>
                          <a:ea typeface="Calibri" panose="020F0502020204030204" pitchFamily="34" charset="0"/>
                          <a:cs typeface="Times New Roman" panose="02020603050405020304" pitchFamily="18" charset="0"/>
                        </a:rPr>
                        <a:t>email</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US" sz="1100" dirty="0" err="1">
                          <a:solidFill>
                            <a:schemeClr val="tx1"/>
                          </a:solidFill>
                          <a:effectLst/>
                          <a:latin typeface="Time Roman" pitchFamily="2" charset="0"/>
                          <a:ea typeface="Calibri" panose="020F0502020204030204" pitchFamily="34" charset="0"/>
                          <a:cs typeface="Times New Roman" panose="02020603050405020304" pitchFamily="18" charset="0"/>
                        </a:rPr>
                        <a:t>Varchar</a:t>
                      </a:r>
                      <a:r>
                        <a:rPr lang="en-US" sz="1100" dirty="0">
                          <a:solidFill>
                            <a:schemeClr val="tx1"/>
                          </a:solidFill>
                          <a:effectLst/>
                          <a:latin typeface="Time Roman" pitchFamily="2" charset="0"/>
                          <a:ea typeface="Calibri" panose="020F0502020204030204" pitchFamily="34" charset="0"/>
                          <a:cs typeface="Times New Roman" panose="02020603050405020304" pitchFamily="18" charset="0"/>
                        </a:rPr>
                        <a:t> </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a:lnSpc>
                          <a:spcPct val="107000"/>
                        </a:lnSpc>
                        <a:spcAft>
                          <a:spcPts val="800"/>
                        </a:spcAft>
                      </a:pPr>
                      <a:endParaRPr lang="en-US" sz="1100" dirty="0">
                        <a:solidFill>
                          <a:schemeClr val="tx1"/>
                        </a:solidFill>
                        <a:effectLst/>
                        <a:latin typeface="Time Roman" pitchFamily="2" charset="0"/>
                        <a:ea typeface="Calibri" panose="020F0502020204030204" pitchFamily="34" charset="0"/>
                        <a:cs typeface="Times New Roman" panose="02020603050405020304" pitchFamily="18" charset="0"/>
                      </a:endParaRPr>
                    </a:p>
                    <a:p>
                      <a:pPr algn="ctr">
                        <a:lnSpc>
                          <a:spcPct val="107000"/>
                        </a:lnSpc>
                        <a:spcAft>
                          <a:spcPts val="800"/>
                        </a:spcAft>
                      </a:pPr>
                      <a:r>
                        <a:rPr lang="en-US" sz="1100" dirty="0">
                          <a:solidFill>
                            <a:schemeClr val="tx1"/>
                          </a:solidFill>
                          <a:effectLst/>
                          <a:latin typeface="Time Roman" pitchFamily="2" charset="0"/>
                          <a:ea typeface="Calibri" panose="020F0502020204030204" pitchFamily="34" charset="0"/>
                          <a:cs typeface="Times New Roman" panose="02020603050405020304" pitchFamily="18" charset="0"/>
                        </a:rPr>
                        <a:t>128</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a:lnSpc>
                          <a:spcPct val="107000"/>
                        </a:lnSpc>
                        <a:spcAft>
                          <a:spcPts val="800"/>
                        </a:spcAft>
                      </a:pPr>
                      <a:r>
                        <a:rPr lang="en-US" sz="1100" dirty="0">
                          <a:solidFill>
                            <a:schemeClr val="tx1"/>
                          </a:solidFill>
                          <a:effectLst/>
                          <a:latin typeface="Time Roman" pitchFamily="2" charset="0"/>
                          <a:ea typeface="Calibri" panose="020F0502020204030204" pitchFamily="34" charset="0"/>
                          <a:cs typeface="Times New Roman" panose="02020603050405020304" pitchFamily="18" charset="0"/>
                        </a:rPr>
                        <a:t>Not null</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2781811617"/>
                  </a:ext>
                </a:extLst>
              </a:tr>
            </a:tbl>
          </a:graphicData>
        </a:graphic>
      </p:graphicFrame>
    </p:spTree>
    <p:extLst>
      <p:ext uri="{BB962C8B-B14F-4D97-AF65-F5344CB8AC3E}">
        <p14:creationId xmlns:p14="http://schemas.microsoft.com/office/powerpoint/2010/main" val="16537551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Delay 9"/>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3051" y="276285"/>
            <a:ext cx="9083406" cy="6755696"/>
          </a:xfrm>
          <a:prstGeom prst="rect">
            <a:avLst/>
          </a:prstGeom>
        </p:spPr>
        <p:txBody>
          <a:bodyPr wrap="square">
            <a:spAutoFit/>
          </a:bodyPr>
          <a:lstStyle/>
          <a:p>
            <a:pPr algn="ctr"/>
            <a:r>
              <a:rPr lang="en-US" sz="2400" b="1" dirty="0">
                <a:latin typeface="Times New Roman" pitchFamily="18" charset="0"/>
                <a:cs typeface="Times New Roman" pitchFamily="18" charset="0"/>
              </a:rPr>
              <a:t>DATABASE DESCRIPTION</a:t>
            </a:r>
            <a:endParaRPr lang="en-US" sz="2300" b="1" dirty="0">
              <a:latin typeface="Times New Roman" pitchFamily="18" charset="0"/>
              <a:cs typeface="Times New Roman" pitchFamily="18" charset="0"/>
            </a:endParaRPr>
          </a:p>
          <a:p>
            <a:pPr algn="ct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Symptoms-Based Doctor Recommendation and Appointment System</a:t>
            </a:r>
          </a:p>
          <a:p>
            <a:pPr algn="ctr"/>
            <a:endParaRPr lang="en-US" sz="2400" b="1" dirty="0">
              <a:latin typeface="Times New Roman" panose="02020603050405020304" pitchFamily="18" charset="0"/>
              <a:cs typeface="Times New Roman" panose="02020603050405020304" pitchFamily="18" charset="0"/>
            </a:endParaRPr>
          </a:p>
          <a:p>
            <a:pPr algn="ctr"/>
            <a:endParaRPr lang="en-US" sz="2400" b="1" dirty="0">
              <a:latin typeface="Times New Roman" panose="02020603050405020304" pitchFamily="18" charset="0"/>
              <a:cs typeface="Times New Roman" panose="02020603050405020304" pitchFamily="18" charset="0"/>
            </a:endParaRPr>
          </a:p>
          <a:p>
            <a:pPr algn="ctr"/>
            <a:endParaRPr lang="en-US" sz="2400" b="1" dirty="0">
              <a:latin typeface="Times New Roman" panose="02020603050405020304" pitchFamily="18" charset="0"/>
              <a:cs typeface="Times New Roman" panose="02020603050405020304" pitchFamily="18" charset="0"/>
            </a:endParaRPr>
          </a:p>
          <a:p>
            <a:pPr algn="ctr"/>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pPr algn="ctr"/>
            <a:endParaRPr lang="en-US" dirty="0">
              <a:latin typeface="Times New Roman" pitchFamily="18" charset="0"/>
              <a:cs typeface="Times New Roman" pitchFamily="18" charset="0"/>
            </a:endParaRPr>
          </a:p>
          <a:p>
            <a:pPr algn="ctr"/>
            <a:r>
              <a:rPr lang="en-US" dirty="0">
                <a:latin typeface="Times New Roman" pitchFamily="18" charset="0"/>
                <a:cs typeface="Times New Roman" pitchFamily="18" charset="0"/>
              </a:rPr>
              <a:t>Table : doctor</a:t>
            </a:r>
          </a:p>
          <a:p>
            <a:endParaRPr lang="en-US" sz="2300" b="1" dirty="0">
              <a:latin typeface="Times New Roman" pitchFamily="18" charset="0"/>
              <a:cs typeface="Times New Roman" pitchFamily="18" charset="0"/>
            </a:endParaRPr>
          </a:p>
        </p:txBody>
      </p:sp>
      <p:graphicFrame>
        <p:nvGraphicFramePr>
          <p:cNvPr id="2" name="Table 1">
            <a:extLst>
              <a:ext uri="{FF2B5EF4-FFF2-40B4-BE49-F238E27FC236}">
                <a16:creationId xmlns:a16="http://schemas.microsoft.com/office/drawing/2014/main" id="{4882D16C-0904-C32B-5C8C-6D726895A0C5}"/>
              </a:ext>
            </a:extLst>
          </p:cNvPr>
          <p:cNvGraphicFramePr>
            <a:graphicFrameLocks noGrp="1"/>
          </p:cNvGraphicFramePr>
          <p:nvPr>
            <p:extLst>
              <p:ext uri="{D42A27DB-BD31-4B8C-83A1-F6EECF244321}">
                <p14:modId xmlns:p14="http://schemas.microsoft.com/office/powerpoint/2010/main" val="683808191"/>
              </p:ext>
            </p:extLst>
          </p:nvPr>
        </p:nvGraphicFramePr>
        <p:xfrm>
          <a:off x="155575" y="1943416"/>
          <a:ext cx="8455803" cy="4243106"/>
        </p:xfrm>
        <a:graphic>
          <a:graphicData uri="http://schemas.openxmlformats.org/drawingml/2006/table">
            <a:tbl>
              <a:tblPr>
                <a:tableStyleId>{5940675A-B579-460E-94D1-54222C63F5DA}</a:tableStyleId>
              </a:tblPr>
              <a:tblGrid>
                <a:gridCol w="2074791">
                  <a:extLst>
                    <a:ext uri="{9D8B030D-6E8A-4147-A177-3AD203B41FA5}">
                      <a16:colId xmlns:a16="http://schemas.microsoft.com/office/drawing/2014/main" val="985052098"/>
                    </a:ext>
                  </a:extLst>
                </a:gridCol>
                <a:gridCol w="2285396">
                  <a:extLst>
                    <a:ext uri="{9D8B030D-6E8A-4147-A177-3AD203B41FA5}">
                      <a16:colId xmlns:a16="http://schemas.microsoft.com/office/drawing/2014/main" val="1504112142"/>
                    </a:ext>
                  </a:extLst>
                </a:gridCol>
                <a:gridCol w="1702298">
                  <a:extLst>
                    <a:ext uri="{9D8B030D-6E8A-4147-A177-3AD203B41FA5}">
                      <a16:colId xmlns:a16="http://schemas.microsoft.com/office/drawing/2014/main" val="2857215045"/>
                    </a:ext>
                  </a:extLst>
                </a:gridCol>
                <a:gridCol w="2393318">
                  <a:extLst>
                    <a:ext uri="{9D8B030D-6E8A-4147-A177-3AD203B41FA5}">
                      <a16:colId xmlns:a16="http://schemas.microsoft.com/office/drawing/2014/main" val="2904469819"/>
                    </a:ext>
                  </a:extLst>
                </a:gridCol>
              </a:tblGrid>
              <a:tr h="694570">
                <a:tc>
                  <a:txBody>
                    <a:bodyPr/>
                    <a:lstStyle/>
                    <a:p>
                      <a:pPr algn="ctr" fontAlgn="b">
                        <a:lnSpc>
                          <a:spcPct val="107000"/>
                        </a:lnSpc>
                        <a:spcAft>
                          <a:spcPts val="800"/>
                        </a:spcAft>
                      </a:pPr>
                      <a:r>
                        <a:rPr lang="en-IN" sz="1300" b="1" kern="1200" dirty="0">
                          <a:solidFill>
                            <a:schemeClr val="tx1"/>
                          </a:solidFill>
                          <a:effectLst/>
                          <a:latin typeface="Time Roman" pitchFamily="2" charset="0"/>
                        </a:rPr>
                        <a:t>FILED NAME</a:t>
                      </a:r>
                      <a:endParaRPr lang="en-IN" sz="1100" b="1" dirty="0">
                        <a:solidFill>
                          <a:schemeClr val="tx1"/>
                        </a:solidFill>
                        <a:effectLst/>
                        <a:latin typeface="Time Roman" pitchFamily="2" charset="0"/>
                      </a:endParaRPr>
                    </a:p>
                    <a:p>
                      <a:pPr algn="ctr" fontAlgn="b">
                        <a:lnSpc>
                          <a:spcPct val="107000"/>
                        </a:lnSpc>
                        <a:spcAft>
                          <a:spcPts val="800"/>
                        </a:spcAft>
                      </a:pPr>
                      <a:r>
                        <a:rPr lang="en-IN" sz="1300" b="1" kern="1200" dirty="0">
                          <a:solidFill>
                            <a:schemeClr val="tx1"/>
                          </a:solidFill>
                          <a:effectLst/>
                          <a:latin typeface="Time Roman" pitchFamily="2" charset="0"/>
                        </a:rPr>
                        <a:t> </a:t>
                      </a:r>
                      <a:endParaRPr lang="en-IN" sz="1100" b="1"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b"/>
                </a:tc>
                <a:tc>
                  <a:txBody>
                    <a:bodyPr/>
                    <a:lstStyle/>
                    <a:p>
                      <a:pPr algn="ctr" fontAlgn="b">
                        <a:lnSpc>
                          <a:spcPct val="107000"/>
                        </a:lnSpc>
                        <a:spcAft>
                          <a:spcPts val="800"/>
                        </a:spcAft>
                      </a:pPr>
                      <a:r>
                        <a:rPr lang="en-IN" sz="1300" b="1" kern="1200" dirty="0">
                          <a:solidFill>
                            <a:schemeClr val="tx1"/>
                          </a:solidFill>
                          <a:effectLst/>
                          <a:latin typeface="Time Roman" pitchFamily="2" charset="0"/>
                        </a:rPr>
                        <a:t>DATA TYPE</a:t>
                      </a:r>
                      <a:endParaRPr lang="en-IN" sz="1100" b="1" dirty="0">
                        <a:solidFill>
                          <a:schemeClr val="tx1"/>
                        </a:solidFill>
                        <a:effectLst/>
                        <a:latin typeface="Time Roman" pitchFamily="2" charset="0"/>
                      </a:endParaRPr>
                    </a:p>
                    <a:p>
                      <a:pPr fontAlgn="b">
                        <a:lnSpc>
                          <a:spcPct val="107000"/>
                        </a:lnSpc>
                        <a:spcAft>
                          <a:spcPts val="800"/>
                        </a:spcAft>
                      </a:pPr>
                      <a:r>
                        <a:rPr lang="en-IN" sz="1300" b="1" kern="1200" dirty="0">
                          <a:solidFill>
                            <a:schemeClr val="tx1"/>
                          </a:solidFill>
                          <a:effectLst/>
                          <a:latin typeface="Time Roman" pitchFamily="2" charset="0"/>
                        </a:rPr>
                        <a:t> </a:t>
                      </a:r>
                      <a:endParaRPr lang="en-IN" sz="1100" b="1"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b"/>
                </a:tc>
                <a:tc>
                  <a:txBody>
                    <a:bodyPr/>
                    <a:lstStyle/>
                    <a:p>
                      <a:pPr algn="ctr" fontAlgn="b">
                        <a:lnSpc>
                          <a:spcPct val="107000"/>
                        </a:lnSpc>
                        <a:spcAft>
                          <a:spcPts val="800"/>
                        </a:spcAft>
                      </a:pPr>
                      <a:r>
                        <a:rPr lang="en-IN" sz="1300" b="1" kern="1200" dirty="0">
                          <a:solidFill>
                            <a:schemeClr val="tx1"/>
                          </a:solidFill>
                          <a:effectLst/>
                          <a:latin typeface="Time Roman" pitchFamily="2" charset="0"/>
                        </a:rPr>
                        <a:t> </a:t>
                      </a:r>
                      <a:endParaRPr lang="en-IN" sz="1100" b="1" dirty="0">
                        <a:solidFill>
                          <a:schemeClr val="tx1"/>
                        </a:solidFill>
                        <a:effectLst/>
                        <a:latin typeface="Time Roman" pitchFamily="2" charset="0"/>
                      </a:endParaRPr>
                    </a:p>
                    <a:p>
                      <a:pPr algn="ctr" fontAlgn="b">
                        <a:lnSpc>
                          <a:spcPct val="107000"/>
                        </a:lnSpc>
                        <a:spcAft>
                          <a:spcPts val="800"/>
                        </a:spcAft>
                      </a:pPr>
                      <a:r>
                        <a:rPr lang="en-IN" sz="1300" b="1" kern="1200" dirty="0">
                          <a:solidFill>
                            <a:schemeClr val="tx1"/>
                          </a:solidFill>
                          <a:effectLst/>
                          <a:latin typeface="Time Roman" pitchFamily="2" charset="0"/>
                        </a:rPr>
                        <a:t>SIZE</a:t>
                      </a:r>
                      <a:endParaRPr lang="en-IN" sz="1100" b="1"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
                        <a:lnSpc>
                          <a:spcPct val="107000"/>
                        </a:lnSpc>
                        <a:spcAft>
                          <a:spcPts val="800"/>
                        </a:spcAft>
                      </a:pPr>
                      <a:r>
                        <a:rPr lang="en-IN" sz="1300" b="1" kern="1200" dirty="0">
                          <a:solidFill>
                            <a:schemeClr val="tx1"/>
                          </a:solidFill>
                          <a:effectLst/>
                          <a:latin typeface="Time Roman" pitchFamily="2" charset="0"/>
                        </a:rPr>
                        <a:t> </a:t>
                      </a:r>
                      <a:endParaRPr lang="en-IN" sz="1100" b="1" dirty="0">
                        <a:solidFill>
                          <a:schemeClr val="tx1"/>
                        </a:solidFill>
                        <a:effectLst/>
                        <a:latin typeface="Time Roman" pitchFamily="2" charset="0"/>
                      </a:endParaRPr>
                    </a:p>
                    <a:p>
                      <a:pPr algn="ctr" fontAlgn="b">
                        <a:lnSpc>
                          <a:spcPct val="107000"/>
                        </a:lnSpc>
                        <a:spcAft>
                          <a:spcPts val="800"/>
                        </a:spcAft>
                      </a:pPr>
                      <a:r>
                        <a:rPr lang="en-IN" sz="1300" b="1" kern="1200" dirty="0">
                          <a:solidFill>
                            <a:schemeClr val="tx1"/>
                          </a:solidFill>
                          <a:effectLst/>
                          <a:latin typeface="Time Roman" pitchFamily="2" charset="0"/>
                        </a:rPr>
                        <a:t>CONSTRAINTS</a:t>
                      </a:r>
                      <a:endParaRPr lang="en-IN" sz="1100" b="1" dirty="0">
                        <a:solidFill>
                          <a:schemeClr val="tx1"/>
                        </a:solidFill>
                        <a:effectLst/>
                        <a:latin typeface="Time Roman" pitchFamily="2" charset="0"/>
                      </a:endParaRPr>
                    </a:p>
                    <a:p>
                      <a:pPr algn="ctr" fontAlgn="b">
                        <a:lnSpc>
                          <a:spcPct val="107000"/>
                        </a:lnSpc>
                        <a:spcAft>
                          <a:spcPts val="800"/>
                        </a:spcAft>
                      </a:pPr>
                      <a:r>
                        <a:rPr lang="en-IN" sz="1300" b="1" kern="1200" dirty="0">
                          <a:solidFill>
                            <a:schemeClr val="tx1"/>
                          </a:solidFill>
                          <a:effectLst/>
                          <a:latin typeface="Time Roman" pitchFamily="2" charset="0"/>
                        </a:rPr>
                        <a:t> </a:t>
                      </a:r>
                      <a:endParaRPr lang="en-IN" sz="1100" b="1"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b"/>
                </a:tc>
                <a:extLst>
                  <a:ext uri="{0D108BD9-81ED-4DB2-BD59-A6C34878D82A}">
                    <a16:rowId xmlns:a16="http://schemas.microsoft.com/office/drawing/2014/main" val="3394013785"/>
                  </a:ext>
                </a:extLst>
              </a:tr>
              <a:tr h="412434">
                <a:tc>
                  <a:txBody>
                    <a:bodyPr/>
                    <a:lstStyle/>
                    <a:p>
                      <a:pPr algn="ctr" fontAlgn="base">
                        <a:lnSpc>
                          <a:spcPct val="107000"/>
                        </a:lnSpc>
                        <a:spcAft>
                          <a:spcPts val="800"/>
                        </a:spcAft>
                      </a:pPr>
                      <a:r>
                        <a:rPr lang="en-US" sz="1300" kern="1200" dirty="0" err="1">
                          <a:solidFill>
                            <a:schemeClr val="tx1"/>
                          </a:solidFill>
                          <a:effectLst/>
                          <a:latin typeface="Time Roman" pitchFamily="2" charset="0"/>
                        </a:rPr>
                        <a:t>Available_days</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US" sz="1300" kern="1200" dirty="0" err="1">
                          <a:solidFill>
                            <a:schemeClr val="tx1"/>
                          </a:solidFill>
                          <a:effectLst/>
                          <a:latin typeface="Time Roman" pitchFamily="2" charset="0"/>
                        </a:rPr>
                        <a:t>Varchar</a:t>
                      </a:r>
                      <a:r>
                        <a:rPr lang="en-US" sz="1300" kern="1200" dirty="0">
                          <a:solidFill>
                            <a:schemeClr val="tx1"/>
                          </a:solidFill>
                          <a:effectLst/>
                          <a:latin typeface="Time Roman" pitchFamily="2" charset="0"/>
                        </a:rPr>
                        <a:t> </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dirty="0">
                          <a:solidFill>
                            <a:schemeClr val="tx1"/>
                          </a:solidFill>
                          <a:effectLst/>
                          <a:latin typeface="Time Roman" pitchFamily="2" charset="0"/>
                        </a:rPr>
                        <a:t> </a:t>
                      </a:r>
                      <a:endParaRPr lang="en-IN" sz="1100" dirty="0">
                        <a:solidFill>
                          <a:schemeClr val="tx1"/>
                        </a:solidFill>
                        <a:effectLst/>
                        <a:latin typeface="Time Roman" pitchFamily="2" charset="0"/>
                      </a:endParaRPr>
                    </a:p>
                    <a:p>
                      <a:pPr algn="ctr" fontAlgn="base">
                        <a:lnSpc>
                          <a:spcPct val="107000"/>
                        </a:lnSpc>
                        <a:spcAft>
                          <a:spcPts val="800"/>
                        </a:spcAft>
                      </a:pPr>
                      <a:r>
                        <a:rPr lang="en-IN" sz="1300" kern="1200" dirty="0">
                          <a:solidFill>
                            <a:schemeClr val="tx1"/>
                          </a:solidFill>
                          <a:effectLst/>
                          <a:latin typeface="Time Roman" pitchFamily="2" charset="0"/>
                        </a:rPr>
                        <a:t>10</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US" sz="1300" kern="1200" dirty="0">
                          <a:solidFill>
                            <a:schemeClr val="tx1"/>
                          </a:solidFill>
                          <a:effectLst/>
                          <a:latin typeface="Time Roman" pitchFamily="2" charset="0"/>
                        </a:rPr>
                        <a:t>Not null</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2538554340"/>
                  </a:ext>
                </a:extLst>
              </a:tr>
              <a:tr h="412434">
                <a:tc>
                  <a:txBody>
                    <a:bodyPr/>
                    <a:lstStyle/>
                    <a:p>
                      <a:pPr algn="ctr" fontAlgn="base">
                        <a:lnSpc>
                          <a:spcPct val="107000"/>
                        </a:lnSpc>
                        <a:spcAft>
                          <a:spcPts val="800"/>
                        </a:spcAft>
                      </a:pPr>
                      <a:r>
                        <a:rPr lang="en-US" sz="1300" kern="1200" dirty="0" err="1">
                          <a:solidFill>
                            <a:schemeClr val="tx1"/>
                          </a:solidFill>
                          <a:effectLst/>
                          <a:latin typeface="Time Roman" pitchFamily="2" charset="0"/>
                          <a:ea typeface="Calibri" panose="020F0502020204030204" pitchFamily="34" charset="0"/>
                          <a:cs typeface="Times New Roman" panose="02020603050405020304" pitchFamily="18" charset="0"/>
                        </a:rPr>
                        <a:t>Available_from</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US" sz="1300" kern="1200" dirty="0">
                          <a:solidFill>
                            <a:schemeClr val="tx1"/>
                          </a:solidFill>
                          <a:effectLst/>
                          <a:latin typeface="Time Roman" pitchFamily="2" charset="0"/>
                        </a:rPr>
                        <a:t>time</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dirty="0">
                          <a:solidFill>
                            <a:schemeClr val="tx1"/>
                          </a:solidFill>
                          <a:effectLst/>
                          <a:latin typeface="Time Roman" pitchFamily="2" charset="0"/>
                        </a:rPr>
                        <a:t> </a:t>
                      </a:r>
                      <a:endParaRPr lang="en-IN" sz="1100" dirty="0">
                        <a:solidFill>
                          <a:schemeClr val="tx1"/>
                        </a:solidFill>
                        <a:effectLst/>
                        <a:latin typeface="Time Roman" pitchFamily="2" charset="0"/>
                      </a:endParaRPr>
                    </a:p>
                    <a:p>
                      <a:pPr algn="ctr" fontAlgn="base">
                        <a:lnSpc>
                          <a:spcPct val="107000"/>
                        </a:lnSpc>
                        <a:spcAft>
                          <a:spcPts val="800"/>
                        </a:spcAft>
                      </a:pPr>
                      <a:r>
                        <a:rPr lang="en-US" sz="1300" kern="1200" dirty="0">
                          <a:solidFill>
                            <a:schemeClr val="tx1"/>
                          </a:solidFill>
                          <a:effectLst/>
                          <a:latin typeface="Time Roman" pitchFamily="2" charset="0"/>
                        </a:rPr>
                        <a:t>1</a:t>
                      </a:r>
                      <a:r>
                        <a:rPr lang="en-IN" sz="1300" kern="1200" dirty="0">
                          <a:solidFill>
                            <a:schemeClr val="tx1"/>
                          </a:solidFill>
                          <a:effectLst/>
                          <a:latin typeface="Time Roman" pitchFamily="2" charset="0"/>
                        </a:rPr>
                        <a:t>2</a:t>
                      </a:r>
                      <a:r>
                        <a:rPr lang="en-US" sz="1300" kern="1200" dirty="0">
                          <a:solidFill>
                            <a:schemeClr val="tx1"/>
                          </a:solidFill>
                          <a:effectLst/>
                          <a:latin typeface="Time Roman" pitchFamily="2" charset="0"/>
                        </a:rPr>
                        <a:t>8</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US" sz="1300" kern="1200" dirty="0">
                          <a:solidFill>
                            <a:schemeClr val="tx1"/>
                          </a:solidFill>
                          <a:effectLst/>
                          <a:latin typeface="Time Roman" pitchFamily="2" charset="0"/>
                        </a:rPr>
                        <a:t>Not null</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707759503"/>
                  </a:ext>
                </a:extLst>
              </a:tr>
              <a:tr h="412434">
                <a:tc>
                  <a:txBody>
                    <a:bodyPr/>
                    <a:lstStyle/>
                    <a:p>
                      <a:pPr algn="ctr" fontAlgn="base">
                        <a:lnSpc>
                          <a:spcPct val="107000"/>
                        </a:lnSpc>
                        <a:spcAft>
                          <a:spcPts val="800"/>
                        </a:spcAft>
                      </a:pPr>
                      <a:r>
                        <a:rPr lang="en-US" sz="1300" kern="1200" dirty="0" err="1">
                          <a:solidFill>
                            <a:schemeClr val="tx1"/>
                          </a:solidFill>
                          <a:effectLst/>
                          <a:latin typeface="Time Roman" pitchFamily="2" charset="0"/>
                        </a:rPr>
                        <a:t>Available_to</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US" sz="1300" kern="1200" dirty="0">
                          <a:solidFill>
                            <a:schemeClr val="tx1"/>
                          </a:solidFill>
                          <a:effectLst/>
                          <a:latin typeface="Time Roman" pitchFamily="2" charset="0"/>
                          <a:ea typeface="Calibri" panose="020F0502020204030204" pitchFamily="34" charset="0"/>
                          <a:cs typeface="Times New Roman" panose="02020603050405020304" pitchFamily="18" charset="0"/>
                        </a:rPr>
                        <a:t>time</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a:lnSpc>
                          <a:spcPct val="107000"/>
                        </a:lnSpc>
                        <a:spcAft>
                          <a:spcPts val="800"/>
                        </a:spcAft>
                      </a:pPr>
                      <a:r>
                        <a:rPr lang="en-IN" sz="1300" dirty="0">
                          <a:solidFill>
                            <a:schemeClr val="tx1"/>
                          </a:solidFill>
                          <a:effectLst/>
                          <a:latin typeface="Time Roman" pitchFamily="2" charset="0"/>
                        </a:rPr>
                        <a:t> </a:t>
                      </a:r>
                      <a:endParaRPr lang="en-IN" sz="1100" dirty="0">
                        <a:solidFill>
                          <a:schemeClr val="tx1"/>
                        </a:solidFill>
                        <a:effectLst/>
                        <a:latin typeface="Time Roman" pitchFamily="2" charset="0"/>
                      </a:endParaRPr>
                    </a:p>
                    <a:p>
                      <a:pPr algn="ctr">
                        <a:lnSpc>
                          <a:spcPct val="107000"/>
                        </a:lnSpc>
                        <a:spcAft>
                          <a:spcPts val="800"/>
                        </a:spcAft>
                      </a:pPr>
                      <a:r>
                        <a:rPr lang="en-US" sz="1300" dirty="0">
                          <a:solidFill>
                            <a:schemeClr val="tx1"/>
                          </a:solidFill>
                          <a:effectLst/>
                          <a:latin typeface="Time Roman" pitchFamily="2" charset="0"/>
                          <a:ea typeface="Calibri" panose="020F0502020204030204" pitchFamily="34" charset="0"/>
                          <a:cs typeface="Times New Roman" panose="02020603050405020304" pitchFamily="18" charset="0"/>
                        </a:rPr>
                        <a:t>-</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a:lnSpc>
                          <a:spcPct val="107000"/>
                        </a:lnSpc>
                        <a:spcAft>
                          <a:spcPts val="800"/>
                        </a:spcAft>
                      </a:pPr>
                      <a:r>
                        <a:rPr lang="en-IN" sz="1300">
                          <a:solidFill>
                            <a:schemeClr val="tx1"/>
                          </a:solidFill>
                          <a:effectLst/>
                          <a:latin typeface="Time Roman" pitchFamily="2" charset="0"/>
                        </a:rPr>
                        <a:t>Not null</a:t>
                      </a:r>
                      <a:endParaRPr lang="en-IN" sz="110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2857421491"/>
                  </a:ext>
                </a:extLst>
              </a:tr>
              <a:tr h="412434">
                <a:tc>
                  <a:txBody>
                    <a:bodyPr/>
                    <a:lstStyle/>
                    <a:p>
                      <a:pPr algn="ctr" fontAlgn="base">
                        <a:lnSpc>
                          <a:spcPct val="107000"/>
                        </a:lnSpc>
                        <a:spcAft>
                          <a:spcPts val="800"/>
                        </a:spcAft>
                      </a:pPr>
                      <a:r>
                        <a:rPr lang="en-US" sz="1300" kern="1200" dirty="0" err="1">
                          <a:solidFill>
                            <a:schemeClr val="tx1"/>
                          </a:solidFill>
                          <a:effectLst/>
                          <a:latin typeface="Time Roman" pitchFamily="2" charset="0"/>
                        </a:rPr>
                        <a:t>Years_of_experience</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US" sz="1300" kern="1200" dirty="0" err="1">
                          <a:solidFill>
                            <a:schemeClr val="tx1"/>
                          </a:solidFill>
                          <a:effectLst/>
                          <a:latin typeface="Time Roman" pitchFamily="2" charset="0"/>
                        </a:rPr>
                        <a:t>Int</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dirty="0">
                          <a:solidFill>
                            <a:schemeClr val="tx1"/>
                          </a:solidFill>
                          <a:effectLst/>
                          <a:latin typeface="Time Roman" pitchFamily="2" charset="0"/>
                        </a:rPr>
                        <a:t> </a:t>
                      </a:r>
                      <a:endParaRPr lang="en-IN" sz="1100" dirty="0">
                        <a:solidFill>
                          <a:schemeClr val="tx1"/>
                        </a:solidFill>
                        <a:effectLst/>
                        <a:latin typeface="Time Roman" pitchFamily="2" charset="0"/>
                      </a:endParaRPr>
                    </a:p>
                    <a:p>
                      <a:pPr algn="ctr" fontAlgn="base">
                        <a:lnSpc>
                          <a:spcPct val="107000"/>
                        </a:lnSpc>
                        <a:spcAft>
                          <a:spcPts val="800"/>
                        </a:spcAft>
                      </a:pPr>
                      <a:r>
                        <a:rPr lang="en-US" sz="1300" kern="1200" dirty="0">
                          <a:solidFill>
                            <a:schemeClr val="tx1"/>
                          </a:solidFill>
                          <a:effectLst/>
                          <a:latin typeface="Time Roman" pitchFamily="2" charset="0"/>
                        </a:rPr>
                        <a:t>1</a:t>
                      </a:r>
                      <a:r>
                        <a:rPr lang="en-IN" sz="1300" kern="1200" dirty="0">
                          <a:solidFill>
                            <a:schemeClr val="tx1"/>
                          </a:solidFill>
                          <a:effectLst/>
                          <a:latin typeface="Time Roman" pitchFamily="2" charset="0"/>
                        </a:rPr>
                        <a:t>0</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US" sz="1300" kern="1200" dirty="0">
                          <a:solidFill>
                            <a:schemeClr val="tx1"/>
                          </a:solidFill>
                          <a:effectLst/>
                          <a:latin typeface="Time Roman" pitchFamily="2" charset="0"/>
                        </a:rPr>
                        <a:t>Not null</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1360029502"/>
                  </a:ext>
                </a:extLst>
              </a:tr>
              <a:tr h="412434">
                <a:tc>
                  <a:txBody>
                    <a:bodyPr/>
                    <a:lstStyle/>
                    <a:p>
                      <a:pPr algn="ctr" fontAlgn="base">
                        <a:lnSpc>
                          <a:spcPct val="107000"/>
                        </a:lnSpc>
                        <a:spcAft>
                          <a:spcPts val="800"/>
                        </a:spcAft>
                      </a:pPr>
                      <a:r>
                        <a:rPr lang="en-US" sz="1100" dirty="0">
                          <a:solidFill>
                            <a:schemeClr val="tx1"/>
                          </a:solidFill>
                          <a:effectLst/>
                          <a:latin typeface="Time Roman" pitchFamily="2" charset="0"/>
                          <a:ea typeface="Calibri" panose="020F0502020204030204" pitchFamily="34" charset="0"/>
                          <a:cs typeface="Times New Roman" panose="02020603050405020304" pitchFamily="18" charset="0"/>
                        </a:rPr>
                        <a:t>salary</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US" sz="1300" kern="1200" dirty="0" err="1">
                          <a:solidFill>
                            <a:schemeClr val="tx1"/>
                          </a:solidFill>
                          <a:effectLst/>
                          <a:latin typeface="Time Roman" pitchFamily="2" charset="0"/>
                        </a:rPr>
                        <a:t>Int</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a:lnSpc>
                          <a:spcPct val="107000"/>
                        </a:lnSpc>
                        <a:spcAft>
                          <a:spcPts val="800"/>
                        </a:spcAft>
                      </a:pPr>
                      <a:r>
                        <a:rPr lang="en-IN" sz="1300" dirty="0">
                          <a:solidFill>
                            <a:schemeClr val="tx1"/>
                          </a:solidFill>
                          <a:effectLst/>
                          <a:latin typeface="Time Roman" pitchFamily="2" charset="0"/>
                        </a:rPr>
                        <a:t> </a:t>
                      </a:r>
                      <a:endParaRPr lang="en-IN" sz="1100" dirty="0">
                        <a:solidFill>
                          <a:schemeClr val="tx1"/>
                        </a:solidFill>
                        <a:effectLst/>
                        <a:latin typeface="Time Roman" pitchFamily="2" charset="0"/>
                      </a:endParaRPr>
                    </a:p>
                    <a:p>
                      <a:pPr algn="ctr">
                        <a:lnSpc>
                          <a:spcPct val="107000"/>
                        </a:lnSpc>
                        <a:spcAft>
                          <a:spcPts val="800"/>
                        </a:spcAft>
                      </a:pPr>
                      <a:r>
                        <a:rPr lang="en-IN" sz="1300" dirty="0">
                          <a:solidFill>
                            <a:schemeClr val="tx1"/>
                          </a:solidFill>
                          <a:effectLst/>
                          <a:latin typeface="Time Roman" pitchFamily="2" charset="0"/>
                        </a:rPr>
                        <a:t>30</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a:lnSpc>
                          <a:spcPct val="107000"/>
                        </a:lnSpc>
                        <a:spcAft>
                          <a:spcPts val="800"/>
                        </a:spcAft>
                      </a:pPr>
                      <a:r>
                        <a:rPr lang="en-IN" sz="1300" dirty="0">
                          <a:solidFill>
                            <a:schemeClr val="tx1"/>
                          </a:solidFill>
                          <a:effectLst/>
                          <a:latin typeface="Time Roman" pitchFamily="2" charset="0"/>
                        </a:rPr>
                        <a:t>Not null</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2949048478"/>
                  </a:ext>
                </a:extLst>
              </a:tr>
              <a:tr h="264422">
                <a:tc>
                  <a:txBody>
                    <a:bodyPr/>
                    <a:lstStyle/>
                    <a:p>
                      <a:pPr algn="ctr" fontAlgn="base">
                        <a:lnSpc>
                          <a:spcPct val="107000"/>
                        </a:lnSpc>
                        <a:spcAft>
                          <a:spcPts val="800"/>
                        </a:spcAft>
                      </a:pPr>
                      <a:r>
                        <a:rPr lang="en-US" sz="1100" dirty="0" err="1">
                          <a:solidFill>
                            <a:schemeClr val="tx1"/>
                          </a:solidFill>
                          <a:effectLst/>
                          <a:latin typeface="Time Roman" pitchFamily="2" charset="0"/>
                          <a:ea typeface="Calibri" panose="020F0502020204030204" pitchFamily="34" charset="0"/>
                          <a:cs typeface="Times New Roman" panose="02020603050405020304" pitchFamily="18" charset="0"/>
                        </a:rPr>
                        <a:t>Avg_rating</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US" sz="1100" dirty="0">
                          <a:solidFill>
                            <a:schemeClr val="tx1"/>
                          </a:solidFill>
                          <a:effectLst/>
                          <a:latin typeface="Time Roman" pitchFamily="2" charset="0"/>
                          <a:ea typeface="Calibri" panose="020F0502020204030204" pitchFamily="34" charset="0"/>
                          <a:cs typeface="Times New Roman" panose="02020603050405020304" pitchFamily="18" charset="0"/>
                        </a:rPr>
                        <a:t>Decimal(3,2)</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a:lnSpc>
                          <a:spcPct val="107000"/>
                        </a:lnSpc>
                        <a:spcAft>
                          <a:spcPts val="800"/>
                        </a:spcAft>
                      </a:pPr>
                      <a:r>
                        <a:rPr lang="en-US" sz="1100" dirty="0">
                          <a:solidFill>
                            <a:schemeClr val="tx1"/>
                          </a:solidFill>
                          <a:effectLst/>
                          <a:latin typeface="Time Roman" pitchFamily="2" charset="0"/>
                          <a:ea typeface="Calibri" panose="020F0502020204030204" pitchFamily="34" charset="0"/>
                          <a:cs typeface="Times New Roman" panose="02020603050405020304" pitchFamily="18" charset="0"/>
                        </a:rPr>
                        <a:t>30</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a:lnSpc>
                          <a:spcPct val="107000"/>
                        </a:lnSpc>
                        <a:spcAft>
                          <a:spcPts val="800"/>
                        </a:spcAft>
                      </a:pPr>
                      <a:r>
                        <a:rPr lang="en-US" sz="1100" dirty="0">
                          <a:solidFill>
                            <a:schemeClr val="tx1"/>
                          </a:solidFill>
                          <a:effectLst/>
                          <a:latin typeface="Time Roman" pitchFamily="2" charset="0"/>
                          <a:ea typeface="Calibri" panose="020F0502020204030204" pitchFamily="34" charset="0"/>
                          <a:cs typeface="Times New Roman" panose="02020603050405020304" pitchFamily="18" charset="0"/>
                        </a:rPr>
                        <a:t>Not null</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2781811617"/>
                  </a:ext>
                </a:extLst>
              </a:tr>
              <a:tr h="264422">
                <a:tc>
                  <a:txBody>
                    <a:bodyPr/>
                    <a:lstStyle/>
                    <a:p>
                      <a:pPr algn="ctr" fontAlgn="base">
                        <a:lnSpc>
                          <a:spcPct val="107000"/>
                        </a:lnSpc>
                        <a:spcAft>
                          <a:spcPts val="800"/>
                        </a:spcAft>
                      </a:pPr>
                      <a:r>
                        <a:rPr lang="en-US" sz="1100" dirty="0" err="1">
                          <a:solidFill>
                            <a:schemeClr val="tx1"/>
                          </a:solidFill>
                          <a:effectLst/>
                          <a:latin typeface="Time Roman" pitchFamily="2" charset="0"/>
                          <a:ea typeface="Calibri" panose="020F0502020204030204" pitchFamily="34" charset="0"/>
                          <a:cs typeface="Times New Roman" panose="02020603050405020304" pitchFamily="18" charset="0"/>
                        </a:rPr>
                        <a:t>Total_reviews</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US" sz="1100" dirty="0" err="1">
                          <a:solidFill>
                            <a:schemeClr val="tx1"/>
                          </a:solidFill>
                          <a:effectLst/>
                          <a:latin typeface="Time Roman" pitchFamily="2" charset="0"/>
                          <a:ea typeface="Calibri" panose="020F0502020204030204" pitchFamily="34" charset="0"/>
                          <a:cs typeface="Times New Roman" panose="02020603050405020304" pitchFamily="18" charset="0"/>
                        </a:rPr>
                        <a:t>Int</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a:lnSpc>
                          <a:spcPct val="107000"/>
                        </a:lnSpc>
                        <a:spcAft>
                          <a:spcPts val="800"/>
                        </a:spcAft>
                      </a:pP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a:lnSpc>
                          <a:spcPct val="107000"/>
                        </a:lnSpc>
                        <a:spcAft>
                          <a:spcPts val="800"/>
                        </a:spcAft>
                      </a:pP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1089720315"/>
                  </a:ext>
                </a:extLst>
              </a:tr>
              <a:tr h="264422">
                <a:tc>
                  <a:txBody>
                    <a:bodyPr/>
                    <a:lstStyle/>
                    <a:p>
                      <a:pPr algn="ctr" fontAlgn="base">
                        <a:lnSpc>
                          <a:spcPct val="107000"/>
                        </a:lnSpc>
                        <a:spcAft>
                          <a:spcPts val="800"/>
                        </a:spcAft>
                      </a:pPr>
                      <a:r>
                        <a:rPr lang="en-US" sz="1100" dirty="0" err="1">
                          <a:solidFill>
                            <a:schemeClr val="tx1"/>
                          </a:solidFill>
                          <a:effectLst/>
                          <a:latin typeface="Time Roman" pitchFamily="2" charset="0"/>
                          <a:ea typeface="Calibri" panose="020F0502020204030204" pitchFamily="34" charset="0"/>
                          <a:cs typeface="Times New Roman" panose="02020603050405020304" pitchFamily="18" charset="0"/>
                        </a:rPr>
                        <a:t>Profile_photo</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US" sz="1100" dirty="0" err="1">
                          <a:solidFill>
                            <a:schemeClr val="tx1"/>
                          </a:solidFill>
                          <a:effectLst/>
                          <a:latin typeface="Time Roman" pitchFamily="2" charset="0"/>
                          <a:ea typeface="Calibri" panose="020F0502020204030204" pitchFamily="34" charset="0"/>
                          <a:cs typeface="Times New Roman" panose="02020603050405020304" pitchFamily="18" charset="0"/>
                        </a:rPr>
                        <a:t>Varchar</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a:lnSpc>
                          <a:spcPct val="107000"/>
                        </a:lnSpc>
                        <a:spcAft>
                          <a:spcPts val="800"/>
                        </a:spcAft>
                      </a:pPr>
                      <a:r>
                        <a:rPr lang="en-US" sz="1100" dirty="0">
                          <a:solidFill>
                            <a:schemeClr val="tx1"/>
                          </a:solidFill>
                          <a:effectLst/>
                          <a:latin typeface="Time Roman" pitchFamily="2" charset="0"/>
                          <a:ea typeface="Calibri" panose="020F0502020204030204" pitchFamily="34" charset="0"/>
                          <a:cs typeface="Times New Roman" panose="02020603050405020304" pitchFamily="18" charset="0"/>
                        </a:rPr>
                        <a:t>255</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a:lnSpc>
                          <a:spcPct val="107000"/>
                        </a:lnSpc>
                        <a:spcAft>
                          <a:spcPts val="800"/>
                        </a:spcAft>
                      </a:pPr>
                      <a:r>
                        <a:rPr lang="en-US" sz="1100" dirty="0">
                          <a:solidFill>
                            <a:schemeClr val="tx1"/>
                          </a:solidFill>
                          <a:effectLst/>
                          <a:latin typeface="Time Roman" pitchFamily="2" charset="0"/>
                          <a:ea typeface="Calibri" panose="020F0502020204030204" pitchFamily="34" charset="0"/>
                          <a:cs typeface="Times New Roman" panose="02020603050405020304" pitchFamily="18" charset="0"/>
                        </a:rPr>
                        <a:t>Not null</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2600980578"/>
                  </a:ext>
                </a:extLst>
              </a:tr>
            </a:tbl>
          </a:graphicData>
        </a:graphic>
      </p:graphicFrame>
    </p:spTree>
    <p:extLst>
      <p:ext uri="{BB962C8B-B14F-4D97-AF65-F5344CB8AC3E}">
        <p14:creationId xmlns:p14="http://schemas.microsoft.com/office/powerpoint/2010/main" val="351082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Delay 9"/>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55575" y="276285"/>
            <a:ext cx="8680450" cy="4231928"/>
          </a:xfrm>
          <a:prstGeom prst="rect">
            <a:avLst/>
          </a:prstGeom>
        </p:spPr>
        <p:txBody>
          <a:bodyPr wrap="square">
            <a:spAutoFit/>
          </a:bodyPr>
          <a:lstStyle/>
          <a:p>
            <a:pPr algn="ctr"/>
            <a:r>
              <a:rPr lang="en-US" sz="2400" b="1" dirty="0">
                <a:latin typeface="Times New Roman" pitchFamily="18" charset="0"/>
                <a:cs typeface="Times New Roman" pitchFamily="18" charset="0"/>
              </a:rPr>
              <a:t>DATABASE DESCRIPTION</a:t>
            </a:r>
            <a:endParaRPr lang="en-US" sz="2300" b="1" dirty="0">
              <a:latin typeface="Times New Roman" pitchFamily="18" charset="0"/>
              <a:cs typeface="Times New Roman" pitchFamily="18" charset="0"/>
            </a:endParaRPr>
          </a:p>
          <a:p>
            <a:pPr algn="ct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Symptoms-Based Doctor Recommendation and Appointment System</a:t>
            </a:r>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pPr algn="ctr"/>
            <a:endParaRPr lang="en-US" dirty="0">
              <a:latin typeface="Times New Roman" pitchFamily="18" charset="0"/>
              <a:cs typeface="Times New Roman" pitchFamily="18" charset="0"/>
            </a:endParaRPr>
          </a:p>
          <a:p>
            <a:pPr algn="ctr"/>
            <a:r>
              <a:rPr lang="en-US" dirty="0">
                <a:latin typeface="Times New Roman" pitchFamily="18" charset="0"/>
                <a:cs typeface="Times New Roman" pitchFamily="18" charset="0"/>
              </a:rPr>
              <a:t>Table : </a:t>
            </a:r>
            <a:r>
              <a:rPr lang="en-US" dirty="0" err="1">
                <a:latin typeface="Times New Roman" pitchFamily="18" charset="0"/>
                <a:cs typeface="Times New Roman" pitchFamily="18" charset="0"/>
              </a:rPr>
              <a:t>doctorlogin</a:t>
            </a:r>
            <a:endParaRPr lang="en-US"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p:txBody>
      </p:sp>
      <p:graphicFrame>
        <p:nvGraphicFramePr>
          <p:cNvPr id="2" name="Table 1">
            <a:extLst>
              <a:ext uri="{FF2B5EF4-FFF2-40B4-BE49-F238E27FC236}">
                <a16:creationId xmlns:a16="http://schemas.microsoft.com/office/drawing/2014/main" id="{4882D16C-0904-C32B-5C8C-6D726895A0C5}"/>
              </a:ext>
            </a:extLst>
          </p:cNvPr>
          <p:cNvGraphicFramePr>
            <a:graphicFrameLocks noGrp="1"/>
          </p:cNvGraphicFramePr>
          <p:nvPr>
            <p:extLst>
              <p:ext uri="{D42A27DB-BD31-4B8C-83A1-F6EECF244321}">
                <p14:modId xmlns:p14="http://schemas.microsoft.com/office/powerpoint/2010/main" val="2087040231"/>
              </p:ext>
            </p:extLst>
          </p:nvPr>
        </p:nvGraphicFramePr>
        <p:xfrm>
          <a:off x="307975" y="1568390"/>
          <a:ext cx="8324056" cy="1901456"/>
        </p:xfrm>
        <a:graphic>
          <a:graphicData uri="http://schemas.openxmlformats.org/drawingml/2006/table">
            <a:tbl>
              <a:tblPr>
                <a:tableStyleId>{5940675A-B579-460E-94D1-54222C63F5DA}</a:tableStyleId>
              </a:tblPr>
              <a:tblGrid>
                <a:gridCol w="2042464">
                  <a:extLst>
                    <a:ext uri="{9D8B030D-6E8A-4147-A177-3AD203B41FA5}">
                      <a16:colId xmlns:a16="http://schemas.microsoft.com/office/drawing/2014/main" val="985052098"/>
                    </a:ext>
                  </a:extLst>
                </a:gridCol>
                <a:gridCol w="2249788">
                  <a:extLst>
                    <a:ext uri="{9D8B030D-6E8A-4147-A177-3AD203B41FA5}">
                      <a16:colId xmlns:a16="http://schemas.microsoft.com/office/drawing/2014/main" val="1504112142"/>
                    </a:ext>
                  </a:extLst>
                </a:gridCol>
                <a:gridCol w="1675776">
                  <a:extLst>
                    <a:ext uri="{9D8B030D-6E8A-4147-A177-3AD203B41FA5}">
                      <a16:colId xmlns:a16="http://schemas.microsoft.com/office/drawing/2014/main" val="2857215045"/>
                    </a:ext>
                  </a:extLst>
                </a:gridCol>
                <a:gridCol w="2356028">
                  <a:extLst>
                    <a:ext uri="{9D8B030D-6E8A-4147-A177-3AD203B41FA5}">
                      <a16:colId xmlns:a16="http://schemas.microsoft.com/office/drawing/2014/main" val="2904469819"/>
                    </a:ext>
                  </a:extLst>
                </a:gridCol>
              </a:tblGrid>
              <a:tr h="756098">
                <a:tc>
                  <a:txBody>
                    <a:bodyPr/>
                    <a:lstStyle/>
                    <a:p>
                      <a:pPr algn="ctr" fontAlgn="b">
                        <a:lnSpc>
                          <a:spcPct val="107000"/>
                        </a:lnSpc>
                        <a:spcAft>
                          <a:spcPts val="800"/>
                        </a:spcAft>
                      </a:pPr>
                      <a:r>
                        <a:rPr lang="en-IN" sz="1300" b="1" kern="1200" dirty="0">
                          <a:solidFill>
                            <a:schemeClr val="tx1"/>
                          </a:solidFill>
                          <a:effectLst/>
                          <a:latin typeface="Time Roman" pitchFamily="2" charset="0"/>
                        </a:rPr>
                        <a:t>FILED NAME</a:t>
                      </a:r>
                      <a:endParaRPr lang="en-IN" sz="1100" b="1" dirty="0">
                        <a:solidFill>
                          <a:schemeClr val="tx1"/>
                        </a:solidFill>
                        <a:effectLst/>
                        <a:latin typeface="Time Roman" pitchFamily="2" charset="0"/>
                      </a:endParaRPr>
                    </a:p>
                    <a:p>
                      <a:pPr algn="ctr" fontAlgn="b">
                        <a:lnSpc>
                          <a:spcPct val="107000"/>
                        </a:lnSpc>
                        <a:spcAft>
                          <a:spcPts val="800"/>
                        </a:spcAft>
                      </a:pPr>
                      <a:r>
                        <a:rPr lang="en-IN" sz="1300" b="1" kern="1200" dirty="0">
                          <a:solidFill>
                            <a:schemeClr val="tx1"/>
                          </a:solidFill>
                          <a:effectLst/>
                          <a:latin typeface="Time Roman" pitchFamily="2" charset="0"/>
                        </a:rPr>
                        <a:t> </a:t>
                      </a:r>
                      <a:endParaRPr lang="en-IN" sz="1100" b="1"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b"/>
                </a:tc>
                <a:tc>
                  <a:txBody>
                    <a:bodyPr/>
                    <a:lstStyle/>
                    <a:p>
                      <a:pPr algn="ctr" fontAlgn="b">
                        <a:lnSpc>
                          <a:spcPct val="107000"/>
                        </a:lnSpc>
                        <a:spcAft>
                          <a:spcPts val="800"/>
                        </a:spcAft>
                      </a:pPr>
                      <a:r>
                        <a:rPr lang="en-IN" sz="1300" b="1" kern="1200" dirty="0">
                          <a:solidFill>
                            <a:schemeClr val="tx1"/>
                          </a:solidFill>
                          <a:effectLst/>
                          <a:latin typeface="Time Roman" pitchFamily="2" charset="0"/>
                        </a:rPr>
                        <a:t>DATA TYPE</a:t>
                      </a:r>
                      <a:endParaRPr lang="en-IN" sz="1100" b="1" dirty="0">
                        <a:solidFill>
                          <a:schemeClr val="tx1"/>
                        </a:solidFill>
                        <a:effectLst/>
                        <a:latin typeface="Time Roman" pitchFamily="2" charset="0"/>
                      </a:endParaRPr>
                    </a:p>
                    <a:p>
                      <a:pPr fontAlgn="b">
                        <a:lnSpc>
                          <a:spcPct val="107000"/>
                        </a:lnSpc>
                        <a:spcAft>
                          <a:spcPts val="800"/>
                        </a:spcAft>
                      </a:pPr>
                      <a:r>
                        <a:rPr lang="en-IN" sz="1300" b="1" kern="1200" dirty="0">
                          <a:solidFill>
                            <a:schemeClr val="tx1"/>
                          </a:solidFill>
                          <a:effectLst/>
                          <a:latin typeface="Time Roman" pitchFamily="2" charset="0"/>
                        </a:rPr>
                        <a:t> </a:t>
                      </a:r>
                      <a:endParaRPr lang="en-IN" sz="1100" b="1"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b"/>
                </a:tc>
                <a:tc>
                  <a:txBody>
                    <a:bodyPr/>
                    <a:lstStyle/>
                    <a:p>
                      <a:pPr algn="ctr" fontAlgn="b">
                        <a:lnSpc>
                          <a:spcPct val="107000"/>
                        </a:lnSpc>
                        <a:spcAft>
                          <a:spcPts val="800"/>
                        </a:spcAft>
                      </a:pPr>
                      <a:r>
                        <a:rPr lang="en-IN" sz="1300" b="1" kern="1200" dirty="0">
                          <a:solidFill>
                            <a:schemeClr val="tx1"/>
                          </a:solidFill>
                          <a:effectLst/>
                          <a:latin typeface="Time Roman" pitchFamily="2" charset="0"/>
                        </a:rPr>
                        <a:t> </a:t>
                      </a:r>
                      <a:endParaRPr lang="en-IN" sz="1100" b="1" dirty="0">
                        <a:solidFill>
                          <a:schemeClr val="tx1"/>
                        </a:solidFill>
                        <a:effectLst/>
                        <a:latin typeface="Time Roman" pitchFamily="2" charset="0"/>
                      </a:endParaRPr>
                    </a:p>
                    <a:p>
                      <a:pPr algn="ctr" fontAlgn="b">
                        <a:lnSpc>
                          <a:spcPct val="107000"/>
                        </a:lnSpc>
                        <a:spcAft>
                          <a:spcPts val="800"/>
                        </a:spcAft>
                      </a:pPr>
                      <a:r>
                        <a:rPr lang="en-IN" sz="1300" b="1" kern="1200" dirty="0">
                          <a:solidFill>
                            <a:schemeClr val="tx1"/>
                          </a:solidFill>
                          <a:effectLst/>
                          <a:latin typeface="Time Roman" pitchFamily="2" charset="0"/>
                        </a:rPr>
                        <a:t>SIZE</a:t>
                      </a:r>
                      <a:endParaRPr lang="en-IN" sz="1100" b="1"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
                        <a:lnSpc>
                          <a:spcPct val="107000"/>
                        </a:lnSpc>
                        <a:spcAft>
                          <a:spcPts val="800"/>
                        </a:spcAft>
                      </a:pPr>
                      <a:r>
                        <a:rPr lang="en-IN" sz="1300" b="1" kern="1200">
                          <a:solidFill>
                            <a:schemeClr val="tx1"/>
                          </a:solidFill>
                          <a:effectLst/>
                          <a:latin typeface="Time Roman" pitchFamily="2" charset="0"/>
                        </a:rPr>
                        <a:t> </a:t>
                      </a:r>
                      <a:endParaRPr lang="en-IN" sz="1100" b="1">
                        <a:solidFill>
                          <a:schemeClr val="tx1"/>
                        </a:solidFill>
                        <a:effectLst/>
                        <a:latin typeface="Time Roman" pitchFamily="2" charset="0"/>
                      </a:endParaRPr>
                    </a:p>
                    <a:p>
                      <a:pPr algn="ctr" fontAlgn="b">
                        <a:lnSpc>
                          <a:spcPct val="107000"/>
                        </a:lnSpc>
                        <a:spcAft>
                          <a:spcPts val="800"/>
                        </a:spcAft>
                      </a:pPr>
                      <a:r>
                        <a:rPr lang="en-IN" sz="1300" b="1" kern="1200">
                          <a:solidFill>
                            <a:schemeClr val="tx1"/>
                          </a:solidFill>
                          <a:effectLst/>
                          <a:latin typeface="Time Roman" pitchFamily="2" charset="0"/>
                        </a:rPr>
                        <a:t>CONSTRAINTS</a:t>
                      </a:r>
                      <a:endParaRPr lang="en-IN" sz="1100" b="1">
                        <a:solidFill>
                          <a:schemeClr val="tx1"/>
                        </a:solidFill>
                        <a:effectLst/>
                        <a:latin typeface="Time Roman" pitchFamily="2" charset="0"/>
                      </a:endParaRPr>
                    </a:p>
                    <a:p>
                      <a:pPr algn="ctr" fontAlgn="b">
                        <a:lnSpc>
                          <a:spcPct val="107000"/>
                        </a:lnSpc>
                        <a:spcAft>
                          <a:spcPts val="800"/>
                        </a:spcAft>
                      </a:pPr>
                      <a:r>
                        <a:rPr lang="en-IN" sz="1300" b="1" kern="1200">
                          <a:solidFill>
                            <a:schemeClr val="tx1"/>
                          </a:solidFill>
                          <a:effectLst/>
                          <a:latin typeface="Time Roman" pitchFamily="2" charset="0"/>
                        </a:rPr>
                        <a:t> </a:t>
                      </a:r>
                      <a:endParaRPr lang="en-IN" sz="1100" b="1">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b"/>
                </a:tc>
                <a:extLst>
                  <a:ext uri="{0D108BD9-81ED-4DB2-BD59-A6C34878D82A}">
                    <a16:rowId xmlns:a16="http://schemas.microsoft.com/office/drawing/2014/main" val="3394013785"/>
                  </a:ext>
                </a:extLst>
              </a:tr>
              <a:tr h="448968">
                <a:tc>
                  <a:txBody>
                    <a:bodyPr/>
                    <a:lstStyle/>
                    <a:p>
                      <a:pPr algn="ctr" fontAlgn="base">
                        <a:lnSpc>
                          <a:spcPct val="107000"/>
                        </a:lnSpc>
                        <a:spcAft>
                          <a:spcPts val="800"/>
                        </a:spcAft>
                      </a:pPr>
                      <a:r>
                        <a:rPr lang="en-US" sz="1300" kern="1200" dirty="0" err="1">
                          <a:solidFill>
                            <a:schemeClr val="tx1"/>
                          </a:solidFill>
                          <a:effectLst/>
                          <a:latin typeface="Time Roman" pitchFamily="2" charset="0"/>
                        </a:rPr>
                        <a:t>doctor_id</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dirty="0">
                          <a:solidFill>
                            <a:schemeClr val="tx1"/>
                          </a:solidFill>
                          <a:effectLst/>
                          <a:latin typeface="Time Roman" pitchFamily="2" charset="0"/>
                        </a:rPr>
                        <a:t>Int</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dirty="0">
                          <a:solidFill>
                            <a:schemeClr val="tx1"/>
                          </a:solidFill>
                          <a:effectLst/>
                          <a:latin typeface="Time Roman" pitchFamily="2" charset="0"/>
                        </a:rPr>
                        <a:t> </a:t>
                      </a:r>
                      <a:endParaRPr lang="en-IN" sz="1100" dirty="0">
                        <a:solidFill>
                          <a:schemeClr val="tx1"/>
                        </a:solidFill>
                        <a:effectLst/>
                        <a:latin typeface="Time Roman" pitchFamily="2" charset="0"/>
                      </a:endParaRPr>
                    </a:p>
                    <a:p>
                      <a:pPr algn="ctr" fontAlgn="base">
                        <a:lnSpc>
                          <a:spcPct val="107000"/>
                        </a:lnSpc>
                        <a:spcAft>
                          <a:spcPts val="800"/>
                        </a:spcAft>
                      </a:pPr>
                      <a:r>
                        <a:rPr lang="en-IN" sz="1300" kern="1200" dirty="0">
                          <a:solidFill>
                            <a:schemeClr val="tx1"/>
                          </a:solidFill>
                          <a:effectLst/>
                          <a:latin typeface="Time Roman" pitchFamily="2" charset="0"/>
                        </a:rPr>
                        <a:t>10</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IN" sz="1300" kern="1200">
                          <a:solidFill>
                            <a:schemeClr val="tx1"/>
                          </a:solidFill>
                          <a:effectLst/>
                          <a:latin typeface="Time Roman" pitchFamily="2" charset="0"/>
                        </a:rPr>
                        <a:t>Primary key</a:t>
                      </a:r>
                      <a:endParaRPr lang="en-IN" sz="110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2538554340"/>
                  </a:ext>
                </a:extLst>
              </a:tr>
              <a:tr h="453990">
                <a:tc>
                  <a:txBody>
                    <a:bodyPr/>
                    <a:lstStyle/>
                    <a:p>
                      <a:pPr algn="ctr" fontAlgn="base">
                        <a:lnSpc>
                          <a:spcPct val="107000"/>
                        </a:lnSpc>
                        <a:spcAft>
                          <a:spcPts val="800"/>
                        </a:spcAft>
                      </a:pPr>
                      <a:r>
                        <a:rPr lang="en-US" sz="1100" dirty="0">
                          <a:solidFill>
                            <a:schemeClr val="tx1"/>
                          </a:solidFill>
                          <a:effectLst/>
                          <a:latin typeface="Time Roman" pitchFamily="2" charset="0"/>
                          <a:ea typeface="Calibri" panose="020F0502020204030204" pitchFamily="34" charset="0"/>
                          <a:cs typeface="Times New Roman" panose="02020603050405020304" pitchFamily="18" charset="0"/>
                        </a:rPr>
                        <a:t>password</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dirty="0">
                          <a:solidFill>
                            <a:schemeClr val="tx1"/>
                          </a:solidFill>
                          <a:effectLst/>
                          <a:latin typeface="Time Roman" pitchFamily="2" charset="0"/>
                        </a:rPr>
                        <a:t>Varchar</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dirty="0">
                          <a:solidFill>
                            <a:schemeClr val="tx1"/>
                          </a:solidFill>
                          <a:effectLst/>
                          <a:latin typeface="Time Roman" pitchFamily="2" charset="0"/>
                        </a:rPr>
                        <a:t> </a:t>
                      </a:r>
                      <a:endParaRPr lang="en-IN" sz="1100" dirty="0">
                        <a:solidFill>
                          <a:schemeClr val="tx1"/>
                        </a:solidFill>
                        <a:effectLst/>
                        <a:latin typeface="Time Roman" pitchFamily="2" charset="0"/>
                      </a:endParaRPr>
                    </a:p>
                    <a:p>
                      <a:pPr algn="ctr" fontAlgn="base">
                        <a:lnSpc>
                          <a:spcPct val="107000"/>
                        </a:lnSpc>
                        <a:spcAft>
                          <a:spcPts val="800"/>
                        </a:spcAft>
                      </a:pPr>
                      <a:r>
                        <a:rPr lang="en-US" sz="1300" kern="1200" dirty="0">
                          <a:solidFill>
                            <a:schemeClr val="tx1"/>
                          </a:solidFill>
                          <a:effectLst/>
                          <a:latin typeface="Time Roman" pitchFamily="2" charset="0"/>
                        </a:rPr>
                        <a:t>128</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US" sz="1300" kern="1200" dirty="0">
                          <a:solidFill>
                            <a:schemeClr val="tx1"/>
                          </a:solidFill>
                          <a:effectLst/>
                          <a:latin typeface="Time Roman" pitchFamily="2" charset="0"/>
                        </a:rPr>
                        <a:t>Not null</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707759503"/>
                  </a:ext>
                </a:extLst>
              </a:tr>
            </a:tbl>
          </a:graphicData>
        </a:graphic>
      </p:graphicFrame>
    </p:spTree>
    <p:extLst>
      <p:ext uri="{BB962C8B-B14F-4D97-AF65-F5344CB8AC3E}">
        <p14:creationId xmlns:p14="http://schemas.microsoft.com/office/powerpoint/2010/main" val="33767924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Delay 9"/>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3051" y="276285"/>
            <a:ext cx="9083406" cy="6755696"/>
          </a:xfrm>
          <a:prstGeom prst="rect">
            <a:avLst/>
          </a:prstGeom>
        </p:spPr>
        <p:txBody>
          <a:bodyPr wrap="square">
            <a:spAutoFit/>
          </a:bodyPr>
          <a:lstStyle/>
          <a:p>
            <a:pPr algn="ctr"/>
            <a:r>
              <a:rPr lang="en-US" sz="2400" b="1" dirty="0">
                <a:latin typeface="Times New Roman" pitchFamily="18" charset="0"/>
                <a:cs typeface="Times New Roman" pitchFamily="18" charset="0"/>
              </a:rPr>
              <a:t>DATABASE DESCRIPTION</a:t>
            </a:r>
            <a:endParaRPr lang="en-US" sz="2300" b="1" dirty="0">
              <a:latin typeface="Times New Roman" pitchFamily="18" charset="0"/>
              <a:cs typeface="Times New Roman" pitchFamily="18" charset="0"/>
            </a:endParaRPr>
          </a:p>
          <a:p>
            <a:pPr algn="ct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Symptoms-Based Doctor Recommendation and Appointment System</a:t>
            </a:r>
          </a:p>
          <a:p>
            <a:pPr algn="ctr"/>
            <a:endParaRPr lang="en-US" sz="2400" b="1" dirty="0">
              <a:latin typeface="Times New Roman" panose="02020603050405020304" pitchFamily="18" charset="0"/>
              <a:cs typeface="Times New Roman" panose="02020603050405020304" pitchFamily="18" charset="0"/>
            </a:endParaRPr>
          </a:p>
          <a:p>
            <a:pPr algn="ctr"/>
            <a:endParaRPr lang="en-US" sz="2400" b="1" dirty="0">
              <a:latin typeface="Times New Roman" panose="02020603050405020304" pitchFamily="18" charset="0"/>
              <a:cs typeface="Times New Roman" panose="02020603050405020304" pitchFamily="18" charset="0"/>
            </a:endParaRPr>
          </a:p>
          <a:p>
            <a:pPr algn="ctr"/>
            <a:endParaRPr lang="en-US" sz="2400" b="1" dirty="0">
              <a:latin typeface="Times New Roman" panose="02020603050405020304" pitchFamily="18" charset="0"/>
              <a:cs typeface="Times New Roman" panose="02020603050405020304" pitchFamily="18" charset="0"/>
            </a:endParaRPr>
          </a:p>
          <a:p>
            <a:pPr algn="ctr"/>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pPr algn="ctr"/>
            <a:endParaRPr lang="en-US" dirty="0">
              <a:latin typeface="Times New Roman" pitchFamily="18" charset="0"/>
              <a:cs typeface="Times New Roman" pitchFamily="18" charset="0"/>
            </a:endParaRPr>
          </a:p>
          <a:p>
            <a:pPr algn="ctr"/>
            <a:r>
              <a:rPr lang="en-US" dirty="0">
                <a:latin typeface="Times New Roman" pitchFamily="18" charset="0"/>
                <a:cs typeface="Times New Roman" pitchFamily="18" charset="0"/>
              </a:rPr>
              <a:t>Table : Appointment </a:t>
            </a:r>
          </a:p>
          <a:p>
            <a:endParaRPr lang="en-US" sz="2300" b="1" dirty="0">
              <a:latin typeface="Times New Roman" pitchFamily="18" charset="0"/>
              <a:cs typeface="Times New Roman" pitchFamily="18" charset="0"/>
            </a:endParaRPr>
          </a:p>
        </p:txBody>
      </p:sp>
      <p:graphicFrame>
        <p:nvGraphicFramePr>
          <p:cNvPr id="2" name="Table 1">
            <a:extLst>
              <a:ext uri="{FF2B5EF4-FFF2-40B4-BE49-F238E27FC236}">
                <a16:creationId xmlns:a16="http://schemas.microsoft.com/office/drawing/2014/main" id="{4882D16C-0904-C32B-5C8C-6D726895A0C5}"/>
              </a:ext>
            </a:extLst>
          </p:cNvPr>
          <p:cNvGraphicFramePr>
            <a:graphicFrameLocks noGrp="1"/>
          </p:cNvGraphicFramePr>
          <p:nvPr>
            <p:extLst>
              <p:ext uri="{D42A27DB-BD31-4B8C-83A1-F6EECF244321}">
                <p14:modId xmlns:p14="http://schemas.microsoft.com/office/powerpoint/2010/main" val="1500063313"/>
              </p:ext>
            </p:extLst>
          </p:nvPr>
        </p:nvGraphicFramePr>
        <p:xfrm>
          <a:off x="155575" y="1943416"/>
          <a:ext cx="8455803" cy="3978684"/>
        </p:xfrm>
        <a:graphic>
          <a:graphicData uri="http://schemas.openxmlformats.org/drawingml/2006/table">
            <a:tbl>
              <a:tblPr>
                <a:tableStyleId>{5940675A-B579-460E-94D1-54222C63F5DA}</a:tableStyleId>
              </a:tblPr>
              <a:tblGrid>
                <a:gridCol w="2074791">
                  <a:extLst>
                    <a:ext uri="{9D8B030D-6E8A-4147-A177-3AD203B41FA5}">
                      <a16:colId xmlns:a16="http://schemas.microsoft.com/office/drawing/2014/main" val="985052098"/>
                    </a:ext>
                  </a:extLst>
                </a:gridCol>
                <a:gridCol w="2285396">
                  <a:extLst>
                    <a:ext uri="{9D8B030D-6E8A-4147-A177-3AD203B41FA5}">
                      <a16:colId xmlns:a16="http://schemas.microsoft.com/office/drawing/2014/main" val="1504112142"/>
                    </a:ext>
                  </a:extLst>
                </a:gridCol>
                <a:gridCol w="1702298">
                  <a:extLst>
                    <a:ext uri="{9D8B030D-6E8A-4147-A177-3AD203B41FA5}">
                      <a16:colId xmlns:a16="http://schemas.microsoft.com/office/drawing/2014/main" val="2857215045"/>
                    </a:ext>
                  </a:extLst>
                </a:gridCol>
                <a:gridCol w="2393318">
                  <a:extLst>
                    <a:ext uri="{9D8B030D-6E8A-4147-A177-3AD203B41FA5}">
                      <a16:colId xmlns:a16="http://schemas.microsoft.com/office/drawing/2014/main" val="2904469819"/>
                    </a:ext>
                  </a:extLst>
                </a:gridCol>
              </a:tblGrid>
              <a:tr h="694570">
                <a:tc>
                  <a:txBody>
                    <a:bodyPr/>
                    <a:lstStyle/>
                    <a:p>
                      <a:pPr algn="ctr" fontAlgn="b">
                        <a:lnSpc>
                          <a:spcPct val="107000"/>
                        </a:lnSpc>
                        <a:spcAft>
                          <a:spcPts val="800"/>
                        </a:spcAft>
                      </a:pPr>
                      <a:r>
                        <a:rPr lang="en-IN" sz="1300" b="1" kern="1200" dirty="0">
                          <a:solidFill>
                            <a:schemeClr val="tx1"/>
                          </a:solidFill>
                          <a:effectLst/>
                          <a:latin typeface="Time Roman" pitchFamily="2" charset="0"/>
                        </a:rPr>
                        <a:t>FILED NAME</a:t>
                      </a:r>
                      <a:endParaRPr lang="en-IN" sz="1100" b="1" dirty="0">
                        <a:solidFill>
                          <a:schemeClr val="tx1"/>
                        </a:solidFill>
                        <a:effectLst/>
                        <a:latin typeface="Time Roman" pitchFamily="2" charset="0"/>
                      </a:endParaRPr>
                    </a:p>
                    <a:p>
                      <a:pPr algn="ctr" fontAlgn="b">
                        <a:lnSpc>
                          <a:spcPct val="107000"/>
                        </a:lnSpc>
                        <a:spcAft>
                          <a:spcPts val="800"/>
                        </a:spcAft>
                      </a:pPr>
                      <a:r>
                        <a:rPr lang="en-IN" sz="1300" b="1" kern="1200" dirty="0">
                          <a:solidFill>
                            <a:schemeClr val="tx1"/>
                          </a:solidFill>
                          <a:effectLst/>
                          <a:latin typeface="Time Roman" pitchFamily="2" charset="0"/>
                        </a:rPr>
                        <a:t> </a:t>
                      </a:r>
                      <a:endParaRPr lang="en-IN" sz="1100" b="1"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b"/>
                </a:tc>
                <a:tc>
                  <a:txBody>
                    <a:bodyPr/>
                    <a:lstStyle/>
                    <a:p>
                      <a:pPr algn="ctr" fontAlgn="b">
                        <a:lnSpc>
                          <a:spcPct val="107000"/>
                        </a:lnSpc>
                        <a:spcAft>
                          <a:spcPts val="800"/>
                        </a:spcAft>
                      </a:pPr>
                      <a:r>
                        <a:rPr lang="en-IN" sz="1300" b="1" kern="1200" dirty="0">
                          <a:solidFill>
                            <a:schemeClr val="tx1"/>
                          </a:solidFill>
                          <a:effectLst/>
                          <a:latin typeface="Time Roman" pitchFamily="2" charset="0"/>
                        </a:rPr>
                        <a:t>DATA TYPE</a:t>
                      </a:r>
                      <a:endParaRPr lang="en-IN" sz="1100" b="1" dirty="0">
                        <a:solidFill>
                          <a:schemeClr val="tx1"/>
                        </a:solidFill>
                        <a:effectLst/>
                        <a:latin typeface="Time Roman" pitchFamily="2" charset="0"/>
                      </a:endParaRPr>
                    </a:p>
                    <a:p>
                      <a:pPr fontAlgn="b">
                        <a:lnSpc>
                          <a:spcPct val="107000"/>
                        </a:lnSpc>
                        <a:spcAft>
                          <a:spcPts val="800"/>
                        </a:spcAft>
                      </a:pPr>
                      <a:r>
                        <a:rPr lang="en-IN" sz="1300" b="1" kern="1200" dirty="0">
                          <a:solidFill>
                            <a:schemeClr val="tx1"/>
                          </a:solidFill>
                          <a:effectLst/>
                          <a:latin typeface="Time Roman" pitchFamily="2" charset="0"/>
                        </a:rPr>
                        <a:t> </a:t>
                      </a:r>
                      <a:endParaRPr lang="en-IN" sz="1100" b="1"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b"/>
                </a:tc>
                <a:tc>
                  <a:txBody>
                    <a:bodyPr/>
                    <a:lstStyle/>
                    <a:p>
                      <a:pPr algn="ctr" fontAlgn="b">
                        <a:lnSpc>
                          <a:spcPct val="107000"/>
                        </a:lnSpc>
                        <a:spcAft>
                          <a:spcPts val="800"/>
                        </a:spcAft>
                      </a:pPr>
                      <a:r>
                        <a:rPr lang="en-IN" sz="1300" b="1" kern="1200" dirty="0">
                          <a:solidFill>
                            <a:schemeClr val="tx1"/>
                          </a:solidFill>
                          <a:effectLst/>
                          <a:latin typeface="Time Roman" pitchFamily="2" charset="0"/>
                        </a:rPr>
                        <a:t> </a:t>
                      </a:r>
                      <a:endParaRPr lang="en-IN" sz="1100" b="1" dirty="0">
                        <a:solidFill>
                          <a:schemeClr val="tx1"/>
                        </a:solidFill>
                        <a:effectLst/>
                        <a:latin typeface="Time Roman" pitchFamily="2" charset="0"/>
                      </a:endParaRPr>
                    </a:p>
                    <a:p>
                      <a:pPr algn="ctr" fontAlgn="b">
                        <a:lnSpc>
                          <a:spcPct val="107000"/>
                        </a:lnSpc>
                        <a:spcAft>
                          <a:spcPts val="800"/>
                        </a:spcAft>
                      </a:pPr>
                      <a:r>
                        <a:rPr lang="en-IN" sz="1300" b="1" kern="1200" dirty="0">
                          <a:solidFill>
                            <a:schemeClr val="tx1"/>
                          </a:solidFill>
                          <a:effectLst/>
                          <a:latin typeface="Time Roman" pitchFamily="2" charset="0"/>
                        </a:rPr>
                        <a:t>SIZE</a:t>
                      </a:r>
                      <a:endParaRPr lang="en-IN" sz="1100" b="1"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
                        <a:lnSpc>
                          <a:spcPct val="107000"/>
                        </a:lnSpc>
                        <a:spcAft>
                          <a:spcPts val="800"/>
                        </a:spcAft>
                      </a:pPr>
                      <a:r>
                        <a:rPr lang="en-IN" sz="1300" b="1" kern="1200" dirty="0">
                          <a:solidFill>
                            <a:schemeClr val="tx1"/>
                          </a:solidFill>
                          <a:effectLst/>
                          <a:latin typeface="Time Roman" pitchFamily="2" charset="0"/>
                        </a:rPr>
                        <a:t> </a:t>
                      </a:r>
                      <a:endParaRPr lang="en-IN" sz="1100" b="1" dirty="0">
                        <a:solidFill>
                          <a:schemeClr val="tx1"/>
                        </a:solidFill>
                        <a:effectLst/>
                        <a:latin typeface="Time Roman" pitchFamily="2" charset="0"/>
                      </a:endParaRPr>
                    </a:p>
                    <a:p>
                      <a:pPr algn="ctr" fontAlgn="b">
                        <a:lnSpc>
                          <a:spcPct val="107000"/>
                        </a:lnSpc>
                        <a:spcAft>
                          <a:spcPts val="800"/>
                        </a:spcAft>
                      </a:pPr>
                      <a:r>
                        <a:rPr lang="en-IN" sz="1300" b="1" kern="1200" dirty="0">
                          <a:solidFill>
                            <a:schemeClr val="tx1"/>
                          </a:solidFill>
                          <a:effectLst/>
                          <a:latin typeface="Time Roman" pitchFamily="2" charset="0"/>
                        </a:rPr>
                        <a:t>CONSTRAINTS</a:t>
                      </a:r>
                      <a:endParaRPr lang="en-IN" sz="1100" b="1" dirty="0">
                        <a:solidFill>
                          <a:schemeClr val="tx1"/>
                        </a:solidFill>
                        <a:effectLst/>
                        <a:latin typeface="Time Roman" pitchFamily="2" charset="0"/>
                      </a:endParaRPr>
                    </a:p>
                    <a:p>
                      <a:pPr algn="ctr" fontAlgn="b">
                        <a:lnSpc>
                          <a:spcPct val="107000"/>
                        </a:lnSpc>
                        <a:spcAft>
                          <a:spcPts val="800"/>
                        </a:spcAft>
                      </a:pPr>
                      <a:r>
                        <a:rPr lang="en-IN" sz="1300" b="1" kern="1200" dirty="0">
                          <a:solidFill>
                            <a:schemeClr val="tx1"/>
                          </a:solidFill>
                          <a:effectLst/>
                          <a:latin typeface="Time Roman" pitchFamily="2" charset="0"/>
                        </a:rPr>
                        <a:t> </a:t>
                      </a:r>
                      <a:endParaRPr lang="en-IN" sz="1100" b="1"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b"/>
                </a:tc>
                <a:extLst>
                  <a:ext uri="{0D108BD9-81ED-4DB2-BD59-A6C34878D82A}">
                    <a16:rowId xmlns:a16="http://schemas.microsoft.com/office/drawing/2014/main" val="3394013785"/>
                  </a:ext>
                </a:extLst>
              </a:tr>
              <a:tr h="412434">
                <a:tc>
                  <a:txBody>
                    <a:bodyPr/>
                    <a:lstStyle/>
                    <a:p>
                      <a:pPr algn="ctr" fontAlgn="base">
                        <a:lnSpc>
                          <a:spcPct val="107000"/>
                        </a:lnSpc>
                        <a:spcAft>
                          <a:spcPts val="800"/>
                        </a:spcAft>
                      </a:pPr>
                      <a:r>
                        <a:rPr lang="en-US" sz="1100" dirty="0" err="1">
                          <a:solidFill>
                            <a:schemeClr val="tx1"/>
                          </a:solidFill>
                          <a:effectLst/>
                          <a:latin typeface="Time Roman" pitchFamily="2" charset="0"/>
                          <a:ea typeface="Calibri" panose="020F0502020204030204" pitchFamily="34" charset="0"/>
                          <a:cs typeface="Times New Roman" panose="02020603050405020304" pitchFamily="18" charset="0"/>
                        </a:rPr>
                        <a:t>Appointment_id</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US" sz="1300" kern="1200" dirty="0" err="1">
                          <a:solidFill>
                            <a:schemeClr val="tx1"/>
                          </a:solidFill>
                          <a:effectLst/>
                          <a:latin typeface="Time Roman" pitchFamily="2" charset="0"/>
                        </a:rPr>
                        <a:t>Int</a:t>
                      </a:r>
                      <a:r>
                        <a:rPr lang="en-US" sz="1300" kern="1200" dirty="0">
                          <a:solidFill>
                            <a:schemeClr val="tx1"/>
                          </a:solidFill>
                          <a:effectLst/>
                          <a:latin typeface="Time Roman" pitchFamily="2" charset="0"/>
                        </a:rPr>
                        <a:t> </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dirty="0">
                          <a:solidFill>
                            <a:schemeClr val="tx1"/>
                          </a:solidFill>
                          <a:effectLst/>
                          <a:latin typeface="Time Roman" pitchFamily="2" charset="0"/>
                        </a:rPr>
                        <a:t> </a:t>
                      </a:r>
                      <a:endParaRPr lang="en-IN" sz="1100" dirty="0">
                        <a:solidFill>
                          <a:schemeClr val="tx1"/>
                        </a:solidFill>
                        <a:effectLst/>
                        <a:latin typeface="Time Roman" pitchFamily="2" charset="0"/>
                      </a:endParaRPr>
                    </a:p>
                    <a:p>
                      <a:pPr algn="ctr" fontAlgn="base">
                        <a:lnSpc>
                          <a:spcPct val="107000"/>
                        </a:lnSpc>
                        <a:spcAft>
                          <a:spcPts val="800"/>
                        </a:spcAft>
                      </a:pPr>
                      <a:r>
                        <a:rPr lang="en-IN" sz="1300" kern="1200" dirty="0">
                          <a:solidFill>
                            <a:schemeClr val="tx1"/>
                          </a:solidFill>
                          <a:effectLst/>
                          <a:latin typeface="Time Roman" pitchFamily="2" charset="0"/>
                        </a:rPr>
                        <a:t>10</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US" sz="1300" kern="1200" dirty="0">
                          <a:solidFill>
                            <a:schemeClr val="tx1"/>
                          </a:solidFill>
                          <a:effectLst/>
                          <a:latin typeface="Time Roman" pitchFamily="2" charset="0"/>
                          <a:ea typeface="Calibri" panose="020F0502020204030204" pitchFamily="34" charset="0"/>
                          <a:cs typeface="Times New Roman" panose="02020603050405020304" pitchFamily="18" charset="0"/>
                        </a:rPr>
                        <a:t>Primary key</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2538554340"/>
                  </a:ext>
                </a:extLst>
              </a:tr>
              <a:tr h="412434">
                <a:tc>
                  <a:txBody>
                    <a:bodyPr/>
                    <a:lstStyle/>
                    <a:p>
                      <a:pPr algn="ctr" fontAlgn="base">
                        <a:lnSpc>
                          <a:spcPct val="107000"/>
                        </a:lnSpc>
                        <a:spcAft>
                          <a:spcPts val="800"/>
                        </a:spcAft>
                      </a:pPr>
                      <a:r>
                        <a:rPr lang="en-US" sz="1300" kern="1200" dirty="0" err="1">
                          <a:solidFill>
                            <a:schemeClr val="tx1"/>
                          </a:solidFill>
                          <a:effectLst/>
                          <a:latin typeface="Time Roman" pitchFamily="2" charset="0"/>
                          <a:ea typeface="Calibri" panose="020F0502020204030204" pitchFamily="34" charset="0"/>
                          <a:cs typeface="Times New Roman" panose="02020603050405020304" pitchFamily="18" charset="0"/>
                        </a:rPr>
                        <a:t>patient_id</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US" sz="1300" kern="1200" dirty="0" err="1">
                          <a:solidFill>
                            <a:schemeClr val="tx1"/>
                          </a:solidFill>
                          <a:effectLst/>
                          <a:latin typeface="Time Roman" pitchFamily="2" charset="0"/>
                        </a:rPr>
                        <a:t>Int</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dirty="0">
                          <a:solidFill>
                            <a:schemeClr val="tx1"/>
                          </a:solidFill>
                          <a:effectLst/>
                          <a:latin typeface="Time Roman" pitchFamily="2" charset="0"/>
                        </a:rPr>
                        <a:t> </a:t>
                      </a:r>
                      <a:endParaRPr lang="en-IN" sz="1100" dirty="0">
                        <a:solidFill>
                          <a:schemeClr val="tx1"/>
                        </a:solidFill>
                        <a:effectLst/>
                        <a:latin typeface="Time Roman" pitchFamily="2" charset="0"/>
                      </a:endParaRPr>
                    </a:p>
                    <a:p>
                      <a:pPr algn="ctr" fontAlgn="base">
                        <a:lnSpc>
                          <a:spcPct val="107000"/>
                        </a:lnSpc>
                        <a:spcAft>
                          <a:spcPts val="800"/>
                        </a:spcAft>
                      </a:pPr>
                      <a:r>
                        <a:rPr lang="en-US" sz="1300" kern="1200" dirty="0">
                          <a:solidFill>
                            <a:schemeClr val="tx1"/>
                          </a:solidFill>
                          <a:effectLst/>
                          <a:latin typeface="Time Roman" pitchFamily="2" charset="0"/>
                          <a:ea typeface="Calibri" panose="020F0502020204030204" pitchFamily="34" charset="0"/>
                          <a:cs typeface="Times New Roman" panose="02020603050405020304" pitchFamily="18" charset="0"/>
                        </a:rPr>
                        <a:t>10</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US" sz="1300" kern="1200" dirty="0">
                          <a:solidFill>
                            <a:schemeClr val="tx1"/>
                          </a:solidFill>
                          <a:effectLst/>
                          <a:latin typeface="Time Roman" pitchFamily="2" charset="0"/>
                        </a:rPr>
                        <a:t>Not null</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707759503"/>
                  </a:ext>
                </a:extLst>
              </a:tr>
              <a:tr h="412434">
                <a:tc>
                  <a:txBody>
                    <a:bodyPr/>
                    <a:lstStyle/>
                    <a:p>
                      <a:pPr algn="ctr" fontAlgn="base">
                        <a:lnSpc>
                          <a:spcPct val="107000"/>
                        </a:lnSpc>
                        <a:spcAft>
                          <a:spcPts val="800"/>
                        </a:spcAft>
                      </a:pPr>
                      <a:r>
                        <a:rPr lang="en-US" sz="1300" kern="1200" dirty="0" err="1">
                          <a:solidFill>
                            <a:schemeClr val="tx1"/>
                          </a:solidFill>
                          <a:effectLst/>
                          <a:latin typeface="Time Roman" pitchFamily="2" charset="0"/>
                        </a:rPr>
                        <a:t>doctor_id</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US" sz="1300" kern="1200" dirty="0" err="1">
                          <a:solidFill>
                            <a:schemeClr val="tx1"/>
                          </a:solidFill>
                          <a:effectLst/>
                          <a:latin typeface="Time Roman" pitchFamily="2" charset="0"/>
                          <a:ea typeface="Calibri" panose="020F0502020204030204" pitchFamily="34" charset="0"/>
                          <a:cs typeface="Times New Roman" panose="02020603050405020304" pitchFamily="18" charset="0"/>
                        </a:rPr>
                        <a:t>Int</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a:lnSpc>
                          <a:spcPct val="107000"/>
                        </a:lnSpc>
                        <a:spcAft>
                          <a:spcPts val="800"/>
                        </a:spcAft>
                      </a:pPr>
                      <a:r>
                        <a:rPr lang="en-IN" sz="1300" dirty="0">
                          <a:solidFill>
                            <a:schemeClr val="tx1"/>
                          </a:solidFill>
                          <a:effectLst/>
                          <a:latin typeface="Time Roman" pitchFamily="2" charset="0"/>
                        </a:rPr>
                        <a:t> </a:t>
                      </a:r>
                      <a:endParaRPr lang="en-IN" sz="1100" dirty="0">
                        <a:solidFill>
                          <a:schemeClr val="tx1"/>
                        </a:solidFill>
                        <a:effectLst/>
                        <a:latin typeface="Time Roman" pitchFamily="2" charset="0"/>
                      </a:endParaRPr>
                    </a:p>
                    <a:p>
                      <a:pPr algn="ctr">
                        <a:lnSpc>
                          <a:spcPct val="107000"/>
                        </a:lnSpc>
                        <a:spcAft>
                          <a:spcPts val="800"/>
                        </a:spcAft>
                      </a:pPr>
                      <a:r>
                        <a:rPr lang="en-US" sz="1300" dirty="0">
                          <a:solidFill>
                            <a:schemeClr val="tx1"/>
                          </a:solidFill>
                          <a:effectLst/>
                          <a:latin typeface="Time Roman" pitchFamily="2" charset="0"/>
                          <a:ea typeface="Calibri" panose="020F0502020204030204" pitchFamily="34" charset="0"/>
                          <a:cs typeface="Times New Roman" panose="02020603050405020304" pitchFamily="18" charset="0"/>
                        </a:rPr>
                        <a:t>10</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a:lnSpc>
                          <a:spcPct val="107000"/>
                        </a:lnSpc>
                        <a:spcAft>
                          <a:spcPts val="800"/>
                        </a:spcAft>
                      </a:pPr>
                      <a:r>
                        <a:rPr lang="en-IN" sz="1300">
                          <a:solidFill>
                            <a:schemeClr val="tx1"/>
                          </a:solidFill>
                          <a:effectLst/>
                          <a:latin typeface="Time Roman" pitchFamily="2" charset="0"/>
                        </a:rPr>
                        <a:t>Not null</a:t>
                      </a:r>
                      <a:endParaRPr lang="en-IN" sz="110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2857421491"/>
                  </a:ext>
                </a:extLst>
              </a:tr>
              <a:tr h="412434">
                <a:tc>
                  <a:txBody>
                    <a:bodyPr/>
                    <a:lstStyle/>
                    <a:p>
                      <a:pPr algn="ctr" fontAlgn="base">
                        <a:lnSpc>
                          <a:spcPct val="107000"/>
                        </a:lnSpc>
                        <a:spcAft>
                          <a:spcPts val="800"/>
                        </a:spcAft>
                      </a:pPr>
                      <a:r>
                        <a:rPr lang="en-US" sz="1100" dirty="0" err="1">
                          <a:solidFill>
                            <a:schemeClr val="tx1"/>
                          </a:solidFill>
                          <a:effectLst/>
                          <a:latin typeface="Time Roman" pitchFamily="2" charset="0"/>
                          <a:ea typeface="Calibri" panose="020F0502020204030204" pitchFamily="34" charset="0"/>
                          <a:cs typeface="Times New Roman" panose="02020603050405020304" pitchFamily="18" charset="0"/>
                        </a:rPr>
                        <a:t>Appointment_date</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US" sz="1300" kern="1200" dirty="0">
                          <a:solidFill>
                            <a:schemeClr val="tx1"/>
                          </a:solidFill>
                          <a:effectLst/>
                          <a:latin typeface="Time Roman" pitchFamily="2" charset="0"/>
                        </a:rPr>
                        <a:t>Date</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dirty="0">
                          <a:solidFill>
                            <a:schemeClr val="tx1"/>
                          </a:solidFill>
                          <a:effectLst/>
                          <a:latin typeface="Time Roman" pitchFamily="2" charset="0"/>
                        </a:rPr>
                        <a:t> </a:t>
                      </a:r>
                      <a:endParaRPr lang="en-IN" sz="1100" dirty="0">
                        <a:solidFill>
                          <a:schemeClr val="tx1"/>
                        </a:solidFill>
                        <a:effectLst/>
                        <a:latin typeface="Time Roman" pitchFamily="2" charset="0"/>
                      </a:endParaRPr>
                    </a:p>
                    <a:p>
                      <a:pPr algn="ctr" fontAlgn="base">
                        <a:lnSpc>
                          <a:spcPct val="107000"/>
                        </a:lnSpc>
                        <a:spcAft>
                          <a:spcPts val="800"/>
                        </a:spcAft>
                      </a:pPr>
                      <a:r>
                        <a:rPr lang="en-US" sz="1300" kern="1200" dirty="0">
                          <a:solidFill>
                            <a:schemeClr val="tx1"/>
                          </a:solidFill>
                          <a:effectLst/>
                          <a:latin typeface="Time Roman" pitchFamily="2" charset="0"/>
                          <a:ea typeface="Calibri" panose="020F0502020204030204" pitchFamily="34" charset="0"/>
                          <a:cs typeface="Times New Roman" panose="02020603050405020304" pitchFamily="18" charset="0"/>
                        </a:rPr>
                        <a:t>-</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US" sz="1300" kern="1200" dirty="0">
                          <a:solidFill>
                            <a:schemeClr val="tx1"/>
                          </a:solidFill>
                          <a:effectLst/>
                          <a:latin typeface="Time Roman" pitchFamily="2" charset="0"/>
                        </a:rPr>
                        <a:t>Not null</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1360029502"/>
                  </a:ext>
                </a:extLst>
              </a:tr>
              <a:tr h="412434">
                <a:tc>
                  <a:txBody>
                    <a:bodyPr/>
                    <a:lstStyle/>
                    <a:p>
                      <a:pPr algn="ctr" fontAlgn="base">
                        <a:lnSpc>
                          <a:spcPct val="107000"/>
                        </a:lnSpc>
                        <a:spcAft>
                          <a:spcPts val="800"/>
                        </a:spcAft>
                      </a:pPr>
                      <a:r>
                        <a:rPr lang="en-US" sz="1100" dirty="0" err="1">
                          <a:solidFill>
                            <a:schemeClr val="tx1"/>
                          </a:solidFill>
                          <a:effectLst/>
                          <a:latin typeface="Time Roman" pitchFamily="2" charset="0"/>
                          <a:ea typeface="Calibri" panose="020F0502020204030204" pitchFamily="34" charset="0"/>
                          <a:cs typeface="Times New Roman" panose="02020603050405020304" pitchFamily="18" charset="0"/>
                        </a:rPr>
                        <a:t>Appointment_time</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US" sz="1300" kern="1200" dirty="0">
                          <a:solidFill>
                            <a:schemeClr val="tx1"/>
                          </a:solidFill>
                          <a:effectLst/>
                          <a:latin typeface="Time Roman" pitchFamily="2" charset="0"/>
                        </a:rPr>
                        <a:t>Time</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a:lnSpc>
                          <a:spcPct val="107000"/>
                        </a:lnSpc>
                        <a:spcAft>
                          <a:spcPts val="800"/>
                        </a:spcAft>
                      </a:pPr>
                      <a:r>
                        <a:rPr lang="en-IN" sz="1300" dirty="0">
                          <a:solidFill>
                            <a:schemeClr val="tx1"/>
                          </a:solidFill>
                          <a:effectLst/>
                          <a:latin typeface="Time Roman" pitchFamily="2" charset="0"/>
                        </a:rPr>
                        <a:t> </a:t>
                      </a:r>
                      <a:endParaRPr lang="en-IN" sz="1100" dirty="0">
                        <a:solidFill>
                          <a:schemeClr val="tx1"/>
                        </a:solidFill>
                        <a:effectLst/>
                        <a:latin typeface="Time Roman" pitchFamily="2" charset="0"/>
                      </a:endParaRPr>
                    </a:p>
                    <a:p>
                      <a:pPr algn="ctr">
                        <a:lnSpc>
                          <a:spcPct val="107000"/>
                        </a:lnSpc>
                        <a:spcAft>
                          <a:spcPts val="800"/>
                        </a:spcAft>
                      </a:pPr>
                      <a:r>
                        <a:rPr lang="en-US" sz="1300" dirty="0">
                          <a:solidFill>
                            <a:schemeClr val="tx1"/>
                          </a:solidFill>
                          <a:effectLst/>
                          <a:latin typeface="Time Roman" pitchFamily="2" charset="0"/>
                        </a:rPr>
                        <a:t>-</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a:lnSpc>
                          <a:spcPct val="107000"/>
                        </a:lnSpc>
                        <a:spcAft>
                          <a:spcPts val="800"/>
                        </a:spcAft>
                      </a:pPr>
                      <a:r>
                        <a:rPr lang="en-IN" sz="1300" dirty="0">
                          <a:solidFill>
                            <a:schemeClr val="tx1"/>
                          </a:solidFill>
                          <a:effectLst/>
                          <a:latin typeface="Time Roman" pitchFamily="2" charset="0"/>
                        </a:rPr>
                        <a:t>Not null</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2949048478"/>
                  </a:ext>
                </a:extLst>
              </a:tr>
              <a:tr h="264422">
                <a:tc>
                  <a:txBody>
                    <a:bodyPr/>
                    <a:lstStyle/>
                    <a:p>
                      <a:pPr algn="ctr" fontAlgn="base">
                        <a:lnSpc>
                          <a:spcPct val="107000"/>
                        </a:lnSpc>
                        <a:spcAft>
                          <a:spcPts val="800"/>
                        </a:spcAft>
                      </a:pPr>
                      <a:r>
                        <a:rPr lang="en-US" sz="1100" dirty="0" err="1">
                          <a:solidFill>
                            <a:schemeClr val="tx1"/>
                          </a:solidFill>
                          <a:effectLst/>
                          <a:latin typeface="Time Roman" pitchFamily="2" charset="0"/>
                          <a:ea typeface="Calibri" panose="020F0502020204030204" pitchFamily="34" charset="0"/>
                          <a:cs typeface="Times New Roman" panose="02020603050405020304" pitchFamily="18" charset="0"/>
                        </a:rPr>
                        <a:t>Appointment_reason</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US" sz="1100" dirty="0">
                          <a:solidFill>
                            <a:schemeClr val="tx1"/>
                          </a:solidFill>
                          <a:effectLst/>
                          <a:latin typeface="Time Roman" pitchFamily="2" charset="0"/>
                          <a:ea typeface="Calibri" panose="020F0502020204030204" pitchFamily="34" charset="0"/>
                          <a:cs typeface="Times New Roman" panose="02020603050405020304" pitchFamily="18" charset="0"/>
                        </a:rPr>
                        <a:t>Text</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a:lnSpc>
                          <a:spcPct val="107000"/>
                        </a:lnSpc>
                        <a:spcAft>
                          <a:spcPts val="800"/>
                        </a:spcAft>
                      </a:pPr>
                      <a:r>
                        <a:rPr lang="en-US" sz="1100" dirty="0">
                          <a:solidFill>
                            <a:schemeClr val="tx1"/>
                          </a:solidFill>
                          <a:effectLst/>
                          <a:latin typeface="Time Roman" pitchFamily="2" charset="0"/>
                          <a:ea typeface="Calibri" panose="020F0502020204030204" pitchFamily="34" charset="0"/>
                          <a:cs typeface="Times New Roman" panose="02020603050405020304" pitchFamily="18" charset="0"/>
                        </a:rPr>
                        <a:t>128</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a:lnSpc>
                          <a:spcPct val="107000"/>
                        </a:lnSpc>
                        <a:spcAft>
                          <a:spcPts val="800"/>
                        </a:spcAft>
                      </a:pPr>
                      <a:r>
                        <a:rPr lang="en-US" sz="1100" dirty="0">
                          <a:solidFill>
                            <a:schemeClr val="tx1"/>
                          </a:solidFill>
                          <a:effectLst/>
                          <a:latin typeface="Time Roman" pitchFamily="2" charset="0"/>
                          <a:ea typeface="Calibri" panose="020F0502020204030204" pitchFamily="34" charset="0"/>
                          <a:cs typeface="Times New Roman" panose="02020603050405020304" pitchFamily="18" charset="0"/>
                        </a:rPr>
                        <a:t>Not null</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2781811617"/>
                  </a:ext>
                </a:extLst>
              </a:tr>
              <a:tr h="264422">
                <a:tc>
                  <a:txBody>
                    <a:bodyPr/>
                    <a:lstStyle/>
                    <a:p>
                      <a:pPr algn="ctr" fontAlgn="base">
                        <a:lnSpc>
                          <a:spcPct val="107000"/>
                        </a:lnSpc>
                        <a:spcAft>
                          <a:spcPts val="800"/>
                        </a:spcAft>
                      </a:pPr>
                      <a:r>
                        <a:rPr lang="en-US" sz="1100" dirty="0">
                          <a:solidFill>
                            <a:schemeClr val="tx1"/>
                          </a:solidFill>
                          <a:effectLst/>
                          <a:latin typeface="Time Roman" pitchFamily="2" charset="0"/>
                          <a:ea typeface="Calibri" panose="020F0502020204030204" pitchFamily="34" charset="0"/>
                          <a:cs typeface="Times New Roman" panose="02020603050405020304" pitchFamily="18" charset="0"/>
                        </a:rPr>
                        <a:t>Status</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US" sz="1100" dirty="0" err="1">
                          <a:solidFill>
                            <a:schemeClr val="tx1"/>
                          </a:solidFill>
                          <a:effectLst/>
                          <a:latin typeface="Time Roman" pitchFamily="2" charset="0"/>
                          <a:ea typeface="Calibri" panose="020F0502020204030204" pitchFamily="34" charset="0"/>
                          <a:cs typeface="Times New Roman" panose="02020603050405020304" pitchFamily="18" charset="0"/>
                        </a:rPr>
                        <a:t>Enum</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a:lnSpc>
                          <a:spcPct val="107000"/>
                        </a:lnSpc>
                        <a:spcAft>
                          <a:spcPts val="800"/>
                        </a:spcAft>
                      </a:pPr>
                      <a:r>
                        <a:rPr lang="en-US" sz="1100" dirty="0">
                          <a:solidFill>
                            <a:schemeClr val="tx1"/>
                          </a:solidFill>
                          <a:effectLst/>
                          <a:latin typeface="Time Roman" pitchFamily="2" charset="0"/>
                          <a:ea typeface="Calibri" panose="020F0502020204030204" pitchFamily="34" charset="0"/>
                          <a:cs typeface="Times New Roman" panose="02020603050405020304" pitchFamily="18" charset="0"/>
                        </a:rPr>
                        <a:t>-</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a:lnSpc>
                          <a:spcPct val="107000"/>
                        </a:lnSpc>
                        <a:spcAft>
                          <a:spcPts val="800"/>
                        </a:spcAft>
                      </a:pP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1089720315"/>
                  </a:ext>
                </a:extLst>
              </a:tr>
            </a:tbl>
          </a:graphicData>
        </a:graphic>
      </p:graphicFrame>
    </p:spTree>
    <p:extLst>
      <p:ext uri="{BB962C8B-B14F-4D97-AF65-F5344CB8AC3E}">
        <p14:creationId xmlns:p14="http://schemas.microsoft.com/office/powerpoint/2010/main" val="16228059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Delay 9"/>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3051" y="276285"/>
            <a:ext cx="9083406" cy="6755696"/>
          </a:xfrm>
          <a:prstGeom prst="rect">
            <a:avLst/>
          </a:prstGeom>
        </p:spPr>
        <p:txBody>
          <a:bodyPr wrap="square">
            <a:spAutoFit/>
          </a:bodyPr>
          <a:lstStyle/>
          <a:p>
            <a:pPr algn="ctr"/>
            <a:r>
              <a:rPr lang="en-US" sz="2400" b="1" dirty="0">
                <a:latin typeface="Times New Roman" pitchFamily="18" charset="0"/>
                <a:cs typeface="Times New Roman" pitchFamily="18" charset="0"/>
              </a:rPr>
              <a:t>DATABASE DESCRIPTION</a:t>
            </a:r>
            <a:endParaRPr lang="en-US" sz="2300" b="1" dirty="0">
              <a:latin typeface="Times New Roman" pitchFamily="18" charset="0"/>
              <a:cs typeface="Times New Roman" pitchFamily="18" charset="0"/>
            </a:endParaRPr>
          </a:p>
          <a:p>
            <a:pPr algn="ct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Symptoms-Based Doctor Recommendation and Appointment System</a:t>
            </a:r>
          </a:p>
          <a:p>
            <a:pPr algn="ctr"/>
            <a:endParaRPr lang="en-US" sz="2400" b="1" dirty="0">
              <a:latin typeface="Times New Roman" panose="02020603050405020304" pitchFamily="18" charset="0"/>
              <a:cs typeface="Times New Roman" panose="02020603050405020304" pitchFamily="18" charset="0"/>
            </a:endParaRPr>
          </a:p>
          <a:p>
            <a:pPr algn="ctr"/>
            <a:endParaRPr lang="en-US" sz="2400" b="1" dirty="0">
              <a:latin typeface="Times New Roman" panose="02020603050405020304" pitchFamily="18" charset="0"/>
              <a:cs typeface="Times New Roman" panose="02020603050405020304" pitchFamily="18" charset="0"/>
            </a:endParaRPr>
          </a:p>
          <a:p>
            <a:pPr algn="ctr"/>
            <a:endParaRPr lang="en-US" sz="2400" b="1" dirty="0">
              <a:latin typeface="Times New Roman" panose="02020603050405020304" pitchFamily="18" charset="0"/>
              <a:cs typeface="Times New Roman" panose="02020603050405020304" pitchFamily="18" charset="0"/>
            </a:endParaRPr>
          </a:p>
          <a:p>
            <a:pPr algn="ctr"/>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a:p>
            <a:pPr algn="ctr"/>
            <a:endParaRPr lang="en-US" dirty="0">
              <a:latin typeface="Times New Roman" pitchFamily="18" charset="0"/>
              <a:cs typeface="Times New Roman" pitchFamily="18" charset="0"/>
            </a:endParaRPr>
          </a:p>
          <a:p>
            <a:pPr algn="ctr"/>
            <a:r>
              <a:rPr lang="en-US" dirty="0">
                <a:latin typeface="Times New Roman" pitchFamily="18" charset="0"/>
                <a:cs typeface="Times New Roman" pitchFamily="18" charset="0"/>
              </a:rPr>
              <a:t>Table : reviews </a:t>
            </a:r>
          </a:p>
          <a:p>
            <a:endParaRPr lang="en-US" sz="2300" b="1" dirty="0">
              <a:latin typeface="Times New Roman" pitchFamily="18" charset="0"/>
              <a:cs typeface="Times New Roman" pitchFamily="18" charset="0"/>
            </a:endParaRPr>
          </a:p>
        </p:txBody>
      </p:sp>
      <p:graphicFrame>
        <p:nvGraphicFramePr>
          <p:cNvPr id="2" name="Table 1">
            <a:extLst>
              <a:ext uri="{FF2B5EF4-FFF2-40B4-BE49-F238E27FC236}">
                <a16:creationId xmlns:a16="http://schemas.microsoft.com/office/drawing/2014/main" id="{4882D16C-0904-C32B-5C8C-6D726895A0C5}"/>
              </a:ext>
            </a:extLst>
          </p:cNvPr>
          <p:cNvGraphicFramePr>
            <a:graphicFrameLocks noGrp="1"/>
          </p:cNvGraphicFramePr>
          <p:nvPr>
            <p:extLst>
              <p:ext uri="{D42A27DB-BD31-4B8C-83A1-F6EECF244321}">
                <p14:modId xmlns:p14="http://schemas.microsoft.com/office/powerpoint/2010/main" val="4032633785"/>
              </p:ext>
            </p:extLst>
          </p:nvPr>
        </p:nvGraphicFramePr>
        <p:xfrm>
          <a:off x="155575" y="1943416"/>
          <a:ext cx="8455803" cy="4166700"/>
        </p:xfrm>
        <a:graphic>
          <a:graphicData uri="http://schemas.openxmlformats.org/drawingml/2006/table">
            <a:tbl>
              <a:tblPr>
                <a:tableStyleId>{5940675A-B579-460E-94D1-54222C63F5DA}</a:tableStyleId>
              </a:tblPr>
              <a:tblGrid>
                <a:gridCol w="2074791">
                  <a:extLst>
                    <a:ext uri="{9D8B030D-6E8A-4147-A177-3AD203B41FA5}">
                      <a16:colId xmlns:a16="http://schemas.microsoft.com/office/drawing/2014/main" val="985052098"/>
                    </a:ext>
                  </a:extLst>
                </a:gridCol>
                <a:gridCol w="2285396">
                  <a:extLst>
                    <a:ext uri="{9D8B030D-6E8A-4147-A177-3AD203B41FA5}">
                      <a16:colId xmlns:a16="http://schemas.microsoft.com/office/drawing/2014/main" val="1504112142"/>
                    </a:ext>
                  </a:extLst>
                </a:gridCol>
                <a:gridCol w="1702298">
                  <a:extLst>
                    <a:ext uri="{9D8B030D-6E8A-4147-A177-3AD203B41FA5}">
                      <a16:colId xmlns:a16="http://schemas.microsoft.com/office/drawing/2014/main" val="2857215045"/>
                    </a:ext>
                  </a:extLst>
                </a:gridCol>
                <a:gridCol w="2393318">
                  <a:extLst>
                    <a:ext uri="{9D8B030D-6E8A-4147-A177-3AD203B41FA5}">
                      <a16:colId xmlns:a16="http://schemas.microsoft.com/office/drawing/2014/main" val="2904469819"/>
                    </a:ext>
                  </a:extLst>
                </a:gridCol>
              </a:tblGrid>
              <a:tr h="694570">
                <a:tc>
                  <a:txBody>
                    <a:bodyPr/>
                    <a:lstStyle/>
                    <a:p>
                      <a:pPr algn="ctr" fontAlgn="b">
                        <a:lnSpc>
                          <a:spcPct val="107000"/>
                        </a:lnSpc>
                        <a:spcAft>
                          <a:spcPts val="800"/>
                        </a:spcAft>
                      </a:pPr>
                      <a:r>
                        <a:rPr lang="en-IN" sz="1300" b="1" kern="1200" dirty="0">
                          <a:solidFill>
                            <a:schemeClr val="tx1"/>
                          </a:solidFill>
                          <a:effectLst/>
                          <a:latin typeface="Time Roman" pitchFamily="2" charset="0"/>
                        </a:rPr>
                        <a:t>FILED NAME</a:t>
                      </a:r>
                      <a:endParaRPr lang="en-IN" sz="1100" b="1" dirty="0">
                        <a:solidFill>
                          <a:schemeClr val="tx1"/>
                        </a:solidFill>
                        <a:effectLst/>
                        <a:latin typeface="Time Roman" pitchFamily="2" charset="0"/>
                      </a:endParaRPr>
                    </a:p>
                    <a:p>
                      <a:pPr algn="ctr" fontAlgn="b">
                        <a:lnSpc>
                          <a:spcPct val="107000"/>
                        </a:lnSpc>
                        <a:spcAft>
                          <a:spcPts val="800"/>
                        </a:spcAft>
                      </a:pPr>
                      <a:r>
                        <a:rPr lang="en-IN" sz="1300" b="1" kern="1200" dirty="0">
                          <a:solidFill>
                            <a:schemeClr val="tx1"/>
                          </a:solidFill>
                          <a:effectLst/>
                          <a:latin typeface="Time Roman" pitchFamily="2" charset="0"/>
                        </a:rPr>
                        <a:t> </a:t>
                      </a:r>
                      <a:endParaRPr lang="en-IN" sz="1100" b="1"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b"/>
                </a:tc>
                <a:tc>
                  <a:txBody>
                    <a:bodyPr/>
                    <a:lstStyle/>
                    <a:p>
                      <a:pPr algn="ctr" fontAlgn="b">
                        <a:lnSpc>
                          <a:spcPct val="107000"/>
                        </a:lnSpc>
                        <a:spcAft>
                          <a:spcPts val="800"/>
                        </a:spcAft>
                      </a:pPr>
                      <a:r>
                        <a:rPr lang="en-IN" sz="1300" b="1" kern="1200" dirty="0">
                          <a:solidFill>
                            <a:schemeClr val="tx1"/>
                          </a:solidFill>
                          <a:effectLst/>
                          <a:latin typeface="Time Roman" pitchFamily="2" charset="0"/>
                        </a:rPr>
                        <a:t>DATA TYPE</a:t>
                      </a:r>
                      <a:endParaRPr lang="en-IN" sz="1100" b="1" dirty="0">
                        <a:solidFill>
                          <a:schemeClr val="tx1"/>
                        </a:solidFill>
                        <a:effectLst/>
                        <a:latin typeface="Time Roman" pitchFamily="2" charset="0"/>
                      </a:endParaRPr>
                    </a:p>
                    <a:p>
                      <a:pPr fontAlgn="b">
                        <a:lnSpc>
                          <a:spcPct val="107000"/>
                        </a:lnSpc>
                        <a:spcAft>
                          <a:spcPts val="800"/>
                        </a:spcAft>
                      </a:pPr>
                      <a:r>
                        <a:rPr lang="en-IN" sz="1300" b="1" kern="1200" dirty="0">
                          <a:solidFill>
                            <a:schemeClr val="tx1"/>
                          </a:solidFill>
                          <a:effectLst/>
                          <a:latin typeface="Time Roman" pitchFamily="2" charset="0"/>
                        </a:rPr>
                        <a:t> </a:t>
                      </a:r>
                      <a:endParaRPr lang="en-IN" sz="1100" b="1"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b"/>
                </a:tc>
                <a:tc>
                  <a:txBody>
                    <a:bodyPr/>
                    <a:lstStyle/>
                    <a:p>
                      <a:pPr algn="ctr" fontAlgn="b">
                        <a:lnSpc>
                          <a:spcPct val="107000"/>
                        </a:lnSpc>
                        <a:spcAft>
                          <a:spcPts val="800"/>
                        </a:spcAft>
                      </a:pPr>
                      <a:r>
                        <a:rPr lang="en-IN" sz="1300" b="1" kern="1200" dirty="0">
                          <a:solidFill>
                            <a:schemeClr val="tx1"/>
                          </a:solidFill>
                          <a:effectLst/>
                          <a:latin typeface="Time Roman" pitchFamily="2" charset="0"/>
                        </a:rPr>
                        <a:t> </a:t>
                      </a:r>
                      <a:endParaRPr lang="en-IN" sz="1100" b="1" dirty="0">
                        <a:solidFill>
                          <a:schemeClr val="tx1"/>
                        </a:solidFill>
                        <a:effectLst/>
                        <a:latin typeface="Time Roman" pitchFamily="2" charset="0"/>
                      </a:endParaRPr>
                    </a:p>
                    <a:p>
                      <a:pPr algn="ctr" fontAlgn="b">
                        <a:lnSpc>
                          <a:spcPct val="107000"/>
                        </a:lnSpc>
                        <a:spcAft>
                          <a:spcPts val="800"/>
                        </a:spcAft>
                      </a:pPr>
                      <a:r>
                        <a:rPr lang="en-IN" sz="1300" b="1" kern="1200" dirty="0">
                          <a:solidFill>
                            <a:schemeClr val="tx1"/>
                          </a:solidFill>
                          <a:effectLst/>
                          <a:latin typeface="Time Roman" pitchFamily="2" charset="0"/>
                        </a:rPr>
                        <a:t>SIZE</a:t>
                      </a:r>
                      <a:endParaRPr lang="en-IN" sz="1100" b="1"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
                        <a:lnSpc>
                          <a:spcPct val="107000"/>
                        </a:lnSpc>
                        <a:spcAft>
                          <a:spcPts val="800"/>
                        </a:spcAft>
                      </a:pPr>
                      <a:r>
                        <a:rPr lang="en-IN" sz="1300" b="1" kern="1200" dirty="0">
                          <a:solidFill>
                            <a:schemeClr val="tx1"/>
                          </a:solidFill>
                          <a:effectLst/>
                          <a:latin typeface="Time Roman" pitchFamily="2" charset="0"/>
                        </a:rPr>
                        <a:t> </a:t>
                      </a:r>
                      <a:endParaRPr lang="en-IN" sz="1100" b="1" dirty="0">
                        <a:solidFill>
                          <a:schemeClr val="tx1"/>
                        </a:solidFill>
                        <a:effectLst/>
                        <a:latin typeface="Time Roman" pitchFamily="2" charset="0"/>
                      </a:endParaRPr>
                    </a:p>
                    <a:p>
                      <a:pPr algn="ctr" fontAlgn="b">
                        <a:lnSpc>
                          <a:spcPct val="107000"/>
                        </a:lnSpc>
                        <a:spcAft>
                          <a:spcPts val="800"/>
                        </a:spcAft>
                      </a:pPr>
                      <a:r>
                        <a:rPr lang="en-IN" sz="1300" b="1" kern="1200" dirty="0">
                          <a:solidFill>
                            <a:schemeClr val="tx1"/>
                          </a:solidFill>
                          <a:effectLst/>
                          <a:latin typeface="Time Roman" pitchFamily="2" charset="0"/>
                        </a:rPr>
                        <a:t>CONSTRAINTS</a:t>
                      </a:r>
                      <a:endParaRPr lang="en-IN" sz="1100" b="1" dirty="0">
                        <a:solidFill>
                          <a:schemeClr val="tx1"/>
                        </a:solidFill>
                        <a:effectLst/>
                        <a:latin typeface="Time Roman" pitchFamily="2" charset="0"/>
                      </a:endParaRPr>
                    </a:p>
                    <a:p>
                      <a:pPr algn="ctr" fontAlgn="b">
                        <a:lnSpc>
                          <a:spcPct val="107000"/>
                        </a:lnSpc>
                        <a:spcAft>
                          <a:spcPts val="800"/>
                        </a:spcAft>
                      </a:pPr>
                      <a:r>
                        <a:rPr lang="en-IN" sz="1300" b="1" kern="1200" dirty="0">
                          <a:solidFill>
                            <a:schemeClr val="tx1"/>
                          </a:solidFill>
                          <a:effectLst/>
                          <a:latin typeface="Time Roman" pitchFamily="2" charset="0"/>
                        </a:rPr>
                        <a:t> </a:t>
                      </a:r>
                      <a:endParaRPr lang="en-IN" sz="1100" b="1"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b"/>
                </a:tc>
                <a:extLst>
                  <a:ext uri="{0D108BD9-81ED-4DB2-BD59-A6C34878D82A}">
                    <a16:rowId xmlns:a16="http://schemas.microsoft.com/office/drawing/2014/main" val="3394013785"/>
                  </a:ext>
                </a:extLst>
              </a:tr>
              <a:tr h="412434">
                <a:tc>
                  <a:txBody>
                    <a:bodyPr/>
                    <a:lstStyle/>
                    <a:p>
                      <a:pPr algn="ctr" fontAlgn="base">
                        <a:lnSpc>
                          <a:spcPct val="107000"/>
                        </a:lnSpc>
                        <a:spcAft>
                          <a:spcPts val="800"/>
                        </a:spcAft>
                      </a:pPr>
                      <a:r>
                        <a:rPr lang="en-US" sz="1100" dirty="0" err="1">
                          <a:solidFill>
                            <a:schemeClr val="tx1"/>
                          </a:solidFill>
                          <a:effectLst/>
                          <a:latin typeface="Time Roman" pitchFamily="2" charset="0"/>
                          <a:ea typeface="Calibri" panose="020F0502020204030204" pitchFamily="34" charset="0"/>
                          <a:cs typeface="Times New Roman" panose="02020603050405020304" pitchFamily="18" charset="0"/>
                        </a:rPr>
                        <a:t>Review_id</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US" sz="1100" dirty="0" err="1">
                          <a:solidFill>
                            <a:schemeClr val="tx1"/>
                          </a:solidFill>
                          <a:effectLst/>
                          <a:latin typeface="Time Roman" pitchFamily="2" charset="0"/>
                          <a:ea typeface="Calibri" panose="020F0502020204030204" pitchFamily="34" charset="0"/>
                          <a:cs typeface="Times New Roman" panose="02020603050405020304" pitchFamily="18" charset="0"/>
                        </a:rPr>
                        <a:t>Int</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endParaRPr lang="en-US" sz="1100" dirty="0">
                        <a:solidFill>
                          <a:schemeClr val="tx1"/>
                        </a:solidFill>
                        <a:effectLst/>
                        <a:latin typeface="Time Roman" pitchFamily="2" charset="0"/>
                        <a:ea typeface="Calibri" panose="020F0502020204030204" pitchFamily="34" charset="0"/>
                        <a:cs typeface="Times New Roman" panose="02020603050405020304" pitchFamily="18" charset="0"/>
                      </a:endParaRPr>
                    </a:p>
                    <a:p>
                      <a:pPr algn="ctr" fontAlgn="base">
                        <a:lnSpc>
                          <a:spcPct val="107000"/>
                        </a:lnSpc>
                        <a:spcAft>
                          <a:spcPts val="800"/>
                        </a:spcAft>
                      </a:pPr>
                      <a:r>
                        <a:rPr lang="en-US" sz="1100" dirty="0">
                          <a:solidFill>
                            <a:schemeClr val="tx1"/>
                          </a:solidFill>
                          <a:effectLst/>
                          <a:latin typeface="Time Roman" pitchFamily="2" charset="0"/>
                          <a:ea typeface="Calibri" panose="020F0502020204030204" pitchFamily="34" charset="0"/>
                          <a:cs typeface="Times New Roman" panose="02020603050405020304" pitchFamily="18" charset="0"/>
                        </a:rPr>
                        <a:t>10</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US" sz="1100" dirty="0">
                          <a:solidFill>
                            <a:schemeClr val="tx1"/>
                          </a:solidFill>
                          <a:effectLst/>
                          <a:latin typeface="Time Roman" pitchFamily="2" charset="0"/>
                          <a:ea typeface="Calibri" panose="020F0502020204030204" pitchFamily="34" charset="0"/>
                          <a:cs typeface="Times New Roman" panose="02020603050405020304" pitchFamily="18" charset="0"/>
                        </a:rPr>
                        <a:t>Primary key</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2558800792"/>
                  </a:ext>
                </a:extLst>
              </a:tr>
              <a:tr h="412434">
                <a:tc>
                  <a:txBody>
                    <a:bodyPr/>
                    <a:lstStyle/>
                    <a:p>
                      <a:pPr algn="ctr" fontAlgn="base">
                        <a:lnSpc>
                          <a:spcPct val="107000"/>
                        </a:lnSpc>
                        <a:spcAft>
                          <a:spcPts val="800"/>
                        </a:spcAft>
                      </a:pPr>
                      <a:r>
                        <a:rPr lang="en-US" sz="1100" dirty="0" err="1">
                          <a:solidFill>
                            <a:schemeClr val="tx1"/>
                          </a:solidFill>
                          <a:effectLst/>
                          <a:latin typeface="Time Roman" pitchFamily="2" charset="0"/>
                          <a:ea typeface="Calibri" panose="020F0502020204030204" pitchFamily="34" charset="0"/>
                          <a:cs typeface="Times New Roman" panose="02020603050405020304" pitchFamily="18" charset="0"/>
                        </a:rPr>
                        <a:t>Appointment_id</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US" sz="1300" kern="1200" dirty="0" err="1">
                          <a:solidFill>
                            <a:schemeClr val="tx1"/>
                          </a:solidFill>
                          <a:effectLst/>
                          <a:latin typeface="Time Roman" pitchFamily="2" charset="0"/>
                        </a:rPr>
                        <a:t>Int</a:t>
                      </a:r>
                      <a:r>
                        <a:rPr lang="en-US" sz="1300" kern="1200" dirty="0">
                          <a:solidFill>
                            <a:schemeClr val="tx1"/>
                          </a:solidFill>
                          <a:effectLst/>
                          <a:latin typeface="Time Roman" pitchFamily="2" charset="0"/>
                        </a:rPr>
                        <a:t> </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dirty="0">
                          <a:solidFill>
                            <a:schemeClr val="tx1"/>
                          </a:solidFill>
                          <a:effectLst/>
                          <a:latin typeface="Time Roman" pitchFamily="2" charset="0"/>
                        </a:rPr>
                        <a:t> </a:t>
                      </a:r>
                      <a:endParaRPr lang="en-IN" sz="1100" dirty="0">
                        <a:solidFill>
                          <a:schemeClr val="tx1"/>
                        </a:solidFill>
                        <a:effectLst/>
                        <a:latin typeface="Time Roman" pitchFamily="2" charset="0"/>
                      </a:endParaRPr>
                    </a:p>
                    <a:p>
                      <a:pPr algn="ctr" fontAlgn="base">
                        <a:lnSpc>
                          <a:spcPct val="107000"/>
                        </a:lnSpc>
                        <a:spcAft>
                          <a:spcPts val="800"/>
                        </a:spcAft>
                      </a:pPr>
                      <a:r>
                        <a:rPr lang="en-IN" sz="1300" kern="1200" dirty="0">
                          <a:solidFill>
                            <a:schemeClr val="tx1"/>
                          </a:solidFill>
                          <a:effectLst/>
                          <a:latin typeface="Time Roman" pitchFamily="2" charset="0"/>
                        </a:rPr>
                        <a:t>10</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US" sz="1300" kern="1200" dirty="0">
                          <a:solidFill>
                            <a:schemeClr val="tx1"/>
                          </a:solidFill>
                          <a:effectLst/>
                          <a:latin typeface="Time Roman" pitchFamily="2" charset="0"/>
                          <a:ea typeface="Calibri" panose="020F0502020204030204" pitchFamily="34" charset="0"/>
                          <a:cs typeface="Times New Roman" panose="02020603050405020304" pitchFamily="18" charset="0"/>
                        </a:rPr>
                        <a:t>Not null</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2538554340"/>
                  </a:ext>
                </a:extLst>
              </a:tr>
              <a:tr h="412434">
                <a:tc>
                  <a:txBody>
                    <a:bodyPr/>
                    <a:lstStyle/>
                    <a:p>
                      <a:pPr algn="ctr" fontAlgn="base">
                        <a:lnSpc>
                          <a:spcPct val="107000"/>
                        </a:lnSpc>
                        <a:spcAft>
                          <a:spcPts val="800"/>
                        </a:spcAft>
                      </a:pPr>
                      <a:r>
                        <a:rPr lang="en-US" sz="1300" kern="1200" dirty="0" err="1">
                          <a:solidFill>
                            <a:schemeClr val="tx1"/>
                          </a:solidFill>
                          <a:effectLst/>
                          <a:latin typeface="Time Roman" pitchFamily="2" charset="0"/>
                          <a:ea typeface="Calibri" panose="020F0502020204030204" pitchFamily="34" charset="0"/>
                          <a:cs typeface="Times New Roman" panose="02020603050405020304" pitchFamily="18" charset="0"/>
                        </a:rPr>
                        <a:t>patient_id</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US" sz="1300" kern="1200" dirty="0" err="1">
                          <a:solidFill>
                            <a:schemeClr val="tx1"/>
                          </a:solidFill>
                          <a:effectLst/>
                          <a:latin typeface="Time Roman" pitchFamily="2" charset="0"/>
                        </a:rPr>
                        <a:t>Int</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dirty="0">
                          <a:solidFill>
                            <a:schemeClr val="tx1"/>
                          </a:solidFill>
                          <a:effectLst/>
                          <a:latin typeface="Time Roman" pitchFamily="2" charset="0"/>
                        </a:rPr>
                        <a:t> </a:t>
                      </a:r>
                      <a:endParaRPr lang="en-IN" sz="1100" dirty="0">
                        <a:solidFill>
                          <a:schemeClr val="tx1"/>
                        </a:solidFill>
                        <a:effectLst/>
                        <a:latin typeface="Time Roman" pitchFamily="2" charset="0"/>
                      </a:endParaRPr>
                    </a:p>
                    <a:p>
                      <a:pPr algn="ctr" fontAlgn="base">
                        <a:lnSpc>
                          <a:spcPct val="107000"/>
                        </a:lnSpc>
                        <a:spcAft>
                          <a:spcPts val="800"/>
                        </a:spcAft>
                      </a:pPr>
                      <a:r>
                        <a:rPr lang="en-US" sz="1300" kern="1200" dirty="0">
                          <a:solidFill>
                            <a:schemeClr val="tx1"/>
                          </a:solidFill>
                          <a:effectLst/>
                          <a:latin typeface="Time Roman" pitchFamily="2" charset="0"/>
                          <a:ea typeface="Calibri" panose="020F0502020204030204" pitchFamily="34" charset="0"/>
                          <a:cs typeface="Times New Roman" panose="02020603050405020304" pitchFamily="18" charset="0"/>
                        </a:rPr>
                        <a:t>10</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US" sz="1300" kern="1200" dirty="0">
                          <a:solidFill>
                            <a:schemeClr val="tx1"/>
                          </a:solidFill>
                          <a:effectLst/>
                          <a:latin typeface="Time Roman" pitchFamily="2" charset="0"/>
                        </a:rPr>
                        <a:t>Not null</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707759503"/>
                  </a:ext>
                </a:extLst>
              </a:tr>
              <a:tr h="412434">
                <a:tc>
                  <a:txBody>
                    <a:bodyPr/>
                    <a:lstStyle/>
                    <a:p>
                      <a:pPr algn="ctr" fontAlgn="base">
                        <a:lnSpc>
                          <a:spcPct val="107000"/>
                        </a:lnSpc>
                        <a:spcAft>
                          <a:spcPts val="800"/>
                        </a:spcAft>
                      </a:pPr>
                      <a:r>
                        <a:rPr lang="en-US" sz="1300" kern="1200" dirty="0" err="1">
                          <a:solidFill>
                            <a:schemeClr val="tx1"/>
                          </a:solidFill>
                          <a:effectLst/>
                          <a:latin typeface="Time Roman" pitchFamily="2" charset="0"/>
                        </a:rPr>
                        <a:t>doctor_id</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US" sz="1300" kern="1200" dirty="0" err="1">
                          <a:solidFill>
                            <a:schemeClr val="tx1"/>
                          </a:solidFill>
                          <a:effectLst/>
                          <a:latin typeface="Time Roman" pitchFamily="2" charset="0"/>
                          <a:ea typeface="Calibri" panose="020F0502020204030204" pitchFamily="34" charset="0"/>
                          <a:cs typeface="Times New Roman" panose="02020603050405020304" pitchFamily="18" charset="0"/>
                        </a:rPr>
                        <a:t>Int</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a:lnSpc>
                          <a:spcPct val="107000"/>
                        </a:lnSpc>
                        <a:spcAft>
                          <a:spcPts val="800"/>
                        </a:spcAft>
                      </a:pPr>
                      <a:r>
                        <a:rPr lang="en-IN" sz="1300" dirty="0">
                          <a:solidFill>
                            <a:schemeClr val="tx1"/>
                          </a:solidFill>
                          <a:effectLst/>
                          <a:latin typeface="Time Roman" pitchFamily="2" charset="0"/>
                        </a:rPr>
                        <a:t> </a:t>
                      </a:r>
                      <a:endParaRPr lang="en-IN" sz="1100" dirty="0">
                        <a:solidFill>
                          <a:schemeClr val="tx1"/>
                        </a:solidFill>
                        <a:effectLst/>
                        <a:latin typeface="Time Roman" pitchFamily="2" charset="0"/>
                      </a:endParaRPr>
                    </a:p>
                    <a:p>
                      <a:pPr algn="ctr">
                        <a:lnSpc>
                          <a:spcPct val="107000"/>
                        </a:lnSpc>
                        <a:spcAft>
                          <a:spcPts val="800"/>
                        </a:spcAft>
                      </a:pPr>
                      <a:r>
                        <a:rPr lang="en-US" sz="1300" dirty="0">
                          <a:solidFill>
                            <a:schemeClr val="tx1"/>
                          </a:solidFill>
                          <a:effectLst/>
                          <a:latin typeface="Time Roman" pitchFamily="2" charset="0"/>
                          <a:ea typeface="Calibri" panose="020F0502020204030204" pitchFamily="34" charset="0"/>
                          <a:cs typeface="Times New Roman" panose="02020603050405020304" pitchFamily="18" charset="0"/>
                        </a:rPr>
                        <a:t>10</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a:lnSpc>
                          <a:spcPct val="107000"/>
                        </a:lnSpc>
                        <a:spcAft>
                          <a:spcPts val="800"/>
                        </a:spcAft>
                      </a:pPr>
                      <a:r>
                        <a:rPr lang="en-IN" sz="1300">
                          <a:solidFill>
                            <a:schemeClr val="tx1"/>
                          </a:solidFill>
                          <a:effectLst/>
                          <a:latin typeface="Time Roman" pitchFamily="2" charset="0"/>
                        </a:rPr>
                        <a:t>Not null</a:t>
                      </a:r>
                      <a:endParaRPr lang="en-IN" sz="110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2857421491"/>
                  </a:ext>
                </a:extLst>
              </a:tr>
              <a:tr h="412434">
                <a:tc>
                  <a:txBody>
                    <a:bodyPr/>
                    <a:lstStyle/>
                    <a:p>
                      <a:pPr algn="ctr" fontAlgn="base">
                        <a:lnSpc>
                          <a:spcPct val="107000"/>
                        </a:lnSpc>
                        <a:spcAft>
                          <a:spcPts val="800"/>
                        </a:spcAft>
                      </a:pPr>
                      <a:r>
                        <a:rPr lang="en-US" sz="1100" dirty="0">
                          <a:solidFill>
                            <a:schemeClr val="tx1"/>
                          </a:solidFill>
                          <a:effectLst/>
                          <a:latin typeface="Time Roman" pitchFamily="2" charset="0"/>
                          <a:ea typeface="Calibri" panose="020F0502020204030204" pitchFamily="34" charset="0"/>
                          <a:cs typeface="Times New Roman" panose="02020603050405020304" pitchFamily="18" charset="0"/>
                        </a:rPr>
                        <a:t>Rating</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US" sz="1300" kern="1200" dirty="0" err="1">
                          <a:solidFill>
                            <a:schemeClr val="tx1"/>
                          </a:solidFill>
                          <a:effectLst/>
                          <a:latin typeface="Time Roman" pitchFamily="2" charset="0"/>
                        </a:rPr>
                        <a:t>Int</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IN" sz="1300" kern="1200" dirty="0">
                          <a:solidFill>
                            <a:schemeClr val="tx1"/>
                          </a:solidFill>
                          <a:effectLst/>
                          <a:latin typeface="Time Roman" pitchFamily="2" charset="0"/>
                        </a:rPr>
                        <a:t> </a:t>
                      </a:r>
                      <a:endParaRPr lang="en-IN" sz="1100" dirty="0">
                        <a:solidFill>
                          <a:schemeClr val="tx1"/>
                        </a:solidFill>
                        <a:effectLst/>
                        <a:latin typeface="Time Roman" pitchFamily="2" charset="0"/>
                      </a:endParaRPr>
                    </a:p>
                    <a:p>
                      <a:pPr algn="ctr" fontAlgn="base">
                        <a:lnSpc>
                          <a:spcPct val="107000"/>
                        </a:lnSpc>
                        <a:spcAft>
                          <a:spcPts val="800"/>
                        </a:spcAft>
                      </a:pPr>
                      <a:r>
                        <a:rPr lang="en-US" sz="1300" kern="1200" dirty="0">
                          <a:solidFill>
                            <a:schemeClr val="tx1"/>
                          </a:solidFill>
                          <a:effectLst/>
                          <a:latin typeface="Time Roman" pitchFamily="2" charset="0"/>
                          <a:ea typeface="Calibri" panose="020F0502020204030204" pitchFamily="34" charset="0"/>
                          <a:cs typeface="Times New Roman" panose="02020603050405020304" pitchFamily="18" charset="0"/>
                        </a:rPr>
                        <a:t>5</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fontAlgn="base">
                        <a:lnSpc>
                          <a:spcPct val="107000"/>
                        </a:lnSpc>
                        <a:spcAft>
                          <a:spcPts val="800"/>
                        </a:spcAft>
                      </a:pPr>
                      <a:r>
                        <a:rPr lang="en-US" sz="1300" kern="1200" dirty="0">
                          <a:solidFill>
                            <a:schemeClr val="tx1"/>
                          </a:solidFill>
                          <a:effectLst/>
                          <a:latin typeface="Time Roman" pitchFamily="2" charset="0"/>
                        </a:rPr>
                        <a:t>Not null</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1360029502"/>
                  </a:ext>
                </a:extLst>
              </a:tr>
              <a:tr h="412434">
                <a:tc>
                  <a:txBody>
                    <a:bodyPr/>
                    <a:lstStyle/>
                    <a:p>
                      <a:pPr algn="ctr" fontAlgn="base">
                        <a:lnSpc>
                          <a:spcPct val="107000"/>
                        </a:lnSpc>
                        <a:spcAft>
                          <a:spcPts val="800"/>
                        </a:spcAft>
                      </a:pPr>
                      <a:r>
                        <a:rPr lang="en-US" sz="1100" dirty="0" err="1">
                          <a:solidFill>
                            <a:schemeClr val="tx1"/>
                          </a:solidFill>
                          <a:effectLst/>
                          <a:latin typeface="Time Roman" pitchFamily="2" charset="0"/>
                          <a:ea typeface="Calibri" panose="020F0502020204030204" pitchFamily="34" charset="0"/>
                          <a:cs typeface="Times New Roman" panose="02020603050405020304" pitchFamily="18" charset="0"/>
                        </a:rPr>
                        <a:t>Review_text</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US" sz="1300" kern="1200" dirty="0">
                          <a:solidFill>
                            <a:schemeClr val="tx1"/>
                          </a:solidFill>
                          <a:effectLst/>
                          <a:latin typeface="Time Roman" pitchFamily="2" charset="0"/>
                        </a:rPr>
                        <a:t>Text</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a:lnSpc>
                          <a:spcPct val="107000"/>
                        </a:lnSpc>
                        <a:spcAft>
                          <a:spcPts val="800"/>
                        </a:spcAft>
                      </a:pPr>
                      <a:r>
                        <a:rPr lang="en-IN" sz="1300" dirty="0">
                          <a:solidFill>
                            <a:schemeClr val="tx1"/>
                          </a:solidFill>
                          <a:effectLst/>
                          <a:latin typeface="Time Roman" pitchFamily="2" charset="0"/>
                        </a:rPr>
                        <a:t> </a:t>
                      </a:r>
                      <a:endParaRPr lang="en-IN" sz="1100" dirty="0">
                        <a:solidFill>
                          <a:schemeClr val="tx1"/>
                        </a:solidFill>
                        <a:effectLst/>
                        <a:latin typeface="Time Roman" pitchFamily="2" charset="0"/>
                      </a:endParaRPr>
                    </a:p>
                    <a:p>
                      <a:pPr algn="ctr">
                        <a:lnSpc>
                          <a:spcPct val="107000"/>
                        </a:lnSpc>
                        <a:spcAft>
                          <a:spcPts val="800"/>
                        </a:spcAft>
                      </a:pPr>
                      <a:r>
                        <a:rPr lang="en-US" sz="1300" dirty="0">
                          <a:solidFill>
                            <a:schemeClr val="tx1"/>
                          </a:solidFill>
                          <a:effectLst/>
                          <a:latin typeface="Time Roman" pitchFamily="2" charset="0"/>
                          <a:ea typeface="Calibri" panose="020F0502020204030204" pitchFamily="34" charset="0"/>
                          <a:cs typeface="Times New Roman" panose="02020603050405020304" pitchFamily="18" charset="0"/>
                        </a:rPr>
                        <a:t>128</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a:lnSpc>
                          <a:spcPct val="107000"/>
                        </a:lnSpc>
                        <a:spcAft>
                          <a:spcPts val="800"/>
                        </a:spcAft>
                      </a:pPr>
                      <a:r>
                        <a:rPr lang="en-IN" sz="1300" dirty="0">
                          <a:solidFill>
                            <a:schemeClr val="tx1"/>
                          </a:solidFill>
                          <a:effectLst/>
                          <a:latin typeface="Time Roman" pitchFamily="2" charset="0"/>
                        </a:rPr>
                        <a:t>Not null</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2949048478"/>
                  </a:ext>
                </a:extLst>
              </a:tr>
              <a:tr h="264422">
                <a:tc>
                  <a:txBody>
                    <a:bodyPr/>
                    <a:lstStyle/>
                    <a:p>
                      <a:pPr algn="ctr" fontAlgn="base">
                        <a:lnSpc>
                          <a:spcPct val="107000"/>
                        </a:lnSpc>
                        <a:spcAft>
                          <a:spcPts val="800"/>
                        </a:spcAft>
                      </a:pPr>
                      <a:r>
                        <a:rPr lang="en-US" sz="1100" dirty="0" err="1">
                          <a:solidFill>
                            <a:schemeClr val="tx1"/>
                          </a:solidFill>
                          <a:effectLst/>
                          <a:latin typeface="Time Roman" pitchFamily="2" charset="0"/>
                          <a:ea typeface="Calibri" panose="020F0502020204030204" pitchFamily="34" charset="0"/>
                          <a:cs typeface="Times New Roman" panose="02020603050405020304" pitchFamily="18" charset="0"/>
                        </a:rPr>
                        <a:t>Created_at</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fontAlgn="base">
                        <a:lnSpc>
                          <a:spcPct val="107000"/>
                        </a:lnSpc>
                        <a:spcAft>
                          <a:spcPts val="800"/>
                        </a:spcAft>
                      </a:pPr>
                      <a:r>
                        <a:rPr lang="en-US" sz="1100" dirty="0">
                          <a:solidFill>
                            <a:schemeClr val="tx1"/>
                          </a:solidFill>
                          <a:effectLst/>
                          <a:latin typeface="Time Roman" pitchFamily="2" charset="0"/>
                          <a:ea typeface="Calibri" panose="020F0502020204030204" pitchFamily="34" charset="0"/>
                          <a:cs typeface="Times New Roman" panose="02020603050405020304" pitchFamily="18" charset="0"/>
                        </a:rPr>
                        <a:t>Timestamp</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tc>
                  <a:txBody>
                    <a:bodyPr/>
                    <a:lstStyle/>
                    <a:p>
                      <a:pPr algn="ctr">
                        <a:lnSpc>
                          <a:spcPct val="107000"/>
                        </a:lnSpc>
                        <a:spcAft>
                          <a:spcPts val="800"/>
                        </a:spcAft>
                      </a:pPr>
                      <a:r>
                        <a:rPr lang="en-US" sz="1100" dirty="0">
                          <a:solidFill>
                            <a:schemeClr val="tx1"/>
                          </a:solidFill>
                          <a:effectLst/>
                          <a:latin typeface="Time Roman" pitchFamily="2" charset="0"/>
                          <a:ea typeface="Calibri" panose="020F0502020204030204" pitchFamily="34" charset="0"/>
                          <a:cs typeface="Times New Roman" panose="02020603050405020304" pitchFamily="18" charset="0"/>
                        </a:rPr>
                        <a:t>-</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0" marR="0" marT="0" marB="0"/>
                </a:tc>
                <a:tc>
                  <a:txBody>
                    <a:bodyPr/>
                    <a:lstStyle/>
                    <a:p>
                      <a:pPr algn="ctr">
                        <a:lnSpc>
                          <a:spcPct val="107000"/>
                        </a:lnSpc>
                        <a:spcAft>
                          <a:spcPts val="800"/>
                        </a:spcAft>
                      </a:pPr>
                      <a:r>
                        <a:rPr lang="en-US" sz="1100" dirty="0">
                          <a:solidFill>
                            <a:schemeClr val="tx1"/>
                          </a:solidFill>
                          <a:effectLst/>
                          <a:latin typeface="Time Roman" pitchFamily="2" charset="0"/>
                          <a:ea typeface="Calibri" panose="020F0502020204030204" pitchFamily="34" charset="0"/>
                          <a:cs typeface="Times New Roman" panose="02020603050405020304" pitchFamily="18" charset="0"/>
                        </a:rPr>
                        <a:t>Not null</a:t>
                      </a:r>
                      <a:endParaRPr lang="en-IN" sz="1100" dirty="0">
                        <a:solidFill>
                          <a:schemeClr val="tx1"/>
                        </a:solidFill>
                        <a:effectLst/>
                        <a:latin typeface="Time Roman" pitchFamily="2" charset="0"/>
                        <a:ea typeface="Calibri" panose="020F0502020204030204" pitchFamily="34" charset="0"/>
                        <a:cs typeface="Times New Roman" panose="02020603050405020304" pitchFamily="18" charset="0"/>
                      </a:endParaRPr>
                    </a:p>
                  </a:txBody>
                  <a:tcPr marL="61787" marR="61787" marT="30581" marB="30581" anchor="ctr"/>
                </a:tc>
                <a:extLst>
                  <a:ext uri="{0D108BD9-81ED-4DB2-BD59-A6C34878D82A}">
                    <a16:rowId xmlns:a16="http://schemas.microsoft.com/office/drawing/2014/main" val="2781811617"/>
                  </a:ext>
                </a:extLst>
              </a:tr>
            </a:tbl>
          </a:graphicData>
        </a:graphic>
      </p:graphicFrame>
    </p:spTree>
    <p:extLst>
      <p:ext uri="{BB962C8B-B14F-4D97-AF65-F5344CB8AC3E}">
        <p14:creationId xmlns:p14="http://schemas.microsoft.com/office/powerpoint/2010/main" val="42177090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EC20974-01CB-645E-9C3B-0B83081B7BC8}"/>
              </a:ext>
            </a:extLst>
          </p:cNvPr>
          <p:cNvSpPr txBox="1">
            <a:spLocks noGrp="1"/>
          </p:cNvSpPr>
          <p:nvPr>
            <p:ph type="title"/>
          </p:nvPr>
        </p:nvSpPr>
        <p:spPr>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ko-KR" b="1" dirty="0">
                <a:latin typeface="Times New Roman" pitchFamily="18" charset="0"/>
                <a:cs typeface="Times New Roman" pitchFamily="18" charset="0"/>
              </a:rPr>
              <a:t>SYSTEM</a:t>
            </a:r>
            <a:r>
              <a:rPr lang="en-US" altLang="ko-KR" b="1" dirty="0">
                <a:solidFill>
                  <a:srgbClr val="0070C0"/>
                </a:solidFill>
                <a:latin typeface="Times New Roman" pitchFamily="18" charset="0"/>
                <a:cs typeface="Times New Roman" pitchFamily="18" charset="0"/>
              </a:rPr>
              <a:t> </a:t>
            </a:r>
            <a:r>
              <a:rPr lang="en-US" altLang="ko-KR" b="1" dirty="0">
                <a:latin typeface="Times New Roman" pitchFamily="18" charset="0"/>
                <a:cs typeface="Times New Roman" pitchFamily="18" charset="0"/>
              </a:rPr>
              <a:t>DIAGRAM</a:t>
            </a:r>
            <a:r>
              <a:rPr lang="en-US" altLang="ko-KR" b="1" dirty="0">
                <a:solidFill>
                  <a:srgbClr val="0070C0"/>
                </a:solidFill>
                <a:latin typeface="Times New Roman" pitchFamily="18" charset="0"/>
                <a:cs typeface="Times New Roman" pitchFamily="18" charset="0"/>
              </a:rPr>
              <a:t> </a:t>
            </a:r>
            <a:endParaRPr lang="en-US" dirty="0"/>
          </a:p>
        </p:txBody>
      </p:sp>
      <p:pic>
        <p:nvPicPr>
          <p:cNvPr id="7" name="Content Placeholder 6">
            <a:extLst>
              <a:ext uri="{FF2B5EF4-FFF2-40B4-BE49-F238E27FC236}">
                <a16:creationId xmlns:a16="http://schemas.microsoft.com/office/drawing/2014/main" id="{DC5330A3-CA19-609E-CD4A-5960F880559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8922" y="1600200"/>
            <a:ext cx="8046156" cy="4525963"/>
          </a:xfrm>
          <a:prstGeom prst="rect">
            <a:avLst/>
          </a:prstGeom>
        </p:spPr>
      </p:pic>
      <p:sp>
        <p:nvSpPr>
          <p:cNvPr id="8" name="Flowchart: Magnetic Disk 7">
            <a:extLst>
              <a:ext uri="{FF2B5EF4-FFF2-40B4-BE49-F238E27FC236}">
                <a16:creationId xmlns:a16="http://schemas.microsoft.com/office/drawing/2014/main" id="{E1A0D89D-B84D-8038-D208-AD58AF5248E6}"/>
              </a:ext>
            </a:extLst>
          </p:cNvPr>
          <p:cNvSpPr/>
          <p:nvPr/>
        </p:nvSpPr>
        <p:spPr>
          <a:xfrm>
            <a:off x="1616527" y="4710694"/>
            <a:ext cx="2016579" cy="1415469"/>
          </a:xfrm>
          <a:prstGeom prst="flowChartMagneticDisk">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Database</a:t>
            </a:r>
          </a:p>
          <a:p>
            <a:pPr algn="ctr"/>
            <a:endParaRPr lang="en-US" dirty="0">
              <a:solidFill>
                <a:schemeClr val="tx1"/>
              </a:solidFill>
            </a:endParaRPr>
          </a:p>
        </p:txBody>
      </p:sp>
      <p:sp>
        <p:nvSpPr>
          <p:cNvPr id="9" name="Rectangle: Rounded Corners 8">
            <a:extLst>
              <a:ext uri="{FF2B5EF4-FFF2-40B4-BE49-F238E27FC236}">
                <a16:creationId xmlns:a16="http://schemas.microsoft.com/office/drawing/2014/main" id="{EC78C354-37C0-0913-4DE0-BF956417A80C}"/>
              </a:ext>
            </a:extLst>
          </p:cNvPr>
          <p:cNvSpPr/>
          <p:nvPr/>
        </p:nvSpPr>
        <p:spPr>
          <a:xfrm>
            <a:off x="5510896" y="4710694"/>
            <a:ext cx="2016577" cy="111316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ML Service</a:t>
            </a:r>
          </a:p>
        </p:txBody>
      </p:sp>
      <p:sp>
        <p:nvSpPr>
          <p:cNvPr id="10" name="Rectangle: Rounded Corners 9">
            <a:extLst>
              <a:ext uri="{FF2B5EF4-FFF2-40B4-BE49-F238E27FC236}">
                <a16:creationId xmlns:a16="http://schemas.microsoft.com/office/drawing/2014/main" id="{382F5C33-FFF3-2456-358B-B53F6049F884}"/>
              </a:ext>
            </a:extLst>
          </p:cNvPr>
          <p:cNvSpPr/>
          <p:nvPr/>
        </p:nvSpPr>
        <p:spPr>
          <a:xfrm>
            <a:off x="633173" y="2728289"/>
            <a:ext cx="1721305" cy="5535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Patient</a:t>
            </a:r>
          </a:p>
        </p:txBody>
      </p:sp>
      <p:sp>
        <p:nvSpPr>
          <p:cNvPr id="12" name="Rectangle: Rounded Corners 11">
            <a:extLst>
              <a:ext uri="{FF2B5EF4-FFF2-40B4-BE49-F238E27FC236}">
                <a16:creationId xmlns:a16="http://schemas.microsoft.com/office/drawing/2014/main" id="{263E36BF-8EDB-566A-6673-BCBAA7D91EA6}"/>
              </a:ext>
            </a:extLst>
          </p:cNvPr>
          <p:cNvSpPr/>
          <p:nvPr/>
        </p:nvSpPr>
        <p:spPr>
          <a:xfrm>
            <a:off x="633173" y="3586414"/>
            <a:ext cx="1721305" cy="5535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Doctor</a:t>
            </a:r>
          </a:p>
        </p:txBody>
      </p:sp>
      <p:sp>
        <p:nvSpPr>
          <p:cNvPr id="14" name="Rectangle: Rounded Corners 13">
            <a:extLst>
              <a:ext uri="{FF2B5EF4-FFF2-40B4-BE49-F238E27FC236}">
                <a16:creationId xmlns:a16="http://schemas.microsoft.com/office/drawing/2014/main" id="{49AE2381-1A7D-F36A-E568-1DF4C119572A}"/>
              </a:ext>
            </a:extLst>
          </p:cNvPr>
          <p:cNvSpPr/>
          <p:nvPr/>
        </p:nvSpPr>
        <p:spPr>
          <a:xfrm>
            <a:off x="6789522" y="2728289"/>
            <a:ext cx="1721305" cy="5535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Admin</a:t>
            </a:r>
          </a:p>
        </p:txBody>
      </p:sp>
      <p:sp>
        <p:nvSpPr>
          <p:cNvPr id="16" name="Rectangle: Rounded Corners 15">
            <a:extLst>
              <a:ext uri="{FF2B5EF4-FFF2-40B4-BE49-F238E27FC236}">
                <a16:creationId xmlns:a16="http://schemas.microsoft.com/office/drawing/2014/main" id="{8BA699FE-E366-9EA2-9854-F2FE300DFA51}"/>
              </a:ext>
            </a:extLst>
          </p:cNvPr>
          <p:cNvSpPr/>
          <p:nvPr/>
        </p:nvSpPr>
        <p:spPr>
          <a:xfrm>
            <a:off x="6789521" y="3576178"/>
            <a:ext cx="1721305" cy="5535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Doctor</a:t>
            </a:r>
          </a:p>
        </p:txBody>
      </p:sp>
      <p:sp>
        <p:nvSpPr>
          <p:cNvPr id="20" name="Rectangle: Rounded Corners 19">
            <a:extLst>
              <a:ext uri="{FF2B5EF4-FFF2-40B4-BE49-F238E27FC236}">
                <a16:creationId xmlns:a16="http://schemas.microsoft.com/office/drawing/2014/main" id="{F092147A-7183-921E-DD14-41D3AB873222}"/>
              </a:ext>
            </a:extLst>
          </p:cNvPr>
          <p:cNvSpPr/>
          <p:nvPr/>
        </p:nvSpPr>
        <p:spPr>
          <a:xfrm>
            <a:off x="3294174" y="2728289"/>
            <a:ext cx="2555651" cy="700711"/>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Frontend 
Web Interface</a:t>
            </a:r>
          </a:p>
        </p:txBody>
      </p:sp>
      <p:sp>
        <p:nvSpPr>
          <p:cNvPr id="22" name="Rectangle: Rounded Corners 21">
            <a:extLst>
              <a:ext uri="{FF2B5EF4-FFF2-40B4-BE49-F238E27FC236}">
                <a16:creationId xmlns:a16="http://schemas.microsoft.com/office/drawing/2014/main" id="{776CE720-1EA6-5758-3EAE-920203BF413A}"/>
              </a:ext>
            </a:extLst>
          </p:cNvPr>
          <p:cNvSpPr/>
          <p:nvPr/>
        </p:nvSpPr>
        <p:spPr>
          <a:xfrm>
            <a:off x="3294174" y="3719491"/>
            <a:ext cx="2555651" cy="700711"/>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Backend 
Application server</a:t>
            </a:r>
          </a:p>
        </p:txBody>
      </p:sp>
      <p:sp>
        <p:nvSpPr>
          <p:cNvPr id="43" name="Rectangle 42">
            <a:extLst>
              <a:ext uri="{FF2B5EF4-FFF2-40B4-BE49-F238E27FC236}">
                <a16:creationId xmlns:a16="http://schemas.microsoft.com/office/drawing/2014/main" id="{53525A36-CC4D-E7C5-285E-803FE0AE5D5D}"/>
              </a:ext>
            </a:extLst>
          </p:cNvPr>
          <p:cNvSpPr/>
          <p:nvPr/>
        </p:nvSpPr>
        <p:spPr>
          <a:xfrm>
            <a:off x="5872959" y="3482258"/>
            <a:ext cx="2836975" cy="8581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5C62F13F-75B6-33D0-1AEC-8D197FFAE5EC}"/>
              </a:ext>
            </a:extLst>
          </p:cNvPr>
          <p:cNvSpPr/>
          <p:nvPr/>
        </p:nvSpPr>
        <p:spPr>
          <a:xfrm>
            <a:off x="2377612" y="3846261"/>
            <a:ext cx="893428" cy="34473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Connector: Elbow 51">
            <a:extLst>
              <a:ext uri="{FF2B5EF4-FFF2-40B4-BE49-F238E27FC236}">
                <a16:creationId xmlns:a16="http://schemas.microsoft.com/office/drawing/2014/main" id="{57EDF56B-E7E5-7CD5-0431-097659908389}"/>
              </a:ext>
            </a:extLst>
          </p:cNvPr>
          <p:cNvCxnSpPr>
            <a:cxnSpLocks/>
            <a:stCxn id="12" idx="3"/>
          </p:cNvCxnSpPr>
          <p:nvPr/>
        </p:nvCxnSpPr>
        <p:spPr>
          <a:xfrm flipV="1">
            <a:off x="2354478" y="3230153"/>
            <a:ext cx="916562" cy="633028"/>
          </a:xfrm>
          <a:prstGeom prst="bentConnector3">
            <a:avLst>
              <a:gd name="adj1" fmla="val 50000"/>
            </a:avLst>
          </a:prstGeom>
          <a:ln>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5220F6E4-4471-969B-8CCA-C8AD503468F7}"/>
              </a:ext>
            </a:extLst>
          </p:cNvPr>
          <p:cNvSpPr/>
          <p:nvPr/>
        </p:nvSpPr>
        <p:spPr>
          <a:xfrm>
            <a:off x="1181099" y="1506682"/>
            <a:ext cx="6574971" cy="8759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750286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DF5A2-1508-8691-4AA7-E969E8EC00DA}"/>
              </a:ext>
            </a:extLst>
          </p:cNvPr>
          <p:cNvSpPr>
            <a:spLocks noGrp="1"/>
          </p:cNvSpPr>
          <p:nvPr>
            <p:ph type="title"/>
          </p:nvPr>
        </p:nvSpPr>
        <p:spPr/>
        <p:txBody>
          <a:bodyPr/>
          <a:lstStyle/>
          <a:p>
            <a:r>
              <a:rPr lang="en-US" sz="4400" b="1" dirty="0">
                <a:latin typeface="Times New Roman" panose="02020603050405020304" pitchFamily="18" charset="0"/>
                <a:cs typeface="Times New Roman" panose="02020603050405020304" pitchFamily="18" charset="0"/>
              </a:rPr>
              <a:t>DATA FLOW DIAGRAM</a:t>
            </a:r>
            <a:endParaRPr lang="en-US" dirty="0"/>
          </a:p>
        </p:txBody>
      </p:sp>
      <p:pic>
        <p:nvPicPr>
          <p:cNvPr id="6" name="Content Placeholder 5">
            <a:extLst>
              <a:ext uri="{FF2B5EF4-FFF2-40B4-BE49-F238E27FC236}">
                <a16:creationId xmlns:a16="http://schemas.microsoft.com/office/drawing/2014/main" id="{032221B2-A7CA-8CA0-09C8-F1EE81F7547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223962"/>
            <a:ext cx="8523514" cy="4994502"/>
          </a:xfrm>
          <a:prstGeom prst="rect">
            <a:avLst/>
          </a:prstGeom>
        </p:spPr>
      </p:pic>
      <p:sp>
        <p:nvSpPr>
          <p:cNvPr id="16" name="Rectangle 15">
            <a:extLst>
              <a:ext uri="{FF2B5EF4-FFF2-40B4-BE49-F238E27FC236}">
                <a16:creationId xmlns:a16="http://schemas.microsoft.com/office/drawing/2014/main" id="{3D60F141-D6DB-572E-A9F6-D3C71103AB32}"/>
              </a:ext>
            </a:extLst>
          </p:cNvPr>
          <p:cNvSpPr/>
          <p:nvPr/>
        </p:nvSpPr>
        <p:spPr>
          <a:xfrm>
            <a:off x="163286" y="1223962"/>
            <a:ext cx="8817428" cy="68103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424884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AC5BB-5199-93A8-0A43-A68BDEBA7358}"/>
              </a:ext>
            </a:extLst>
          </p:cNvPr>
          <p:cNvSpPr>
            <a:spLocks noGrp="1"/>
          </p:cNvSpPr>
          <p:nvPr>
            <p:ph type="title"/>
          </p:nvPr>
        </p:nvSpPr>
        <p:spPr/>
        <p:txBody>
          <a:bodyPr/>
          <a:lstStyle/>
          <a:p>
            <a:r>
              <a:rPr lang="en-US" dirty="0"/>
              <a:t> </a:t>
            </a:r>
          </a:p>
        </p:txBody>
      </p:sp>
      <p:pic>
        <p:nvPicPr>
          <p:cNvPr id="4" name="Content Placeholder 3">
            <a:extLst>
              <a:ext uri="{FF2B5EF4-FFF2-40B4-BE49-F238E27FC236}">
                <a16:creationId xmlns:a16="http://schemas.microsoft.com/office/drawing/2014/main" id="{131A220C-AC1B-CBC3-45A8-2182587D34F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5878" y="869383"/>
            <a:ext cx="8460922" cy="5119234"/>
          </a:xfrm>
          <a:prstGeom prst="rect">
            <a:avLst/>
          </a:prstGeom>
        </p:spPr>
      </p:pic>
      <p:sp>
        <p:nvSpPr>
          <p:cNvPr id="5" name="Rectangle: Rounded Corners 4">
            <a:extLst>
              <a:ext uri="{FF2B5EF4-FFF2-40B4-BE49-F238E27FC236}">
                <a16:creationId xmlns:a16="http://schemas.microsoft.com/office/drawing/2014/main" id="{456B61D6-715B-1284-0DE0-C5232EB83C64}"/>
              </a:ext>
            </a:extLst>
          </p:cNvPr>
          <p:cNvSpPr/>
          <p:nvPr/>
        </p:nvSpPr>
        <p:spPr>
          <a:xfrm>
            <a:off x="879231" y="2341501"/>
            <a:ext cx="807794" cy="296191"/>
          </a:xfrm>
          <a:prstGeom prst="roundRect">
            <a:avLst>
              <a:gd name="adj" fmla="val 500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dob</a:t>
            </a:r>
          </a:p>
        </p:txBody>
      </p:sp>
      <p:sp>
        <p:nvSpPr>
          <p:cNvPr id="7" name="Rectangle: Rounded Corners 6">
            <a:extLst>
              <a:ext uri="{FF2B5EF4-FFF2-40B4-BE49-F238E27FC236}">
                <a16:creationId xmlns:a16="http://schemas.microsoft.com/office/drawing/2014/main" id="{58619588-C934-63D5-437E-7ECB2818C286}"/>
              </a:ext>
            </a:extLst>
          </p:cNvPr>
          <p:cNvSpPr/>
          <p:nvPr/>
        </p:nvSpPr>
        <p:spPr>
          <a:xfrm>
            <a:off x="2664487" y="1583378"/>
            <a:ext cx="807794" cy="296191"/>
          </a:xfrm>
          <a:prstGeom prst="roundRect">
            <a:avLst>
              <a:gd name="adj" fmla="val 500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Photo</a:t>
            </a:r>
          </a:p>
        </p:txBody>
      </p:sp>
      <p:sp>
        <p:nvSpPr>
          <p:cNvPr id="8" name="Rectangle: Rounded Corners 7">
            <a:extLst>
              <a:ext uri="{FF2B5EF4-FFF2-40B4-BE49-F238E27FC236}">
                <a16:creationId xmlns:a16="http://schemas.microsoft.com/office/drawing/2014/main" id="{0E0F7523-D15D-84B7-0610-AFFB66A5D561}"/>
              </a:ext>
            </a:extLst>
          </p:cNvPr>
          <p:cNvSpPr/>
          <p:nvPr/>
        </p:nvSpPr>
        <p:spPr>
          <a:xfrm>
            <a:off x="3920898" y="1963510"/>
            <a:ext cx="1070882" cy="296191"/>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Admin</a:t>
            </a:r>
          </a:p>
        </p:txBody>
      </p:sp>
      <p:cxnSp>
        <p:nvCxnSpPr>
          <p:cNvPr id="9" name="Straight Arrow Connector 8">
            <a:extLst>
              <a:ext uri="{FF2B5EF4-FFF2-40B4-BE49-F238E27FC236}">
                <a16:creationId xmlns:a16="http://schemas.microsoft.com/office/drawing/2014/main" id="{1295EC9D-18C4-D7BE-EA53-F9C414F48C34}"/>
              </a:ext>
            </a:extLst>
          </p:cNvPr>
          <p:cNvCxnSpPr>
            <a:cxnSpLocks/>
          </p:cNvCxnSpPr>
          <p:nvPr/>
        </p:nvCxnSpPr>
        <p:spPr>
          <a:xfrm flipH="1">
            <a:off x="4082143" y="2259701"/>
            <a:ext cx="190369" cy="81800"/>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12" name="Diamond 11">
            <a:extLst>
              <a:ext uri="{FF2B5EF4-FFF2-40B4-BE49-F238E27FC236}">
                <a16:creationId xmlns:a16="http://schemas.microsoft.com/office/drawing/2014/main" id="{A9E5EEDC-A3FC-4A3C-C3A6-D39C05A92293}"/>
              </a:ext>
            </a:extLst>
          </p:cNvPr>
          <p:cNvSpPr/>
          <p:nvPr/>
        </p:nvSpPr>
        <p:spPr>
          <a:xfrm>
            <a:off x="3599089" y="2805573"/>
            <a:ext cx="1392691" cy="929588"/>
          </a:xfrm>
          <a:prstGeom prst="diamond">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rPr>
              <a:t>Doctor recommend-</a:t>
            </a:r>
            <a:r>
              <a:rPr lang="en-US" sz="800" b="1" dirty="0" err="1">
                <a:solidFill>
                  <a:schemeClr val="tx1"/>
                </a:solidFill>
              </a:rPr>
              <a:t>ation</a:t>
            </a:r>
            <a:r>
              <a:rPr lang="en-US" sz="1050" b="1" dirty="0">
                <a:solidFill>
                  <a:schemeClr val="tx1"/>
                </a:solidFill>
              </a:rPr>
              <a:t> </a:t>
            </a:r>
          </a:p>
        </p:txBody>
      </p:sp>
      <p:sp>
        <p:nvSpPr>
          <p:cNvPr id="13" name="Rectangle: Rounded Corners 12">
            <a:extLst>
              <a:ext uri="{FF2B5EF4-FFF2-40B4-BE49-F238E27FC236}">
                <a16:creationId xmlns:a16="http://schemas.microsoft.com/office/drawing/2014/main" id="{EE7510F4-B65C-F349-71D2-D2E994654B99}"/>
              </a:ext>
            </a:extLst>
          </p:cNvPr>
          <p:cNvSpPr/>
          <p:nvPr/>
        </p:nvSpPr>
        <p:spPr>
          <a:xfrm>
            <a:off x="2578555" y="3041196"/>
            <a:ext cx="966106" cy="69396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Symptoms analysis </a:t>
            </a:r>
          </a:p>
        </p:txBody>
      </p:sp>
      <p:sp>
        <p:nvSpPr>
          <p:cNvPr id="15" name="Rectangle: Rounded Corners 14">
            <a:extLst>
              <a:ext uri="{FF2B5EF4-FFF2-40B4-BE49-F238E27FC236}">
                <a16:creationId xmlns:a16="http://schemas.microsoft.com/office/drawing/2014/main" id="{65B3A1AD-DE31-5025-9641-1F9CF503FCCF}"/>
              </a:ext>
            </a:extLst>
          </p:cNvPr>
          <p:cNvSpPr/>
          <p:nvPr/>
        </p:nvSpPr>
        <p:spPr>
          <a:xfrm>
            <a:off x="1111493" y="4167154"/>
            <a:ext cx="1317381" cy="350417"/>
          </a:xfrm>
          <a:prstGeom prst="roundRect">
            <a:avLst>
              <a:gd name="adj" fmla="val 500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Appointment id</a:t>
            </a:r>
          </a:p>
        </p:txBody>
      </p:sp>
      <p:sp>
        <p:nvSpPr>
          <p:cNvPr id="17" name="Rectangle: Rounded Corners 16">
            <a:extLst>
              <a:ext uri="{FF2B5EF4-FFF2-40B4-BE49-F238E27FC236}">
                <a16:creationId xmlns:a16="http://schemas.microsoft.com/office/drawing/2014/main" id="{62CFCCCC-539C-D832-958E-F35BB37174FC}"/>
              </a:ext>
            </a:extLst>
          </p:cNvPr>
          <p:cNvSpPr/>
          <p:nvPr/>
        </p:nvSpPr>
        <p:spPr>
          <a:xfrm>
            <a:off x="950928" y="4517571"/>
            <a:ext cx="1317381" cy="350417"/>
          </a:xfrm>
          <a:prstGeom prst="roundRect">
            <a:avLst>
              <a:gd name="adj" fmla="val 500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 Patient ,doctor id</a:t>
            </a:r>
          </a:p>
        </p:txBody>
      </p:sp>
      <p:sp>
        <p:nvSpPr>
          <p:cNvPr id="19" name="Rectangle: Rounded Corners 18">
            <a:extLst>
              <a:ext uri="{FF2B5EF4-FFF2-40B4-BE49-F238E27FC236}">
                <a16:creationId xmlns:a16="http://schemas.microsoft.com/office/drawing/2014/main" id="{BDFC3E60-D07D-C637-483D-DFC9F32EA362}"/>
              </a:ext>
            </a:extLst>
          </p:cNvPr>
          <p:cNvSpPr/>
          <p:nvPr/>
        </p:nvSpPr>
        <p:spPr>
          <a:xfrm>
            <a:off x="950927" y="4937107"/>
            <a:ext cx="1317381" cy="350417"/>
          </a:xfrm>
          <a:prstGeom prst="roundRect">
            <a:avLst>
              <a:gd name="adj" fmla="val 500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Appointment date</a:t>
            </a:r>
          </a:p>
        </p:txBody>
      </p:sp>
      <p:sp>
        <p:nvSpPr>
          <p:cNvPr id="21" name="Rectangle: Rounded Corners 20">
            <a:extLst>
              <a:ext uri="{FF2B5EF4-FFF2-40B4-BE49-F238E27FC236}">
                <a16:creationId xmlns:a16="http://schemas.microsoft.com/office/drawing/2014/main" id="{64839FFB-96A5-3403-AC16-65599BD7B2D9}"/>
              </a:ext>
            </a:extLst>
          </p:cNvPr>
          <p:cNvSpPr/>
          <p:nvPr/>
        </p:nvSpPr>
        <p:spPr>
          <a:xfrm>
            <a:off x="2268308" y="5008302"/>
            <a:ext cx="902363" cy="350417"/>
          </a:xfrm>
          <a:prstGeom prst="roundRect">
            <a:avLst>
              <a:gd name="adj" fmla="val 500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Status</a:t>
            </a:r>
          </a:p>
        </p:txBody>
      </p:sp>
      <p:sp>
        <p:nvSpPr>
          <p:cNvPr id="23" name="Rectangle: Rounded Corners 22">
            <a:extLst>
              <a:ext uri="{FF2B5EF4-FFF2-40B4-BE49-F238E27FC236}">
                <a16:creationId xmlns:a16="http://schemas.microsoft.com/office/drawing/2014/main" id="{4F1E2AE9-6C30-FE7F-68D1-6FA1C2069777}"/>
              </a:ext>
            </a:extLst>
          </p:cNvPr>
          <p:cNvSpPr/>
          <p:nvPr/>
        </p:nvSpPr>
        <p:spPr>
          <a:xfrm>
            <a:off x="1561991" y="5416444"/>
            <a:ext cx="1317381" cy="350417"/>
          </a:xfrm>
          <a:prstGeom prst="roundRect">
            <a:avLst>
              <a:gd name="adj" fmla="val 50000"/>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  </a:t>
            </a:r>
          </a:p>
        </p:txBody>
      </p:sp>
      <p:sp>
        <p:nvSpPr>
          <p:cNvPr id="24" name="Rectangle: Rounded Corners 23">
            <a:extLst>
              <a:ext uri="{FF2B5EF4-FFF2-40B4-BE49-F238E27FC236}">
                <a16:creationId xmlns:a16="http://schemas.microsoft.com/office/drawing/2014/main" id="{0DBA5236-0C01-3453-F8E1-0E9D01ADBE50}"/>
              </a:ext>
            </a:extLst>
          </p:cNvPr>
          <p:cNvSpPr/>
          <p:nvPr/>
        </p:nvSpPr>
        <p:spPr>
          <a:xfrm>
            <a:off x="3787493" y="4416831"/>
            <a:ext cx="1070882" cy="1040551"/>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9B45A7B6-0258-4417-C49D-10C3CA2C4619}"/>
              </a:ext>
            </a:extLst>
          </p:cNvPr>
          <p:cNvSpPr/>
          <p:nvPr/>
        </p:nvSpPr>
        <p:spPr>
          <a:xfrm>
            <a:off x="5671721" y="1556264"/>
            <a:ext cx="902363" cy="350417"/>
          </a:xfrm>
          <a:prstGeom prst="roundRect">
            <a:avLst>
              <a:gd name="adj" fmla="val 500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name</a:t>
            </a:r>
          </a:p>
        </p:txBody>
      </p:sp>
      <p:sp>
        <p:nvSpPr>
          <p:cNvPr id="28" name="Rectangle: Rounded Corners 27">
            <a:extLst>
              <a:ext uri="{FF2B5EF4-FFF2-40B4-BE49-F238E27FC236}">
                <a16:creationId xmlns:a16="http://schemas.microsoft.com/office/drawing/2014/main" id="{420CB891-A12A-879F-CF31-4AB761C706B1}"/>
              </a:ext>
            </a:extLst>
          </p:cNvPr>
          <p:cNvSpPr/>
          <p:nvPr/>
        </p:nvSpPr>
        <p:spPr>
          <a:xfrm>
            <a:off x="5046207" y="3009162"/>
            <a:ext cx="1232965" cy="793511"/>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Booking request</a:t>
            </a:r>
          </a:p>
        </p:txBody>
      </p:sp>
      <p:sp>
        <p:nvSpPr>
          <p:cNvPr id="6" name="Rectangle 5">
            <a:extLst>
              <a:ext uri="{FF2B5EF4-FFF2-40B4-BE49-F238E27FC236}">
                <a16:creationId xmlns:a16="http://schemas.microsoft.com/office/drawing/2014/main" id="{3FF6C6F2-E4D2-FFF6-1F1C-74C34BB892AD}"/>
              </a:ext>
            </a:extLst>
          </p:cNvPr>
          <p:cNvSpPr/>
          <p:nvPr/>
        </p:nvSpPr>
        <p:spPr>
          <a:xfrm>
            <a:off x="1284514" y="467160"/>
            <a:ext cx="6574971" cy="8759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itle 1">
            <a:extLst>
              <a:ext uri="{FF2B5EF4-FFF2-40B4-BE49-F238E27FC236}">
                <a16:creationId xmlns:a16="http://schemas.microsoft.com/office/drawing/2014/main" id="{0B184452-06EB-230B-60CF-44C2CB5EE2C6}"/>
              </a:ext>
            </a:extLst>
          </p:cNvPr>
          <p:cNvSpPr txBox="1">
            <a:spLocks/>
          </p:cNvSpPr>
          <p:nvPr/>
        </p:nvSpPr>
        <p:spPr>
          <a:xfrm>
            <a:off x="609600" y="427038"/>
            <a:ext cx="8229600" cy="11430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b="1" dirty="0">
                <a:latin typeface="Times New Roman" panose="02020603050405020304" pitchFamily="18" charset="0"/>
                <a:cs typeface="Times New Roman" panose="02020603050405020304" pitchFamily="18" charset="0"/>
              </a:rPr>
              <a:t>ENTITY RELATIONSHIP DIAGRAM </a:t>
            </a:r>
            <a:endParaRPr lang="en-US" sz="3600" dirty="0"/>
          </a:p>
        </p:txBody>
      </p:sp>
    </p:spTree>
    <p:extLst>
      <p:ext uri="{BB962C8B-B14F-4D97-AF65-F5344CB8AC3E}">
        <p14:creationId xmlns:p14="http://schemas.microsoft.com/office/powerpoint/2010/main" val="42706258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E3CC2B5-102E-6063-8DF1-8B3432CEECBF}"/>
              </a:ext>
            </a:extLst>
          </p:cNvPr>
          <p:cNvSpPr>
            <a:spLocks noGrp="1"/>
          </p:cNvSpPr>
          <p:nvPr>
            <p:ph type="title"/>
          </p:nvPr>
        </p:nvSpPr>
        <p:spPr/>
        <p:txBody>
          <a:bodyPr/>
          <a:lstStyle/>
          <a:p>
            <a:r>
              <a:rPr lang="en-US" dirty="0"/>
              <a:t> </a:t>
            </a:r>
          </a:p>
        </p:txBody>
      </p:sp>
      <p:pic>
        <p:nvPicPr>
          <p:cNvPr id="5" name="Content Placeholder 4">
            <a:extLst>
              <a:ext uri="{FF2B5EF4-FFF2-40B4-BE49-F238E27FC236}">
                <a16:creationId xmlns:a16="http://schemas.microsoft.com/office/drawing/2014/main" id="{677CC37F-6CA9-D3EC-E04F-45BDBD9B4D2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589379"/>
            <a:ext cx="9144000" cy="5805978"/>
          </a:xfrm>
          <a:prstGeom prst="rect">
            <a:avLst/>
          </a:prstGeom>
        </p:spPr>
      </p:pic>
      <p:sp>
        <p:nvSpPr>
          <p:cNvPr id="7" name="Rectangle 6">
            <a:extLst>
              <a:ext uri="{FF2B5EF4-FFF2-40B4-BE49-F238E27FC236}">
                <a16:creationId xmlns:a16="http://schemas.microsoft.com/office/drawing/2014/main" id="{1A027FC0-0734-B458-00C2-7A99E90FD11A}"/>
              </a:ext>
            </a:extLst>
          </p:cNvPr>
          <p:cNvSpPr/>
          <p:nvPr/>
        </p:nvSpPr>
        <p:spPr>
          <a:xfrm>
            <a:off x="3242581" y="2630261"/>
            <a:ext cx="1513115" cy="143147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1000" dirty="0" err="1">
                <a:solidFill>
                  <a:schemeClr val="tx1"/>
                </a:solidFill>
              </a:rPr>
              <a:t>appointment_id</a:t>
            </a:r>
            <a:endParaRPr lang="en-US" sz="1000" dirty="0">
              <a:solidFill>
                <a:schemeClr val="tx1"/>
              </a:solidFill>
            </a:endParaRPr>
          </a:p>
          <a:p>
            <a:pPr marL="171450" indent="-171450">
              <a:buFont typeface="Arial" panose="020B0604020202020204" pitchFamily="34" charset="0"/>
              <a:buChar char="•"/>
            </a:pPr>
            <a:r>
              <a:rPr lang="en-US" sz="1000" dirty="0" err="1">
                <a:solidFill>
                  <a:schemeClr val="tx1"/>
                </a:solidFill>
              </a:rPr>
              <a:t>patient_id</a:t>
            </a:r>
            <a:endParaRPr lang="en-US" sz="1000" dirty="0">
              <a:solidFill>
                <a:schemeClr val="tx1"/>
              </a:solidFill>
            </a:endParaRPr>
          </a:p>
          <a:p>
            <a:pPr marL="171450" indent="-171450">
              <a:buFont typeface="Arial" panose="020B0604020202020204" pitchFamily="34" charset="0"/>
              <a:buChar char="•"/>
            </a:pPr>
            <a:r>
              <a:rPr lang="en-US" sz="1000" dirty="0" err="1">
                <a:solidFill>
                  <a:schemeClr val="tx1"/>
                </a:solidFill>
              </a:rPr>
              <a:t>doctor_id</a:t>
            </a:r>
            <a:endParaRPr lang="en-US" sz="1000" dirty="0">
              <a:solidFill>
                <a:schemeClr val="tx1"/>
              </a:solidFill>
            </a:endParaRPr>
          </a:p>
          <a:p>
            <a:pPr marL="171450" indent="-171450">
              <a:buFont typeface="Arial" panose="020B0604020202020204" pitchFamily="34" charset="0"/>
              <a:buChar char="•"/>
            </a:pPr>
            <a:r>
              <a:rPr lang="en-US" sz="1000" dirty="0" err="1">
                <a:solidFill>
                  <a:schemeClr val="tx1"/>
                </a:solidFill>
              </a:rPr>
              <a:t>appointment_date</a:t>
            </a:r>
            <a:endParaRPr lang="en-US" sz="1000" dirty="0">
              <a:solidFill>
                <a:schemeClr val="tx1"/>
              </a:solidFill>
            </a:endParaRPr>
          </a:p>
          <a:p>
            <a:pPr marL="171450" indent="-171450">
              <a:buFont typeface="Arial" panose="020B0604020202020204" pitchFamily="34" charset="0"/>
              <a:buChar char="•"/>
            </a:pPr>
            <a:r>
              <a:rPr lang="en-US" sz="1000" dirty="0" err="1">
                <a:solidFill>
                  <a:schemeClr val="tx1"/>
                </a:solidFill>
              </a:rPr>
              <a:t>appointment_time</a:t>
            </a:r>
            <a:endParaRPr lang="en-US" sz="1000" dirty="0">
              <a:solidFill>
                <a:schemeClr val="tx1"/>
              </a:solidFill>
            </a:endParaRPr>
          </a:p>
          <a:p>
            <a:pPr marL="171450" indent="-171450">
              <a:buFont typeface="Arial" panose="020B0604020202020204" pitchFamily="34" charset="0"/>
              <a:buChar char="•"/>
            </a:pPr>
            <a:r>
              <a:rPr lang="en-US" sz="1000" dirty="0" err="1">
                <a:solidFill>
                  <a:schemeClr val="tx1"/>
                </a:solidFill>
              </a:rPr>
              <a:t>appointment_reason</a:t>
            </a:r>
            <a:endParaRPr lang="en-US" sz="1000" dirty="0">
              <a:solidFill>
                <a:schemeClr val="tx1"/>
              </a:solidFill>
            </a:endParaRPr>
          </a:p>
          <a:p>
            <a:pPr marL="171450" indent="-171450">
              <a:buFont typeface="Arial" panose="020B0604020202020204" pitchFamily="34" charset="0"/>
              <a:buChar char="•"/>
            </a:pPr>
            <a:r>
              <a:rPr lang="en-US" sz="1000" dirty="0">
                <a:solidFill>
                  <a:schemeClr val="tx1"/>
                </a:solidFill>
              </a:rPr>
              <a:t>status</a:t>
            </a:r>
          </a:p>
        </p:txBody>
      </p:sp>
      <p:sp>
        <p:nvSpPr>
          <p:cNvPr id="10" name="Rectangle 9">
            <a:extLst>
              <a:ext uri="{FF2B5EF4-FFF2-40B4-BE49-F238E27FC236}">
                <a16:creationId xmlns:a16="http://schemas.microsoft.com/office/drawing/2014/main" id="{9630E915-94E9-ABDA-4F2E-B92C99DA0E91}"/>
              </a:ext>
            </a:extLst>
          </p:cNvPr>
          <p:cNvSpPr/>
          <p:nvPr/>
        </p:nvSpPr>
        <p:spPr>
          <a:xfrm>
            <a:off x="3242581" y="1143000"/>
            <a:ext cx="1211035" cy="8096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1000" dirty="0" err="1">
                <a:solidFill>
                  <a:schemeClr val="tx1"/>
                </a:solidFill>
              </a:rPr>
              <a:t>Patient_id</a:t>
            </a:r>
            <a:endParaRPr lang="en-US" sz="1000" dirty="0">
              <a:solidFill>
                <a:schemeClr val="tx1"/>
              </a:solidFill>
            </a:endParaRPr>
          </a:p>
          <a:p>
            <a:pPr marL="171450" indent="-171450">
              <a:buFont typeface="Arial" panose="020B0604020202020204" pitchFamily="34" charset="0"/>
              <a:buChar char="•"/>
            </a:pPr>
            <a:r>
              <a:rPr lang="en-US" sz="1000" dirty="0">
                <a:solidFill>
                  <a:schemeClr val="tx1"/>
                </a:solidFill>
              </a:rPr>
              <a:t>Password</a:t>
            </a:r>
          </a:p>
          <a:p>
            <a:pPr marL="171450" indent="-171450">
              <a:buFont typeface="Arial" panose="020B0604020202020204" pitchFamily="34" charset="0"/>
              <a:buChar char="•"/>
            </a:pPr>
            <a:r>
              <a:rPr lang="en-US" sz="1000" dirty="0">
                <a:solidFill>
                  <a:schemeClr val="tx1"/>
                </a:solidFill>
              </a:rPr>
              <a:t>email</a:t>
            </a:r>
          </a:p>
        </p:txBody>
      </p:sp>
      <p:sp>
        <p:nvSpPr>
          <p:cNvPr id="12" name="Rectangle 11">
            <a:extLst>
              <a:ext uri="{FF2B5EF4-FFF2-40B4-BE49-F238E27FC236}">
                <a16:creationId xmlns:a16="http://schemas.microsoft.com/office/drawing/2014/main" id="{91FF35F4-4E80-FBDB-55C7-5D514BC50015}"/>
              </a:ext>
            </a:extLst>
          </p:cNvPr>
          <p:cNvSpPr/>
          <p:nvPr/>
        </p:nvSpPr>
        <p:spPr>
          <a:xfrm>
            <a:off x="457200" y="1143000"/>
            <a:ext cx="1638300" cy="204787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1000" dirty="0" err="1">
                <a:solidFill>
                  <a:schemeClr val="tx1"/>
                </a:solidFill>
              </a:rPr>
              <a:t>Patient_id</a:t>
            </a:r>
            <a:r>
              <a:rPr lang="en-US" sz="1000" dirty="0">
                <a:solidFill>
                  <a:schemeClr val="tx1"/>
                </a:solidFill>
              </a:rPr>
              <a:t> </a:t>
            </a:r>
          </a:p>
          <a:p>
            <a:pPr marL="171450" indent="-171450">
              <a:buFont typeface="Arial" panose="020B0604020202020204" pitchFamily="34" charset="0"/>
              <a:buChar char="•"/>
            </a:pPr>
            <a:r>
              <a:rPr lang="en-US" sz="1000" dirty="0" err="1">
                <a:solidFill>
                  <a:schemeClr val="tx1"/>
                </a:solidFill>
              </a:rPr>
              <a:t>first_name</a:t>
            </a:r>
            <a:endParaRPr lang="en-US" sz="1000" dirty="0">
              <a:solidFill>
                <a:schemeClr val="tx1"/>
              </a:solidFill>
            </a:endParaRPr>
          </a:p>
          <a:p>
            <a:pPr marL="171450" indent="-171450">
              <a:buFont typeface="Arial" panose="020B0604020202020204" pitchFamily="34" charset="0"/>
              <a:buChar char="•"/>
            </a:pPr>
            <a:r>
              <a:rPr lang="en-US" sz="1000" dirty="0">
                <a:solidFill>
                  <a:schemeClr val="tx1"/>
                </a:solidFill>
              </a:rPr>
              <a:t> </a:t>
            </a:r>
            <a:r>
              <a:rPr lang="en-US" sz="1000" dirty="0" err="1">
                <a:solidFill>
                  <a:schemeClr val="tx1"/>
                </a:solidFill>
              </a:rPr>
              <a:t>last_name</a:t>
            </a:r>
            <a:endParaRPr lang="en-US" sz="1000" dirty="0">
              <a:solidFill>
                <a:schemeClr val="tx1"/>
              </a:solidFill>
            </a:endParaRPr>
          </a:p>
          <a:p>
            <a:pPr marL="171450" indent="-171450">
              <a:buFont typeface="Arial" panose="020B0604020202020204" pitchFamily="34" charset="0"/>
              <a:buChar char="•"/>
            </a:pPr>
            <a:r>
              <a:rPr lang="en-US" sz="1000" dirty="0">
                <a:solidFill>
                  <a:schemeClr val="tx1"/>
                </a:solidFill>
              </a:rPr>
              <a:t> </a:t>
            </a:r>
            <a:r>
              <a:rPr lang="en-US" sz="1000" dirty="0" err="1">
                <a:solidFill>
                  <a:schemeClr val="tx1"/>
                </a:solidFill>
              </a:rPr>
              <a:t>date_of_birth</a:t>
            </a:r>
            <a:endParaRPr lang="en-US" sz="1000" dirty="0">
              <a:solidFill>
                <a:schemeClr val="tx1"/>
              </a:solidFill>
            </a:endParaRPr>
          </a:p>
          <a:p>
            <a:pPr marL="171450" indent="-171450">
              <a:buFont typeface="Arial" panose="020B0604020202020204" pitchFamily="34" charset="0"/>
              <a:buChar char="•"/>
            </a:pPr>
            <a:r>
              <a:rPr lang="en-US" sz="1000" dirty="0">
                <a:solidFill>
                  <a:schemeClr val="tx1"/>
                </a:solidFill>
              </a:rPr>
              <a:t> gender</a:t>
            </a:r>
          </a:p>
          <a:p>
            <a:pPr marL="171450" indent="-171450">
              <a:buFont typeface="Arial" panose="020B0604020202020204" pitchFamily="34" charset="0"/>
              <a:buChar char="•"/>
            </a:pPr>
            <a:r>
              <a:rPr lang="en-US" sz="1000" dirty="0">
                <a:solidFill>
                  <a:schemeClr val="tx1"/>
                </a:solidFill>
              </a:rPr>
              <a:t> address </a:t>
            </a:r>
          </a:p>
          <a:p>
            <a:pPr marL="171450" indent="-171450">
              <a:buFont typeface="Arial" panose="020B0604020202020204" pitchFamily="34" charset="0"/>
              <a:buChar char="•"/>
            </a:pPr>
            <a:r>
              <a:rPr lang="en-US" sz="1000" dirty="0" err="1">
                <a:solidFill>
                  <a:schemeClr val="tx1"/>
                </a:solidFill>
              </a:rPr>
              <a:t>phone_number</a:t>
            </a:r>
            <a:r>
              <a:rPr lang="en-US" sz="1000" dirty="0">
                <a:solidFill>
                  <a:schemeClr val="tx1"/>
                </a:solidFill>
              </a:rPr>
              <a:t> </a:t>
            </a:r>
          </a:p>
          <a:p>
            <a:pPr marL="171450" indent="-171450">
              <a:buFont typeface="Arial" panose="020B0604020202020204" pitchFamily="34" charset="0"/>
              <a:buChar char="•"/>
            </a:pPr>
            <a:r>
              <a:rPr lang="en-US" sz="1000" dirty="0">
                <a:solidFill>
                  <a:schemeClr val="tx1"/>
                </a:solidFill>
              </a:rPr>
              <a:t>Email</a:t>
            </a:r>
          </a:p>
          <a:p>
            <a:pPr marL="171450" indent="-171450">
              <a:buFont typeface="Arial" panose="020B0604020202020204" pitchFamily="34" charset="0"/>
              <a:buChar char="•"/>
            </a:pPr>
            <a:r>
              <a:rPr lang="en-US" sz="1000" dirty="0">
                <a:solidFill>
                  <a:schemeClr val="tx1"/>
                </a:solidFill>
              </a:rPr>
              <a:t> </a:t>
            </a:r>
            <a:r>
              <a:rPr lang="en-US" sz="1000" dirty="0" err="1">
                <a:solidFill>
                  <a:schemeClr val="tx1"/>
                </a:solidFill>
              </a:rPr>
              <a:t>blood_type</a:t>
            </a:r>
            <a:endParaRPr lang="en-US" sz="1000" dirty="0">
              <a:solidFill>
                <a:schemeClr val="tx1"/>
              </a:solidFill>
            </a:endParaRPr>
          </a:p>
          <a:p>
            <a:pPr marL="171450" indent="-171450">
              <a:buFont typeface="Arial" panose="020B0604020202020204" pitchFamily="34" charset="0"/>
              <a:buChar char="•"/>
            </a:pPr>
            <a:r>
              <a:rPr lang="en-US" sz="1000" dirty="0">
                <a:solidFill>
                  <a:schemeClr val="tx1"/>
                </a:solidFill>
              </a:rPr>
              <a:t> </a:t>
            </a:r>
            <a:r>
              <a:rPr lang="en-US" sz="1000" dirty="0" err="1">
                <a:solidFill>
                  <a:schemeClr val="tx1"/>
                </a:solidFill>
              </a:rPr>
              <a:t>emergency_contact</a:t>
            </a:r>
            <a:endParaRPr lang="en-US" sz="1000" dirty="0">
              <a:solidFill>
                <a:schemeClr val="tx1"/>
              </a:solidFill>
            </a:endParaRPr>
          </a:p>
          <a:p>
            <a:pPr marL="171450" indent="-171450">
              <a:buFont typeface="Arial" panose="020B0604020202020204" pitchFamily="34" charset="0"/>
              <a:buChar char="•"/>
            </a:pPr>
            <a:r>
              <a:rPr lang="en-US" sz="1000" dirty="0">
                <a:solidFill>
                  <a:schemeClr val="tx1"/>
                </a:solidFill>
              </a:rPr>
              <a:t> allergies</a:t>
            </a:r>
          </a:p>
          <a:p>
            <a:pPr marL="171450" indent="-171450">
              <a:buFont typeface="Arial" panose="020B0604020202020204" pitchFamily="34" charset="0"/>
              <a:buChar char="•"/>
            </a:pPr>
            <a:r>
              <a:rPr lang="en-US" sz="1000" dirty="0">
                <a:solidFill>
                  <a:schemeClr val="tx1"/>
                </a:solidFill>
              </a:rPr>
              <a:t> </a:t>
            </a:r>
            <a:r>
              <a:rPr lang="en-US" sz="1000" dirty="0" err="1">
                <a:solidFill>
                  <a:schemeClr val="tx1"/>
                </a:solidFill>
              </a:rPr>
              <a:t>existing_conditions</a:t>
            </a:r>
            <a:endParaRPr lang="en-US" sz="1000" dirty="0">
              <a:solidFill>
                <a:schemeClr val="tx1"/>
              </a:solidFill>
            </a:endParaRPr>
          </a:p>
          <a:p>
            <a:pPr marL="171450" indent="-171450">
              <a:buFont typeface="Arial" panose="020B0604020202020204" pitchFamily="34" charset="0"/>
              <a:buChar char="•"/>
            </a:pPr>
            <a:r>
              <a:rPr lang="en-US" sz="1000" dirty="0">
                <a:solidFill>
                  <a:schemeClr val="tx1"/>
                </a:solidFill>
              </a:rPr>
              <a:t> </a:t>
            </a:r>
            <a:r>
              <a:rPr lang="en-US" sz="1000" dirty="0" err="1">
                <a:solidFill>
                  <a:schemeClr val="tx1"/>
                </a:solidFill>
              </a:rPr>
              <a:t>profile_photo</a:t>
            </a:r>
            <a:endParaRPr lang="en-US" sz="1000" dirty="0">
              <a:solidFill>
                <a:schemeClr val="tx1"/>
              </a:solidFill>
            </a:endParaRPr>
          </a:p>
        </p:txBody>
      </p:sp>
      <p:sp>
        <p:nvSpPr>
          <p:cNvPr id="14" name="Rectangle 13">
            <a:extLst>
              <a:ext uri="{FF2B5EF4-FFF2-40B4-BE49-F238E27FC236}">
                <a16:creationId xmlns:a16="http://schemas.microsoft.com/office/drawing/2014/main" id="{D3A5066C-43B1-520C-E617-F2EBE4A18126}"/>
              </a:ext>
            </a:extLst>
          </p:cNvPr>
          <p:cNvSpPr/>
          <p:nvPr/>
        </p:nvSpPr>
        <p:spPr>
          <a:xfrm>
            <a:off x="5422446" y="1142999"/>
            <a:ext cx="1638300" cy="228600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1000" dirty="0" err="1">
                <a:solidFill>
                  <a:schemeClr val="tx1"/>
                </a:solidFill>
              </a:rPr>
              <a:t>doctor_id</a:t>
            </a:r>
            <a:r>
              <a:rPr lang="en-US" sz="1000" dirty="0">
                <a:solidFill>
                  <a:schemeClr val="tx1"/>
                </a:solidFill>
              </a:rPr>
              <a:t> </a:t>
            </a:r>
          </a:p>
          <a:p>
            <a:pPr marL="171450" indent="-171450">
              <a:buFont typeface="Arial" panose="020B0604020202020204" pitchFamily="34" charset="0"/>
              <a:buChar char="•"/>
            </a:pPr>
            <a:r>
              <a:rPr lang="en-US" sz="1000" dirty="0" err="1">
                <a:solidFill>
                  <a:schemeClr val="tx1"/>
                </a:solidFill>
              </a:rPr>
              <a:t>first_name</a:t>
            </a:r>
            <a:endParaRPr lang="en-US" sz="1000" dirty="0">
              <a:solidFill>
                <a:schemeClr val="tx1"/>
              </a:solidFill>
            </a:endParaRPr>
          </a:p>
          <a:p>
            <a:pPr marL="171450" indent="-171450">
              <a:buFont typeface="Arial" panose="020B0604020202020204" pitchFamily="34" charset="0"/>
              <a:buChar char="•"/>
            </a:pPr>
            <a:r>
              <a:rPr lang="en-US" sz="1000" dirty="0">
                <a:solidFill>
                  <a:schemeClr val="tx1"/>
                </a:solidFill>
              </a:rPr>
              <a:t> </a:t>
            </a:r>
            <a:r>
              <a:rPr lang="en-US" sz="1000" dirty="0" err="1">
                <a:solidFill>
                  <a:schemeClr val="tx1"/>
                </a:solidFill>
              </a:rPr>
              <a:t>last_name</a:t>
            </a:r>
            <a:endParaRPr lang="en-US" sz="1000" dirty="0">
              <a:solidFill>
                <a:schemeClr val="tx1"/>
              </a:solidFill>
            </a:endParaRPr>
          </a:p>
          <a:p>
            <a:pPr marL="171450" indent="-171450">
              <a:buFont typeface="Arial" panose="020B0604020202020204" pitchFamily="34" charset="0"/>
              <a:buChar char="•"/>
            </a:pPr>
            <a:r>
              <a:rPr lang="en-US" sz="1000" dirty="0">
                <a:solidFill>
                  <a:schemeClr val="tx1"/>
                </a:solidFill>
              </a:rPr>
              <a:t>specialization </a:t>
            </a:r>
          </a:p>
          <a:p>
            <a:pPr marL="171450" indent="-171450">
              <a:buFont typeface="Arial" panose="020B0604020202020204" pitchFamily="34" charset="0"/>
              <a:buChar char="•"/>
            </a:pPr>
            <a:r>
              <a:rPr lang="en-US" sz="1000" dirty="0" err="1">
                <a:solidFill>
                  <a:schemeClr val="tx1"/>
                </a:solidFill>
              </a:rPr>
              <a:t>phone_number</a:t>
            </a:r>
            <a:r>
              <a:rPr lang="en-US" sz="1000" dirty="0">
                <a:solidFill>
                  <a:schemeClr val="tx1"/>
                </a:solidFill>
              </a:rPr>
              <a:t> </a:t>
            </a:r>
          </a:p>
          <a:p>
            <a:pPr marL="171450" indent="-171450">
              <a:buFont typeface="Arial" panose="020B0604020202020204" pitchFamily="34" charset="0"/>
              <a:buChar char="•"/>
            </a:pPr>
            <a:r>
              <a:rPr lang="en-US" sz="1000" dirty="0">
                <a:solidFill>
                  <a:schemeClr val="tx1"/>
                </a:solidFill>
              </a:rPr>
              <a:t>Email</a:t>
            </a:r>
          </a:p>
          <a:p>
            <a:pPr marL="171450" indent="-171450">
              <a:buFont typeface="Arial" panose="020B0604020202020204" pitchFamily="34" charset="0"/>
              <a:buChar char="•"/>
            </a:pPr>
            <a:r>
              <a:rPr lang="en-US" sz="1000" dirty="0" err="1">
                <a:solidFill>
                  <a:schemeClr val="tx1"/>
                </a:solidFill>
              </a:rPr>
              <a:t>Available_days</a:t>
            </a:r>
            <a:endParaRPr lang="en-US" sz="1000" dirty="0">
              <a:solidFill>
                <a:schemeClr val="tx1"/>
              </a:solidFill>
            </a:endParaRPr>
          </a:p>
          <a:p>
            <a:pPr marL="171450" indent="-171450">
              <a:buFont typeface="Arial" panose="020B0604020202020204" pitchFamily="34" charset="0"/>
              <a:buChar char="•"/>
            </a:pPr>
            <a:r>
              <a:rPr lang="en-US" sz="1000" dirty="0" err="1">
                <a:solidFill>
                  <a:schemeClr val="tx1"/>
                </a:solidFill>
              </a:rPr>
              <a:t>Available_from</a:t>
            </a:r>
            <a:endParaRPr lang="en-US" sz="1000" dirty="0">
              <a:solidFill>
                <a:schemeClr val="tx1"/>
              </a:solidFill>
            </a:endParaRPr>
          </a:p>
          <a:p>
            <a:pPr marL="171450" indent="-171450">
              <a:buFont typeface="Arial" panose="020B0604020202020204" pitchFamily="34" charset="0"/>
              <a:buChar char="•"/>
            </a:pPr>
            <a:r>
              <a:rPr lang="en-US" sz="1000" dirty="0" err="1">
                <a:solidFill>
                  <a:schemeClr val="tx1"/>
                </a:solidFill>
              </a:rPr>
              <a:t>Available_to</a:t>
            </a:r>
            <a:endParaRPr lang="en-US" sz="1000" dirty="0">
              <a:solidFill>
                <a:schemeClr val="tx1"/>
              </a:solidFill>
            </a:endParaRPr>
          </a:p>
          <a:p>
            <a:pPr marL="171450" indent="-171450">
              <a:buFont typeface="Arial" panose="020B0604020202020204" pitchFamily="34" charset="0"/>
              <a:buChar char="•"/>
            </a:pPr>
            <a:r>
              <a:rPr lang="en-US" sz="1000" dirty="0" err="1">
                <a:solidFill>
                  <a:schemeClr val="tx1"/>
                </a:solidFill>
              </a:rPr>
              <a:t>Years_of_experience</a:t>
            </a:r>
            <a:endParaRPr lang="en-US" sz="1000" dirty="0">
              <a:solidFill>
                <a:schemeClr val="tx1"/>
              </a:solidFill>
            </a:endParaRPr>
          </a:p>
          <a:p>
            <a:pPr marL="171450" indent="-171450">
              <a:buFont typeface="Arial" panose="020B0604020202020204" pitchFamily="34" charset="0"/>
              <a:buChar char="•"/>
            </a:pPr>
            <a:r>
              <a:rPr lang="en-US" sz="1000" dirty="0">
                <a:solidFill>
                  <a:schemeClr val="tx1"/>
                </a:solidFill>
              </a:rPr>
              <a:t> salary</a:t>
            </a:r>
          </a:p>
          <a:p>
            <a:pPr marL="171450" indent="-171450">
              <a:buFont typeface="Arial" panose="020B0604020202020204" pitchFamily="34" charset="0"/>
              <a:buChar char="•"/>
            </a:pPr>
            <a:r>
              <a:rPr lang="en-US" sz="1000" dirty="0" err="1">
                <a:solidFill>
                  <a:schemeClr val="tx1"/>
                </a:solidFill>
              </a:rPr>
              <a:t>Avg_rating</a:t>
            </a:r>
            <a:endParaRPr lang="en-US" sz="1000" dirty="0">
              <a:solidFill>
                <a:schemeClr val="tx1"/>
              </a:solidFill>
            </a:endParaRPr>
          </a:p>
          <a:p>
            <a:pPr marL="171450" indent="-171450">
              <a:buFont typeface="Arial" panose="020B0604020202020204" pitchFamily="34" charset="0"/>
              <a:buChar char="•"/>
            </a:pPr>
            <a:r>
              <a:rPr lang="en-US" sz="1000" dirty="0" err="1">
                <a:solidFill>
                  <a:schemeClr val="tx1"/>
                </a:solidFill>
              </a:rPr>
              <a:t>Total_reviews</a:t>
            </a:r>
            <a:endParaRPr lang="en-US" sz="1000" dirty="0">
              <a:solidFill>
                <a:schemeClr val="tx1"/>
              </a:solidFill>
            </a:endParaRPr>
          </a:p>
          <a:p>
            <a:pPr marL="171450" indent="-171450">
              <a:buFont typeface="Arial" panose="020B0604020202020204" pitchFamily="34" charset="0"/>
              <a:buChar char="•"/>
            </a:pPr>
            <a:r>
              <a:rPr lang="en-US" sz="1000" dirty="0">
                <a:solidFill>
                  <a:schemeClr val="tx1"/>
                </a:solidFill>
              </a:rPr>
              <a:t> </a:t>
            </a:r>
            <a:r>
              <a:rPr lang="en-US" sz="1000" dirty="0" err="1">
                <a:solidFill>
                  <a:schemeClr val="tx1"/>
                </a:solidFill>
              </a:rPr>
              <a:t>profile_photo</a:t>
            </a:r>
            <a:endParaRPr lang="en-US" sz="1000" dirty="0">
              <a:solidFill>
                <a:schemeClr val="tx1"/>
              </a:solidFill>
            </a:endParaRPr>
          </a:p>
        </p:txBody>
      </p:sp>
      <p:sp>
        <p:nvSpPr>
          <p:cNvPr id="16" name="Rectangle 15">
            <a:extLst>
              <a:ext uri="{FF2B5EF4-FFF2-40B4-BE49-F238E27FC236}">
                <a16:creationId xmlns:a16="http://schemas.microsoft.com/office/drawing/2014/main" id="{7A63CF54-B350-704D-364A-126490477D76}"/>
              </a:ext>
            </a:extLst>
          </p:cNvPr>
          <p:cNvSpPr/>
          <p:nvPr/>
        </p:nvSpPr>
        <p:spPr>
          <a:xfrm>
            <a:off x="7606393" y="1939017"/>
            <a:ext cx="1190626" cy="69124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1000" dirty="0" err="1">
                <a:solidFill>
                  <a:schemeClr val="tx1"/>
                </a:solidFill>
              </a:rPr>
              <a:t>doctor_id</a:t>
            </a:r>
            <a:endParaRPr lang="en-US" sz="1000" dirty="0">
              <a:solidFill>
                <a:schemeClr val="tx1"/>
              </a:solidFill>
            </a:endParaRPr>
          </a:p>
          <a:p>
            <a:pPr marL="171450" indent="-171450">
              <a:buFont typeface="Arial" panose="020B0604020202020204" pitchFamily="34" charset="0"/>
              <a:buChar char="•"/>
            </a:pPr>
            <a:r>
              <a:rPr lang="en-US" sz="1000" dirty="0">
                <a:solidFill>
                  <a:schemeClr val="tx1"/>
                </a:solidFill>
              </a:rPr>
              <a:t>Password</a:t>
            </a:r>
          </a:p>
          <a:p>
            <a:pPr marL="171450" indent="-171450">
              <a:buFont typeface="Arial" panose="020B0604020202020204" pitchFamily="34" charset="0"/>
              <a:buChar char="•"/>
            </a:pPr>
            <a:r>
              <a:rPr lang="en-US" sz="1000" dirty="0">
                <a:solidFill>
                  <a:schemeClr val="tx1"/>
                </a:solidFill>
              </a:rPr>
              <a:t>email</a:t>
            </a:r>
          </a:p>
        </p:txBody>
      </p:sp>
      <p:sp>
        <p:nvSpPr>
          <p:cNvPr id="18" name="Rectangle 17">
            <a:extLst>
              <a:ext uri="{FF2B5EF4-FFF2-40B4-BE49-F238E27FC236}">
                <a16:creationId xmlns:a16="http://schemas.microsoft.com/office/drawing/2014/main" id="{F4BA8F23-C257-F0CB-443B-CB1DA2F62B47}"/>
              </a:ext>
            </a:extLst>
          </p:cNvPr>
          <p:cNvSpPr/>
          <p:nvPr/>
        </p:nvSpPr>
        <p:spPr>
          <a:xfrm>
            <a:off x="3237752" y="4837150"/>
            <a:ext cx="1513115" cy="15582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endParaRPr lang="en-US" sz="1000" dirty="0">
              <a:solidFill>
                <a:schemeClr val="tx1"/>
              </a:solidFill>
            </a:endParaRPr>
          </a:p>
          <a:p>
            <a:pPr marL="171450" indent="-171450">
              <a:buFont typeface="Arial" panose="020B0604020202020204" pitchFamily="34" charset="0"/>
              <a:buChar char="•"/>
            </a:pPr>
            <a:r>
              <a:rPr lang="en-US" sz="1000" dirty="0" err="1">
                <a:solidFill>
                  <a:schemeClr val="tx1"/>
                </a:solidFill>
              </a:rPr>
              <a:t>Review_id</a:t>
            </a:r>
            <a:endParaRPr lang="en-US" sz="1000" dirty="0">
              <a:solidFill>
                <a:schemeClr val="tx1"/>
              </a:solidFill>
            </a:endParaRPr>
          </a:p>
          <a:p>
            <a:pPr marL="171450" indent="-171450">
              <a:buFont typeface="Arial" panose="020B0604020202020204" pitchFamily="34" charset="0"/>
              <a:buChar char="•"/>
            </a:pPr>
            <a:r>
              <a:rPr lang="en-US" sz="1000" dirty="0" err="1">
                <a:solidFill>
                  <a:schemeClr val="tx1"/>
                </a:solidFill>
              </a:rPr>
              <a:t>appointment_id</a:t>
            </a:r>
            <a:endParaRPr lang="en-US" sz="1000" dirty="0">
              <a:solidFill>
                <a:schemeClr val="tx1"/>
              </a:solidFill>
            </a:endParaRPr>
          </a:p>
          <a:p>
            <a:pPr marL="171450" indent="-171450">
              <a:buFont typeface="Arial" panose="020B0604020202020204" pitchFamily="34" charset="0"/>
              <a:buChar char="•"/>
            </a:pPr>
            <a:r>
              <a:rPr lang="en-US" sz="1000" dirty="0" err="1">
                <a:solidFill>
                  <a:schemeClr val="tx1"/>
                </a:solidFill>
              </a:rPr>
              <a:t>patient_id</a:t>
            </a:r>
            <a:endParaRPr lang="en-US" sz="1000" dirty="0">
              <a:solidFill>
                <a:schemeClr val="tx1"/>
              </a:solidFill>
            </a:endParaRPr>
          </a:p>
          <a:p>
            <a:pPr marL="171450" indent="-171450">
              <a:buFont typeface="Arial" panose="020B0604020202020204" pitchFamily="34" charset="0"/>
              <a:buChar char="•"/>
            </a:pPr>
            <a:r>
              <a:rPr lang="en-US" sz="1000" dirty="0" err="1">
                <a:solidFill>
                  <a:schemeClr val="tx1"/>
                </a:solidFill>
              </a:rPr>
              <a:t>doctor_id</a:t>
            </a:r>
            <a:endParaRPr lang="en-US" sz="1000" dirty="0">
              <a:solidFill>
                <a:schemeClr val="tx1"/>
              </a:solidFill>
            </a:endParaRPr>
          </a:p>
          <a:p>
            <a:pPr marL="171450" indent="-171450">
              <a:buFont typeface="Arial" panose="020B0604020202020204" pitchFamily="34" charset="0"/>
              <a:buChar char="•"/>
            </a:pPr>
            <a:r>
              <a:rPr lang="en-US" sz="1000" dirty="0">
                <a:solidFill>
                  <a:schemeClr val="tx1"/>
                </a:solidFill>
              </a:rPr>
              <a:t>rating</a:t>
            </a:r>
          </a:p>
          <a:p>
            <a:pPr marL="171450" indent="-171450">
              <a:buFont typeface="Arial" panose="020B0604020202020204" pitchFamily="34" charset="0"/>
              <a:buChar char="•"/>
            </a:pPr>
            <a:r>
              <a:rPr lang="en-US" sz="1000" dirty="0" err="1">
                <a:solidFill>
                  <a:schemeClr val="tx1"/>
                </a:solidFill>
              </a:rPr>
              <a:t>Review_text</a:t>
            </a:r>
            <a:endParaRPr lang="en-US" sz="1000" dirty="0">
              <a:solidFill>
                <a:schemeClr val="tx1"/>
              </a:solidFill>
            </a:endParaRPr>
          </a:p>
          <a:p>
            <a:pPr marL="171450" indent="-171450">
              <a:buFont typeface="Arial" panose="020B0604020202020204" pitchFamily="34" charset="0"/>
              <a:buChar char="•"/>
            </a:pPr>
            <a:r>
              <a:rPr lang="en-US" sz="1000" dirty="0" err="1">
                <a:solidFill>
                  <a:schemeClr val="tx1"/>
                </a:solidFill>
              </a:rPr>
              <a:t>Created_at</a:t>
            </a:r>
            <a:endParaRPr lang="en-US" sz="1000" dirty="0">
              <a:solidFill>
                <a:schemeClr val="tx1"/>
              </a:solidFill>
            </a:endParaRPr>
          </a:p>
        </p:txBody>
      </p:sp>
      <p:sp>
        <p:nvSpPr>
          <p:cNvPr id="21" name="Title 1">
            <a:extLst>
              <a:ext uri="{FF2B5EF4-FFF2-40B4-BE49-F238E27FC236}">
                <a16:creationId xmlns:a16="http://schemas.microsoft.com/office/drawing/2014/main" id="{86F08ECE-A4F3-D29D-4478-57B36F6FDE31}"/>
              </a:ext>
            </a:extLst>
          </p:cNvPr>
          <p:cNvSpPr txBox="1">
            <a:spLocks/>
          </p:cNvSpPr>
          <p:nvPr/>
        </p:nvSpPr>
        <p:spPr>
          <a:xfrm>
            <a:off x="609600" y="427038"/>
            <a:ext cx="8229600" cy="19458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b="1" dirty="0">
                <a:latin typeface="Times New Roman" panose="02020603050405020304" pitchFamily="18" charset="0"/>
                <a:cs typeface="Times New Roman" panose="02020603050405020304" pitchFamily="18" charset="0"/>
              </a:rPr>
              <a:t>CLASS DIAGRAM </a:t>
            </a:r>
            <a:endParaRPr lang="en-US" sz="3600" dirty="0"/>
          </a:p>
        </p:txBody>
      </p:sp>
    </p:spTree>
    <p:extLst>
      <p:ext uri="{BB962C8B-B14F-4D97-AF65-F5344CB8AC3E}">
        <p14:creationId xmlns:p14="http://schemas.microsoft.com/office/powerpoint/2010/main" val="29658181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A70CB2A9-027C-CC04-73A5-04B4EE06289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60715" y="895578"/>
            <a:ext cx="5973536" cy="5687784"/>
          </a:xfrm>
          <a:prstGeom prst="rect">
            <a:avLst/>
          </a:prstGeom>
        </p:spPr>
      </p:pic>
      <p:sp>
        <p:nvSpPr>
          <p:cNvPr id="9" name="Title 1">
            <a:extLst>
              <a:ext uri="{FF2B5EF4-FFF2-40B4-BE49-F238E27FC236}">
                <a16:creationId xmlns:a16="http://schemas.microsoft.com/office/drawing/2014/main" id="{FB3DD8E7-3C0C-CA29-7395-1BA79A16B814}"/>
              </a:ext>
            </a:extLst>
          </p:cNvPr>
          <p:cNvSpPr txBox="1">
            <a:spLocks noGrp="1"/>
          </p:cNvSpPr>
          <p:nvPr>
            <p:ph type="title"/>
          </p:nvPr>
        </p:nvSpPr>
        <p:spPr>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b="1" dirty="0">
                <a:latin typeface="Times New Roman" panose="02020603050405020304" pitchFamily="18" charset="0"/>
                <a:cs typeface="Times New Roman" panose="02020603050405020304" pitchFamily="18" charset="0"/>
              </a:rPr>
              <a:t>ACTIVITY DIAGRAM </a:t>
            </a:r>
            <a:endParaRPr lang="en-US" sz="3600" dirty="0"/>
          </a:p>
        </p:txBody>
      </p:sp>
      <p:sp>
        <p:nvSpPr>
          <p:cNvPr id="10" name="Rectangle 9">
            <a:extLst>
              <a:ext uri="{FF2B5EF4-FFF2-40B4-BE49-F238E27FC236}">
                <a16:creationId xmlns:a16="http://schemas.microsoft.com/office/drawing/2014/main" id="{DBF63EF5-7E26-F7E5-01D0-DCA442730CDA}"/>
              </a:ext>
            </a:extLst>
          </p:cNvPr>
          <p:cNvSpPr/>
          <p:nvPr/>
        </p:nvSpPr>
        <p:spPr>
          <a:xfrm>
            <a:off x="4991100" y="1649413"/>
            <a:ext cx="1404257" cy="77832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68C9198-69E6-1736-08BB-F7B5427AF435}"/>
              </a:ext>
            </a:extLst>
          </p:cNvPr>
          <p:cNvSpPr/>
          <p:nvPr/>
        </p:nvSpPr>
        <p:spPr>
          <a:xfrm>
            <a:off x="4898571" y="2108654"/>
            <a:ext cx="1027339" cy="31908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D3C333F-0911-6251-4408-2E6D7B52FA5F}"/>
              </a:ext>
            </a:extLst>
          </p:cNvPr>
          <p:cNvSpPr/>
          <p:nvPr/>
        </p:nvSpPr>
        <p:spPr>
          <a:xfrm>
            <a:off x="4402931" y="1902505"/>
            <a:ext cx="338138" cy="13607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FED9414-313F-AD74-794E-75CC78729124}"/>
              </a:ext>
            </a:extLst>
          </p:cNvPr>
          <p:cNvSpPr/>
          <p:nvPr/>
        </p:nvSpPr>
        <p:spPr>
          <a:xfrm>
            <a:off x="4233862" y="2591481"/>
            <a:ext cx="338138" cy="13607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no</a:t>
            </a:r>
          </a:p>
        </p:txBody>
      </p:sp>
      <p:sp>
        <p:nvSpPr>
          <p:cNvPr id="40" name="Right Bracket 39">
            <a:extLst>
              <a:ext uri="{FF2B5EF4-FFF2-40B4-BE49-F238E27FC236}">
                <a16:creationId xmlns:a16="http://schemas.microsoft.com/office/drawing/2014/main" id="{50544FFC-F691-6718-F047-66325D71A12E}"/>
              </a:ext>
            </a:extLst>
          </p:cNvPr>
          <p:cNvSpPr/>
          <p:nvPr/>
        </p:nvSpPr>
        <p:spPr>
          <a:xfrm>
            <a:off x="5046209" y="2268198"/>
            <a:ext cx="142875" cy="1058748"/>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1" name="Straight Arrow Connector 40">
            <a:extLst>
              <a:ext uri="{FF2B5EF4-FFF2-40B4-BE49-F238E27FC236}">
                <a16:creationId xmlns:a16="http://schemas.microsoft.com/office/drawing/2014/main" id="{164FA4DD-C304-3880-81D7-EC07A5758689}"/>
              </a:ext>
            </a:extLst>
          </p:cNvPr>
          <p:cNvCxnSpPr>
            <a:cxnSpLocks/>
          </p:cNvCxnSpPr>
          <p:nvPr/>
        </p:nvCxnSpPr>
        <p:spPr>
          <a:xfrm flipV="1">
            <a:off x="4830536" y="2268198"/>
            <a:ext cx="248500" cy="51820"/>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44" name="Diamond 43">
            <a:extLst>
              <a:ext uri="{FF2B5EF4-FFF2-40B4-BE49-F238E27FC236}">
                <a16:creationId xmlns:a16="http://schemas.microsoft.com/office/drawing/2014/main" id="{E701A945-9240-32EC-F9FE-0E12E76B4DDE}"/>
              </a:ext>
            </a:extLst>
          </p:cNvPr>
          <p:cNvSpPr/>
          <p:nvPr/>
        </p:nvSpPr>
        <p:spPr>
          <a:xfrm>
            <a:off x="3797583" y="2086372"/>
            <a:ext cx="1083469" cy="500403"/>
          </a:xfrm>
          <a:prstGeom prst="diamond">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Valid?</a:t>
            </a:r>
          </a:p>
        </p:txBody>
      </p:sp>
      <p:sp>
        <p:nvSpPr>
          <p:cNvPr id="2" name="Rectangle: Rounded Corners 1">
            <a:extLst>
              <a:ext uri="{FF2B5EF4-FFF2-40B4-BE49-F238E27FC236}">
                <a16:creationId xmlns:a16="http://schemas.microsoft.com/office/drawing/2014/main" id="{19497915-2922-614B-B2C2-D1A6FA7DADE9}"/>
              </a:ext>
            </a:extLst>
          </p:cNvPr>
          <p:cNvSpPr/>
          <p:nvPr/>
        </p:nvSpPr>
        <p:spPr>
          <a:xfrm>
            <a:off x="2585357" y="5129893"/>
            <a:ext cx="1421947" cy="278946"/>
          </a:xfrm>
          <a:prstGeom prst="roundRect">
            <a:avLst>
              <a:gd name="adj" fmla="val 500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Doctor login</a:t>
            </a:r>
          </a:p>
        </p:txBody>
      </p:sp>
    </p:spTree>
    <p:extLst>
      <p:ext uri="{BB962C8B-B14F-4D97-AF65-F5344CB8AC3E}">
        <p14:creationId xmlns:p14="http://schemas.microsoft.com/office/powerpoint/2010/main" val="40398757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E379BDD-D393-5EE2-50A9-CD6538806400}"/>
              </a:ext>
            </a:extLst>
          </p:cNvPr>
          <p:cNvSpPr txBox="1">
            <a:spLocks noGrp="1"/>
          </p:cNvSpPr>
          <p:nvPr>
            <p:ph type="title"/>
          </p:nvPr>
        </p:nvSpPr>
        <p:spPr>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b="1" dirty="0">
                <a:latin typeface="Times New Roman" panose="02020603050405020304" pitchFamily="18" charset="0"/>
                <a:cs typeface="Times New Roman" panose="02020603050405020304" pitchFamily="18" charset="0"/>
              </a:rPr>
              <a:t>SEQUENCE DIAGRAM </a:t>
            </a:r>
            <a:endParaRPr lang="en-US" sz="3600" dirty="0"/>
          </a:p>
        </p:txBody>
      </p:sp>
      <p:pic>
        <p:nvPicPr>
          <p:cNvPr id="6" name="Content Placeholder 5">
            <a:extLst>
              <a:ext uri="{FF2B5EF4-FFF2-40B4-BE49-F238E27FC236}">
                <a16:creationId xmlns:a16="http://schemas.microsoft.com/office/drawing/2014/main" id="{61752273-7883-0C4F-3455-1FA2CB34664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21179" y="1417638"/>
            <a:ext cx="7647213" cy="4525962"/>
          </a:xfrm>
          <a:prstGeom prst="rect">
            <a:avLst/>
          </a:prstGeom>
        </p:spPr>
      </p:pic>
      <p:sp>
        <p:nvSpPr>
          <p:cNvPr id="8" name="Rectangle 7">
            <a:extLst>
              <a:ext uri="{FF2B5EF4-FFF2-40B4-BE49-F238E27FC236}">
                <a16:creationId xmlns:a16="http://schemas.microsoft.com/office/drawing/2014/main" id="{28EAE6B4-E89A-4313-FEEF-A7119B907DB2}"/>
              </a:ext>
            </a:extLst>
          </p:cNvPr>
          <p:cNvSpPr/>
          <p:nvPr/>
        </p:nvSpPr>
        <p:spPr>
          <a:xfrm>
            <a:off x="2027465" y="2924700"/>
            <a:ext cx="1401537" cy="16412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Login/Register</a:t>
            </a:r>
          </a:p>
        </p:txBody>
      </p:sp>
      <p:sp>
        <p:nvSpPr>
          <p:cNvPr id="12" name="Rectangle 11">
            <a:extLst>
              <a:ext uri="{FF2B5EF4-FFF2-40B4-BE49-F238E27FC236}">
                <a16:creationId xmlns:a16="http://schemas.microsoft.com/office/drawing/2014/main" id="{4543B774-090E-DFAA-0173-E4C3AD518D94}"/>
              </a:ext>
            </a:extLst>
          </p:cNvPr>
          <p:cNvSpPr/>
          <p:nvPr/>
        </p:nvSpPr>
        <p:spPr>
          <a:xfrm>
            <a:off x="4544785" y="3524137"/>
            <a:ext cx="1503589" cy="15648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Analyze Symptoms </a:t>
            </a:r>
          </a:p>
        </p:txBody>
      </p:sp>
      <p:sp>
        <p:nvSpPr>
          <p:cNvPr id="16" name="Rectangle 15">
            <a:extLst>
              <a:ext uri="{FF2B5EF4-FFF2-40B4-BE49-F238E27FC236}">
                <a16:creationId xmlns:a16="http://schemas.microsoft.com/office/drawing/2014/main" id="{B2904DF8-7C1D-39F7-D24D-FEF6B7D0FAFA}"/>
              </a:ext>
            </a:extLst>
          </p:cNvPr>
          <p:cNvSpPr/>
          <p:nvPr/>
        </p:nvSpPr>
        <p:spPr>
          <a:xfrm>
            <a:off x="3544663" y="5081430"/>
            <a:ext cx="870856" cy="20494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8" name="Rectangle 17">
            <a:extLst>
              <a:ext uri="{FF2B5EF4-FFF2-40B4-BE49-F238E27FC236}">
                <a16:creationId xmlns:a16="http://schemas.microsoft.com/office/drawing/2014/main" id="{C58B641C-E2F6-3B6A-FF3E-F8BD99065766}"/>
              </a:ext>
            </a:extLst>
          </p:cNvPr>
          <p:cNvSpPr/>
          <p:nvPr/>
        </p:nvSpPr>
        <p:spPr>
          <a:xfrm>
            <a:off x="4041321" y="5177631"/>
            <a:ext cx="1830160" cy="10874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Appointment  request</a:t>
            </a:r>
          </a:p>
        </p:txBody>
      </p:sp>
      <p:sp>
        <p:nvSpPr>
          <p:cNvPr id="20" name="Rectangle 19">
            <a:extLst>
              <a:ext uri="{FF2B5EF4-FFF2-40B4-BE49-F238E27FC236}">
                <a16:creationId xmlns:a16="http://schemas.microsoft.com/office/drawing/2014/main" id="{7D2D4A99-A7B4-0867-1856-8D2B5A6EE1A3}"/>
              </a:ext>
            </a:extLst>
          </p:cNvPr>
          <p:cNvSpPr/>
          <p:nvPr/>
        </p:nvSpPr>
        <p:spPr>
          <a:xfrm flipV="1">
            <a:off x="2088701" y="4313464"/>
            <a:ext cx="149674" cy="12789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cxnSp>
        <p:nvCxnSpPr>
          <p:cNvPr id="21" name="Straight Arrow Connector 20">
            <a:extLst>
              <a:ext uri="{FF2B5EF4-FFF2-40B4-BE49-F238E27FC236}">
                <a16:creationId xmlns:a16="http://schemas.microsoft.com/office/drawing/2014/main" id="{AE8FCB31-83B6-BE49-5B88-94A705160A45}"/>
              </a:ext>
            </a:extLst>
          </p:cNvPr>
          <p:cNvCxnSpPr>
            <a:cxnSpLocks/>
          </p:cNvCxnSpPr>
          <p:nvPr/>
        </p:nvCxnSpPr>
        <p:spPr>
          <a:xfrm>
            <a:off x="2027465" y="5709481"/>
            <a:ext cx="534460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6062C5E7-CBA8-035F-2101-ABC9AEDF5DA5}"/>
              </a:ext>
            </a:extLst>
          </p:cNvPr>
          <p:cNvSpPr/>
          <p:nvPr/>
        </p:nvSpPr>
        <p:spPr>
          <a:xfrm>
            <a:off x="6048374" y="5400750"/>
            <a:ext cx="1401537" cy="16412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Review</a:t>
            </a:r>
          </a:p>
        </p:txBody>
      </p:sp>
      <p:sp>
        <p:nvSpPr>
          <p:cNvPr id="3" name="Rectangle 2">
            <a:extLst>
              <a:ext uri="{FF2B5EF4-FFF2-40B4-BE49-F238E27FC236}">
                <a16:creationId xmlns:a16="http://schemas.microsoft.com/office/drawing/2014/main" id="{2A53ED9E-581D-AC3E-19A6-CCE502DB2615}"/>
              </a:ext>
            </a:extLst>
          </p:cNvPr>
          <p:cNvSpPr/>
          <p:nvPr/>
        </p:nvSpPr>
        <p:spPr>
          <a:xfrm>
            <a:off x="1284514" y="1697148"/>
            <a:ext cx="6574971" cy="26988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4F001C81-337C-DD6D-800B-184B8C8C909A}"/>
              </a:ext>
            </a:extLst>
          </p:cNvPr>
          <p:cNvSpPr/>
          <p:nvPr/>
        </p:nvSpPr>
        <p:spPr>
          <a:xfrm>
            <a:off x="5242151" y="2290572"/>
            <a:ext cx="1415895" cy="3105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t>ML process </a:t>
            </a:r>
          </a:p>
        </p:txBody>
      </p:sp>
    </p:spTree>
    <p:extLst>
      <p:ext uri="{BB962C8B-B14F-4D97-AF65-F5344CB8AC3E}">
        <p14:creationId xmlns:p14="http://schemas.microsoft.com/office/powerpoint/2010/main" val="36347307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2035282-6543-7ED8-01B9-2267C37502B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46174" y="1600200"/>
            <a:ext cx="6251651" cy="4525963"/>
          </a:xfrm>
          <a:prstGeom prst="rect">
            <a:avLst/>
          </a:prstGeom>
        </p:spPr>
      </p:pic>
      <p:sp>
        <p:nvSpPr>
          <p:cNvPr id="6" name="Title 1">
            <a:extLst>
              <a:ext uri="{FF2B5EF4-FFF2-40B4-BE49-F238E27FC236}">
                <a16:creationId xmlns:a16="http://schemas.microsoft.com/office/drawing/2014/main" id="{D1AF1DE1-21ED-AF83-8DCA-2E28CB7BD571}"/>
              </a:ext>
            </a:extLst>
          </p:cNvPr>
          <p:cNvSpPr txBox="1">
            <a:spLocks noGrp="1"/>
          </p:cNvSpPr>
          <p:nvPr>
            <p:ph type="title"/>
          </p:nvPr>
        </p:nvSpPr>
        <p:spPr>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b="1" dirty="0">
                <a:latin typeface="Times New Roman" panose="02020603050405020304" pitchFamily="18" charset="0"/>
                <a:cs typeface="Times New Roman" panose="02020603050405020304" pitchFamily="18" charset="0"/>
              </a:rPr>
              <a:t>USE CASE DIAGRAM </a:t>
            </a:r>
            <a:endParaRPr lang="en-US" sz="3600" dirty="0"/>
          </a:p>
        </p:txBody>
      </p:sp>
      <p:sp>
        <p:nvSpPr>
          <p:cNvPr id="7" name="Rectangle 6">
            <a:extLst>
              <a:ext uri="{FF2B5EF4-FFF2-40B4-BE49-F238E27FC236}">
                <a16:creationId xmlns:a16="http://schemas.microsoft.com/office/drawing/2014/main" id="{13CFF0A1-CF3C-EDEA-8EEA-FE099EA246AF}"/>
              </a:ext>
            </a:extLst>
          </p:cNvPr>
          <p:cNvSpPr/>
          <p:nvPr/>
        </p:nvSpPr>
        <p:spPr>
          <a:xfrm>
            <a:off x="5657850" y="3943576"/>
            <a:ext cx="832758" cy="184240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DC5CAE0-8C75-A592-143A-137BE412DE2C}"/>
              </a:ext>
            </a:extLst>
          </p:cNvPr>
          <p:cNvSpPr/>
          <p:nvPr/>
        </p:nvSpPr>
        <p:spPr>
          <a:xfrm>
            <a:off x="6338207" y="3603396"/>
            <a:ext cx="152401" cy="10763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8E5EF85-412F-D747-C72E-9A4831E71E43}"/>
              </a:ext>
            </a:extLst>
          </p:cNvPr>
          <p:cNvSpPr/>
          <p:nvPr/>
        </p:nvSpPr>
        <p:spPr>
          <a:xfrm>
            <a:off x="6565446" y="4415743"/>
            <a:ext cx="152401" cy="10763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Arrow Connector 21">
            <a:extLst>
              <a:ext uri="{FF2B5EF4-FFF2-40B4-BE49-F238E27FC236}">
                <a16:creationId xmlns:a16="http://schemas.microsoft.com/office/drawing/2014/main" id="{CF71359D-A95C-9246-D206-A80CB4BB0192}"/>
              </a:ext>
            </a:extLst>
          </p:cNvPr>
          <p:cNvCxnSpPr>
            <a:cxnSpLocks/>
          </p:cNvCxnSpPr>
          <p:nvPr/>
        </p:nvCxnSpPr>
        <p:spPr>
          <a:xfrm flipH="1">
            <a:off x="5657850" y="3429000"/>
            <a:ext cx="1171707" cy="1687512"/>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lowchart: Connector 28">
            <a:extLst>
              <a:ext uri="{FF2B5EF4-FFF2-40B4-BE49-F238E27FC236}">
                <a16:creationId xmlns:a16="http://schemas.microsoft.com/office/drawing/2014/main" id="{1C64A09F-D0B3-6640-1B74-40097EB5265B}"/>
              </a:ext>
            </a:extLst>
          </p:cNvPr>
          <p:cNvSpPr/>
          <p:nvPr/>
        </p:nvSpPr>
        <p:spPr>
          <a:xfrm>
            <a:off x="3509281" y="2066925"/>
            <a:ext cx="2280558" cy="450396"/>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Manage patient</a:t>
            </a:r>
          </a:p>
        </p:txBody>
      </p:sp>
      <p:cxnSp>
        <p:nvCxnSpPr>
          <p:cNvPr id="30" name="Straight Arrow Connector 29">
            <a:extLst>
              <a:ext uri="{FF2B5EF4-FFF2-40B4-BE49-F238E27FC236}">
                <a16:creationId xmlns:a16="http://schemas.microsoft.com/office/drawing/2014/main" id="{619F71F4-94F7-1B5E-1BDB-101BA0B35C4F}"/>
              </a:ext>
            </a:extLst>
          </p:cNvPr>
          <p:cNvCxnSpPr>
            <a:cxnSpLocks/>
            <a:endCxn id="29" idx="2"/>
          </p:cNvCxnSpPr>
          <p:nvPr/>
        </p:nvCxnSpPr>
        <p:spPr>
          <a:xfrm flipV="1">
            <a:off x="2349204" y="2292123"/>
            <a:ext cx="1160077" cy="23875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636C255A-8BB9-7C78-9770-892F55B94155}"/>
              </a:ext>
            </a:extLst>
          </p:cNvPr>
          <p:cNvCxnSpPr>
            <a:cxnSpLocks/>
          </p:cNvCxnSpPr>
          <p:nvPr/>
        </p:nvCxnSpPr>
        <p:spPr>
          <a:xfrm flipV="1">
            <a:off x="2405059" y="3258676"/>
            <a:ext cx="1179060" cy="13641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Flowchart: Connector 2">
            <a:extLst>
              <a:ext uri="{FF2B5EF4-FFF2-40B4-BE49-F238E27FC236}">
                <a16:creationId xmlns:a16="http://schemas.microsoft.com/office/drawing/2014/main" id="{DC3EAF90-5FF3-08AC-DF58-E7FB39CA1431}"/>
              </a:ext>
            </a:extLst>
          </p:cNvPr>
          <p:cNvSpPr/>
          <p:nvPr/>
        </p:nvSpPr>
        <p:spPr>
          <a:xfrm>
            <a:off x="3509281" y="5577795"/>
            <a:ext cx="2280558" cy="450396"/>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Review Doctors</a:t>
            </a:r>
          </a:p>
        </p:txBody>
      </p:sp>
      <p:cxnSp>
        <p:nvCxnSpPr>
          <p:cNvPr id="8" name="Straight Arrow Connector 7">
            <a:extLst>
              <a:ext uri="{FF2B5EF4-FFF2-40B4-BE49-F238E27FC236}">
                <a16:creationId xmlns:a16="http://schemas.microsoft.com/office/drawing/2014/main" id="{88AAA650-42A6-CEF2-BC48-7CD4C274AB33}"/>
              </a:ext>
            </a:extLst>
          </p:cNvPr>
          <p:cNvCxnSpPr>
            <a:cxnSpLocks/>
            <a:endCxn id="3" idx="2"/>
          </p:cNvCxnSpPr>
          <p:nvPr/>
        </p:nvCxnSpPr>
        <p:spPr>
          <a:xfrm>
            <a:off x="2372774" y="4636408"/>
            <a:ext cx="1136507" cy="116658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37877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32809-6CC0-5A22-D37A-22C8D99B344A}"/>
              </a:ext>
            </a:extLst>
          </p:cNvPr>
          <p:cNvSpPr>
            <a:spLocks noGrp="1"/>
          </p:cNvSpPr>
          <p:nvPr>
            <p:ph type="title"/>
          </p:nvPr>
        </p:nvSpPr>
        <p:spPr>
          <a:xfrm>
            <a:off x="457200" y="274638"/>
            <a:ext cx="8229600" cy="121164"/>
          </a:xfrm>
        </p:spPr>
        <p:txBody>
          <a:bodyPr>
            <a:normAutofit fontScale="90000"/>
          </a:bodyPr>
          <a:lstStyle/>
          <a:p>
            <a:r>
              <a:rPr lang="en-US" dirty="0">
                <a:latin typeface="Times New Roman" panose="02020603050405020304" pitchFamily="18" charset="0"/>
                <a:cs typeface="Times New Roman" panose="02020603050405020304" pitchFamily="18" charset="0"/>
              </a:rPr>
              <a:t>Screenshots</a:t>
            </a:r>
          </a:p>
        </p:txBody>
      </p:sp>
      <p:pic>
        <p:nvPicPr>
          <p:cNvPr id="7" name="Content Placeholder 4">
            <a:extLst>
              <a:ext uri="{FF2B5EF4-FFF2-40B4-BE49-F238E27FC236}">
                <a16:creationId xmlns:a16="http://schemas.microsoft.com/office/drawing/2014/main" id="{14E31A7A-3DBD-FBDF-6EF3-DA1DEF5C55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179" y="1504141"/>
            <a:ext cx="8515350" cy="4632680"/>
          </a:xfrm>
          <a:prstGeom prst="rect">
            <a:avLst/>
          </a:prstGeom>
        </p:spPr>
      </p:pic>
      <p:sp>
        <p:nvSpPr>
          <p:cNvPr id="11" name="TextBox 10">
            <a:extLst>
              <a:ext uri="{FF2B5EF4-FFF2-40B4-BE49-F238E27FC236}">
                <a16:creationId xmlns:a16="http://schemas.microsoft.com/office/drawing/2014/main" id="{4FD9237B-EA14-402F-AAE5-831783C1FAAF}"/>
              </a:ext>
            </a:extLst>
          </p:cNvPr>
          <p:cNvSpPr txBox="1"/>
          <p:nvPr/>
        </p:nvSpPr>
        <p:spPr>
          <a:xfrm>
            <a:off x="340179" y="888546"/>
            <a:ext cx="1828800" cy="369332"/>
          </a:xfrm>
          <a:prstGeom prst="rect">
            <a:avLst/>
          </a:prstGeom>
          <a:noFill/>
        </p:spPr>
        <p:txBody>
          <a:bodyPr wrap="square" rtlCol="0">
            <a:spAutoFit/>
          </a:bodyPr>
          <a:lstStyle/>
          <a:p>
            <a:pPr algn="l"/>
            <a:r>
              <a:rPr lang="en-US" dirty="0"/>
              <a:t>Home page</a:t>
            </a:r>
          </a:p>
        </p:txBody>
      </p:sp>
    </p:spTree>
    <p:extLst>
      <p:ext uri="{BB962C8B-B14F-4D97-AF65-F5344CB8AC3E}">
        <p14:creationId xmlns:p14="http://schemas.microsoft.com/office/powerpoint/2010/main" val="4693584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91CC7FE-7419-3ED7-A8B0-E484656226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9343"/>
            <a:ext cx="5021036" cy="2878170"/>
          </a:xfrm>
          <a:prstGeom prst="rect">
            <a:avLst/>
          </a:prstGeom>
        </p:spPr>
      </p:pic>
      <p:pic>
        <p:nvPicPr>
          <p:cNvPr id="9" name="Picture 8">
            <a:extLst>
              <a:ext uri="{FF2B5EF4-FFF2-40B4-BE49-F238E27FC236}">
                <a16:creationId xmlns:a16="http://schemas.microsoft.com/office/drawing/2014/main" id="{098ADF4F-8F23-EFBF-FCFF-29D4E68082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69672"/>
            <a:ext cx="4572000" cy="2947842"/>
          </a:xfrm>
          <a:prstGeom prst="rect">
            <a:avLst/>
          </a:prstGeom>
        </p:spPr>
      </p:pic>
      <p:pic>
        <p:nvPicPr>
          <p:cNvPr id="10" name="Picture 9">
            <a:extLst>
              <a:ext uri="{FF2B5EF4-FFF2-40B4-BE49-F238E27FC236}">
                <a16:creationId xmlns:a16="http://schemas.microsoft.com/office/drawing/2014/main" id="{B6EDA6D0-4FD6-FAF0-A650-37CCF12AF1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647696"/>
            <a:ext cx="5021036" cy="2801108"/>
          </a:xfrm>
          <a:prstGeom prst="rect">
            <a:avLst/>
          </a:prstGeom>
        </p:spPr>
      </p:pic>
      <p:pic>
        <p:nvPicPr>
          <p:cNvPr id="11" name="Picture 10">
            <a:extLst>
              <a:ext uri="{FF2B5EF4-FFF2-40B4-BE49-F238E27FC236}">
                <a16:creationId xmlns:a16="http://schemas.microsoft.com/office/drawing/2014/main" id="{C60FB13C-7A42-6400-0EB3-F352C0F859E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72000" y="3647696"/>
            <a:ext cx="4122963" cy="3060625"/>
          </a:xfrm>
          <a:prstGeom prst="rect">
            <a:avLst/>
          </a:prstGeom>
        </p:spPr>
      </p:pic>
    </p:spTree>
    <p:extLst>
      <p:ext uri="{BB962C8B-B14F-4D97-AF65-F5344CB8AC3E}">
        <p14:creationId xmlns:p14="http://schemas.microsoft.com/office/powerpoint/2010/main" val="11251679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A400610-B512-E46D-DE37-17E094F7C3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088" y="1492841"/>
            <a:ext cx="8803823" cy="4521517"/>
          </a:xfrm>
          <a:prstGeom prst="rect">
            <a:avLst/>
          </a:prstGeom>
        </p:spPr>
      </p:pic>
      <p:sp>
        <p:nvSpPr>
          <p:cNvPr id="2" name="TextBox 1">
            <a:extLst>
              <a:ext uri="{FF2B5EF4-FFF2-40B4-BE49-F238E27FC236}">
                <a16:creationId xmlns:a16="http://schemas.microsoft.com/office/drawing/2014/main" id="{CCB8C0B3-12EF-F4C3-B1BA-91130FDB176A}"/>
              </a:ext>
            </a:extLst>
          </p:cNvPr>
          <p:cNvSpPr txBox="1"/>
          <p:nvPr/>
        </p:nvSpPr>
        <p:spPr>
          <a:xfrm>
            <a:off x="623207" y="658976"/>
            <a:ext cx="1828800" cy="369332"/>
          </a:xfrm>
          <a:prstGeom prst="rect">
            <a:avLst/>
          </a:prstGeom>
          <a:noFill/>
        </p:spPr>
        <p:txBody>
          <a:bodyPr wrap="square" rtlCol="0">
            <a:spAutoFit/>
          </a:bodyPr>
          <a:lstStyle/>
          <a:p>
            <a:pPr algn="l"/>
            <a:r>
              <a:rPr lang="en-US" dirty="0"/>
              <a:t>About page</a:t>
            </a:r>
          </a:p>
        </p:txBody>
      </p:sp>
    </p:spTree>
    <p:extLst>
      <p:ext uri="{BB962C8B-B14F-4D97-AF65-F5344CB8AC3E}">
        <p14:creationId xmlns:p14="http://schemas.microsoft.com/office/powerpoint/2010/main" val="1591224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944814D-A73D-F573-3136-A0C0652A9A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5929" y="3428999"/>
            <a:ext cx="7796891" cy="3279321"/>
          </a:xfrm>
          <a:prstGeom prst="rect">
            <a:avLst/>
          </a:prstGeom>
        </p:spPr>
      </p:pic>
      <p:pic>
        <p:nvPicPr>
          <p:cNvPr id="8" name="Picture 7">
            <a:extLst>
              <a:ext uri="{FF2B5EF4-FFF2-40B4-BE49-F238E27FC236}">
                <a16:creationId xmlns:a16="http://schemas.microsoft.com/office/drawing/2014/main" id="{49E9106D-42C3-19FC-6D66-116E1B54EF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929" y="420025"/>
            <a:ext cx="7796891" cy="3008974"/>
          </a:xfrm>
          <a:prstGeom prst="rect">
            <a:avLst/>
          </a:prstGeom>
        </p:spPr>
      </p:pic>
      <p:sp>
        <p:nvSpPr>
          <p:cNvPr id="9" name="TextBox 8">
            <a:extLst>
              <a:ext uri="{FF2B5EF4-FFF2-40B4-BE49-F238E27FC236}">
                <a16:creationId xmlns:a16="http://schemas.microsoft.com/office/drawing/2014/main" id="{9429F9C2-FBF8-50F2-CC01-6EB476ED10BF}"/>
              </a:ext>
            </a:extLst>
          </p:cNvPr>
          <p:cNvSpPr txBox="1"/>
          <p:nvPr/>
        </p:nvSpPr>
        <p:spPr>
          <a:xfrm>
            <a:off x="0" y="813707"/>
            <a:ext cx="1828800" cy="369332"/>
          </a:xfrm>
          <a:prstGeom prst="rect">
            <a:avLst/>
          </a:prstGeom>
          <a:noFill/>
        </p:spPr>
        <p:txBody>
          <a:bodyPr wrap="square" rtlCol="0">
            <a:spAutoFit/>
          </a:bodyPr>
          <a:lstStyle/>
          <a:p>
            <a:pPr algn="l"/>
            <a:r>
              <a:rPr lang="en-US" dirty="0"/>
              <a:t>Patient Login</a:t>
            </a:r>
          </a:p>
        </p:txBody>
      </p:sp>
      <p:sp>
        <p:nvSpPr>
          <p:cNvPr id="3" name="TextBox 2">
            <a:extLst>
              <a:ext uri="{FF2B5EF4-FFF2-40B4-BE49-F238E27FC236}">
                <a16:creationId xmlns:a16="http://schemas.microsoft.com/office/drawing/2014/main" id="{B575E706-08B0-8904-E9FB-79DF54A949F1}"/>
              </a:ext>
            </a:extLst>
          </p:cNvPr>
          <p:cNvSpPr txBox="1"/>
          <p:nvPr/>
        </p:nvSpPr>
        <p:spPr>
          <a:xfrm>
            <a:off x="0" y="3638015"/>
            <a:ext cx="1828800" cy="369332"/>
          </a:xfrm>
          <a:prstGeom prst="rect">
            <a:avLst/>
          </a:prstGeom>
          <a:noFill/>
        </p:spPr>
        <p:txBody>
          <a:bodyPr wrap="square" rtlCol="0">
            <a:spAutoFit/>
          </a:bodyPr>
          <a:lstStyle/>
          <a:p>
            <a:pPr algn="l"/>
            <a:r>
              <a:rPr lang="en-US" dirty="0"/>
              <a:t>Patient signup</a:t>
            </a:r>
          </a:p>
        </p:txBody>
      </p:sp>
    </p:spTree>
    <p:extLst>
      <p:ext uri="{BB962C8B-B14F-4D97-AF65-F5344CB8AC3E}">
        <p14:creationId xmlns:p14="http://schemas.microsoft.com/office/powerpoint/2010/main" val="21177919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BE6EAF9B-6085-CA97-B25D-42731611616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1321" y="1058325"/>
            <a:ext cx="8735785" cy="4411746"/>
          </a:xfrm>
          <a:prstGeom prst="rect">
            <a:avLst/>
          </a:prstGeom>
        </p:spPr>
      </p:pic>
      <p:sp>
        <p:nvSpPr>
          <p:cNvPr id="7" name="TextBox 6">
            <a:extLst>
              <a:ext uri="{FF2B5EF4-FFF2-40B4-BE49-F238E27FC236}">
                <a16:creationId xmlns:a16="http://schemas.microsoft.com/office/drawing/2014/main" id="{D6BFBE81-58D5-3CDD-7DC7-0EDC608C94E1}"/>
              </a:ext>
            </a:extLst>
          </p:cNvPr>
          <p:cNvSpPr txBox="1"/>
          <p:nvPr/>
        </p:nvSpPr>
        <p:spPr>
          <a:xfrm>
            <a:off x="231321" y="459921"/>
            <a:ext cx="1828800" cy="369332"/>
          </a:xfrm>
          <a:prstGeom prst="rect">
            <a:avLst/>
          </a:prstGeom>
          <a:noFill/>
        </p:spPr>
        <p:txBody>
          <a:bodyPr wrap="square" rtlCol="0">
            <a:spAutoFit/>
          </a:bodyPr>
          <a:lstStyle/>
          <a:p>
            <a:pPr algn="l"/>
            <a:r>
              <a:rPr lang="en-US" dirty="0"/>
              <a:t>Symptoms page</a:t>
            </a:r>
          </a:p>
        </p:txBody>
      </p:sp>
    </p:spTree>
    <p:extLst>
      <p:ext uri="{BB962C8B-B14F-4D97-AF65-F5344CB8AC3E}">
        <p14:creationId xmlns:p14="http://schemas.microsoft.com/office/powerpoint/2010/main" val="31376538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C26A7E9-9E26-B85E-510D-F206A1DF44C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8125" y="1287503"/>
            <a:ext cx="8667750" cy="4794889"/>
          </a:xfrm>
          <a:prstGeom prst="rect">
            <a:avLst/>
          </a:prstGeom>
        </p:spPr>
      </p:pic>
      <p:sp>
        <p:nvSpPr>
          <p:cNvPr id="5" name="TextBox 4">
            <a:extLst>
              <a:ext uri="{FF2B5EF4-FFF2-40B4-BE49-F238E27FC236}">
                <a16:creationId xmlns:a16="http://schemas.microsoft.com/office/drawing/2014/main" id="{8E71AE8B-A6FC-D1F6-CB49-1F7CE9BC496C}"/>
              </a:ext>
            </a:extLst>
          </p:cNvPr>
          <p:cNvSpPr txBox="1"/>
          <p:nvPr/>
        </p:nvSpPr>
        <p:spPr>
          <a:xfrm>
            <a:off x="238125" y="590942"/>
            <a:ext cx="1828800" cy="369332"/>
          </a:xfrm>
          <a:prstGeom prst="rect">
            <a:avLst/>
          </a:prstGeom>
          <a:noFill/>
        </p:spPr>
        <p:txBody>
          <a:bodyPr wrap="square" rtlCol="0">
            <a:spAutoFit/>
          </a:bodyPr>
          <a:lstStyle/>
          <a:p>
            <a:pPr algn="l"/>
            <a:r>
              <a:rPr lang="en-US" dirty="0"/>
              <a:t>Prediction page</a:t>
            </a:r>
          </a:p>
        </p:txBody>
      </p:sp>
    </p:spTree>
    <p:extLst>
      <p:ext uri="{BB962C8B-B14F-4D97-AF65-F5344CB8AC3E}">
        <p14:creationId xmlns:p14="http://schemas.microsoft.com/office/powerpoint/2010/main" val="21819901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62010B8-8AEE-0CBD-FE7C-677DA140FB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250" y="1370814"/>
            <a:ext cx="8177893" cy="4153686"/>
          </a:xfrm>
          <a:prstGeom prst="rect">
            <a:avLst/>
          </a:prstGeom>
        </p:spPr>
      </p:pic>
      <p:sp>
        <p:nvSpPr>
          <p:cNvPr id="2" name="TextBox 1">
            <a:extLst>
              <a:ext uri="{FF2B5EF4-FFF2-40B4-BE49-F238E27FC236}">
                <a16:creationId xmlns:a16="http://schemas.microsoft.com/office/drawing/2014/main" id="{709735F8-091C-4AD0-5451-15FA3AE578BC}"/>
              </a:ext>
            </a:extLst>
          </p:cNvPr>
          <p:cNvSpPr txBox="1"/>
          <p:nvPr/>
        </p:nvSpPr>
        <p:spPr>
          <a:xfrm>
            <a:off x="476250" y="503463"/>
            <a:ext cx="2500696" cy="369332"/>
          </a:xfrm>
          <a:prstGeom prst="rect">
            <a:avLst/>
          </a:prstGeom>
          <a:noFill/>
        </p:spPr>
        <p:txBody>
          <a:bodyPr wrap="square" rtlCol="0">
            <a:spAutoFit/>
          </a:bodyPr>
          <a:lstStyle/>
          <a:p>
            <a:pPr algn="l"/>
            <a:r>
              <a:rPr lang="en-US" dirty="0"/>
              <a:t>Doctor recommendation</a:t>
            </a:r>
          </a:p>
        </p:txBody>
      </p:sp>
    </p:spTree>
    <p:extLst>
      <p:ext uri="{BB962C8B-B14F-4D97-AF65-F5344CB8AC3E}">
        <p14:creationId xmlns:p14="http://schemas.microsoft.com/office/powerpoint/2010/main" val="3968914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ABDC252-5B8D-307E-51B4-511233836CA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956396"/>
            <a:ext cx="8229600" cy="3813570"/>
          </a:xfrm>
          <a:prstGeom prst="rect">
            <a:avLst/>
          </a:prstGeom>
        </p:spPr>
      </p:pic>
      <p:sp>
        <p:nvSpPr>
          <p:cNvPr id="2" name="TextBox 1">
            <a:extLst>
              <a:ext uri="{FF2B5EF4-FFF2-40B4-BE49-F238E27FC236}">
                <a16:creationId xmlns:a16="http://schemas.microsoft.com/office/drawing/2014/main" id="{53BF8DC5-805A-2757-9D09-24CF9F69E81B}"/>
              </a:ext>
            </a:extLst>
          </p:cNvPr>
          <p:cNvSpPr txBox="1"/>
          <p:nvPr/>
        </p:nvSpPr>
        <p:spPr>
          <a:xfrm>
            <a:off x="457200" y="718702"/>
            <a:ext cx="2642507" cy="369332"/>
          </a:xfrm>
          <a:prstGeom prst="rect">
            <a:avLst/>
          </a:prstGeom>
          <a:noFill/>
        </p:spPr>
        <p:txBody>
          <a:bodyPr wrap="square" rtlCol="0">
            <a:spAutoFit/>
          </a:bodyPr>
          <a:lstStyle/>
          <a:p>
            <a:pPr algn="l"/>
            <a:r>
              <a:rPr lang="en-US" dirty="0"/>
              <a:t>Appointment booking</a:t>
            </a:r>
          </a:p>
        </p:txBody>
      </p:sp>
    </p:spTree>
    <p:extLst>
      <p:ext uri="{BB962C8B-B14F-4D97-AF65-F5344CB8AC3E}">
        <p14:creationId xmlns:p14="http://schemas.microsoft.com/office/powerpoint/2010/main" val="1843334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87C6095-2257-CD08-E5C9-ED230A24DD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4464" y="577357"/>
            <a:ext cx="7211786" cy="2851643"/>
          </a:xfrm>
          <a:prstGeom prst="rect">
            <a:avLst/>
          </a:prstGeom>
        </p:spPr>
      </p:pic>
      <p:pic>
        <p:nvPicPr>
          <p:cNvPr id="7" name="Picture 6">
            <a:extLst>
              <a:ext uri="{FF2B5EF4-FFF2-40B4-BE49-F238E27FC236}">
                <a16:creationId xmlns:a16="http://schemas.microsoft.com/office/drawing/2014/main" id="{D813F3C0-E509-3B38-8FD8-F5AE81269A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4463" y="3624660"/>
            <a:ext cx="7211785" cy="2847180"/>
          </a:xfrm>
          <a:prstGeom prst="rect">
            <a:avLst/>
          </a:prstGeom>
        </p:spPr>
      </p:pic>
      <p:sp>
        <p:nvSpPr>
          <p:cNvPr id="2" name="TextBox 1">
            <a:extLst>
              <a:ext uri="{FF2B5EF4-FFF2-40B4-BE49-F238E27FC236}">
                <a16:creationId xmlns:a16="http://schemas.microsoft.com/office/drawing/2014/main" id="{6D5C6784-C89F-A6C6-A52E-E6CB83061FF0}"/>
              </a:ext>
            </a:extLst>
          </p:cNvPr>
          <p:cNvSpPr txBox="1"/>
          <p:nvPr/>
        </p:nvSpPr>
        <p:spPr>
          <a:xfrm>
            <a:off x="487136" y="294861"/>
            <a:ext cx="1828800" cy="369332"/>
          </a:xfrm>
          <a:prstGeom prst="rect">
            <a:avLst/>
          </a:prstGeom>
          <a:noFill/>
        </p:spPr>
        <p:txBody>
          <a:bodyPr wrap="square" rtlCol="0">
            <a:spAutoFit/>
          </a:bodyPr>
          <a:lstStyle/>
          <a:p>
            <a:pPr algn="l"/>
            <a:r>
              <a:rPr lang="en-US" dirty="0"/>
              <a:t>All Appointments</a:t>
            </a:r>
          </a:p>
        </p:txBody>
      </p:sp>
      <p:sp>
        <p:nvSpPr>
          <p:cNvPr id="3" name="TextBox 2">
            <a:extLst>
              <a:ext uri="{FF2B5EF4-FFF2-40B4-BE49-F238E27FC236}">
                <a16:creationId xmlns:a16="http://schemas.microsoft.com/office/drawing/2014/main" id="{73FA487F-7A57-6734-44A3-2B5CCDEFDAEF}"/>
              </a:ext>
            </a:extLst>
          </p:cNvPr>
          <p:cNvSpPr txBox="1"/>
          <p:nvPr/>
        </p:nvSpPr>
        <p:spPr>
          <a:xfrm>
            <a:off x="133352" y="3624660"/>
            <a:ext cx="1828800" cy="646331"/>
          </a:xfrm>
          <a:prstGeom prst="rect">
            <a:avLst/>
          </a:prstGeom>
          <a:noFill/>
        </p:spPr>
        <p:txBody>
          <a:bodyPr wrap="square" rtlCol="0">
            <a:spAutoFit/>
          </a:bodyPr>
          <a:lstStyle/>
          <a:p>
            <a:pPr algn="l"/>
            <a:r>
              <a:rPr lang="en-US" dirty="0" err="1"/>
              <a:t>Cancel,Rebook</a:t>
            </a:r>
            <a:r>
              <a:rPr lang="en-US" dirty="0"/>
              <a:t> appointments</a:t>
            </a:r>
          </a:p>
        </p:txBody>
      </p:sp>
    </p:spTree>
    <p:extLst>
      <p:ext uri="{BB962C8B-B14F-4D97-AF65-F5344CB8AC3E}">
        <p14:creationId xmlns:p14="http://schemas.microsoft.com/office/powerpoint/2010/main" val="24884784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4012C00-74C3-D953-EC05-42823940F4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9687" y="309019"/>
            <a:ext cx="7150554" cy="3119981"/>
          </a:xfrm>
          <a:prstGeom prst="rect">
            <a:avLst/>
          </a:prstGeom>
        </p:spPr>
      </p:pic>
      <p:pic>
        <p:nvPicPr>
          <p:cNvPr id="5" name="Picture 4">
            <a:extLst>
              <a:ext uri="{FF2B5EF4-FFF2-40B4-BE49-F238E27FC236}">
                <a16:creationId xmlns:a16="http://schemas.microsoft.com/office/drawing/2014/main" id="{AF0B1C38-4000-82CF-0544-7D5468687D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997432"/>
            <a:ext cx="4884964" cy="2860568"/>
          </a:xfrm>
          <a:prstGeom prst="rect">
            <a:avLst/>
          </a:prstGeom>
        </p:spPr>
      </p:pic>
      <p:pic>
        <p:nvPicPr>
          <p:cNvPr id="6" name="Picture 5">
            <a:extLst>
              <a:ext uri="{FF2B5EF4-FFF2-40B4-BE49-F238E27FC236}">
                <a16:creationId xmlns:a16="http://schemas.microsoft.com/office/drawing/2014/main" id="{8A91537D-3CF8-C336-4991-85D7C19EC4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2000" y="3997432"/>
            <a:ext cx="4572000" cy="2860568"/>
          </a:xfrm>
          <a:prstGeom prst="rect">
            <a:avLst/>
          </a:prstGeom>
        </p:spPr>
      </p:pic>
      <p:sp>
        <p:nvSpPr>
          <p:cNvPr id="2" name="TextBox 1">
            <a:extLst>
              <a:ext uri="{FF2B5EF4-FFF2-40B4-BE49-F238E27FC236}">
                <a16:creationId xmlns:a16="http://schemas.microsoft.com/office/drawing/2014/main" id="{C460FE28-5983-046C-0C91-BE1B4523679E}"/>
              </a:ext>
            </a:extLst>
          </p:cNvPr>
          <p:cNvSpPr txBox="1"/>
          <p:nvPr/>
        </p:nvSpPr>
        <p:spPr>
          <a:xfrm>
            <a:off x="395287" y="360380"/>
            <a:ext cx="1828800" cy="369332"/>
          </a:xfrm>
          <a:prstGeom prst="rect">
            <a:avLst/>
          </a:prstGeom>
          <a:noFill/>
        </p:spPr>
        <p:txBody>
          <a:bodyPr wrap="square" rtlCol="0">
            <a:spAutoFit/>
          </a:bodyPr>
          <a:lstStyle/>
          <a:p>
            <a:pPr algn="l"/>
            <a:r>
              <a:rPr lang="en-US" dirty="0"/>
              <a:t>Profile  page</a:t>
            </a:r>
          </a:p>
        </p:txBody>
      </p:sp>
      <p:sp>
        <p:nvSpPr>
          <p:cNvPr id="7" name="TextBox 6">
            <a:extLst>
              <a:ext uri="{FF2B5EF4-FFF2-40B4-BE49-F238E27FC236}">
                <a16:creationId xmlns:a16="http://schemas.microsoft.com/office/drawing/2014/main" id="{57069A1E-A020-005C-833A-197C46E84809}"/>
              </a:ext>
            </a:extLst>
          </p:cNvPr>
          <p:cNvSpPr txBox="1"/>
          <p:nvPr/>
        </p:nvSpPr>
        <p:spPr>
          <a:xfrm>
            <a:off x="395287" y="3463811"/>
            <a:ext cx="1828800" cy="369332"/>
          </a:xfrm>
          <a:prstGeom prst="rect">
            <a:avLst/>
          </a:prstGeom>
          <a:noFill/>
        </p:spPr>
        <p:txBody>
          <a:bodyPr wrap="square" rtlCol="0">
            <a:spAutoFit/>
          </a:bodyPr>
          <a:lstStyle/>
          <a:p>
            <a:pPr algn="l"/>
            <a:r>
              <a:rPr lang="en-US" dirty="0"/>
              <a:t>Edit profile </a:t>
            </a:r>
          </a:p>
        </p:txBody>
      </p:sp>
    </p:spTree>
    <p:extLst>
      <p:ext uri="{BB962C8B-B14F-4D97-AF65-F5344CB8AC3E}">
        <p14:creationId xmlns:p14="http://schemas.microsoft.com/office/powerpoint/2010/main" val="4771480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574E4A79-097A-34EC-1F8A-3B6E8E173D3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504141"/>
            <a:ext cx="8229600" cy="3849717"/>
          </a:xfrm>
          <a:prstGeom prst="rect">
            <a:avLst/>
          </a:prstGeom>
        </p:spPr>
      </p:pic>
      <p:sp>
        <p:nvSpPr>
          <p:cNvPr id="2" name="TextBox 1">
            <a:extLst>
              <a:ext uri="{FF2B5EF4-FFF2-40B4-BE49-F238E27FC236}">
                <a16:creationId xmlns:a16="http://schemas.microsoft.com/office/drawing/2014/main" id="{C4BB178B-0745-D47B-45F0-1BC73612857D}"/>
              </a:ext>
            </a:extLst>
          </p:cNvPr>
          <p:cNvSpPr txBox="1"/>
          <p:nvPr/>
        </p:nvSpPr>
        <p:spPr>
          <a:xfrm>
            <a:off x="582385" y="718457"/>
            <a:ext cx="1828800" cy="369332"/>
          </a:xfrm>
          <a:prstGeom prst="rect">
            <a:avLst/>
          </a:prstGeom>
          <a:noFill/>
        </p:spPr>
        <p:txBody>
          <a:bodyPr wrap="square" rtlCol="0">
            <a:spAutoFit/>
          </a:bodyPr>
          <a:lstStyle/>
          <a:p>
            <a:pPr algn="l"/>
            <a:r>
              <a:rPr lang="en-US" dirty="0"/>
              <a:t>Review page</a:t>
            </a:r>
          </a:p>
        </p:txBody>
      </p:sp>
    </p:spTree>
    <p:extLst>
      <p:ext uri="{BB962C8B-B14F-4D97-AF65-F5344CB8AC3E}">
        <p14:creationId xmlns:p14="http://schemas.microsoft.com/office/powerpoint/2010/main" val="31130638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22F0E20-E489-97DE-5800-99639D0AA2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8215" y="644297"/>
            <a:ext cx="8245928" cy="2784703"/>
          </a:xfrm>
          <a:prstGeom prst="rect">
            <a:avLst/>
          </a:prstGeom>
        </p:spPr>
      </p:pic>
      <p:pic>
        <p:nvPicPr>
          <p:cNvPr id="5" name="Picture 4">
            <a:extLst>
              <a:ext uri="{FF2B5EF4-FFF2-40B4-BE49-F238E27FC236}">
                <a16:creationId xmlns:a16="http://schemas.microsoft.com/office/drawing/2014/main" id="{7D8DBFEC-538F-58B1-39A0-368A49E328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8215" y="3204552"/>
            <a:ext cx="8245928" cy="3009151"/>
          </a:xfrm>
          <a:prstGeom prst="rect">
            <a:avLst/>
          </a:prstGeom>
        </p:spPr>
      </p:pic>
      <p:sp>
        <p:nvSpPr>
          <p:cNvPr id="2" name="TextBox 1">
            <a:extLst>
              <a:ext uri="{FF2B5EF4-FFF2-40B4-BE49-F238E27FC236}">
                <a16:creationId xmlns:a16="http://schemas.microsoft.com/office/drawing/2014/main" id="{0A9F6F86-5731-43EE-DB46-742DEB57CFC6}"/>
              </a:ext>
            </a:extLst>
          </p:cNvPr>
          <p:cNvSpPr txBox="1"/>
          <p:nvPr/>
        </p:nvSpPr>
        <p:spPr>
          <a:xfrm>
            <a:off x="187778" y="274965"/>
            <a:ext cx="1828800" cy="369332"/>
          </a:xfrm>
          <a:prstGeom prst="rect">
            <a:avLst/>
          </a:prstGeom>
          <a:noFill/>
        </p:spPr>
        <p:txBody>
          <a:bodyPr wrap="square" rtlCol="0">
            <a:spAutoFit/>
          </a:bodyPr>
          <a:lstStyle/>
          <a:p>
            <a:pPr algn="l"/>
            <a:r>
              <a:rPr lang="en-US" dirty="0"/>
              <a:t>Doctor login</a:t>
            </a:r>
          </a:p>
        </p:txBody>
      </p:sp>
      <p:sp>
        <p:nvSpPr>
          <p:cNvPr id="6" name="TextBox 5">
            <a:extLst>
              <a:ext uri="{FF2B5EF4-FFF2-40B4-BE49-F238E27FC236}">
                <a16:creationId xmlns:a16="http://schemas.microsoft.com/office/drawing/2014/main" id="{602AD1F6-18EA-B6C0-87B0-87EDEBAE6963}"/>
              </a:ext>
            </a:extLst>
          </p:cNvPr>
          <p:cNvSpPr txBox="1"/>
          <p:nvPr/>
        </p:nvSpPr>
        <p:spPr>
          <a:xfrm>
            <a:off x="187778" y="2848827"/>
            <a:ext cx="1828800" cy="369332"/>
          </a:xfrm>
          <a:prstGeom prst="rect">
            <a:avLst/>
          </a:prstGeom>
          <a:noFill/>
        </p:spPr>
        <p:txBody>
          <a:bodyPr wrap="square" rtlCol="0">
            <a:spAutoFit/>
          </a:bodyPr>
          <a:lstStyle/>
          <a:p>
            <a:pPr algn="l"/>
            <a:r>
              <a:rPr lang="en-US" dirty="0"/>
              <a:t>Doctor signup</a:t>
            </a:r>
          </a:p>
        </p:txBody>
      </p:sp>
    </p:spTree>
    <p:extLst>
      <p:ext uri="{BB962C8B-B14F-4D97-AF65-F5344CB8AC3E}">
        <p14:creationId xmlns:p14="http://schemas.microsoft.com/office/powerpoint/2010/main" val="36211866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F12DCD8-8AD0-7B4C-D475-E99EF6E0B1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9892" y="400026"/>
            <a:ext cx="7252607" cy="2824867"/>
          </a:xfrm>
          <a:prstGeom prst="rect">
            <a:avLst/>
          </a:prstGeom>
        </p:spPr>
      </p:pic>
      <p:pic>
        <p:nvPicPr>
          <p:cNvPr id="5" name="Picture 4">
            <a:extLst>
              <a:ext uri="{FF2B5EF4-FFF2-40B4-BE49-F238E27FC236}">
                <a16:creationId xmlns:a16="http://schemas.microsoft.com/office/drawing/2014/main" id="{A63FFFF5-DF88-47EC-E582-D9E03F9A7B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1500" y="3775972"/>
            <a:ext cx="8001000" cy="2877921"/>
          </a:xfrm>
          <a:prstGeom prst="rect">
            <a:avLst/>
          </a:prstGeom>
        </p:spPr>
      </p:pic>
      <p:sp>
        <p:nvSpPr>
          <p:cNvPr id="2" name="TextBox 1">
            <a:extLst>
              <a:ext uri="{FF2B5EF4-FFF2-40B4-BE49-F238E27FC236}">
                <a16:creationId xmlns:a16="http://schemas.microsoft.com/office/drawing/2014/main" id="{14DB57F8-24D5-6AE3-7C8E-96E318615A1E}"/>
              </a:ext>
            </a:extLst>
          </p:cNvPr>
          <p:cNvSpPr txBox="1"/>
          <p:nvPr/>
        </p:nvSpPr>
        <p:spPr>
          <a:xfrm>
            <a:off x="201386" y="400026"/>
            <a:ext cx="1828800" cy="646331"/>
          </a:xfrm>
          <a:prstGeom prst="rect">
            <a:avLst/>
          </a:prstGeom>
          <a:noFill/>
        </p:spPr>
        <p:txBody>
          <a:bodyPr wrap="square" rtlCol="0">
            <a:spAutoFit/>
          </a:bodyPr>
          <a:lstStyle/>
          <a:p>
            <a:pPr algn="l"/>
            <a:r>
              <a:rPr lang="en-US" dirty="0"/>
              <a:t>Doctor’s appointments</a:t>
            </a:r>
          </a:p>
        </p:txBody>
      </p:sp>
      <p:sp>
        <p:nvSpPr>
          <p:cNvPr id="6" name="TextBox 5">
            <a:extLst>
              <a:ext uri="{FF2B5EF4-FFF2-40B4-BE49-F238E27FC236}">
                <a16:creationId xmlns:a16="http://schemas.microsoft.com/office/drawing/2014/main" id="{E766D6FB-4FA5-6D4D-D06D-EE2F174C10BA}"/>
              </a:ext>
            </a:extLst>
          </p:cNvPr>
          <p:cNvSpPr txBox="1"/>
          <p:nvPr/>
        </p:nvSpPr>
        <p:spPr>
          <a:xfrm>
            <a:off x="296636" y="3034392"/>
            <a:ext cx="1828800" cy="646331"/>
          </a:xfrm>
          <a:prstGeom prst="rect">
            <a:avLst/>
          </a:prstGeom>
          <a:noFill/>
        </p:spPr>
        <p:txBody>
          <a:bodyPr wrap="square" rtlCol="0">
            <a:spAutoFit/>
          </a:bodyPr>
          <a:lstStyle/>
          <a:p>
            <a:pPr algn="l"/>
            <a:r>
              <a:rPr lang="en-US" dirty="0"/>
              <a:t>Update appointments</a:t>
            </a:r>
          </a:p>
        </p:txBody>
      </p:sp>
    </p:spTree>
    <p:extLst>
      <p:ext uri="{BB962C8B-B14F-4D97-AF65-F5344CB8AC3E}">
        <p14:creationId xmlns:p14="http://schemas.microsoft.com/office/powerpoint/2010/main" val="38393602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6AF13C9-77B3-3283-6065-DCD5995C8B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621984"/>
            <a:ext cx="6096000" cy="2807016"/>
          </a:xfrm>
          <a:prstGeom prst="rect">
            <a:avLst/>
          </a:prstGeom>
        </p:spPr>
      </p:pic>
      <p:pic>
        <p:nvPicPr>
          <p:cNvPr id="5" name="Picture 4">
            <a:extLst>
              <a:ext uri="{FF2B5EF4-FFF2-40B4-BE49-F238E27FC236}">
                <a16:creationId xmlns:a16="http://schemas.microsoft.com/office/drawing/2014/main" id="{DD4ABB7D-F41D-5326-D435-A19D3A38BE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0" y="3642729"/>
            <a:ext cx="6096000" cy="2838255"/>
          </a:xfrm>
          <a:prstGeom prst="rect">
            <a:avLst/>
          </a:prstGeom>
        </p:spPr>
      </p:pic>
      <p:sp>
        <p:nvSpPr>
          <p:cNvPr id="2" name="TextBox 1">
            <a:extLst>
              <a:ext uri="{FF2B5EF4-FFF2-40B4-BE49-F238E27FC236}">
                <a16:creationId xmlns:a16="http://schemas.microsoft.com/office/drawing/2014/main" id="{A34A13F3-1F66-74BB-62DC-98D9E92EF314}"/>
              </a:ext>
            </a:extLst>
          </p:cNvPr>
          <p:cNvSpPr txBox="1"/>
          <p:nvPr/>
        </p:nvSpPr>
        <p:spPr>
          <a:xfrm>
            <a:off x="351064" y="621984"/>
            <a:ext cx="1828800" cy="369332"/>
          </a:xfrm>
          <a:prstGeom prst="rect">
            <a:avLst/>
          </a:prstGeom>
          <a:noFill/>
        </p:spPr>
        <p:txBody>
          <a:bodyPr wrap="square" rtlCol="0">
            <a:spAutoFit/>
          </a:bodyPr>
          <a:lstStyle/>
          <a:p>
            <a:pPr algn="l"/>
            <a:r>
              <a:rPr lang="en-US" dirty="0"/>
              <a:t>Doctor Profile</a:t>
            </a:r>
          </a:p>
        </p:txBody>
      </p:sp>
      <p:sp>
        <p:nvSpPr>
          <p:cNvPr id="6" name="TextBox 5">
            <a:extLst>
              <a:ext uri="{FF2B5EF4-FFF2-40B4-BE49-F238E27FC236}">
                <a16:creationId xmlns:a16="http://schemas.microsoft.com/office/drawing/2014/main" id="{555FE724-D61F-0DF4-B58C-E5C05840B0AE}"/>
              </a:ext>
            </a:extLst>
          </p:cNvPr>
          <p:cNvSpPr txBox="1"/>
          <p:nvPr/>
        </p:nvSpPr>
        <p:spPr>
          <a:xfrm>
            <a:off x="351064" y="3642729"/>
            <a:ext cx="1828800" cy="646331"/>
          </a:xfrm>
          <a:prstGeom prst="rect">
            <a:avLst/>
          </a:prstGeom>
          <a:noFill/>
        </p:spPr>
        <p:txBody>
          <a:bodyPr wrap="square" rtlCol="0">
            <a:spAutoFit/>
          </a:bodyPr>
          <a:lstStyle/>
          <a:p>
            <a:pPr algn="l"/>
            <a:r>
              <a:rPr lang="en-US" dirty="0"/>
              <a:t>Doctor Profile update page</a:t>
            </a:r>
          </a:p>
        </p:txBody>
      </p:sp>
    </p:spTree>
    <p:extLst>
      <p:ext uri="{BB962C8B-B14F-4D97-AF65-F5344CB8AC3E}">
        <p14:creationId xmlns:p14="http://schemas.microsoft.com/office/powerpoint/2010/main" val="7314371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A595F69-7E9A-F486-D62F-C70B1002C9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613059"/>
            <a:ext cx="6096000" cy="2815941"/>
          </a:xfrm>
          <a:prstGeom prst="rect">
            <a:avLst/>
          </a:prstGeom>
        </p:spPr>
      </p:pic>
      <p:pic>
        <p:nvPicPr>
          <p:cNvPr id="5" name="Picture 4">
            <a:extLst>
              <a:ext uri="{FF2B5EF4-FFF2-40B4-BE49-F238E27FC236}">
                <a16:creationId xmlns:a16="http://schemas.microsoft.com/office/drawing/2014/main" id="{2350A8E7-5108-A214-4D20-59BE44F689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0" y="2824289"/>
            <a:ext cx="6096000" cy="2869493"/>
          </a:xfrm>
          <a:prstGeom prst="rect">
            <a:avLst/>
          </a:prstGeom>
        </p:spPr>
      </p:pic>
      <p:sp>
        <p:nvSpPr>
          <p:cNvPr id="2" name="TextBox 1">
            <a:extLst>
              <a:ext uri="{FF2B5EF4-FFF2-40B4-BE49-F238E27FC236}">
                <a16:creationId xmlns:a16="http://schemas.microsoft.com/office/drawing/2014/main" id="{AF4D6F73-ED25-70CD-ED89-05DC29DB991A}"/>
              </a:ext>
            </a:extLst>
          </p:cNvPr>
          <p:cNvSpPr txBox="1"/>
          <p:nvPr/>
        </p:nvSpPr>
        <p:spPr>
          <a:xfrm>
            <a:off x="487136" y="559507"/>
            <a:ext cx="1828800" cy="369332"/>
          </a:xfrm>
          <a:prstGeom prst="rect">
            <a:avLst/>
          </a:prstGeom>
          <a:noFill/>
        </p:spPr>
        <p:txBody>
          <a:bodyPr wrap="square" rtlCol="0">
            <a:spAutoFit/>
          </a:bodyPr>
          <a:lstStyle/>
          <a:p>
            <a:pPr algn="l"/>
            <a:r>
              <a:rPr lang="en-US" dirty="0"/>
              <a:t>Admin login</a:t>
            </a:r>
          </a:p>
        </p:txBody>
      </p:sp>
      <p:sp>
        <p:nvSpPr>
          <p:cNvPr id="6" name="TextBox 5">
            <a:extLst>
              <a:ext uri="{FF2B5EF4-FFF2-40B4-BE49-F238E27FC236}">
                <a16:creationId xmlns:a16="http://schemas.microsoft.com/office/drawing/2014/main" id="{57F99ADA-38B9-82DA-ED6E-7347950417CD}"/>
              </a:ext>
            </a:extLst>
          </p:cNvPr>
          <p:cNvSpPr txBox="1"/>
          <p:nvPr/>
        </p:nvSpPr>
        <p:spPr>
          <a:xfrm>
            <a:off x="487136" y="2955403"/>
            <a:ext cx="1828800" cy="369332"/>
          </a:xfrm>
          <a:prstGeom prst="rect">
            <a:avLst/>
          </a:prstGeom>
          <a:noFill/>
        </p:spPr>
        <p:txBody>
          <a:bodyPr wrap="square" rtlCol="0">
            <a:spAutoFit/>
          </a:bodyPr>
          <a:lstStyle/>
          <a:p>
            <a:pPr algn="l"/>
            <a:r>
              <a:rPr lang="en-US" dirty="0"/>
              <a:t>Add doctors</a:t>
            </a:r>
          </a:p>
        </p:txBody>
      </p:sp>
    </p:spTree>
    <p:extLst>
      <p:ext uri="{BB962C8B-B14F-4D97-AF65-F5344CB8AC3E}">
        <p14:creationId xmlns:p14="http://schemas.microsoft.com/office/powerpoint/2010/main" val="42404183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FA972C8-4793-D840-CF19-FF54AEB84A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452398"/>
            <a:ext cx="6096000" cy="2850776"/>
          </a:xfrm>
          <a:prstGeom prst="rect">
            <a:avLst/>
          </a:prstGeom>
        </p:spPr>
      </p:pic>
      <p:pic>
        <p:nvPicPr>
          <p:cNvPr id="5" name="Picture 4">
            <a:extLst>
              <a:ext uri="{FF2B5EF4-FFF2-40B4-BE49-F238E27FC236}">
                <a16:creationId xmlns:a16="http://schemas.microsoft.com/office/drawing/2014/main" id="{2C368625-44D3-D93C-21FA-D23F377FD6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5143" y="3581391"/>
            <a:ext cx="6096000" cy="2824211"/>
          </a:xfrm>
          <a:prstGeom prst="rect">
            <a:avLst/>
          </a:prstGeom>
        </p:spPr>
      </p:pic>
      <p:sp>
        <p:nvSpPr>
          <p:cNvPr id="3" name="TextBox 2">
            <a:extLst>
              <a:ext uri="{FF2B5EF4-FFF2-40B4-BE49-F238E27FC236}">
                <a16:creationId xmlns:a16="http://schemas.microsoft.com/office/drawing/2014/main" id="{5443F23F-645C-86FB-6AC8-027103791453}"/>
              </a:ext>
            </a:extLst>
          </p:cNvPr>
          <p:cNvSpPr txBox="1"/>
          <p:nvPr/>
        </p:nvSpPr>
        <p:spPr>
          <a:xfrm>
            <a:off x="487136" y="559507"/>
            <a:ext cx="1828800" cy="646331"/>
          </a:xfrm>
          <a:prstGeom prst="rect">
            <a:avLst/>
          </a:prstGeom>
          <a:noFill/>
        </p:spPr>
        <p:txBody>
          <a:bodyPr wrap="square" rtlCol="0">
            <a:spAutoFit/>
          </a:bodyPr>
          <a:lstStyle/>
          <a:p>
            <a:pPr algn="l"/>
            <a:r>
              <a:rPr lang="en-US" dirty="0" err="1"/>
              <a:t>Delete,edit</a:t>
            </a:r>
            <a:r>
              <a:rPr lang="en-US" dirty="0"/>
              <a:t> doctors</a:t>
            </a:r>
          </a:p>
        </p:txBody>
      </p:sp>
      <p:sp>
        <p:nvSpPr>
          <p:cNvPr id="7" name="TextBox 6">
            <a:extLst>
              <a:ext uri="{FF2B5EF4-FFF2-40B4-BE49-F238E27FC236}">
                <a16:creationId xmlns:a16="http://schemas.microsoft.com/office/drawing/2014/main" id="{1261C15E-4771-7785-E300-2ABEB046854F}"/>
              </a:ext>
            </a:extLst>
          </p:cNvPr>
          <p:cNvSpPr txBox="1"/>
          <p:nvPr/>
        </p:nvSpPr>
        <p:spPr>
          <a:xfrm>
            <a:off x="310243" y="3410283"/>
            <a:ext cx="1828800" cy="369332"/>
          </a:xfrm>
          <a:prstGeom prst="rect">
            <a:avLst/>
          </a:prstGeom>
          <a:noFill/>
        </p:spPr>
        <p:txBody>
          <a:bodyPr wrap="square" rtlCol="0">
            <a:spAutoFit/>
          </a:bodyPr>
          <a:lstStyle/>
          <a:p>
            <a:pPr algn="l"/>
            <a:r>
              <a:rPr lang="en-US" dirty="0"/>
              <a:t>Remove patients </a:t>
            </a:r>
          </a:p>
        </p:txBody>
      </p:sp>
    </p:spTree>
    <p:extLst>
      <p:ext uri="{BB962C8B-B14F-4D97-AF65-F5344CB8AC3E}">
        <p14:creationId xmlns:p14="http://schemas.microsoft.com/office/powerpoint/2010/main" val="22883010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Delay 9"/>
          <p:cNvSpPr/>
          <p:nvPr/>
        </p:nvSpPr>
        <p:spPr>
          <a:xfrm>
            <a:off x="762000" y="6429396"/>
            <a:ext cx="8354457" cy="428604"/>
          </a:xfrm>
          <a:prstGeom prst="flowChartDelay">
            <a:avLst/>
          </a:prstGeom>
          <a:solidFill>
            <a:srgbClr val="00B0F0"/>
          </a:solidFill>
          <a:ln>
            <a:solidFill>
              <a:srgbClr val="00B0F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rPr>
              <a:t>Anna University, Chennai</a:t>
            </a:r>
            <a:endParaRPr lang="en-US" sz="2400" b="1" spc="50" dirty="0">
              <a:ln w="12700" cmpd="sng">
                <a:solidFill>
                  <a:schemeClr val="accent6">
                    <a:satMod val="120000"/>
                    <a:shade val="80000"/>
                  </a:schemeClr>
                </a:solidFill>
                <a:prstDash val="solid"/>
              </a:ln>
              <a:solidFill>
                <a:srgbClr val="FFFF00"/>
              </a:solidFill>
              <a:effectLst>
                <a:glow rad="53100">
                  <a:schemeClr val="accent6">
                    <a:satMod val="180000"/>
                    <a:alpha val="30000"/>
                  </a:schemeClr>
                </a:glow>
              </a:effectLst>
            </a:endParaRPr>
          </a:p>
        </p:txBody>
      </p:sp>
      <p:sp>
        <p:nvSpPr>
          <p:cNvPr id="8" name="AutoShape 6" descr="Anna University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Anna University - Wikiped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10" descr="Anna University - Wikipedia"/>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2" descr="Anna University - Wikipedia"/>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4" descr="Anna University - Wikipedia"/>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6" descr="Anna University - Wikipedia"/>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8" descr="Anna University - Wikipedia"/>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20" descr="Anna University - Wikipedia"/>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22" descr="Anna University - Wikipedia"/>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24" descr="Anna University - Wikipedia"/>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50" name="Picture 26" descr="undefin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51" y="6186522"/>
            <a:ext cx="675701" cy="67147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07975" y="276285"/>
            <a:ext cx="8683625" cy="4124206"/>
          </a:xfrm>
          <a:prstGeom prst="rect">
            <a:avLst/>
          </a:prstGeom>
        </p:spPr>
        <p:txBody>
          <a:bodyPr wrap="square">
            <a:spAutoFit/>
          </a:bodyPr>
          <a:lstStyle/>
          <a:p>
            <a:pPr algn="ctr"/>
            <a:r>
              <a:rPr lang="en-US" sz="2400" b="1" dirty="0">
                <a:latin typeface="Times New Roman" pitchFamily="18" charset="0"/>
                <a:cs typeface="Times New Roman" pitchFamily="18" charset="0"/>
              </a:rPr>
              <a:t>CONCLUSION</a:t>
            </a:r>
          </a:p>
          <a:p>
            <a:pPr algn="ctr"/>
            <a:endParaRPr lang="en-US" sz="2300" b="1" dirty="0">
              <a:latin typeface="Times New Roman" pitchFamily="18" charset="0"/>
              <a:cs typeface="Times New Roman" pitchFamily="18" charset="0"/>
            </a:endParaRPr>
          </a:p>
          <a:p>
            <a:pPr algn="ct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Symptoms-Based Doctor Recommendation and Appointment System</a:t>
            </a:r>
            <a:endParaRPr lang="en-US" sz="2400" b="1" dirty="0">
              <a:latin typeface="Times New Roman" pitchFamily="18" charset="0"/>
              <a:cs typeface="Times New Roman" pitchFamily="18" charset="0"/>
            </a:endParaRPr>
          </a:p>
          <a:p>
            <a:pPr algn="just"/>
            <a:r>
              <a:rPr lang="en-IN" sz="2400" dirty="0">
                <a:latin typeface="Times New Roman" pitchFamily="18" charset="0"/>
                <a:cs typeface="Times New Roman" pitchFamily="18" charset="0"/>
              </a:rPr>
              <a:t>	</a:t>
            </a:r>
            <a:r>
              <a:rPr lang="en-IN" sz="2000" dirty="0">
                <a:effectLst/>
                <a:latin typeface="Times New Roman" panose="02020603050405020304" pitchFamily="18" charset="0"/>
                <a:ea typeface="Calibri" panose="020F0502020204030204" pitchFamily="34" charset="0"/>
              </a:rPr>
              <a:t>This project delivers an intelligent and user-centric healthcare assistance system that simplifies the process of identifying medical specialists, recommending suitable doctors, and booking appointments. By integrating decision support and role-based access within a single platform, the system reduces patient confusion, saves time, and improves healthcare accessibility. The proposed solution demonstrates an effective approach to modern healthcare management and provides a strong foundation for future advancements.</a:t>
            </a:r>
            <a:endParaRPr lang="en-IN" sz="2000" dirty="0">
              <a:latin typeface="Times New Roman" pitchFamily="18" charset="0"/>
              <a:cs typeface="Times New Roman" pitchFamily="18" charset="0"/>
            </a:endParaRPr>
          </a:p>
          <a:p>
            <a:endParaRPr lang="en-US" sz="2300" b="1" dirty="0">
              <a:latin typeface="Times New Roman" pitchFamily="18" charset="0"/>
              <a:cs typeface="Times New Roman" pitchFamily="18" charset="0"/>
            </a:endParaRPr>
          </a:p>
        </p:txBody>
      </p:sp>
    </p:spTree>
    <p:extLst>
      <p:ext uri="{BB962C8B-B14F-4D97-AF65-F5344CB8AC3E}">
        <p14:creationId xmlns:p14="http://schemas.microsoft.com/office/powerpoint/2010/main" val="20114716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348</TotalTime>
  <Words>1436</Words>
  <Application>Microsoft Office PowerPoint</Application>
  <PresentationFormat>On-screen Show (4:3)</PresentationFormat>
  <Paragraphs>605</Paragraphs>
  <Slides>47</Slides>
  <Notes>0</Notes>
  <HiddenSlides>0</HiddenSlides>
  <MMClips>0</MMClips>
  <ScaleCrop>false</ScaleCrop>
  <HeadingPairs>
    <vt:vector size="4" baseType="variant">
      <vt:variant>
        <vt:lpstr>Theme</vt:lpstr>
      </vt:variant>
      <vt:variant>
        <vt:i4>1</vt:i4>
      </vt:variant>
      <vt:variant>
        <vt:lpstr>Slide Titles</vt:lpstr>
      </vt:variant>
      <vt:variant>
        <vt:i4>47</vt:i4>
      </vt:variant>
    </vt:vector>
  </HeadingPairs>
  <TitlesOfParts>
    <vt:vector size="48" baseType="lpstr">
      <vt:lpstr>Office Theme</vt:lpstr>
      <vt:lpstr>PowerPoint Presentation</vt:lpstr>
      <vt:lpstr>Contents  </vt:lpstr>
      <vt:lpstr>PowerPoint Presentation</vt:lpstr>
      <vt:lpstr>PowerPoint Presentation</vt:lpstr>
      <vt:lpstr>PowerPoint Presentation</vt:lpstr>
      <vt:lpstr>PowerPoint Presentation</vt:lpstr>
      <vt:lpstr>Methodology </vt:lpstr>
      <vt:lpstr>Symptoms-Based Doctor Recommendation and Appointment
 System.</vt:lpstr>
      <vt:lpstr>General methodology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SYSTEM DIAGRAM </vt:lpstr>
      <vt:lpstr>DATA FLOW DIAGRAM</vt:lpstr>
      <vt:lpstr> </vt:lpstr>
      <vt:lpstr> </vt:lpstr>
      <vt:lpstr>ACTIVITY DIAGRAM </vt:lpstr>
      <vt:lpstr>SEQUENCE DIAGRAM </vt:lpstr>
      <vt:lpstr>USE CASE DIAGRAM </vt:lpstr>
      <vt:lpstr>Screenshots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MCA 25</dc:creator>
  <cp:lastModifiedBy>srinisaravanan01@gmail.com</cp:lastModifiedBy>
  <cp:revision>99</cp:revision>
  <dcterms:created xsi:type="dcterms:W3CDTF">2024-08-09T04:10:49Z</dcterms:created>
  <dcterms:modified xsi:type="dcterms:W3CDTF">2026-04-03T14:58:55Z</dcterms:modified>
</cp:coreProperties>
</file>