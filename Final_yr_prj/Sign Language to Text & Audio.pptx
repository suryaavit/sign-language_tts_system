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46E89D-66D6-4645-B10C-66ACFBE3005F}">
  <a:tblStyle styleId="{4546E89D-66D6-4645-B10C-66ACFBE300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1.png"/><Relationship Id="rId13" Type="http://schemas.openxmlformats.org/officeDocument/2006/relationships/image" Target="../media/image5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15" Type="http://schemas.openxmlformats.org/officeDocument/2006/relationships/image" Target="../media/image18.png"/><Relationship Id="rId14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5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9" Type="http://schemas.openxmlformats.org/officeDocument/2006/relationships/image" Target="../media/image21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3089969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GESTURE TRANSLATION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3863280"/>
            <a:ext cx="142875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18713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Converting Hand Gestures into Text and Audio using Advanced Machine Learning &amp; Computer Vision Techniques.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5276" y="1939379"/>
            <a:ext cx="11581447" cy="96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Sign-to-Voice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96587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Develop a high-fidelity system that bridges the communication gap between the deaf/mute community and others.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23900" y="4861470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Enhancing accessibility and real-time social integration for non-vocal individuals.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4861470"/>
            <a:ext cx="38100" cy="6096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84920"/>
            <a:ext cx="5191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62025" y="28802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Capture hand gestures via standard camera.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3755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Process data through specialized ML models.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38708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 recognized patterns into clear text.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3661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Synthesize text into audible speech output.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EXECUTIVE ABSTRACT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8802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755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708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661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86805"/>
            <a:ext cx="3549550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586805"/>
            <a:ext cx="3549699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586805"/>
            <a:ext cx="3549550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966120"/>
            <a:ext cx="3549550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1075" y="3966120"/>
            <a:ext cx="3549699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1275" y="3966120"/>
            <a:ext cx="3549550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18820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76300" y="287074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Machine Learning &amp; Computer Vision (ML/CV) Architecture.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16350" y="18820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616350" y="2870745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Web Application (React &amp; Python Backend).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56550" y="18820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356550" y="287074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OpenCV, MediaPipe, TensorFlow, and gTTS Engine.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300" y="42613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76300" y="525006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Live Video Stream / Frame-by-Frame Hand Capturing.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16350" y="426139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4616350" y="5250060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Text Transcription with Synchronized Audio Feedback.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56550" y="42613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356550" y="525006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 Document Generation (PDF) for Conversation Logging.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PROJECT OUTLINE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876300" y="2453580"/>
            <a:ext cx="310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Domain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616350" y="2453580"/>
            <a:ext cx="310710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Platform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56550" y="2453580"/>
            <a:ext cx="310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Core Stack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76300" y="4832895"/>
            <a:ext cx="310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616350" y="4832895"/>
            <a:ext cx="310710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56550" y="4832895"/>
            <a:ext cx="310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Optional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2595562" y="2632620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Precision Tracking: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Accurately capture hand landmarks using camera optics.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2595562" y="3127920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Real-time Detection: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Identify complex sign language gestures with low latency.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2595562" y="3623220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Multi-modal Conversion: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Transform visual signs into textual and auditory signals.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2595562" y="4118520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Barrier Eradication: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Significantly improve global communication accessibility.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2595562" y="4613820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Seamless UX: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Provide a clean, intuitive, and user-friendly interface for all users.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STRATEGIC OBJECTIVES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26326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31279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36232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41185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461382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81025" y="272221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Gap: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Most people lack understanding of sign language, isolating deaf/mute individuals in daily social and professional interactions.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382711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Current solutions often rely on human translators, which are expensive, slow, and not always available in real-time scenarios.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493201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Our system solves this by automating the translation process with AI.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71525" y="581025"/>
            <a:ext cx="4990623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PROBLEM DEFINITION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81025" y="581025"/>
            <a:ext cx="47625" cy="10057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5619750" y="866775"/>
            <a:ext cx="95250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581025" y="2314575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Engineering Logic Behind Sign-to-Voice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05276" y="120967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84920"/>
            <a:ext cx="5191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62025" y="19658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Capture: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Live webcam feed retrieval via OpenCV.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62025" y="246117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Preprocess: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Frame optimization and ROI segmentation.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62025" y="32612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Detect: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MediaPipe landmarks (21 points) extraction.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62025" y="375657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Classify: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Deep Learning model predicts gesture label.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62025" y="455667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Final text transcription and TTS trigger.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PIPELINE ARCHITECTURE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658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4611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612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565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566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>
            <a:off x="581025" y="2170658"/>
            <a:ext cx="11029950" cy="35909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581025" y="21706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{4546E89D-66D6-4645-B10C-66ACFBE3005F}</a:tableStyleId>
              </a:tblPr>
              <a:tblGrid>
                <a:gridCol w="2535725"/>
                <a:gridCol w="8494225"/>
              </a:tblGrid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Specifications / 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 Core i3 or above (Recommended i5/i7 for low latency)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4GB Minimum (8GB Recommended for ML inference)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Libraries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OpenCV, MediaPipe, TensorFlow/Keras, Pyttsx3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React.js / HTML5 / Tailwind CSS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OS / 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Windows 10+ / Linux | VS 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/>
          <p:nvPr/>
        </p:nvSpPr>
        <p:spPr>
          <a:xfrm>
            <a:off x="581025" y="2794545"/>
            <a:ext cx="2535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116758" y="2794545"/>
            <a:ext cx="84942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81025" y="3385095"/>
            <a:ext cx="2535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116758" y="3385095"/>
            <a:ext cx="84942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81025" y="3975645"/>
            <a:ext cx="2535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116758" y="3975645"/>
            <a:ext cx="84942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81025" y="4566195"/>
            <a:ext cx="2535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116758" y="4566195"/>
            <a:ext cx="84942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81025" y="5156745"/>
            <a:ext cx="2535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116758" y="5156745"/>
            <a:ext cx="84942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81025" y="5747295"/>
            <a:ext cx="2535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116758" y="5747295"/>
            <a:ext cx="84942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TECHNICAL SPECIFICATIONS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581025" y="2465933"/>
            <a:ext cx="11029950" cy="30003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1"/>
          <p:cNvGraphicFramePr/>
          <p:nvPr/>
        </p:nvGraphicFramePr>
        <p:xfrm>
          <a:off x="581025" y="24659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{4546E89D-66D6-4645-B10C-66ACFBE3005F}</a:tableStyleId>
              </a:tblPr>
              <a:tblGrid>
                <a:gridCol w="2294025"/>
                <a:gridCol w="4056450"/>
                <a:gridCol w="4679450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Existing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Proposed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Fully Automatic ML Recognition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 Delay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Human Translator Needed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Standalone Web Camera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Limited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Globally Available 24/7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1"/>
          <p:cNvSpPr/>
          <p:nvPr/>
        </p:nvSpPr>
        <p:spPr>
          <a:xfrm>
            <a:off x="581025" y="3089820"/>
            <a:ext cx="22940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875061" y="3089820"/>
            <a:ext cx="40564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931521" y="3089820"/>
            <a:ext cx="46794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81025" y="3680370"/>
            <a:ext cx="22940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875061" y="3680370"/>
            <a:ext cx="40564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931521" y="3680370"/>
            <a:ext cx="46794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81025" y="4270920"/>
            <a:ext cx="22940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875061" y="4270920"/>
            <a:ext cx="40564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931521" y="4270920"/>
            <a:ext cx="46794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81025" y="4861470"/>
            <a:ext cx="22940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875061" y="4861470"/>
            <a:ext cx="40564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931521" y="4861470"/>
            <a:ext cx="46794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81025" y="5452020"/>
            <a:ext cx="22940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875061" y="5452020"/>
            <a:ext cx="40564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931521" y="5452020"/>
            <a:ext cx="46794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SYSTEM COMPARISON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9857"/>
            <a:ext cx="3549550" cy="2771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189857"/>
            <a:ext cx="3549699" cy="2771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189857"/>
            <a:ext cx="3549550" cy="2771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2294632"/>
            <a:ext cx="3340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5850" y="2294632"/>
            <a:ext cx="33401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66050" y="2294632"/>
            <a:ext cx="3340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81025" y="524723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Current Status: Backend Logic and Core CV Modules Finalized.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85800" y="4643437"/>
            <a:ext cx="3340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MediaPipe 21-point skeleton tracking active.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425850" y="4643437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 dashboard with camera feed integrated.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166050" y="4643437"/>
            <a:ext cx="3340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Alphabet classification testing at 92% accuracy.</a:t>
            </a:r>
            <a:endParaRPr/>
          </a:p>
        </p:txBody>
      </p:sp>
      <p:pic>
        <p:nvPicPr>
          <p:cNvPr descr="image.png" id="256" name="Google Shape;25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4850" y="2313682"/>
            <a:ext cx="33019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44900" y="2313682"/>
            <a:ext cx="3302049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85100" y="2313682"/>
            <a:ext cx="33019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50% EXECUTION PROGRESS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685800" y="4294882"/>
            <a:ext cx="35070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Hand Detection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4425850" y="4294882"/>
            <a:ext cx="350715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User Interface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166050" y="4294882"/>
            <a:ext cx="35070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18CF8"/>
                </a:solidFill>
                <a:latin typeface="Montserrat"/>
                <a:ea typeface="Montserrat"/>
                <a:cs typeface="Montserrat"/>
                <a:sym typeface="Montserrat"/>
              </a:rPr>
              <a:t>Gesture Recognition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809750" y="2447925"/>
            <a:ext cx="85725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"Technology is at its best when it brings people together and removes barriers to communication." 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600575" y="4133850"/>
            <a:ext cx="29908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— Project Vision Statement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81025" y="343182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attention!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81025" y="4273748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contact@sign-to-voice.ai | Version 1.0 Alpha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305276" y="2326927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/>
          <p:nvPr/>
        </p:nvSpPr>
        <p:spPr>
          <a:xfrm>
            <a:off x="581025" y="210800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81025" y="309086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81025" y="407372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81025" y="40641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81025" y="40641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81025" y="484896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81025" y="484896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56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676400" y="225087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https://www.stephensonharwood.com/media/fbzhodyw/adobestock_1208849028.jpeg?width=1920&amp;height=1080&amp;format=webp&amp;quality=85&amp;%20=&amp;v=1dc26ff0c490420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676400" y="269468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www.stephensonharwood.com</a:t>
            </a:r>
            <a:endParaRPr/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39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676400" y="323373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025/942/932/non_2x/deaf-mute-man-and-woman-are-talking-using-sign-language-and-demonstrating-symbols-with-hands-guy-teaches-girl-sign-language-for-concept-of-inclusiveness-and-socialization-of-people-with-disabilities-vector.jpg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676400" y="367754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231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76400" y="421659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https://www.lpu.in/blog/wp-content/uploads/2025/06/AI-vs.-Machine-Learning-vs.-Deep-Learning-2.jpg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76400" y="44623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www.lpu.in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07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76400" y="500136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https://editor.analyticsvidhya.com/uploads/51525hand_crops.png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76400" y="524708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www.analyticsvidhya.com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