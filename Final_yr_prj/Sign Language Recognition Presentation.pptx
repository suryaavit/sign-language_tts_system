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Azeret Mono" panose="020B0604020202020204" charset="0"/>
      <p:regular r:id="rId13"/>
      <p:bold r:id="rId14"/>
      <p:italic r:id="rId15"/>
      <p:boldItalic r:id="rId16"/>
    </p:embeddedFont>
    <p:embeddedFont>
      <p:font typeface="Calibri" panose="020F0502020204030204" pitchFamily="34" charset="0"/>
      <p:regular r:id="rId17"/>
      <p:bold r:id="rId18"/>
      <p:italic r:id="rId19"/>
      <p:boldItalic r:id="rId20"/>
    </p:embeddedFont>
    <p:embeddedFont>
      <p:font typeface="Lato" panose="020B0604020202020204" charset="0"/>
      <p:regular r:id="rId21"/>
      <p:bold r:id="rId22"/>
      <p:italic r:id="rId23"/>
      <p:boldItalic r:id="rId24"/>
    </p:embeddedFont>
    <p:embeddedFont>
      <p:font typeface="Poppins"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A061627-9EDD-4673-B47F-854480B71A69}">
  <a:tblStyle styleId="{EA061627-9EDD-4673-B47F-854480B71A6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5" name="Google Shape;20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2209800" y="2809875"/>
            <a:ext cx="7772400" cy="866775"/>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381000" y="4152900"/>
            <a:ext cx="5524500" cy="1466850"/>
          </a:xfrm>
          <a:prstGeom prst="rect">
            <a:avLst/>
          </a:prstGeom>
          <a:noFill/>
          <a:ln>
            <a:noFill/>
          </a:ln>
        </p:spPr>
      </p:pic>
      <p:pic>
        <p:nvPicPr>
          <p:cNvPr id="86" name="Google Shape;86;p13" descr="image.png"/>
          <p:cNvPicPr preferRelativeResize="0"/>
          <p:nvPr/>
        </p:nvPicPr>
        <p:blipFill rotWithShape="1">
          <a:blip r:embed="rId4">
            <a:alphaModFix/>
          </a:blip>
          <a:srcRect/>
          <a:stretch/>
        </p:blipFill>
        <p:spPr>
          <a:xfrm>
            <a:off x="6286500" y="4152900"/>
            <a:ext cx="5524500" cy="1466850"/>
          </a:xfrm>
          <a:prstGeom prst="rect">
            <a:avLst/>
          </a:prstGeom>
          <a:noFill/>
          <a:ln>
            <a:noFill/>
          </a:ln>
        </p:spPr>
      </p:pic>
      <p:sp>
        <p:nvSpPr>
          <p:cNvPr id="87" name="Google Shape;87;p13"/>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 name="Google Shape;91;p13"/>
          <p:cNvSpPr txBox="1"/>
          <p:nvPr/>
        </p:nvSpPr>
        <p:spPr>
          <a:xfrm>
            <a:off x="1524000" y="1824037"/>
            <a:ext cx="9144000" cy="461665"/>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2000" b="1" i="0" u="none" strike="noStrike" cap="none" dirty="0">
                <a:solidFill>
                  <a:srgbClr val="334155"/>
                </a:solidFill>
                <a:latin typeface="Lato"/>
                <a:ea typeface="Lato"/>
                <a:cs typeface="Lato"/>
                <a:sym typeface="Lato"/>
              </a:rPr>
              <a:t>Name:</a:t>
            </a:r>
            <a:r>
              <a:rPr lang="en-US" sz="2000" b="0" i="0" u="none" strike="noStrike" cap="none" dirty="0">
                <a:solidFill>
                  <a:srgbClr val="334155"/>
                </a:solidFill>
                <a:latin typeface="Lato"/>
                <a:ea typeface="Lato"/>
                <a:cs typeface="Lato"/>
                <a:sym typeface="Lato"/>
              </a:rPr>
              <a:t> </a:t>
            </a:r>
            <a:r>
              <a:rPr lang="en-US" sz="2000" dirty="0">
                <a:solidFill>
                  <a:srgbClr val="334155"/>
                </a:solidFill>
                <a:latin typeface="Lato"/>
                <a:ea typeface="Lato"/>
                <a:cs typeface="Lato"/>
                <a:sym typeface="Lato"/>
              </a:rPr>
              <a:t>Surya A</a:t>
            </a:r>
            <a:r>
              <a:rPr lang="en-US" sz="2000" b="0" i="0" u="none" strike="noStrike" cap="none" dirty="0">
                <a:solidFill>
                  <a:srgbClr val="334155"/>
                </a:solidFill>
                <a:latin typeface="Lato"/>
                <a:ea typeface="Lato"/>
                <a:cs typeface="Lato"/>
                <a:sym typeface="Lato"/>
              </a:rPr>
              <a:t>   |   </a:t>
            </a:r>
            <a:r>
              <a:rPr lang="en-US" sz="2000" b="1" i="0" u="none" strike="noStrike" cap="none" dirty="0">
                <a:solidFill>
                  <a:srgbClr val="334155"/>
                </a:solidFill>
                <a:latin typeface="Lato"/>
                <a:ea typeface="Lato"/>
                <a:cs typeface="Lato"/>
                <a:sym typeface="Lato"/>
              </a:rPr>
              <a:t>Reg. No:</a:t>
            </a:r>
            <a:r>
              <a:rPr lang="en-US" sz="2000" b="0" i="0" u="none" strike="noStrike" cap="none" dirty="0">
                <a:solidFill>
                  <a:srgbClr val="334155"/>
                </a:solidFill>
                <a:latin typeface="Lato"/>
                <a:ea typeface="Lato"/>
                <a:cs typeface="Lato"/>
                <a:sym typeface="Lato"/>
              </a:rPr>
              <a:t> 511924622038</a:t>
            </a:r>
            <a:endParaRPr sz="2000" dirty="0"/>
          </a:p>
        </p:txBody>
      </p:sp>
      <p:sp>
        <p:nvSpPr>
          <p:cNvPr id="92" name="Google Shape;92;p13"/>
          <p:cNvSpPr txBox="1"/>
          <p:nvPr/>
        </p:nvSpPr>
        <p:spPr>
          <a:xfrm>
            <a:off x="1524000" y="2190750"/>
            <a:ext cx="9144000" cy="41549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dirty="0">
                <a:solidFill>
                  <a:srgbClr val="334155"/>
                </a:solidFill>
                <a:latin typeface="Azeret Mono"/>
                <a:ea typeface="Azeret Mono"/>
                <a:cs typeface="Azeret Mono"/>
                <a:sym typeface="Azeret Mono"/>
              </a:rPr>
              <a:t>MC4411 PROJECT WORK</a:t>
            </a:r>
            <a:endParaRPr sz="2000" dirty="0"/>
          </a:p>
        </p:txBody>
      </p:sp>
      <p:sp>
        <p:nvSpPr>
          <p:cNvPr id="93" name="Google Shape;93;p13"/>
          <p:cNvSpPr txBox="1"/>
          <p:nvPr/>
        </p:nvSpPr>
        <p:spPr>
          <a:xfrm>
            <a:off x="2435542" y="2971800"/>
            <a:ext cx="7320915" cy="542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50" b="1" i="0" u="none" strike="noStrike" cap="none" dirty="0">
                <a:solidFill>
                  <a:srgbClr val="800000"/>
                </a:solidFill>
                <a:latin typeface="Poppins"/>
                <a:ea typeface="Poppins"/>
                <a:cs typeface="Poppins"/>
                <a:sym typeface="Poppins"/>
              </a:rPr>
              <a:t>SIGN LANGUAGE RECOGNITION SYSTEM</a:t>
            </a:r>
            <a:endParaRPr dirty="0"/>
          </a:p>
        </p:txBody>
      </p:sp>
      <p:sp>
        <p:nvSpPr>
          <p:cNvPr id="94" name="Google Shape;94;p13"/>
          <p:cNvSpPr txBox="1"/>
          <p:nvPr/>
        </p:nvSpPr>
        <p:spPr>
          <a:xfrm>
            <a:off x="2122981" y="523875"/>
            <a:ext cx="7946038"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200" b="1" i="0" u="none" strike="noStrike" cap="none" dirty="0">
                <a:solidFill>
                  <a:srgbClr val="003366"/>
                </a:solidFill>
                <a:latin typeface="Poppins"/>
                <a:ea typeface="Poppins"/>
                <a:cs typeface="Poppins"/>
                <a:sym typeface="Poppins"/>
              </a:rPr>
              <a:t>PRIYADARSHINI ENGINEERING COLLEGE</a:t>
            </a:r>
            <a:endParaRPr sz="2000" dirty="0"/>
          </a:p>
        </p:txBody>
      </p:sp>
      <p:sp>
        <p:nvSpPr>
          <p:cNvPr id="95" name="Google Shape;95;p13"/>
          <p:cNvSpPr txBox="1"/>
          <p:nvPr/>
        </p:nvSpPr>
        <p:spPr>
          <a:xfrm>
            <a:off x="2887957" y="971550"/>
            <a:ext cx="6416086" cy="461665"/>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2000" b="1" i="0" u="none" strike="noStrike" cap="none" dirty="0">
                <a:solidFill>
                  <a:srgbClr val="003366"/>
                </a:solidFill>
                <a:latin typeface="Lato"/>
                <a:ea typeface="Lato"/>
                <a:cs typeface="Lato"/>
                <a:sym typeface="Lato"/>
              </a:rPr>
              <a:t>Department of Master of Computer Applications</a:t>
            </a:r>
            <a:endParaRPr sz="2000" dirty="0"/>
          </a:p>
        </p:txBody>
      </p:sp>
      <p:sp>
        <p:nvSpPr>
          <p:cNvPr id="96" name="Google Shape;96;p13"/>
          <p:cNvSpPr txBox="1"/>
          <p:nvPr/>
        </p:nvSpPr>
        <p:spPr>
          <a:xfrm>
            <a:off x="3495675" y="1338262"/>
            <a:ext cx="5200650" cy="32316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b="0" i="0" u="none" strike="noStrike" cap="none" dirty="0" err="1">
                <a:solidFill>
                  <a:srgbClr val="64748B"/>
                </a:solidFill>
                <a:latin typeface="Lato"/>
                <a:ea typeface="Lato"/>
                <a:cs typeface="Lato"/>
                <a:sym typeface="Lato"/>
              </a:rPr>
              <a:t>Vaniyambadi</a:t>
            </a:r>
            <a:r>
              <a:rPr lang="en-US" b="0" i="0" u="none" strike="noStrike" cap="none" dirty="0">
                <a:solidFill>
                  <a:srgbClr val="64748B"/>
                </a:solidFill>
                <a:latin typeface="Lato"/>
                <a:ea typeface="Lato"/>
                <a:cs typeface="Lato"/>
                <a:sym typeface="Lato"/>
              </a:rPr>
              <a:t>, Tamil Nadu</a:t>
            </a:r>
            <a:endParaRPr sz="2000" dirty="0"/>
          </a:p>
        </p:txBody>
      </p:sp>
      <p:sp>
        <p:nvSpPr>
          <p:cNvPr id="97" name="Google Shape;97;p13"/>
          <p:cNvSpPr txBox="1"/>
          <p:nvPr/>
        </p:nvSpPr>
        <p:spPr>
          <a:xfrm>
            <a:off x="571500" y="4295775"/>
            <a:ext cx="519112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a:solidFill>
                  <a:srgbClr val="800000"/>
                </a:solidFill>
                <a:latin typeface="Lato"/>
                <a:ea typeface="Lato"/>
                <a:cs typeface="Lato"/>
                <a:sym typeface="Lato"/>
              </a:rPr>
              <a:t>SUPERVISOR</a:t>
            </a:r>
            <a:endParaRPr dirty="0"/>
          </a:p>
        </p:txBody>
      </p:sp>
      <p:sp>
        <p:nvSpPr>
          <p:cNvPr id="98" name="Google Shape;98;p13"/>
          <p:cNvSpPr txBox="1"/>
          <p:nvPr/>
        </p:nvSpPr>
        <p:spPr>
          <a:xfrm>
            <a:off x="758677" y="4559558"/>
            <a:ext cx="5191125" cy="32316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b="1" i="0" u="none" strike="noStrike" cap="none" dirty="0" err="1">
                <a:solidFill>
                  <a:srgbClr val="800000"/>
                </a:solidFill>
                <a:latin typeface="Lato"/>
                <a:ea typeface="Lato"/>
                <a:cs typeface="Lato"/>
                <a:sym typeface="Lato"/>
              </a:rPr>
              <a:t>Ms.JeevaLakshmi</a:t>
            </a:r>
            <a:r>
              <a:rPr lang="en-US" b="1" i="0" u="none" strike="noStrike" cap="none" dirty="0">
                <a:solidFill>
                  <a:srgbClr val="800000"/>
                </a:solidFill>
                <a:latin typeface="Lato"/>
                <a:ea typeface="Lato"/>
                <a:cs typeface="Lato"/>
                <a:sym typeface="Lato"/>
              </a:rPr>
              <a:t> ,</a:t>
            </a:r>
            <a:r>
              <a:rPr lang="en-US" b="0" i="0" u="none" strike="noStrike" cap="none" dirty="0">
                <a:solidFill>
                  <a:srgbClr val="334155"/>
                </a:solidFill>
                <a:latin typeface="Lato"/>
                <a:ea typeface="Lato"/>
                <a:cs typeface="Lato"/>
                <a:sym typeface="Lato"/>
              </a:rPr>
              <a:t> Assistant Professor,</a:t>
            </a:r>
            <a:endParaRPr dirty="0"/>
          </a:p>
        </p:txBody>
      </p:sp>
      <p:sp>
        <p:nvSpPr>
          <p:cNvPr id="99" name="Google Shape;99;p13"/>
          <p:cNvSpPr txBox="1"/>
          <p:nvPr/>
        </p:nvSpPr>
        <p:spPr>
          <a:xfrm>
            <a:off x="714375" y="5093880"/>
            <a:ext cx="5191125" cy="27699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200" b="0" i="0" u="none" strike="noStrike" cap="none" dirty="0">
                <a:solidFill>
                  <a:srgbClr val="334155"/>
                </a:solidFill>
                <a:latin typeface="Lato"/>
                <a:ea typeface="Lato"/>
                <a:cs typeface="Lato"/>
                <a:sym typeface="Lato"/>
              </a:rPr>
              <a:t>Master of Computer Applications, PEC.</a:t>
            </a:r>
            <a:endParaRPr sz="1600" dirty="0"/>
          </a:p>
        </p:txBody>
      </p:sp>
      <p:sp>
        <p:nvSpPr>
          <p:cNvPr id="100" name="Google Shape;100;p13"/>
          <p:cNvSpPr txBox="1"/>
          <p:nvPr/>
        </p:nvSpPr>
        <p:spPr>
          <a:xfrm>
            <a:off x="6477000" y="4295775"/>
            <a:ext cx="519112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a:solidFill>
                  <a:srgbClr val="800000"/>
                </a:solidFill>
                <a:latin typeface="Lato"/>
                <a:ea typeface="Lato"/>
                <a:cs typeface="Lato"/>
                <a:sym typeface="Lato"/>
              </a:rPr>
              <a:t>HEAD OF THE DEPARTMENT</a:t>
            </a:r>
            <a:endParaRPr sz="1800" dirty="0"/>
          </a:p>
        </p:txBody>
      </p:sp>
      <p:sp>
        <p:nvSpPr>
          <p:cNvPr id="101" name="Google Shape;101;p13"/>
          <p:cNvSpPr txBox="1"/>
          <p:nvPr/>
        </p:nvSpPr>
        <p:spPr>
          <a:xfrm>
            <a:off x="6708480" y="4608880"/>
            <a:ext cx="5191125" cy="36933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600" b="1" i="0" u="none" strike="noStrike" cap="none" dirty="0">
                <a:solidFill>
                  <a:srgbClr val="800000"/>
                </a:solidFill>
                <a:latin typeface="Lato"/>
                <a:ea typeface="Lato"/>
                <a:cs typeface="Lato"/>
                <a:sym typeface="Lato"/>
              </a:rPr>
              <a:t>Dr. Manikandan G,</a:t>
            </a:r>
            <a:r>
              <a:rPr lang="en-US" sz="1600" b="0" i="0" u="none" strike="noStrike" cap="none" dirty="0">
                <a:solidFill>
                  <a:srgbClr val="334155"/>
                </a:solidFill>
                <a:latin typeface="Lato"/>
                <a:ea typeface="Lato"/>
                <a:cs typeface="Lato"/>
                <a:sym typeface="Lato"/>
              </a:rPr>
              <a:t> M.Sc., M.Phil., Ph.D.,</a:t>
            </a:r>
            <a:endParaRPr sz="1600" dirty="0"/>
          </a:p>
        </p:txBody>
      </p:sp>
      <p:sp>
        <p:nvSpPr>
          <p:cNvPr id="102" name="Google Shape;102;p13"/>
          <p:cNvSpPr txBox="1"/>
          <p:nvPr/>
        </p:nvSpPr>
        <p:spPr>
          <a:xfrm>
            <a:off x="6708480" y="5156567"/>
            <a:ext cx="5191125" cy="323165"/>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b="0" i="0" u="none" strike="noStrike" cap="none" dirty="0">
                <a:solidFill>
                  <a:srgbClr val="334155"/>
                </a:solidFill>
                <a:latin typeface="Lato"/>
                <a:ea typeface="Lato"/>
                <a:cs typeface="Lato"/>
                <a:sym typeface="Lato"/>
              </a:rPr>
              <a:t>Head of the Dept, MCA, PEC.</a:t>
            </a:r>
            <a:endParaRPr sz="1800" dirty="0"/>
          </a:p>
        </p:txBody>
      </p:sp>
      <p:pic>
        <p:nvPicPr>
          <p:cNvPr id="21" name="Picture 20">
            <a:extLst>
              <a:ext uri="{FF2B5EF4-FFF2-40B4-BE49-F238E27FC236}">
                <a16:creationId xmlns:a16="http://schemas.microsoft.com/office/drawing/2014/main" id="{27744E7F-7FFC-4D2F-909A-17C138472F86}"/>
              </a:ext>
            </a:extLst>
          </p:cNvPr>
          <p:cNvPicPr/>
          <p:nvPr/>
        </p:nvPicPr>
        <p:blipFill>
          <a:blip r:embed="rId5"/>
          <a:srcRect/>
          <a:stretch>
            <a:fillRect/>
          </a:stretch>
        </p:blipFill>
        <p:spPr bwMode="auto">
          <a:xfrm>
            <a:off x="228600" y="381000"/>
            <a:ext cx="768350" cy="846137"/>
          </a:xfrm>
          <a:prstGeom prst="rect">
            <a:avLst/>
          </a:prstGeom>
          <a:noFill/>
          <a:ln w="9525">
            <a:noFill/>
            <a:miter lim="800000"/>
            <a:headEnd/>
            <a:tailEnd/>
          </a:ln>
        </p:spPr>
      </p:pic>
      <p:pic>
        <p:nvPicPr>
          <p:cNvPr id="25" name="Picture 26" descr="undefined">
            <a:extLst>
              <a:ext uri="{FF2B5EF4-FFF2-40B4-BE49-F238E27FC236}">
                <a16:creationId xmlns:a16="http://schemas.microsoft.com/office/drawing/2014/main" id="{6AFC0969-94E1-4564-85CD-EA62865937C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26" name="Google Shape;210;p21">
            <a:extLst>
              <a:ext uri="{FF2B5EF4-FFF2-40B4-BE49-F238E27FC236}">
                <a16:creationId xmlns:a16="http://schemas.microsoft.com/office/drawing/2014/main" id="{1B31358C-B6E7-4B59-8767-D2880B700A66}"/>
              </a:ext>
            </a:extLst>
          </p:cNvPr>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
        <p:cNvGrpSpPr/>
        <p:nvPr/>
      </p:nvGrpSpPr>
      <p:grpSpPr>
        <a:xfrm>
          <a:off x="0" y="0"/>
          <a:ext cx="0" cy="0"/>
          <a:chOff x="0" y="0"/>
          <a:chExt cx="0" cy="0"/>
        </a:xfrm>
      </p:grpSpPr>
      <p:sp>
        <p:nvSpPr>
          <p:cNvPr id="107" name="Google Shape;107;p14"/>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4"/>
          <p:cNvSpPr txBox="1"/>
          <p:nvPr/>
        </p:nvSpPr>
        <p:spPr>
          <a:xfrm>
            <a:off x="381000" y="523875"/>
            <a:ext cx="118110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03366"/>
                </a:solidFill>
                <a:latin typeface="Poppins"/>
                <a:ea typeface="Poppins"/>
                <a:cs typeface="Poppins"/>
                <a:sym typeface="Poppins"/>
              </a:rPr>
              <a:t>Contents</a:t>
            </a:r>
            <a:endParaRPr/>
          </a:p>
        </p:txBody>
      </p:sp>
      <p:sp>
        <p:nvSpPr>
          <p:cNvPr id="109" name="Google Shape;109;p14"/>
          <p:cNvSpPr/>
          <p:nvPr/>
        </p:nvSpPr>
        <p:spPr>
          <a:xfrm>
            <a:off x="381000" y="1143000"/>
            <a:ext cx="11430000" cy="285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4"/>
          <p:cNvSpPr txBox="1"/>
          <p:nvPr/>
        </p:nvSpPr>
        <p:spPr>
          <a:xfrm>
            <a:off x="762000" y="2657475"/>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Abstract</a:t>
            </a:r>
            <a:endParaRPr/>
          </a:p>
        </p:txBody>
      </p:sp>
      <p:sp>
        <p:nvSpPr>
          <p:cNvPr id="112" name="Google Shape;112;p14"/>
          <p:cNvSpPr txBox="1"/>
          <p:nvPr/>
        </p:nvSpPr>
        <p:spPr>
          <a:xfrm>
            <a:off x="762000" y="3119437"/>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Introduction</a:t>
            </a:r>
            <a:endParaRPr/>
          </a:p>
        </p:txBody>
      </p:sp>
      <p:sp>
        <p:nvSpPr>
          <p:cNvPr id="113" name="Google Shape;113;p14"/>
          <p:cNvSpPr txBox="1"/>
          <p:nvPr/>
        </p:nvSpPr>
        <p:spPr>
          <a:xfrm>
            <a:off x="762000" y="3581400"/>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Problem Definition</a:t>
            </a:r>
            <a:endParaRPr/>
          </a:p>
        </p:txBody>
      </p:sp>
      <p:sp>
        <p:nvSpPr>
          <p:cNvPr id="114" name="Google Shape;114;p14"/>
          <p:cNvSpPr txBox="1"/>
          <p:nvPr/>
        </p:nvSpPr>
        <p:spPr>
          <a:xfrm>
            <a:off x="762000" y="4043362"/>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Objective of the Project</a:t>
            </a:r>
            <a:endParaRPr/>
          </a:p>
        </p:txBody>
      </p:sp>
      <p:sp>
        <p:nvSpPr>
          <p:cNvPr id="115" name="Google Shape;115;p14"/>
          <p:cNvSpPr txBox="1"/>
          <p:nvPr/>
        </p:nvSpPr>
        <p:spPr>
          <a:xfrm>
            <a:off x="762000" y="4505325"/>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Methodology</a:t>
            </a:r>
            <a:endParaRPr/>
          </a:p>
        </p:txBody>
      </p:sp>
      <p:sp>
        <p:nvSpPr>
          <p:cNvPr id="116" name="Google Shape;116;p14"/>
          <p:cNvSpPr txBox="1"/>
          <p:nvPr/>
        </p:nvSpPr>
        <p:spPr>
          <a:xfrm>
            <a:off x="762000" y="4967287"/>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Hardware &amp; Software Requirements</a:t>
            </a:r>
            <a:endParaRPr/>
          </a:p>
        </p:txBody>
      </p:sp>
      <p:pic>
        <p:nvPicPr>
          <p:cNvPr id="117" name="Google Shape;117;p14" descr="image.png"/>
          <p:cNvPicPr preferRelativeResize="0"/>
          <p:nvPr/>
        </p:nvPicPr>
        <p:blipFill rotWithShape="1">
          <a:blip r:embed="rId3">
            <a:alphaModFix/>
          </a:blip>
          <a:srcRect/>
          <a:stretch/>
        </p:blipFill>
        <p:spPr>
          <a:xfrm>
            <a:off x="381000" y="2700337"/>
            <a:ext cx="238125" cy="219075"/>
          </a:xfrm>
          <a:prstGeom prst="rect">
            <a:avLst/>
          </a:prstGeom>
          <a:noFill/>
          <a:ln>
            <a:noFill/>
          </a:ln>
        </p:spPr>
      </p:pic>
      <p:pic>
        <p:nvPicPr>
          <p:cNvPr id="118" name="Google Shape;118;p14" descr="image.png"/>
          <p:cNvPicPr preferRelativeResize="0"/>
          <p:nvPr/>
        </p:nvPicPr>
        <p:blipFill rotWithShape="1">
          <a:blip r:embed="rId4">
            <a:alphaModFix/>
          </a:blip>
          <a:srcRect/>
          <a:stretch/>
        </p:blipFill>
        <p:spPr>
          <a:xfrm>
            <a:off x="381000" y="3162300"/>
            <a:ext cx="161925" cy="219075"/>
          </a:xfrm>
          <a:prstGeom prst="rect">
            <a:avLst/>
          </a:prstGeom>
          <a:noFill/>
          <a:ln>
            <a:noFill/>
          </a:ln>
        </p:spPr>
      </p:pic>
      <p:pic>
        <p:nvPicPr>
          <p:cNvPr id="119" name="Google Shape;119;p14" descr="image.png"/>
          <p:cNvPicPr preferRelativeResize="0"/>
          <p:nvPr/>
        </p:nvPicPr>
        <p:blipFill rotWithShape="1">
          <a:blip r:embed="rId5">
            <a:alphaModFix/>
          </a:blip>
          <a:srcRect/>
          <a:stretch/>
        </p:blipFill>
        <p:spPr>
          <a:xfrm>
            <a:off x="381000" y="3624262"/>
            <a:ext cx="209550" cy="219075"/>
          </a:xfrm>
          <a:prstGeom prst="rect">
            <a:avLst/>
          </a:prstGeom>
          <a:noFill/>
          <a:ln>
            <a:noFill/>
          </a:ln>
        </p:spPr>
      </p:pic>
      <p:pic>
        <p:nvPicPr>
          <p:cNvPr id="120" name="Google Shape;120;p14" descr="image.png"/>
          <p:cNvPicPr preferRelativeResize="0"/>
          <p:nvPr/>
        </p:nvPicPr>
        <p:blipFill rotWithShape="1">
          <a:blip r:embed="rId6">
            <a:alphaModFix/>
          </a:blip>
          <a:srcRect/>
          <a:stretch/>
        </p:blipFill>
        <p:spPr>
          <a:xfrm>
            <a:off x="381000" y="4086225"/>
            <a:ext cx="209550" cy="219075"/>
          </a:xfrm>
          <a:prstGeom prst="rect">
            <a:avLst/>
          </a:prstGeom>
          <a:noFill/>
          <a:ln>
            <a:noFill/>
          </a:ln>
        </p:spPr>
      </p:pic>
      <p:pic>
        <p:nvPicPr>
          <p:cNvPr id="121" name="Google Shape;121;p14" descr="image.png"/>
          <p:cNvPicPr preferRelativeResize="0"/>
          <p:nvPr/>
        </p:nvPicPr>
        <p:blipFill rotWithShape="1">
          <a:blip r:embed="rId7">
            <a:alphaModFix/>
          </a:blip>
          <a:srcRect/>
          <a:stretch/>
        </p:blipFill>
        <p:spPr>
          <a:xfrm>
            <a:off x="381000" y="4548187"/>
            <a:ext cx="238125" cy="219075"/>
          </a:xfrm>
          <a:prstGeom prst="rect">
            <a:avLst/>
          </a:prstGeom>
          <a:noFill/>
          <a:ln>
            <a:noFill/>
          </a:ln>
        </p:spPr>
      </p:pic>
      <p:pic>
        <p:nvPicPr>
          <p:cNvPr id="122" name="Google Shape;122;p14" descr="image.png"/>
          <p:cNvPicPr preferRelativeResize="0"/>
          <p:nvPr/>
        </p:nvPicPr>
        <p:blipFill rotWithShape="1">
          <a:blip r:embed="rId8">
            <a:alphaModFix/>
          </a:blip>
          <a:srcRect/>
          <a:stretch/>
        </p:blipFill>
        <p:spPr>
          <a:xfrm>
            <a:off x="381000" y="5010150"/>
            <a:ext cx="238125" cy="219075"/>
          </a:xfrm>
          <a:prstGeom prst="rect">
            <a:avLst/>
          </a:prstGeom>
          <a:noFill/>
          <a:ln>
            <a:noFill/>
          </a:ln>
        </p:spPr>
      </p:pic>
      <p:pic>
        <p:nvPicPr>
          <p:cNvPr id="19" name="Picture 26" descr="undefined">
            <a:extLst>
              <a:ext uri="{FF2B5EF4-FFF2-40B4-BE49-F238E27FC236}">
                <a16:creationId xmlns:a16="http://schemas.microsoft.com/office/drawing/2014/main" id="{EC42DB2E-A7F9-4F20-B43B-469BE132CD04}"/>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210;p21">
            <a:extLst>
              <a:ext uri="{FF2B5EF4-FFF2-40B4-BE49-F238E27FC236}">
                <a16:creationId xmlns:a16="http://schemas.microsoft.com/office/drawing/2014/main" id="{53FE5847-9750-4735-A773-4307F5943C6F}"/>
              </a:ext>
            </a:extLst>
          </p:cNvPr>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p:cNvGrpSpPr/>
        <p:nvPr/>
      </p:nvGrpSpPr>
      <p:grpSpPr>
        <a:xfrm>
          <a:off x="0" y="0"/>
          <a:ext cx="0" cy="0"/>
          <a:chOff x="0" y="0"/>
          <a:chExt cx="0" cy="0"/>
        </a:xfrm>
      </p:grpSpPr>
      <p:sp>
        <p:nvSpPr>
          <p:cNvPr id="127" name="Google Shape;127;p15"/>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5"/>
          <p:cNvSpPr txBox="1"/>
          <p:nvPr/>
        </p:nvSpPr>
        <p:spPr>
          <a:xfrm>
            <a:off x="381000" y="523875"/>
            <a:ext cx="118110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03366"/>
                </a:solidFill>
                <a:latin typeface="Poppins"/>
                <a:ea typeface="Poppins"/>
                <a:cs typeface="Poppins"/>
                <a:sym typeface="Poppins"/>
              </a:rPr>
              <a:t>Abstract</a:t>
            </a:r>
            <a:endParaRPr/>
          </a:p>
        </p:txBody>
      </p:sp>
      <p:sp>
        <p:nvSpPr>
          <p:cNvPr id="129" name="Google Shape;129;p15"/>
          <p:cNvSpPr/>
          <p:nvPr/>
        </p:nvSpPr>
        <p:spPr>
          <a:xfrm>
            <a:off x="381000" y="1143000"/>
            <a:ext cx="11430000" cy="285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 name="Google Shape;131;p15"/>
          <p:cNvSpPr txBox="1"/>
          <p:nvPr/>
        </p:nvSpPr>
        <p:spPr>
          <a:xfrm>
            <a:off x="381000" y="2986087"/>
            <a:ext cx="114300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The </a:t>
            </a:r>
            <a:r>
              <a:rPr lang="en-US" sz="1425" b="1" i="0" u="none" strike="noStrike" cap="none">
                <a:solidFill>
                  <a:srgbClr val="334155"/>
                </a:solidFill>
                <a:latin typeface="Lato"/>
                <a:ea typeface="Lato"/>
                <a:cs typeface="Lato"/>
                <a:sym typeface="Lato"/>
              </a:rPr>
              <a:t>Sign Language Recognition System (SLRS)</a:t>
            </a:r>
            <a:r>
              <a:rPr lang="en-US" sz="1425" b="0" i="0" u="none" strike="noStrike" cap="none">
                <a:solidFill>
                  <a:srgbClr val="334155"/>
                </a:solidFill>
                <a:latin typeface="Lato"/>
                <a:ea typeface="Lato"/>
                <a:cs typeface="Lato"/>
                <a:sym typeface="Lato"/>
              </a:rPr>
              <a:t> is an advanced computerized solution developed to bridge the communication gap between the hearing-impaired community and the general public. Traditional methods of sign interpretation are often manual, slow, and dependent on human availability.</a:t>
            </a:r>
            <a:endParaRPr/>
          </a:p>
        </p:txBody>
      </p:sp>
      <p:sp>
        <p:nvSpPr>
          <p:cNvPr id="132" name="Google Shape;132;p15"/>
          <p:cNvSpPr txBox="1"/>
          <p:nvPr/>
        </p:nvSpPr>
        <p:spPr>
          <a:xfrm>
            <a:off x="381000" y="4038600"/>
            <a:ext cx="114300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This system automates the process of interpreting hand gestures into text and speech through real-time hand landmark detection using </a:t>
            </a:r>
            <a:r>
              <a:rPr lang="en-US" sz="1425" b="1" i="0" u="none" strike="noStrike" cap="none">
                <a:solidFill>
                  <a:srgbClr val="334155"/>
                </a:solidFill>
                <a:latin typeface="Lato"/>
                <a:ea typeface="Lato"/>
                <a:cs typeface="Lato"/>
                <a:sym typeface="Lato"/>
              </a:rPr>
              <a:t>MediaPipe</a:t>
            </a:r>
            <a:r>
              <a:rPr lang="en-US" sz="1425" b="0" i="0" u="none" strike="noStrike" cap="none">
                <a:solidFill>
                  <a:srgbClr val="334155"/>
                </a:solidFill>
                <a:latin typeface="Lato"/>
                <a:ea typeface="Lato"/>
                <a:cs typeface="Lato"/>
                <a:sym typeface="Lato"/>
              </a:rPr>
              <a:t> and machine learning models. It features a secure user interface for both administrators and end-users, ensuring seamless conversion of gestures into meaningful communication, thereby enhancing accessibility and operational efficiency in inclusive environments.</a:t>
            </a:r>
            <a:endParaRPr/>
          </a:p>
        </p:txBody>
      </p:sp>
      <p:pic>
        <p:nvPicPr>
          <p:cNvPr id="11" name="Picture 26" descr="undefined">
            <a:extLst>
              <a:ext uri="{FF2B5EF4-FFF2-40B4-BE49-F238E27FC236}">
                <a16:creationId xmlns:a16="http://schemas.microsoft.com/office/drawing/2014/main" id="{9F66CB6E-EEB0-4A1A-8C10-E29C76F8D8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210;p21">
            <a:extLst>
              <a:ext uri="{FF2B5EF4-FFF2-40B4-BE49-F238E27FC236}">
                <a16:creationId xmlns:a16="http://schemas.microsoft.com/office/drawing/2014/main" id="{6A692718-558A-4A72-B91A-D10E7E6F7636}"/>
              </a:ext>
            </a:extLst>
          </p:cNvPr>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p:cNvGrpSpPr/>
        <p:nvPr/>
      </p:nvGrpSpPr>
      <p:grpSpPr>
        <a:xfrm>
          <a:off x="0" y="0"/>
          <a:ext cx="0" cy="0"/>
          <a:chOff x="0" y="0"/>
          <a:chExt cx="0" cy="0"/>
        </a:xfrm>
      </p:grpSpPr>
      <p:sp>
        <p:nvSpPr>
          <p:cNvPr id="137" name="Google Shape;137;p16"/>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6"/>
          <p:cNvSpPr txBox="1"/>
          <p:nvPr/>
        </p:nvSpPr>
        <p:spPr>
          <a:xfrm>
            <a:off x="381000" y="523875"/>
            <a:ext cx="118110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03366"/>
                </a:solidFill>
                <a:latin typeface="Poppins"/>
                <a:ea typeface="Poppins"/>
                <a:cs typeface="Poppins"/>
                <a:sym typeface="Poppins"/>
              </a:rPr>
              <a:t>Introduction</a:t>
            </a:r>
            <a:endParaRPr/>
          </a:p>
        </p:txBody>
      </p:sp>
      <p:sp>
        <p:nvSpPr>
          <p:cNvPr id="139" name="Google Shape;139;p16"/>
          <p:cNvSpPr/>
          <p:nvPr/>
        </p:nvSpPr>
        <p:spPr>
          <a:xfrm>
            <a:off x="381000" y="1143000"/>
            <a:ext cx="11430000" cy="285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6"/>
          <p:cNvSpPr txBox="1"/>
          <p:nvPr/>
        </p:nvSpPr>
        <p:spPr>
          <a:xfrm>
            <a:off x="381000" y="2986087"/>
            <a:ext cx="114300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In recent years, the need for inclusive technology has grown exponentially. Sign language serves as the primary mode of communication for millions of deaf and mute individuals globally. However, the lack of widespread sign language knowledge among the public creates a significant social and professional barrier.</a:t>
            </a:r>
            <a:endParaRPr/>
          </a:p>
        </p:txBody>
      </p:sp>
      <p:sp>
        <p:nvSpPr>
          <p:cNvPr id="142" name="Google Shape;142;p16"/>
          <p:cNvSpPr txBox="1"/>
          <p:nvPr/>
        </p:nvSpPr>
        <p:spPr>
          <a:xfrm>
            <a:off x="381000" y="4038600"/>
            <a:ext cx="114300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To address this challenge, the </a:t>
            </a:r>
            <a:r>
              <a:rPr lang="en-US" sz="1425" b="1" i="0" u="none" strike="noStrike" cap="none">
                <a:solidFill>
                  <a:srgbClr val="334155"/>
                </a:solidFill>
                <a:latin typeface="Lato"/>
                <a:ea typeface="Lato"/>
                <a:cs typeface="Lato"/>
                <a:sym typeface="Lato"/>
              </a:rPr>
              <a:t>Sign Language Recognition System (SLRS)</a:t>
            </a:r>
            <a:r>
              <a:rPr lang="en-US" sz="1425" b="0" i="0" u="none" strike="noStrike" cap="none">
                <a:solidFill>
                  <a:srgbClr val="334155"/>
                </a:solidFill>
                <a:latin typeface="Lato"/>
                <a:ea typeface="Lato"/>
                <a:cs typeface="Lato"/>
                <a:sym typeface="Lato"/>
              </a:rPr>
              <a:t> has been developed as a real-time solution. It automates the recording, detection, and interpretation of hand gestures, converting them into visual text and audible speech in a systematic and secure manner.</a:t>
            </a:r>
            <a:endParaRPr/>
          </a:p>
        </p:txBody>
      </p:sp>
      <p:pic>
        <p:nvPicPr>
          <p:cNvPr id="11" name="Picture 26" descr="undefined">
            <a:extLst>
              <a:ext uri="{FF2B5EF4-FFF2-40B4-BE49-F238E27FC236}">
                <a16:creationId xmlns:a16="http://schemas.microsoft.com/office/drawing/2014/main" id="{0570B26D-24B9-44AE-B9CB-87994B70C1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210;p21">
            <a:extLst>
              <a:ext uri="{FF2B5EF4-FFF2-40B4-BE49-F238E27FC236}">
                <a16:creationId xmlns:a16="http://schemas.microsoft.com/office/drawing/2014/main" id="{2CE54727-5938-4287-90F7-E06CFAEA484C}"/>
              </a:ext>
            </a:extLst>
          </p:cNvPr>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6"/>
        <p:cNvGrpSpPr/>
        <p:nvPr/>
      </p:nvGrpSpPr>
      <p:grpSpPr>
        <a:xfrm>
          <a:off x="0" y="0"/>
          <a:ext cx="0" cy="0"/>
          <a:chOff x="0" y="0"/>
          <a:chExt cx="0" cy="0"/>
        </a:xfrm>
      </p:grpSpPr>
      <p:sp>
        <p:nvSpPr>
          <p:cNvPr id="147" name="Google Shape;147;p17"/>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7"/>
          <p:cNvSpPr txBox="1"/>
          <p:nvPr/>
        </p:nvSpPr>
        <p:spPr>
          <a:xfrm>
            <a:off x="381000" y="523875"/>
            <a:ext cx="118110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03366"/>
                </a:solidFill>
                <a:latin typeface="Poppins"/>
                <a:ea typeface="Poppins"/>
                <a:cs typeface="Poppins"/>
                <a:sym typeface="Poppins"/>
              </a:rPr>
              <a:t>Problem Definition</a:t>
            </a:r>
            <a:endParaRPr/>
          </a:p>
        </p:txBody>
      </p:sp>
      <p:sp>
        <p:nvSpPr>
          <p:cNvPr id="149" name="Google Shape;149;p17"/>
          <p:cNvSpPr/>
          <p:nvPr/>
        </p:nvSpPr>
        <p:spPr>
          <a:xfrm>
            <a:off x="381000" y="1143000"/>
            <a:ext cx="11430000" cy="285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7"/>
          <p:cNvSpPr txBox="1"/>
          <p:nvPr/>
        </p:nvSpPr>
        <p:spPr>
          <a:xfrm>
            <a:off x="762000" y="3119437"/>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Communication Barriers:</a:t>
            </a:r>
            <a:r>
              <a:rPr lang="en-US" sz="1425" b="0" i="0" u="none" strike="noStrike" cap="none">
                <a:solidFill>
                  <a:srgbClr val="334155"/>
                </a:solidFill>
                <a:latin typeface="Lato"/>
                <a:ea typeface="Lato"/>
                <a:cs typeface="Lato"/>
                <a:sym typeface="Lato"/>
              </a:rPr>
              <a:t> Most people do not understand sign language, leading to isolation.</a:t>
            </a:r>
            <a:endParaRPr/>
          </a:p>
        </p:txBody>
      </p:sp>
      <p:sp>
        <p:nvSpPr>
          <p:cNvPr id="152" name="Google Shape;152;p17"/>
          <p:cNvSpPr txBox="1"/>
          <p:nvPr/>
        </p:nvSpPr>
        <p:spPr>
          <a:xfrm>
            <a:off x="762000" y="3581400"/>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Human Dependency:</a:t>
            </a:r>
            <a:r>
              <a:rPr lang="en-US" sz="1425" b="0" i="0" u="none" strike="noStrike" cap="none">
                <a:solidFill>
                  <a:srgbClr val="334155"/>
                </a:solidFill>
                <a:latin typeface="Lato"/>
                <a:ea typeface="Lato"/>
                <a:cs typeface="Lato"/>
                <a:sym typeface="Lato"/>
              </a:rPr>
              <a:t> Constant reliance on professional interpreters is expensive and often unavailable.</a:t>
            </a:r>
            <a:endParaRPr/>
          </a:p>
        </p:txBody>
      </p:sp>
      <p:sp>
        <p:nvSpPr>
          <p:cNvPr id="153" name="Google Shape;153;p17"/>
          <p:cNvSpPr txBox="1"/>
          <p:nvPr/>
        </p:nvSpPr>
        <p:spPr>
          <a:xfrm>
            <a:off x="762000" y="4043362"/>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Real-time Gaps:</a:t>
            </a:r>
            <a:r>
              <a:rPr lang="en-US" sz="1425" b="0" i="0" u="none" strike="noStrike" cap="none">
                <a:solidFill>
                  <a:srgbClr val="334155"/>
                </a:solidFill>
                <a:latin typeface="Lato"/>
                <a:ea typeface="Lato"/>
                <a:cs typeface="Lato"/>
                <a:sym typeface="Lato"/>
              </a:rPr>
              <a:t> Manual paper-based or slow digital translations cause conversational delays.</a:t>
            </a:r>
            <a:endParaRPr/>
          </a:p>
        </p:txBody>
      </p:sp>
      <p:sp>
        <p:nvSpPr>
          <p:cNvPr id="154" name="Google Shape;154;p17"/>
          <p:cNvSpPr txBox="1"/>
          <p:nvPr/>
        </p:nvSpPr>
        <p:spPr>
          <a:xfrm>
            <a:off x="762000" y="4505325"/>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Accessibility Issues:</a:t>
            </a:r>
            <a:r>
              <a:rPr lang="en-US" sz="1425" b="0" i="0" u="none" strike="noStrike" cap="none">
                <a:solidFill>
                  <a:srgbClr val="334155"/>
                </a:solidFill>
                <a:latin typeface="Lato"/>
                <a:ea typeface="Lato"/>
                <a:cs typeface="Lato"/>
                <a:sym typeface="Lato"/>
              </a:rPr>
              <a:t> Public spaces (hospitals, banks, offices) lack automated tools for inclusive communication.</a:t>
            </a:r>
            <a:endParaRPr/>
          </a:p>
        </p:txBody>
      </p:sp>
      <p:pic>
        <p:nvPicPr>
          <p:cNvPr id="155" name="Google Shape;155;p17" descr="image.png"/>
          <p:cNvPicPr preferRelativeResize="0"/>
          <p:nvPr/>
        </p:nvPicPr>
        <p:blipFill rotWithShape="1">
          <a:blip r:embed="rId3">
            <a:alphaModFix/>
          </a:blip>
          <a:srcRect/>
          <a:stretch/>
        </p:blipFill>
        <p:spPr>
          <a:xfrm>
            <a:off x="381000" y="3162300"/>
            <a:ext cx="209550" cy="219075"/>
          </a:xfrm>
          <a:prstGeom prst="rect">
            <a:avLst/>
          </a:prstGeom>
          <a:noFill/>
          <a:ln>
            <a:noFill/>
          </a:ln>
        </p:spPr>
      </p:pic>
      <p:pic>
        <p:nvPicPr>
          <p:cNvPr id="156" name="Google Shape;156;p17" descr="image.png"/>
          <p:cNvPicPr preferRelativeResize="0"/>
          <p:nvPr/>
        </p:nvPicPr>
        <p:blipFill rotWithShape="1">
          <a:blip r:embed="rId3">
            <a:alphaModFix/>
          </a:blip>
          <a:srcRect/>
          <a:stretch/>
        </p:blipFill>
        <p:spPr>
          <a:xfrm>
            <a:off x="381000" y="3624262"/>
            <a:ext cx="209550" cy="219075"/>
          </a:xfrm>
          <a:prstGeom prst="rect">
            <a:avLst/>
          </a:prstGeom>
          <a:noFill/>
          <a:ln>
            <a:noFill/>
          </a:ln>
        </p:spPr>
      </p:pic>
      <p:pic>
        <p:nvPicPr>
          <p:cNvPr id="157" name="Google Shape;157;p17" descr="image.png"/>
          <p:cNvPicPr preferRelativeResize="0"/>
          <p:nvPr/>
        </p:nvPicPr>
        <p:blipFill rotWithShape="1">
          <a:blip r:embed="rId3">
            <a:alphaModFix/>
          </a:blip>
          <a:srcRect/>
          <a:stretch/>
        </p:blipFill>
        <p:spPr>
          <a:xfrm>
            <a:off x="381000" y="4086225"/>
            <a:ext cx="209550" cy="219075"/>
          </a:xfrm>
          <a:prstGeom prst="rect">
            <a:avLst/>
          </a:prstGeom>
          <a:noFill/>
          <a:ln>
            <a:noFill/>
          </a:ln>
        </p:spPr>
      </p:pic>
      <p:pic>
        <p:nvPicPr>
          <p:cNvPr id="158" name="Google Shape;158;p17" descr="image.png"/>
          <p:cNvPicPr preferRelativeResize="0"/>
          <p:nvPr/>
        </p:nvPicPr>
        <p:blipFill rotWithShape="1">
          <a:blip r:embed="rId3">
            <a:alphaModFix/>
          </a:blip>
          <a:srcRect/>
          <a:stretch/>
        </p:blipFill>
        <p:spPr>
          <a:xfrm>
            <a:off x="381000" y="4548187"/>
            <a:ext cx="209550" cy="219075"/>
          </a:xfrm>
          <a:prstGeom prst="rect">
            <a:avLst/>
          </a:prstGeom>
          <a:noFill/>
          <a:ln>
            <a:noFill/>
          </a:ln>
        </p:spPr>
      </p:pic>
      <p:pic>
        <p:nvPicPr>
          <p:cNvPr id="15" name="Picture 26" descr="undefined">
            <a:extLst>
              <a:ext uri="{FF2B5EF4-FFF2-40B4-BE49-F238E27FC236}">
                <a16:creationId xmlns:a16="http://schemas.microsoft.com/office/drawing/2014/main" id="{2D1B8D48-2720-471E-BDFB-96F5D96EBF5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210;p21">
            <a:extLst>
              <a:ext uri="{FF2B5EF4-FFF2-40B4-BE49-F238E27FC236}">
                <a16:creationId xmlns:a16="http://schemas.microsoft.com/office/drawing/2014/main" id="{D08E8543-2D48-4C1F-9601-9014501B7467}"/>
              </a:ext>
            </a:extLst>
          </p:cNvPr>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
        <p:cNvGrpSpPr/>
        <p:nvPr/>
      </p:nvGrpSpPr>
      <p:grpSpPr>
        <a:xfrm>
          <a:off x="0" y="0"/>
          <a:ext cx="0" cy="0"/>
          <a:chOff x="0" y="0"/>
          <a:chExt cx="0" cy="0"/>
        </a:xfrm>
      </p:grpSpPr>
      <p:sp>
        <p:nvSpPr>
          <p:cNvPr id="163" name="Google Shape;163;p18"/>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4" name="Google Shape;164;p18"/>
          <p:cNvSpPr txBox="1"/>
          <p:nvPr/>
        </p:nvSpPr>
        <p:spPr>
          <a:xfrm>
            <a:off x="381000" y="523875"/>
            <a:ext cx="118110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03366"/>
                </a:solidFill>
                <a:latin typeface="Poppins"/>
                <a:ea typeface="Poppins"/>
                <a:cs typeface="Poppins"/>
                <a:sym typeface="Poppins"/>
              </a:rPr>
              <a:t>Objective of the Project</a:t>
            </a:r>
            <a:endParaRPr/>
          </a:p>
        </p:txBody>
      </p:sp>
      <p:sp>
        <p:nvSpPr>
          <p:cNvPr id="165" name="Google Shape;165;p18"/>
          <p:cNvSpPr/>
          <p:nvPr/>
        </p:nvSpPr>
        <p:spPr>
          <a:xfrm>
            <a:off x="381000" y="1143000"/>
            <a:ext cx="11430000" cy="285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18"/>
          <p:cNvSpPr txBox="1"/>
          <p:nvPr/>
        </p:nvSpPr>
        <p:spPr>
          <a:xfrm>
            <a:off x="381000" y="2457450"/>
            <a:ext cx="11430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The main objective is to develop a reliable, high-speed platform to automate sign language interpretation. Specific objectives include:</a:t>
            </a:r>
            <a:endParaRPr/>
          </a:p>
        </p:txBody>
      </p:sp>
      <p:sp>
        <p:nvSpPr>
          <p:cNvPr id="168" name="Google Shape;168;p18"/>
          <p:cNvSpPr txBox="1"/>
          <p:nvPr/>
        </p:nvSpPr>
        <p:spPr>
          <a:xfrm>
            <a:off x="762000" y="3167062"/>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Real-time hand landmark detection using MediaPipe.</a:t>
            </a:r>
            <a:endParaRPr/>
          </a:p>
        </p:txBody>
      </p:sp>
      <p:sp>
        <p:nvSpPr>
          <p:cNvPr id="169" name="Google Shape;169;p18"/>
          <p:cNvSpPr txBox="1"/>
          <p:nvPr/>
        </p:nvSpPr>
        <p:spPr>
          <a:xfrm>
            <a:off x="762000" y="3629025"/>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Accurate gesture-to-text conversion via ML models.</a:t>
            </a:r>
            <a:endParaRPr/>
          </a:p>
        </p:txBody>
      </p:sp>
      <p:sp>
        <p:nvSpPr>
          <p:cNvPr id="170" name="Google Shape;170;p18"/>
          <p:cNvSpPr txBox="1"/>
          <p:nvPr/>
        </p:nvSpPr>
        <p:spPr>
          <a:xfrm>
            <a:off x="762000" y="4090987"/>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Seamless Text-to-Speech (TTS) output for audible hearing.</a:t>
            </a:r>
            <a:endParaRPr/>
          </a:p>
        </p:txBody>
      </p:sp>
      <p:sp>
        <p:nvSpPr>
          <p:cNvPr id="171" name="Google Shape;171;p18"/>
          <p:cNvSpPr txBox="1"/>
          <p:nvPr/>
        </p:nvSpPr>
        <p:spPr>
          <a:xfrm>
            <a:off x="762000" y="4552950"/>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User-friendly dashboard for accessible interaction.</a:t>
            </a:r>
            <a:endParaRPr/>
          </a:p>
        </p:txBody>
      </p:sp>
      <p:sp>
        <p:nvSpPr>
          <p:cNvPr id="172" name="Google Shape;172;p18"/>
          <p:cNvSpPr txBox="1"/>
          <p:nvPr/>
        </p:nvSpPr>
        <p:spPr>
          <a:xfrm>
            <a:off x="762000" y="5014912"/>
            <a:ext cx="11049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Robust performance on standard hardware (webcams).</a:t>
            </a:r>
            <a:endParaRPr/>
          </a:p>
        </p:txBody>
      </p:sp>
      <p:pic>
        <p:nvPicPr>
          <p:cNvPr id="173" name="Google Shape;173;p18" descr="image.png"/>
          <p:cNvPicPr preferRelativeResize="0"/>
          <p:nvPr/>
        </p:nvPicPr>
        <p:blipFill rotWithShape="1">
          <a:blip r:embed="rId3">
            <a:alphaModFix/>
          </a:blip>
          <a:srcRect/>
          <a:stretch/>
        </p:blipFill>
        <p:spPr>
          <a:xfrm>
            <a:off x="381000" y="3209925"/>
            <a:ext cx="180975" cy="219075"/>
          </a:xfrm>
          <a:prstGeom prst="rect">
            <a:avLst/>
          </a:prstGeom>
          <a:noFill/>
          <a:ln>
            <a:noFill/>
          </a:ln>
        </p:spPr>
      </p:pic>
      <p:pic>
        <p:nvPicPr>
          <p:cNvPr id="174" name="Google Shape;174;p18" descr="image.png"/>
          <p:cNvPicPr preferRelativeResize="0"/>
          <p:nvPr/>
        </p:nvPicPr>
        <p:blipFill rotWithShape="1">
          <a:blip r:embed="rId3">
            <a:alphaModFix/>
          </a:blip>
          <a:srcRect/>
          <a:stretch/>
        </p:blipFill>
        <p:spPr>
          <a:xfrm>
            <a:off x="381000" y="3671887"/>
            <a:ext cx="180975" cy="219075"/>
          </a:xfrm>
          <a:prstGeom prst="rect">
            <a:avLst/>
          </a:prstGeom>
          <a:noFill/>
          <a:ln>
            <a:noFill/>
          </a:ln>
        </p:spPr>
      </p:pic>
      <p:pic>
        <p:nvPicPr>
          <p:cNvPr id="175" name="Google Shape;175;p18" descr="image.png"/>
          <p:cNvPicPr preferRelativeResize="0"/>
          <p:nvPr/>
        </p:nvPicPr>
        <p:blipFill rotWithShape="1">
          <a:blip r:embed="rId3">
            <a:alphaModFix/>
          </a:blip>
          <a:srcRect/>
          <a:stretch/>
        </p:blipFill>
        <p:spPr>
          <a:xfrm>
            <a:off x="381000" y="4133850"/>
            <a:ext cx="180975" cy="219075"/>
          </a:xfrm>
          <a:prstGeom prst="rect">
            <a:avLst/>
          </a:prstGeom>
          <a:noFill/>
          <a:ln>
            <a:noFill/>
          </a:ln>
        </p:spPr>
      </p:pic>
      <p:pic>
        <p:nvPicPr>
          <p:cNvPr id="176" name="Google Shape;176;p18" descr="image.png"/>
          <p:cNvPicPr preferRelativeResize="0"/>
          <p:nvPr/>
        </p:nvPicPr>
        <p:blipFill rotWithShape="1">
          <a:blip r:embed="rId3">
            <a:alphaModFix/>
          </a:blip>
          <a:srcRect/>
          <a:stretch/>
        </p:blipFill>
        <p:spPr>
          <a:xfrm>
            <a:off x="381000" y="4595812"/>
            <a:ext cx="180975" cy="219075"/>
          </a:xfrm>
          <a:prstGeom prst="rect">
            <a:avLst/>
          </a:prstGeom>
          <a:noFill/>
          <a:ln>
            <a:noFill/>
          </a:ln>
        </p:spPr>
      </p:pic>
      <p:pic>
        <p:nvPicPr>
          <p:cNvPr id="177" name="Google Shape;177;p18" descr="image.png"/>
          <p:cNvPicPr preferRelativeResize="0"/>
          <p:nvPr/>
        </p:nvPicPr>
        <p:blipFill rotWithShape="1">
          <a:blip r:embed="rId3">
            <a:alphaModFix/>
          </a:blip>
          <a:srcRect/>
          <a:stretch/>
        </p:blipFill>
        <p:spPr>
          <a:xfrm>
            <a:off x="381000" y="5057775"/>
            <a:ext cx="180975" cy="219075"/>
          </a:xfrm>
          <a:prstGeom prst="rect">
            <a:avLst/>
          </a:prstGeom>
          <a:noFill/>
          <a:ln>
            <a:noFill/>
          </a:ln>
        </p:spPr>
      </p:pic>
      <p:pic>
        <p:nvPicPr>
          <p:cNvPr id="2" name="Picture 1">
            <a:extLst>
              <a:ext uri="{FF2B5EF4-FFF2-40B4-BE49-F238E27FC236}">
                <a16:creationId xmlns:a16="http://schemas.microsoft.com/office/drawing/2014/main" id="{012B0086-5D78-43E9-8907-6D885A3B988A}"/>
              </a:ext>
            </a:extLst>
          </p:cNvPr>
          <p:cNvPicPr>
            <a:picLocks noChangeAspect="1"/>
          </p:cNvPicPr>
          <p:nvPr/>
        </p:nvPicPr>
        <p:blipFill>
          <a:blip r:embed="rId4"/>
          <a:stretch>
            <a:fillRect/>
          </a:stretch>
        </p:blipFill>
        <p:spPr>
          <a:xfrm>
            <a:off x="42862" y="6172200"/>
            <a:ext cx="676275" cy="666750"/>
          </a:xfrm>
          <a:prstGeom prst="rect">
            <a:avLst/>
          </a:prstGeom>
        </p:spPr>
      </p:pic>
      <p:sp>
        <p:nvSpPr>
          <p:cNvPr id="19" name="Google Shape;210;p21">
            <a:extLst>
              <a:ext uri="{FF2B5EF4-FFF2-40B4-BE49-F238E27FC236}">
                <a16:creationId xmlns:a16="http://schemas.microsoft.com/office/drawing/2014/main" id="{048C43DA-5A5F-4F91-9B09-605CCA8CB41C}"/>
              </a:ext>
            </a:extLst>
          </p:cNvPr>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381000" y="2062162"/>
            <a:ext cx="4762500" cy="3810000"/>
          </a:xfrm>
          <a:prstGeom prst="rect">
            <a:avLst/>
          </a:prstGeom>
          <a:noFill/>
          <a:ln>
            <a:noFill/>
          </a:ln>
        </p:spPr>
      </p:pic>
      <p:sp>
        <p:nvSpPr>
          <p:cNvPr id="183" name="Google Shape;183;p19"/>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9"/>
          <p:cNvSpPr txBox="1"/>
          <p:nvPr/>
        </p:nvSpPr>
        <p:spPr>
          <a:xfrm>
            <a:off x="381000" y="523875"/>
            <a:ext cx="118110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03366"/>
                </a:solidFill>
                <a:latin typeface="Poppins"/>
                <a:ea typeface="Poppins"/>
                <a:cs typeface="Poppins"/>
                <a:sym typeface="Poppins"/>
              </a:rPr>
              <a:t>Methodology</a:t>
            </a:r>
            <a:endParaRPr/>
          </a:p>
        </p:txBody>
      </p:sp>
      <p:sp>
        <p:nvSpPr>
          <p:cNvPr id="185" name="Google Shape;185;p19"/>
          <p:cNvSpPr/>
          <p:nvPr/>
        </p:nvSpPr>
        <p:spPr>
          <a:xfrm>
            <a:off x="381000" y="1143000"/>
            <a:ext cx="11430000" cy="285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7" name="Google Shape;187;p19" descr="image.png"/>
          <p:cNvPicPr preferRelativeResize="0"/>
          <p:nvPr/>
        </p:nvPicPr>
        <p:blipFill rotWithShape="1">
          <a:blip r:embed="rId4">
            <a:alphaModFix/>
          </a:blip>
          <a:srcRect/>
          <a:stretch/>
        </p:blipFill>
        <p:spPr>
          <a:xfrm>
            <a:off x="485775" y="2166937"/>
            <a:ext cx="4552950" cy="3600450"/>
          </a:xfrm>
          <a:prstGeom prst="rect">
            <a:avLst/>
          </a:prstGeom>
          <a:noFill/>
          <a:ln>
            <a:noFill/>
          </a:ln>
        </p:spPr>
      </p:pic>
      <p:sp>
        <p:nvSpPr>
          <p:cNvPr id="188" name="Google Shape;188;p19"/>
          <p:cNvSpPr txBox="1"/>
          <p:nvPr/>
        </p:nvSpPr>
        <p:spPr>
          <a:xfrm>
            <a:off x="5429250" y="2600325"/>
            <a:ext cx="43529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The project follows an </a:t>
            </a:r>
            <a:r>
              <a:rPr lang="en-US" sz="1425" b="1" i="0" u="none" strike="noStrike" cap="none">
                <a:solidFill>
                  <a:srgbClr val="334155"/>
                </a:solidFill>
                <a:latin typeface="Lato"/>
                <a:ea typeface="Lato"/>
                <a:cs typeface="Lato"/>
                <a:sym typeface="Lato"/>
              </a:rPr>
              <a:t>Iterative SDLC</a:t>
            </a:r>
            <a:r>
              <a:rPr lang="en-US" sz="1425" b="0" i="0" u="none" strike="noStrike" cap="none">
                <a:solidFill>
                  <a:srgbClr val="334155"/>
                </a:solidFill>
                <a:latin typeface="Lato"/>
                <a:ea typeface="Lato"/>
                <a:cs typeface="Lato"/>
                <a:sym typeface="Lato"/>
              </a:rPr>
              <a:t> approach:</a:t>
            </a:r>
            <a:endParaRPr/>
          </a:p>
        </p:txBody>
      </p:sp>
      <p:sp>
        <p:nvSpPr>
          <p:cNvPr id="189" name="Google Shape;189;p19"/>
          <p:cNvSpPr txBox="1"/>
          <p:nvPr/>
        </p:nvSpPr>
        <p:spPr>
          <a:xfrm>
            <a:off x="5810250" y="3024187"/>
            <a:ext cx="39719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Step 1:</a:t>
            </a:r>
            <a:r>
              <a:rPr lang="en-US" sz="1425" b="0" i="0" u="none" strike="noStrike" cap="none">
                <a:solidFill>
                  <a:srgbClr val="334155"/>
                </a:solidFill>
                <a:latin typeface="Lato"/>
                <a:ea typeface="Lato"/>
                <a:cs typeface="Lato"/>
                <a:sym typeface="Lato"/>
              </a:rPr>
              <a:t> Frame capture via webcam.</a:t>
            </a:r>
            <a:endParaRPr/>
          </a:p>
        </p:txBody>
      </p:sp>
      <p:sp>
        <p:nvSpPr>
          <p:cNvPr id="190" name="Google Shape;190;p19"/>
          <p:cNvSpPr txBox="1"/>
          <p:nvPr/>
        </p:nvSpPr>
        <p:spPr>
          <a:xfrm>
            <a:off x="5810250" y="3486150"/>
            <a:ext cx="39719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Step 2:</a:t>
            </a:r>
            <a:r>
              <a:rPr lang="en-US" sz="1425" b="0" i="0" u="none" strike="noStrike" cap="none">
                <a:solidFill>
                  <a:srgbClr val="334155"/>
                </a:solidFill>
                <a:latin typeface="Lato"/>
                <a:ea typeface="Lato"/>
                <a:cs typeface="Lato"/>
                <a:sym typeface="Lato"/>
              </a:rPr>
              <a:t> Landmark mapping (21 points per hand).</a:t>
            </a:r>
            <a:endParaRPr/>
          </a:p>
        </p:txBody>
      </p:sp>
      <p:sp>
        <p:nvSpPr>
          <p:cNvPr id="191" name="Google Shape;191;p19"/>
          <p:cNvSpPr txBox="1"/>
          <p:nvPr/>
        </p:nvSpPr>
        <p:spPr>
          <a:xfrm>
            <a:off x="5810250" y="3948112"/>
            <a:ext cx="39719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Step 3:</a:t>
            </a:r>
            <a:r>
              <a:rPr lang="en-US" sz="1425" b="0" i="0" u="none" strike="noStrike" cap="none">
                <a:solidFill>
                  <a:srgbClr val="334155"/>
                </a:solidFill>
                <a:latin typeface="Lato"/>
                <a:ea typeface="Lato"/>
                <a:cs typeface="Lato"/>
                <a:sym typeface="Lato"/>
              </a:rPr>
              <a:t> Classification via Trained Neural Network.</a:t>
            </a:r>
            <a:endParaRPr/>
          </a:p>
        </p:txBody>
      </p:sp>
      <p:sp>
        <p:nvSpPr>
          <p:cNvPr id="192" name="Google Shape;192;p19"/>
          <p:cNvSpPr txBox="1"/>
          <p:nvPr/>
        </p:nvSpPr>
        <p:spPr>
          <a:xfrm>
            <a:off x="5810250" y="4410075"/>
            <a:ext cx="39719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Step 4:</a:t>
            </a:r>
            <a:r>
              <a:rPr lang="en-US" sz="1425" b="0" i="0" u="none" strike="noStrike" cap="none">
                <a:solidFill>
                  <a:srgbClr val="334155"/>
                </a:solidFill>
                <a:latin typeface="Lato"/>
                <a:ea typeface="Lato"/>
                <a:cs typeface="Lato"/>
                <a:sym typeface="Lato"/>
              </a:rPr>
              <a:t> Subtitle/Speech Generation.</a:t>
            </a:r>
            <a:endParaRPr/>
          </a:p>
        </p:txBody>
      </p:sp>
      <p:sp>
        <p:nvSpPr>
          <p:cNvPr id="193" name="Google Shape;193;p19"/>
          <p:cNvSpPr txBox="1"/>
          <p:nvPr/>
        </p:nvSpPr>
        <p:spPr>
          <a:xfrm>
            <a:off x="5810250" y="4872037"/>
            <a:ext cx="39719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Step 5:</a:t>
            </a:r>
            <a:r>
              <a:rPr lang="en-US" sz="1425" b="0" i="0" u="none" strike="noStrike" cap="none">
                <a:solidFill>
                  <a:srgbClr val="334155"/>
                </a:solidFill>
                <a:latin typeface="Lato"/>
                <a:ea typeface="Lato"/>
                <a:cs typeface="Lato"/>
                <a:sym typeface="Lato"/>
              </a:rPr>
              <a:t> Feedback Loop for improved accuracy.</a:t>
            </a:r>
            <a:endParaRPr/>
          </a:p>
        </p:txBody>
      </p:sp>
      <p:pic>
        <p:nvPicPr>
          <p:cNvPr id="15" name="Picture 26" descr="undefined">
            <a:extLst>
              <a:ext uri="{FF2B5EF4-FFF2-40B4-BE49-F238E27FC236}">
                <a16:creationId xmlns:a16="http://schemas.microsoft.com/office/drawing/2014/main" id="{CD03B4C5-F052-4B91-B5F3-796CBECB169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210;p21">
            <a:extLst>
              <a:ext uri="{FF2B5EF4-FFF2-40B4-BE49-F238E27FC236}">
                <a16:creationId xmlns:a16="http://schemas.microsoft.com/office/drawing/2014/main" id="{DE02F7F5-E8DB-42AF-9D49-1BC25540CB14}"/>
              </a:ext>
            </a:extLst>
          </p:cNvPr>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sp>
        <p:nvSpPr>
          <p:cNvPr id="198" name="Google Shape;198;p20"/>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9" name="Google Shape;199;p20"/>
          <p:cNvSpPr txBox="1"/>
          <p:nvPr/>
        </p:nvSpPr>
        <p:spPr>
          <a:xfrm>
            <a:off x="381000" y="523875"/>
            <a:ext cx="118110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03366"/>
                </a:solidFill>
                <a:latin typeface="Poppins"/>
                <a:ea typeface="Poppins"/>
                <a:cs typeface="Poppins"/>
                <a:sym typeface="Poppins"/>
              </a:rPr>
              <a:t>Hardware Requirements</a:t>
            </a:r>
            <a:endParaRPr/>
          </a:p>
        </p:txBody>
      </p:sp>
      <p:sp>
        <p:nvSpPr>
          <p:cNvPr id="200" name="Google Shape;200;p20"/>
          <p:cNvSpPr/>
          <p:nvPr/>
        </p:nvSpPr>
        <p:spPr>
          <a:xfrm>
            <a:off x="381000" y="1143000"/>
            <a:ext cx="11430000" cy="285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02" name="Google Shape;202;p20"/>
          <p:cNvGraphicFramePr/>
          <p:nvPr/>
        </p:nvGraphicFramePr>
        <p:xfrm>
          <a:off x="381000" y="2640806"/>
          <a:ext cx="11420475" cy="2843250"/>
        </p:xfrm>
        <a:graphic>
          <a:graphicData uri="http://schemas.openxmlformats.org/drawingml/2006/table">
            <a:tbl>
              <a:tblPr firstRow="1" bandRow="1">
                <a:noFill/>
                <a:tableStyleId>{EA061627-9EDD-4673-B47F-854480B71A69}</a:tableStyleId>
              </a:tblPr>
              <a:tblGrid>
                <a:gridCol w="3058725">
                  <a:extLst>
                    <a:ext uri="{9D8B030D-6E8A-4147-A177-3AD203B41FA5}">
                      <a16:colId xmlns:a16="http://schemas.microsoft.com/office/drawing/2014/main" val="20000"/>
                    </a:ext>
                  </a:extLst>
                </a:gridCol>
                <a:gridCol w="8361750">
                  <a:extLst>
                    <a:ext uri="{9D8B030D-6E8A-4147-A177-3AD203B41FA5}">
                      <a16:colId xmlns:a16="http://schemas.microsoft.com/office/drawing/2014/main" val="20001"/>
                    </a:ext>
                  </a:extLst>
                </a:gridCol>
              </a:tblGrid>
              <a:tr h="568650">
                <a:tc>
                  <a:txBody>
                    <a:bodyPr/>
                    <a:lstStyle/>
                    <a:p>
                      <a:pPr marL="0" marR="0" lvl="0" indent="0" algn="l" rtl="0">
                        <a:spcBef>
                          <a:spcPts val="0"/>
                        </a:spcBef>
                        <a:spcAft>
                          <a:spcPts val="0"/>
                        </a:spcAft>
                        <a:buNone/>
                      </a:pPr>
                      <a:r>
                        <a:rPr lang="en-US" sz="1425" b="1" i="0" u="none" strike="noStrike" cap="none">
                          <a:solidFill>
                            <a:srgbClr val="334155"/>
                          </a:solidFill>
                          <a:latin typeface="Poppins"/>
                          <a:ea typeface="Poppins"/>
                          <a:cs typeface="Poppins"/>
                          <a:sym typeface="Poppins"/>
                        </a:rPr>
                        <a:t>Component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425" b="1" i="0" u="none" strike="noStrike" cap="none">
                          <a:solidFill>
                            <a:srgbClr val="334155"/>
                          </a:solidFill>
                          <a:latin typeface="Poppins"/>
                          <a:ea typeface="Poppins"/>
                          <a:cs typeface="Poppins"/>
                          <a:sym typeface="Poppins"/>
                        </a:rPr>
                        <a:t>Specification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extLst>
                  <a:ext uri="{0D108BD9-81ED-4DB2-BD59-A6C34878D82A}">
                    <a16:rowId xmlns:a16="http://schemas.microsoft.com/office/drawing/2014/main" val="10000"/>
                  </a:ext>
                </a:extLst>
              </a:tr>
              <a:tr h="568650">
                <a:tc>
                  <a:txBody>
                    <a:bodyPr/>
                    <a:lstStyle/>
                    <a:p>
                      <a:pPr marL="0" marR="0" lvl="0" indent="0" algn="l" rtl="0">
                        <a:spcBef>
                          <a:spcPts val="0"/>
                        </a:spcBef>
                        <a:spcAft>
                          <a:spcPts val="0"/>
                        </a:spcAft>
                        <a:buNone/>
                      </a:pPr>
                      <a:r>
                        <a:rPr lang="en-US" sz="1425" b="1" i="0" u="none" strike="noStrike" cap="none">
                          <a:solidFill>
                            <a:srgbClr val="334155"/>
                          </a:solidFill>
                          <a:latin typeface="Lato"/>
                          <a:ea typeface="Lato"/>
                          <a:cs typeface="Lato"/>
                          <a:sym typeface="Lato"/>
                        </a:rPr>
                        <a:t>Processor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Intel Core i5 / AMD Ryzen 5 (2.50 GHz or higher)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8650">
                <a:tc>
                  <a:txBody>
                    <a:bodyPr/>
                    <a:lstStyle/>
                    <a:p>
                      <a:pPr marL="0" marR="0" lvl="0" indent="0" algn="l" rtl="0">
                        <a:spcBef>
                          <a:spcPts val="0"/>
                        </a:spcBef>
                        <a:spcAft>
                          <a:spcPts val="0"/>
                        </a:spcAft>
                        <a:buNone/>
                      </a:pPr>
                      <a:r>
                        <a:rPr lang="en-US" sz="1425" b="1" i="0" u="none" strike="noStrike" cap="none">
                          <a:solidFill>
                            <a:srgbClr val="334155"/>
                          </a:solidFill>
                          <a:latin typeface="Lato"/>
                          <a:ea typeface="Lato"/>
                          <a:cs typeface="Lato"/>
                          <a:sym typeface="Lato"/>
                        </a:rPr>
                        <a:t>RAM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8 GB DDR4 (Minimum 4 GB for basic detection)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2"/>
                  </a:ext>
                </a:extLst>
              </a:tr>
              <a:tr h="568650">
                <a:tc>
                  <a:txBody>
                    <a:bodyPr/>
                    <a:lstStyle/>
                    <a:p>
                      <a:pPr marL="0" marR="0" lvl="0" indent="0" algn="l" rtl="0">
                        <a:spcBef>
                          <a:spcPts val="0"/>
                        </a:spcBef>
                        <a:spcAft>
                          <a:spcPts val="0"/>
                        </a:spcAft>
                        <a:buNone/>
                      </a:pPr>
                      <a:r>
                        <a:rPr lang="en-US" sz="1425" b="1" i="0" u="none" strike="noStrike" cap="none">
                          <a:solidFill>
                            <a:srgbClr val="334155"/>
                          </a:solidFill>
                          <a:latin typeface="Lato"/>
                          <a:ea typeface="Lato"/>
                          <a:cs typeface="Lato"/>
                          <a:sym typeface="Lato"/>
                        </a:rPr>
                        <a:t>Hard Disk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256 GB SSD (For faster frame extraction)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8650">
                <a:tc>
                  <a:txBody>
                    <a:bodyPr/>
                    <a:lstStyle/>
                    <a:p>
                      <a:pPr marL="0" marR="0" lvl="0" indent="0" algn="l" rtl="0">
                        <a:spcBef>
                          <a:spcPts val="0"/>
                        </a:spcBef>
                        <a:spcAft>
                          <a:spcPts val="0"/>
                        </a:spcAft>
                        <a:buNone/>
                      </a:pPr>
                      <a:r>
                        <a:rPr lang="en-US" sz="1425" b="1" i="0" u="none" strike="noStrike" cap="none">
                          <a:solidFill>
                            <a:srgbClr val="334155"/>
                          </a:solidFill>
                          <a:latin typeface="Lato"/>
                          <a:ea typeface="Lato"/>
                          <a:cs typeface="Lato"/>
                          <a:sym typeface="Lato"/>
                        </a:rPr>
                        <a:t>Camera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720p HD Webcam (Integrated or External USB)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4"/>
                  </a:ext>
                </a:extLst>
              </a:tr>
            </a:tbl>
          </a:graphicData>
        </a:graphic>
      </p:graphicFrame>
      <p:pic>
        <p:nvPicPr>
          <p:cNvPr id="8" name="Picture 26" descr="undefined">
            <a:extLst>
              <a:ext uri="{FF2B5EF4-FFF2-40B4-BE49-F238E27FC236}">
                <a16:creationId xmlns:a16="http://schemas.microsoft.com/office/drawing/2014/main" id="{E3C7EEC7-C813-43CC-B744-14E8367DEA3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210;p21">
            <a:extLst>
              <a:ext uri="{FF2B5EF4-FFF2-40B4-BE49-F238E27FC236}">
                <a16:creationId xmlns:a16="http://schemas.microsoft.com/office/drawing/2014/main" id="{95F5CBDD-B049-4CF4-8B21-25DAF6D7A19B}"/>
              </a:ext>
            </a:extLst>
          </p:cNvPr>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
        <p:cNvGrpSpPr/>
        <p:nvPr/>
      </p:nvGrpSpPr>
      <p:grpSpPr>
        <a:xfrm>
          <a:off x="0" y="0"/>
          <a:ext cx="0" cy="0"/>
          <a:chOff x="0" y="0"/>
          <a:chExt cx="0" cy="0"/>
        </a:xfrm>
      </p:grpSpPr>
      <p:sp>
        <p:nvSpPr>
          <p:cNvPr id="207" name="Google Shape;207;p21"/>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21"/>
          <p:cNvSpPr txBox="1"/>
          <p:nvPr/>
        </p:nvSpPr>
        <p:spPr>
          <a:xfrm>
            <a:off x="381000" y="523875"/>
            <a:ext cx="118110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03366"/>
                </a:solidFill>
                <a:latin typeface="Poppins"/>
                <a:ea typeface="Poppins"/>
                <a:cs typeface="Poppins"/>
                <a:sym typeface="Poppins"/>
              </a:rPr>
              <a:t>Software Requirements</a:t>
            </a:r>
            <a:endParaRPr/>
          </a:p>
        </p:txBody>
      </p:sp>
      <p:sp>
        <p:nvSpPr>
          <p:cNvPr id="209" name="Google Shape;209;p21"/>
          <p:cNvSpPr/>
          <p:nvPr/>
        </p:nvSpPr>
        <p:spPr>
          <a:xfrm>
            <a:off x="381000" y="1143000"/>
            <a:ext cx="11430000" cy="285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21"/>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graphicFrame>
        <p:nvGraphicFramePr>
          <p:cNvPr id="211" name="Google Shape;211;p21"/>
          <p:cNvGraphicFramePr/>
          <p:nvPr/>
        </p:nvGraphicFramePr>
        <p:xfrm>
          <a:off x="381000" y="2357437"/>
          <a:ext cx="11420475" cy="3409950"/>
        </p:xfrm>
        <a:graphic>
          <a:graphicData uri="http://schemas.openxmlformats.org/drawingml/2006/table">
            <a:tbl>
              <a:tblPr firstRow="1" bandRow="1">
                <a:noFill/>
                <a:tableStyleId>{EA061627-9EDD-4673-B47F-854480B71A69}</a:tableStyleId>
              </a:tblPr>
              <a:tblGrid>
                <a:gridCol w="4096350">
                  <a:extLst>
                    <a:ext uri="{9D8B030D-6E8A-4147-A177-3AD203B41FA5}">
                      <a16:colId xmlns:a16="http://schemas.microsoft.com/office/drawing/2014/main" val="20000"/>
                    </a:ext>
                  </a:extLst>
                </a:gridCol>
                <a:gridCol w="7324125">
                  <a:extLst>
                    <a:ext uri="{9D8B030D-6E8A-4147-A177-3AD203B41FA5}">
                      <a16:colId xmlns:a16="http://schemas.microsoft.com/office/drawing/2014/main" val="20001"/>
                    </a:ext>
                  </a:extLst>
                </a:gridCol>
              </a:tblGrid>
              <a:tr h="568325">
                <a:tc>
                  <a:txBody>
                    <a:bodyPr/>
                    <a:lstStyle/>
                    <a:p>
                      <a:pPr marL="0" marR="0" lvl="0" indent="0" algn="l" rtl="0">
                        <a:spcBef>
                          <a:spcPts val="0"/>
                        </a:spcBef>
                        <a:spcAft>
                          <a:spcPts val="0"/>
                        </a:spcAft>
                        <a:buNone/>
                      </a:pPr>
                      <a:r>
                        <a:rPr lang="en-US" sz="1425" b="1" i="0" u="none" strike="noStrike" cap="none">
                          <a:solidFill>
                            <a:srgbClr val="334155"/>
                          </a:solidFill>
                          <a:latin typeface="Poppins"/>
                          <a:ea typeface="Poppins"/>
                          <a:cs typeface="Poppins"/>
                          <a:sym typeface="Poppins"/>
                        </a:rPr>
                        <a:t>Requirement Type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425" b="1" i="0" u="none" strike="noStrike" cap="none">
                          <a:solidFill>
                            <a:srgbClr val="334155"/>
                          </a:solidFill>
                          <a:latin typeface="Poppins"/>
                          <a:ea typeface="Poppins"/>
                          <a:cs typeface="Poppins"/>
                          <a:sym typeface="Poppins"/>
                        </a:rPr>
                        <a:t>Technology Stack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extLst>
                  <a:ext uri="{0D108BD9-81ED-4DB2-BD59-A6C34878D82A}">
                    <a16:rowId xmlns:a16="http://schemas.microsoft.com/office/drawing/2014/main" val="10000"/>
                  </a:ext>
                </a:extLst>
              </a:tr>
              <a:tr h="568325">
                <a:tc>
                  <a:txBody>
                    <a:bodyPr/>
                    <a:lstStyle/>
                    <a:p>
                      <a:pPr marL="0" marR="0" lvl="0" indent="0" algn="l" rtl="0">
                        <a:spcBef>
                          <a:spcPts val="0"/>
                        </a:spcBef>
                        <a:spcAft>
                          <a:spcPts val="0"/>
                        </a:spcAft>
                        <a:buNone/>
                      </a:pPr>
                      <a:r>
                        <a:rPr lang="en-US" sz="1425" b="1" i="0" u="none" strike="noStrike" cap="none">
                          <a:solidFill>
                            <a:srgbClr val="334155"/>
                          </a:solidFill>
                          <a:latin typeface="Lato"/>
                          <a:ea typeface="Lato"/>
                          <a:cs typeface="Lato"/>
                          <a:sym typeface="Lato"/>
                        </a:rPr>
                        <a:t>Operating System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Windows 10 / 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8325">
                <a:tc>
                  <a:txBody>
                    <a:bodyPr/>
                    <a:lstStyle/>
                    <a:p>
                      <a:pPr marL="0" marR="0" lvl="0" indent="0" algn="l" rtl="0">
                        <a:spcBef>
                          <a:spcPts val="0"/>
                        </a:spcBef>
                        <a:spcAft>
                          <a:spcPts val="0"/>
                        </a:spcAft>
                        <a:buNone/>
                      </a:pPr>
                      <a:r>
                        <a:rPr lang="en-US" sz="1425" b="1" i="0" u="none" strike="noStrike" cap="none">
                          <a:solidFill>
                            <a:srgbClr val="334155"/>
                          </a:solidFill>
                          <a:latin typeface="Lato"/>
                          <a:ea typeface="Lato"/>
                          <a:cs typeface="Lato"/>
                          <a:sym typeface="Lato"/>
                        </a:rPr>
                        <a:t>Frontend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React.js, HTML5, CSS3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2"/>
                  </a:ext>
                </a:extLst>
              </a:tr>
              <a:tr h="568325">
                <a:tc>
                  <a:txBody>
                    <a:bodyPr/>
                    <a:lstStyle/>
                    <a:p>
                      <a:pPr marL="0" marR="0" lvl="0" indent="0" algn="l" rtl="0">
                        <a:spcBef>
                          <a:spcPts val="0"/>
                        </a:spcBef>
                        <a:spcAft>
                          <a:spcPts val="0"/>
                        </a:spcAft>
                        <a:buNone/>
                      </a:pPr>
                      <a:r>
                        <a:rPr lang="en-US" sz="1425" b="1" i="0" u="none" strike="noStrike" cap="none">
                          <a:solidFill>
                            <a:srgbClr val="334155"/>
                          </a:solidFill>
                          <a:latin typeface="Lato"/>
                          <a:ea typeface="Lato"/>
                          <a:cs typeface="Lato"/>
                          <a:sym typeface="Lato"/>
                        </a:rPr>
                        <a:t>Backend / Logic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Python (FastAPI / Flask)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8325">
                <a:tc>
                  <a:txBody>
                    <a:bodyPr/>
                    <a:lstStyle/>
                    <a:p>
                      <a:pPr marL="0" marR="0" lvl="0" indent="0" algn="l" rtl="0">
                        <a:spcBef>
                          <a:spcPts val="0"/>
                        </a:spcBef>
                        <a:spcAft>
                          <a:spcPts val="0"/>
                        </a:spcAft>
                        <a:buNone/>
                      </a:pPr>
                      <a:r>
                        <a:rPr lang="en-US" sz="1425" b="1" i="0" u="none" strike="noStrike" cap="none">
                          <a:solidFill>
                            <a:srgbClr val="334155"/>
                          </a:solidFill>
                          <a:latin typeface="Lato"/>
                          <a:ea typeface="Lato"/>
                          <a:cs typeface="Lato"/>
                          <a:sym typeface="Lato"/>
                        </a:rPr>
                        <a:t>ML Libraries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MediaPipe, OpenCV, TensorFlow / Keras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4"/>
                  </a:ext>
                </a:extLst>
              </a:tr>
              <a:tr h="568325">
                <a:tc>
                  <a:txBody>
                    <a:bodyPr/>
                    <a:lstStyle/>
                    <a:p>
                      <a:pPr marL="0" marR="0" lvl="0" indent="0" algn="l" rtl="0">
                        <a:spcBef>
                          <a:spcPts val="0"/>
                        </a:spcBef>
                        <a:spcAft>
                          <a:spcPts val="0"/>
                        </a:spcAft>
                        <a:buNone/>
                      </a:pPr>
                      <a:r>
                        <a:rPr lang="en-US" sz="1425" b="1" i="0" u="none" strike="noStrike" cap="none">
                          <a:solidFill>
                            <a:srgbClr val="334155"/>
                          </a:solidFill>
                          <a:latin typeface="Lato"/>
                          <a:ea typeface="Lato"/>
                          <a:cs typeface="Lato"/>
                          <a:sym typeface="Lato"/>
                        </a:rPr>
                        <a:t>Database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MySQL (for user logs and gesture mapping)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7" name="Picture 26" descr="undefined">
            <a:extLst>
              <a:ext uri="{FF2B5EF4-FFF2-40B4-BE49-F238E27FC236}">
                <a16:creationId xmlns:a16="http://schemas.microsoft.com/office/drawing/2014/main" id="{8B330FF2-CF14-47F5-95AF-C35BBA2F3B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5"/>
        <p:cNvGrpSpPr/>
        <p:nvPr/>
      </p:nvGrpSpPr>
      <p:grpSpPr>
        <a:xfrm>
          <a:off x="0" y="0"/>
          <a:ext cx="0" cy="0"/>
          <a:chOff x="0" y="0"/>
          <a:chExt cx="0" cy="0"/>
        </a:xfrm>
      </p:grpSpPr>
      <p:sp>
        <p:nvSpPr>
          <p:cNvPr id="216" name="Google Shape;216;p22"/>
          <p:cNvSpPr/>
          <p:nvPr/>
        </p:nvSpPr>
        <p:spPr>
          <a:xfrm>
            <a:off x="0" y="0"/>
            <a:ext cx="12192000" cy="142875"/>
          </a:xfrm>
          <a:prstGeom prst="rect">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22"/>
          <p:cNvSpPr txBox="1"/>
          <p:nvPr/>
        </p:nvSpPr>
        <p:spPr>
          <a:xfrm>
            <a:off x="190500" y="1864518"/>
            <a:ext cx="1181100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800000"/>
                </a:solidFill>
                <a:latin typeface="Poppins"/>
                <a:ea typeface="Poppins"/>
                <a:cs typeface="Poppins"/>
                <a:sym typeface="Poppins"/>
              </a:rPr>
              <a:t>Q &amp; A</a:t>
            </a:r>
            <a:endParaRPr/>
          </a:p>
        </p:txBody>
      </p:sp>
      <p:sp>
        <p:nvSpPr>
          <p:cNvPr id="219" name="Google Shape;219;p22"/>
          <p:cNvSpPr txBox="1"/>
          <p:nvPr/>
        </p:nvSpPr>
        <p:spPr>
          <a:xfrm>
            <a:off x="190500" y="3198018"/>
            <a:ext cx="1181100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03366"/>
                </a:solidFill>
                <a:latin typeface="Poppins"/>
                <a:ea typeface="Poppins"/>
                <a:cs typeface="Poppins"/>
                <a:sym typeface="Poppins"/>
              </a:rPr>
              <a:t>Thank You!</a:t>
            </a:r>
            <a:endParaRPr/>
          </a:p>
        </p:txBody>
      </p:sp>
      <p:sp>
        <p:nvSpPr>
          <p:cNvPr id="220" name="Google Shape;220;p22"/>
          <p:cNvSpPr txBox="1"/>
          <p:nvPr/>
        </p:nvSpPr>
        <p:spPr>
          <a:xfrm>
            <a:off x="381000" y="4036218"/>
            <a:ext cx="11430000" cy="271462"/>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Sign Language Recognition System</a:t>
            </a:r>
            <a:endParaRPr/>
          </a:p>
        </p:txBody>
      </p:sp>
      <p:sp>
        <p:nvSpPr>
          <p:cNvPr id="221" name="Google Shape;221;p22"/>
          <p:cNvSpPr txBox="1"/>
          <p:nvPr/>
        </p:nvSpPr>
        <p:spPr>
          <a:xfrm>
            <a:off x="381000" y="4402931"/>
            <a:ext cx="11430000" cy="271462"/>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Department of Master of Computer Applications</a:t>
            </a:r>
            <a:endParaRPr/>
          </a:p>
        </p:txBody>
      </p:sp>
      <p:sp>
        <p:nvSpPr>
          <p:cNvPr id="222" name="Google Shape;222;p22"/>
          <p:cNvSpPr txBox="1"/>
          <p:nvPr/>
        </p:nvSpPr>
        <p:spPr>
          <a:xfrm>
            <a:off x="381000" y="4769643"/>
            <a:ext cx="11430000" cy="271462"/>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Priyadarshini Engineering College, Vaniyambadi</a:t>
            </a:r>
            <a:endParaRPr/>
          </a:p>
        </p:txBody>
      </p:sp>
      <p:pic>
        <p:nvPicPr>
          <p:cNvPr id="10" name="Picture 26" descr="undefined">
            <a:extLst>
              <a:ext uri="{FF2B5EF4-FFF2-40B4-BE49-F238E27FC236}">
                <a16:creationId xmlns:a16="http://schemas.microsoft.com/office/drawing/2014/main" id="{B858F222-AACB-44C4-B9EC-17696D0E143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210;p21">
            <a:extLst>
              <a:ext uri="{FF2B5EF4-FFF2-40B4-BE49-F238E27FC236}">
                <a16:creationId xmlns:a16="http://schemas.microsoft.com/office/drawing/2014/main" id="{5C4C0A71-0741-4684-A43C-7A0C92CD7CCE}"/>
              </a:ext>
            </a:extLst>
          </p:cNvPr>
          <p:cNvSpPr txBox="1"/>
          <p:nvPr/>
        </p:nvSpPr>
        <p:spPr>
          <a:xfrm>
            <a:off x="887437" y="6488668"/>
            <a:ext cx="465523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800000"/>
                </a:solidFill>
                <a:latin typeface="Lato"/>
                <a:ea typeface="Lato"/>
                <a:cs typeface="Lato"/>
                <a:sym typeface="Lato"/>
              </a:rPr>
              <a:t>Anna University, Chennai</a:t>
            </a:r>
            <a:endParaRPr sz="36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626</Words>
  <Application>Microsoft Office PowerPoint</Application>
  <PresentationFormat>Widescreen</PresentationFormat>
  <Paragraphs>83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Azeret Mono</vt:lpstr>
      <vt:lpstr>Poppins</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Ajith Aju</cp:lastModifiedBy>
  <cp:revision>2</cp:revision>
  <dcterms:modified xsi:type="dcterms:W3CDTF">2026-02-06T18:00:46Z</dcterms:modified>
</cp:coreProperties>
</file>